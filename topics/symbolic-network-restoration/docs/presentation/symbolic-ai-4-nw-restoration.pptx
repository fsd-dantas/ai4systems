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316"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94C04E78-9DC5-41B5-804B-59E2F83F620C}">
          <p14:sldIdLst>
            <p14:sldId id="256"/>
            <p14:sldId id="257"/>
            <p14:sldId id="258"/>
            <p14:sldId id="260"/>
            <p14:sldId id="261"/>
            <p14:sldId id="262"/>
            <p14:sldId id="263"/>
            <p14:sldId id="264"/>
            <p14:sldId id="265"/>
            <p14:sldId id="266"/>
            <p14:sldId id="267"/>
            <p14:sldId id="268"/>
            <p14:sldId id="269"/>
            <p14:sldId id="270"/>
            <p14:sldId id="316"/>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539"/>
    <a:srgbClr val="800539"/>
    <a:srgbClr val="FD0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75028" autoAdjust="0"/>
  </p:normalViewPr>
  <p:slideViewPr>
    <p:cSldViewPr snapToGrid="0" snapToObjects="1" showGuides="1">
      <p:cViewPr varScale="1">
        <p:scale>
          <a:sx n="121" d="100"/>
          <a:sy n="121" d="100"/>
        </p:scale>
        <p:origin x="182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85A01-7F43-DF4B-A56A-D56FBC29A924}" type="datetimeFigureOut">
              <a:rPr lang="pt-BR" smtClean="0"/>
              <a:t>11/09/2026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973500-FE24-774E-8932-3833A078E141}" type="slidenum">
              <a:rPr lang="pt-BR" smtClean="0"/>
              <a:t>‹#›</a:t>
            </a:fld>
            <a:endParaRPr lang="pt-BR"/>
          </a:p>
        </p:txBody>
      </p:sp>
    </p:spTree>
    <p:extLst>
      <p:ext uri="{BB962C8B-B14F-4D97-AF65-F5344CB8AC3E}">
        <p14:creationId xmlns:p14="http://schemas.microsoft.com/office/powerpoint/2010/main" val="295615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dirty="0"/>
          </a:p>
        </p:txBody>
      </p:sp>
      <p:sp>
        <p:nvSpPr>
          <p:cNvPr id="4" name="Espaço Reservado para Número de Slide 3"/>
          <p:cNvSpPr>
            <a:spLocks noGrp="1"/>
          </p:cNvSpPr>
          <p:nvPr>
            <p:ph type="sldNum" sz="quarter" idx="5"/>
          </p:nvPr>
        </p:nvSpPr>
        <p:spPr/>
        <p:txBody>
          <a:bodyPr/>
          <a:lstStyle/>
          <a:p>
            <a:fld id="{C5973500-FE24-774E-8932-3833A078E141}" type="slidenum">
              <a:rPr lang="pt-BR" smtClean="0"/>
              <a:t>1</a:t>
            </a:fld>
            <a:endParaRPr lang="pt-BR"/>
          </a:p>
        </p:txBody>
      </p:sp>
    </p:spTree>
    <p:extLst>
      <p:ext uri="{BB962C8B-B14F-4D97-AF65-F5344CB8AC3E}">
        <p14:creationId xmlns:p14="http://schemas.microsoft.com/office/powerpoint/2010/main" val="2193398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454A-F9FE-8E94-541D-BA534ACFE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D7B6D-79FF-8CE1-E82B-D7007A19019D}"/>
              </a:ext>
            </a:extLst>
          </p:cNvPr>
          <p:cNvSpPr>
            <a:spLocks noGrp="1" noRot="1" noChangeAspect="1"/>
          </p:cNvSpPr>
          <p:nvPr>
            <p:ph type="sldImg" idx="2"/>
          </p:nvPr>
        </p:nvSpPr>
        <p:spPr/>
        <p:txBody>
          <a:bodyPr/>
          <a:lstStyle/>
          <a:p>
            <a:endParaRPr lang="pt-BR"/>
          </a:p>
        </p:txBody>
      </p:sp>
      <p:sp>
        <p:nvSpPr>
          <p:cNvPr id="3" name="Notes Placeholder 2">
            <a:extLst>
              <a:ext uri="{FF2B5EF4-FFF2-40B4-BE49-F238E27FC236}">
                <a16:creationId xmlns:a16="http://schemas.microsoft.com/office/drawing/2014/main" id="{6F19A0EB-009A-5C08-D80D-53B1DD54AAD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43951579-FF31-27CD-EB04-9CC0A67DD5BA}"/>
              </a:ext>
            </a:extLst>
          </p:cNvPr>
          <p:cNvSpPr>
            <a:spLocks noGrp="1"/>
          </p:cNvSpPr>
          <p:nvPr>
            <p:ph type="sldNum" sz="quarter" idx="5"/>
          </p:nvPr>
        </p:nvSpPr>
        <p:spPr/>
        <p:txBody>
          <a:bodyPr/>
          <a:lstStyle/>
          <a:p>
            <a:endParaRPr lang="pt-BR"/>
          </a:p>
        </p:txBody>
      </p:sp>
    </p:spTree>
    <p:extLst>
      <p:ext uri="{BB962C8B-B14F-4D97-AF65-F5344CB8AC3E}">
        <p14:creationId xmlns:p14="http://schemas.microsoft.com/office/powerpoint/2010/main" val="169870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18 — Contraevidência e dependência entre regras</a:t>
            </a:r>
          </a:p>
          <a:p>
            <a:r>
              <a:t>2 · SISTEMA ESPECIALISTA</a:t>
            </a:r>
          </a:p>
          <a:p>
            <a:r>
              <a:t>Tempo previsto: 01:32 | Janela: 22:27–23:59</a:t>
            </a:r>
          </a:p>
          <a:p>
            <a:endParaRPr/>
          </a:p>
          <a:p>
            <a:r>
              <a:t>FALA SUGERIDA</a:t>
            </a:r>
          </a:p>
          <a:p>
            <a:r>
              <a:t>Quando as contribuições possuem sinais opostos, a combinação reduz o suporte de acordo com a expressão apresentada. Com zero vírgula oitenta e menos zero vírgula cinquenta, o numerador é zero vírgula trinta e o denominador é zero vírgula cinquenta. O resultado é zero vírgula sessenta.</a:t>
            </a:r>
          </a:p>
          <a:p>
            <a:endParaRPr/>
          </a:p>
          <a:p>
            <a:r>
              <a:t>No conflito entre mais um e menos um, o denominador se anula. O código trata esse caso retornando zero. É uma convenção de implementação que deve ser documentada, e não uma resolução epistemológica automática da contradição.</a:t>
            </a:r>
          </a:p>
          <a:p>
            <a:endParaRPr/>
          </a:p>
          <a:p>
            <a:r>
              <a:t>Uma limitação adicional é a dependência entre regras. Se perda elevada e retransmissão elevada decorrem do mesmo mecanismo, agregá-las como apoios separados pode amplificar o suporte. Uma avaliação mais rigorosa pode remover regras redundantes, introduzir casos contraditórios e comparar o resultado antes e depois da remoção. A finalidade é examinar se a conclusão permanece sustentada quando a mesma informação deixa de ser contada por múltiplos caminhos.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19 — Encadeamento progressivo e resolução de conflito</a:t>
            </a:r>
          </a:p>
          <a:p>
            <a:r>
              <a:t>2 · SISTEMA ESPECIALISTA</a:t>
            </a:r>
          </a:p>
          <a:p>
            <a:r>
              <a:t>Tempo previsto: 01:28 | Janela: 23:59–25:27</a:t>
            </a:r>
          </a:p>
          <a:p>
            <a:endParaRPr/>
          </a:p>
          <a:p>
            <a:r>
              <a:t>FALA SUGERIDA</a:t>
            </a:r>
          </a:p>
          <a:p>
            <a:r>
              <a:t>O encadeamento progressivo parte dos fatos disponíveis. Em cada ciclo, o motor identifica as regras cujas premissas possuem suporte suficiente, seleciona uma delas e atualiza a memória.</a:t>
            </a:r>
          </a:p>
          <a:p>
            <a:endParaRPr/>
          </a:p>
          <a:p>
            <a:r>
              <a:t>A seleção utiliza uma política de resolução de conflito. A ordem de declaração é simples e previsível. A especificidade prioriza regras com mais condições. A recência considera os fatos mais recentes. Essas políticas não devem ser confundidas com critérios de verdade: uma regra mais específica não é necessariamente mais correta.</a:t>
            </a:r>
          </a:p>
          <a:p>
            <a:endParaRPr/>
          </a:p>
          <a:p>
            <a:r>
              <a:t>A implementação permite novo disparo quando a premissa se fortalece, substituindo a contribuição associada à regra. Entretanto, esse mecanismo não equivale a um sistema geral de revisão de crenças capaz de propagar qualquer enfraquecimento ou retração. Também há um limite de ciclos. Portanto, não afirmo invariância universal em relação à ordem de disparo. A propriedade deve ser examinada para as condições efetivamente avaliadas.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20 — Demonstração: hipótese de contenção MAC</a:t>
            </a:r>
          </a:p>
          <a:p>
            <a:r>
              <a:t>2 · SISTEMA ESPECIALISTA</a:t>
            </a:r>
          </a:p>
          <a:p>
            <a:r>
              <a:t>Tempo previsto: 02:39 | Janela: 25:27–28:06</a:t>
            </a:r>
          </a:p>
          <a:p>
            <a:endParaRPr/>
          </a:p>
          <a:p>
            <a:r>
              <a:t>FALA SUGERIDA</a:t>
            </a:r>
          </a:p>
          <a:p>
            <a:r>
              <a:t>Nesta demonstração, forneço ao motor os fatos do caso ilustrativo de contenção. O resultado principal é a hipótese mac_contention, com suporte aproximado de zero vírgula noventa e quatro. A ação recomendada é separar os canais, cujo suporte deriva da cadeia de inferência correspondente.</a:t>
            </a:r>
          </a:p>
          <a:p>
            <a:endParaRPr/>
          </a:p>
          <a:p>
            <a:r>
              <a:t>O campo de autorização informa que a intervenção exige autorização. Ele não concede uma permissão e não substitui um processo de controle externo. Essa distinção evita transformar uma recomendação lógica em uma aprovação operacional.</a:t>
            </a:r>
          </a:p>
          <a:p>
            <a:endParaRPr/>
          </a:p>
          <a:p>
            <a:r>
              <a:t>Ao executar o exemplo, observo a procedência das conclusões e a relação entre os suportes. O valor da ação não precisa ser igual ao do diagnóstico, porque há um peso adicional na regra que os relaciona. O resultado apresentado é reproduzível a partir dos fatos e da base disponíveis. Ele demonstra o funcionamento da inferência nesse caso, mas não estima a frequência de acerto em situações novas.</a:t>
            </a:r>
          </a:p>
          <a:p>
            <a:endParaRPr/>
          </a:p>
          <a:p>
            <a:r>
              <a:t>CONDUÇÃO / DEMONSTRAÇÃO</a:t>
            </a:r>
          </a:p>
          <a:p>
            <a:r>
              <a:t>Executar o comando; examinar o diagnóstico e a explicação. Reservar tempo para comparar com o slide.</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21 — Encadeamento regressivo e consulta orientada</a:t>
            </a:r>
          </a:p>
          <a:p>
            <a:r>
              <a:t>2 · SISTEMA ESPECIALISTA</a:t>
            </a:r>
          </a:p>
          <a:p>
            <a:r>
              <a:t>Tempo previsto: 01:31 | Janela: 28:06–29:37</a:t>
            </a:r>
          </a:p>
          <a:p>
            <a:endParaRPr/>
          </a:p>
          <a:p>
            <a:r>
              <a:t>FALA SUGERIDA</a:t>
            </a:r>
          </a:p>
          <a:p>
            <a:r>
              <a:t>O encadeamento regressivo começa pela variável que se deseja estabelecer. O motor examina regras que podem concluí-la e procura obter as premissas necessárias. Quando uma condição é refutada, as demais condições daquela regra podem deixar de ser perguntadas.</a:t>
            </a:r>
          </a:p>
          <a:p>
            <a:endParaRPr/>
          </a:p>
          <a:p>
            <a:r>
              <a:t>Isso torna a consulta potencialmente mais econômica, porque ela não precisa coletar todas as variáveis antes de iniciar o raciocínio. O mecanismo de justificativa permite explicar por que uma pergunta está sendo feita, relacionando-a à regra em avaliação.</a:t>
            </a:r>
          </a:p>
          <a:p>
            <a:endParaRPr/>
          </a:p>
          <a:p>
            <a:r>
              <a:t>A implementação utiliza um corte de suficiência. Quando uma conclusão atinge o suporte configurado, a exploração pode terminar. Esse corte é uma decisão de controle computacional. Ele não demonstra que outra regra, uma contraevidência ou uma observação posterior seria incapaz de mudar a conclusão. Portanto, uma comparação entre os modos progressivo e regressivo deve considerar tanto o número de perguntas quanto as diferenças de suporte e de hipóteses exploradas.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22 — Explicação, hipótese e identificação causal</a:t>
            </a:r>
          </a:p>
          <a:p>
            <a:r>
              <a:t>2 · SISTEMA ESPECIALISTA</a:t>
            </a:r>
          </a:p>
          <a:p>
            <a:r>
              <a:t>Tempo previsto: 01:30 | Janela: 29:37–31:07</a:t>
            </a:r>
          </a:p>
          <a:p>
            <a:endParaRPr/>
          </a:p>
          <a:p>
            <a:r>
              <a:t>FALA SUGERIDA</a:t>
            </a:r>
          </a:p>
          <a:p>
            <a:r>
              <a:t>A explicação possui pelo menos dois usos. O primeiro é retrospectivo: mostrar como uma conclusão foi produzida. O segundo é prospectivo: justificar por que determinada informação está sendo solicitada durante uma consulta.</a:t>
            </a:r>
          </a:p>
          <a:p>
            <a:endParaRPr/>
          </a:p>
          <a:p>
            <a:r>
              <a:t>Esses recursos tornam a inferência auditável e ajudam a identificar regras inadequadas. Contudo, a explicação continua sendo interna ao modelo. Se uma regra associa um conjunto de sintomas a uma hipótese, a apresentação dessa regra não demonstra que a hipótese seja a única causa possível.</a:t>
            </a:r>
          </a:p>
          <a:p>
            <a:endParaRPr/>
          </a:p>
          <a:p>
            <a:r>
              <a:t>Para investigar identificação causal, seria necessário controlar intervenções, comparar condições e observar alternativas. Em uma simulação, por exemplo, podemos variar a carga mantendo outros parâmetros fixos e examinar se a resposta do sistema acompanha a mudança esperada. Também precisamos de casos em que mecanismos diferentes produzem sintomas semelhantes. A qualidade científica da explicação depende dessa possibilidade de contestação, e não apenas da legibilidade do texto gerado.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23 — Resultados dos oito casos ilustrativos</a:t>
            </a:r>
          </a:p>
          <a:p>
            <a:r>
              <a:t>2 · SISTEMA ESPECIALISTA</a:t>
            </a:r>
          </a:p>
          <a:p>
            <a:r>
              <a:t>Tempo previsto: 01:31 | Janela: 31:07–32:38</a:t>
            </a:r>
          </a:p>
          <a:p>
            <a:endParaRPr/>
          </a:p>
          <a:p>
            <a:r>
              <a:t>FALA SUGERIDA</a:t>
            </a:r>
          </a:p>
          <a:p>
            <a:r>
              <a:t>A tabela reúne os resultados dos oito casos fornecidos com a base simulada. Em cada linha, apresento a hipótese principal, o suporte calculado e a ação recomendada. Os valores foram reproduzidos pela execução do motor.</a:t>
            </a:r>
          </a:p>
          <a:p>
            <a:endParaRPr/>
          </a:p>
          <a:p>
            <a:r>
              <a:t>É necessário interpretar corretamente o significado dessa coincidência entre o caso e a hipótese. Os exemplos foram construídos de forma compatível com as regras. Eles são úteis para verificar se a implementação realiza o comportamento pretendido, mas não formam um conjunto independente para avaliar generalização.</a:t>
            </a:r>
          </a:p>
          <a:p>
            <a:endParaRPr/>
          </a:p>
          <a:p>
            <a:r>
              <a:t>Também não interpreto a hipótese principal como prova de que todas as demais causas estão ausentes. A memória pode conter hipóteses concorrentes com suporte positivo ou negativo. Para um experimento de diagnóstico, seria preciso definir como selecionar uma saída, quando abster-se e como avaliar situações de múltiplas falhas. A próxima etapa de validação deve incluir casos ambíguos e observações não utilizadas na construção da base.</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24 — Avaliação crítica do sistema especialista</a:t>
            </a:r>
          </a:p>
          <a:p>
            <a:r>
              <a:t>2 · SISTEMA ESPECIALISTA</a:t>
            </a:r>
          </a:p>
          <a:p>
            <a:r>
              <a:t>Tempo previsto: 01:22 | Janela: 32:38–34:00</a:t>
            </a:r>
          </a:p>
          <a:p>
            <a:endParaRPr/>
          </a:p>
          <a:p>
            <a:r>
              <a:t>FALA SUGERIDA</a:t>
            </a:r>
          </a:p>
          <a:p>
            <a:r>
              <a:t>A avaliação do primeiro sistema distingue quatro dimensões. Na implementação, há procedimentos executáveis e testes que verificam aspectos da inferência. No conhecimento, os limiares e pesos são explícitos, mas permanecem nominais.</a:t>
            </a:r>
          </a:p>
          <a:p>
            <a:endParaRPr/>
          </a:p>
          <a:p>
            <a:r>
              <a:t>No diagnóstico, os casos ilustrativos demonstram comportamento esperado. Falta, entretanto, avaliar a resposta a casos independentes, perturbações e mecanismos concorrentes. Uma taxa de acerto calculada apenas sobre exemplos construídos junto com as regras produziria uma interpretação excessivamente favorável.</a:t>
            </a:r>
          </a:p>
          <a:p>
            <a:endParaRPr/>
          </a:p>
          <a:p>
            <a:r>
              <a:t>No experimento, existe uma descrição de condições que se pretende introduzir, mas uma descrição não substitui os registros de execução. O avanço metodológico consiste em produzir observações com procedência, separar a informação disponível ao sistema e definir previamente as métricas. Com essa distinção, é possível reconhecer a contribuição do protótipo sem atribuir a ele uma validação diagnóstica que ainda não foi realizada.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25 — Do diagnóstico à sequência de ações</a:t>
            </a:r>
          </a:p>
          <a:p>
            <a:r>
              <a:t>3 · PLANEJAMENTO AUTOMÁTICO</a:t>
            </a:r>
          </a:p>
          <a:p>
            <a:r>
              <a:t>Tempo previsto: 01:27 | Janela: 34:00–35:27</a:t>
            </a:r>
          </a:p>
          <a:p>
            <a:endParaRPr/>
          </a:p>
          <a:p>
            <a:r>
              <a:t>FALA SUGERIDA</a:t>
            </a:r>
          </a:p>
          <a:p>
            <a:r>
              <a:t>O segundo minissistema começa onde a recomendação isolada deixa de ser suficiente. Separar canais pode ser uma ação pertinente, mas precisamos determinar em que estado ela pode ocorrer e quais etapas devem precedê-la e sucedê-la.</a:t>
            </a:r>
          </a:p>
          <a:p>
            <a:endParaRPr/>
          </a:p>
          <a:p>
            <a:r>
              <a:t>O planejador recebe um estado inicial que contém uma ou mais falhas selecionadas. No cenário simulado, esse estado também identifica se a execução está ativa. O objetivo combina recuperação do serviço e registro da intervenção.</a:t>
            </a:r>
          </a:p>
          <a:p>
            <a:endParaRPr/>
          </a:p>
          <a:p>
            <a:r>
              <a:t>Há uma mudança de representação: o fator de certeza do diagnóstico não se transforma automaticamente em uma probabilidade de sucesso de ação. A interface seleciona uma hipótese e a converte em um predicado discreto. O plano é condicionado a essa escolha. Se o diagnóstico estiver errado ou incompleto, um plano formalmente válido pode ser inadequado ao incidente real. Essa condição precisa ser preservada na interpretação de todos os resultados apresentados.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26 — Modelo formal de planejamento STRIPS</a:t>
            </a:r>
          </a:p>
          <a:p>
            <a:r>
              <a:t>3 · PLANEJAMENTO AUTOMÁTICO</a:t>
            </a:r>
          </a:p>
          <a:p>
            <a:r>
              <a:t>Tempo previsto: 01:27 | Janela: 35:27–36:54</a:t>
            </a:r>
          </a:p>
          <a:p>
            <a:endParaRPr/>
          </a:p>
          <a:p>
            <a:r>
              <a:t>FALA SUGERIDA</a:t>
            </a:r>
          </a:p>
          <a:p>
            <a:r>
              <a:t>Formalizo o problema por um conjunto de fatos possíveis, ações, estado inicial, objetivo e função de custo. Cada estado é um conjunto de fatos verdadeiros. Uma ação possui precondições, efeitos de adição e efeitos de remoção.</a:t>
            </a:r>
          </a:p>
          <a:p>
            <a:endParaRPr/>
          </a:p>
          <a:p>
            <a:r>
              <a:t>A transição remove os fatos da lista de exclusão e acrescenta os fatos da lista de adição. A aplicabilidade exige que todas as precondições estejam presentes no estado. Depois de aplicar a sequência, verificamos se o objetivo está contido no estado final.</a:t>
            </a:r>
          </a:p>
          <a:p>
            <a:endParaRPr/>
          </a:p>
          <a:p>
            <a:r>
              <a:t>Os operadores podem ser escritos com parâmetros e depois instanciados para objetos concretos, como ER_03. Essa representação é inspirada em STRIPS, mas não reproduz toda a expressividade do sistema histórico. O trabalho adota uma forma simplificada, apropriada à busca sobre conjuntos finitos de predicados. A vantagem é que podemos executar novamente cada transição e verificar a validade do plano de maneira direta.</a:t>
            </a:r>
          </a:p>
          <a:p>
            <a:endParaRPr/>
          </a:p>
          <a:p>
            <a:r>
              <a:t>FONTE / PROCEDÊNCIA</a:t>
            </a:r>
          </a:p>
          <a:p>
            <a:r>
              <a:t>Fikes e Nilsson (1971); implementação: src/aisg/planning/strips.py</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27 — Hipóteses de planejamento e suas consequências</a:t>
            </a:r>
          </a:p>
          <a:p>
            <a:r>
              <a:t>3 · PLANEJAMENTO AUTOMÁTICO</a:t>
            </a:r>
          </a:p>
          <a:p>
            <a:r>
              <a:t>Tempo previsto: 01:28 | Janela: 36:54–38:22</a:t>
            </a:r>
          </a:p>
          <a:p>
            <a:endParaRPr/>
          </a:p>
          <a:p>
            <a:r>
              <a:t>FALA SUGERIDA</a:t>
            </a:r>
          </a:p>
          <a:p>
            <a:r>
              <a:t>O modelo depende de hipóteses que simplificam o problema. A hipótese de mundo fechado permite tratar como falso um fato ausente do estado de planejamento. Essa convenção não pode ser aplicada sem cuidado à memória do diagnóstico, na qual uma informação pode estar desconhecida.</a:t>
            </a:r>
          </a:p>
          <a:p>
            <a:endParaRPr/>
          </a:p>
          <a:p>
            <a:r>
              <a:t>Os efeitos são determinísticos. Quando a ação de reparo é aplicada, seu predicado de falha é removido e um predicado de correção é acrescentado. O modelo não sorteia falhas de execução nem acompanha automaticamente a evolução de filas.</a:t>
            </a:r>
          </a:p>
          <a:p>
            <a:endParaRPr/>
          </a:p>
          <a:p>
            <a:r>
              <a:t>O custo também é convencional e aditivo. Ele permite comparar sequências, mas não deve ser apresentado como tempo de manutenção, consumo de energia ou risco medido sem uma calibração correspondente.</a:t>
            </a:r>
          </a:p>
          <a:p>
            <a:endParaRPr/>
          </a:p>
          <a:p>
            <a:r>
              <a:t>Essas simplificações são legítimas para estudar planejamento clássico. O rigor está em declará-las e reconhecer que uma futura execução em simulador precisará de observação posterior, tratamento de falhas e eventual replanejamento.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28 — Operador: separar canais no cenário simulado</a:t>
            </a:r>
          </a:p>
          <a:p>
            <a:r>
              <a:t>3 · PLANEJAMENTO AUTOMÁTICO</a:t>
            </a:r>
          </a:p>
          <a:p>
            <a:r>
              <a:t>Tempo previsto: 01:22 | Janela: 38:22–39:44</a:t>
            </a:r>
          </a:p>
          <a:p>
            <a:endParaRPr/>
          </a:p>
          <a:p>
            <a:r>
              <a:t>FALA SUGERIDA</a:t>
            </a:r>
          </a:p>
          <a:p>
            <a:r>
              <a:t>Este operador permite examinar a semântica do planejamento em um caso concreto. Para separar os canais, o estado deve conter autorização, contenção e execução parada. Se qualquer uma dessas condições estiver ausente, a ação não é aplicável.</a:t>
            </a:r>
          </a:p>
          <a:p>
            <a:endParaRPr/>
          </a:p>
          <a:p>
            <a:r>
              <a:t>O efeito remove a contenção e registra a correção dessa falha específica. A ação recebe custo três na escala convencional do domínio. Esse custo permite comparar diferentes sequências, inclusive quando várias alterações compartilham uma única parada.</a:t>
            </a:r>
          </a:p>
          <a:p>
            <a:endParaRPr/>
          </a:p>
          <a:p>
            <a:r>
              <a:t>A exigência de interromper a execução foi escolhida para representar alterações de configuração no experimento. Não afirmo que todo simulador exija parada para qualquer mudança de canal. Outra implementação poderia representar uma reconfiguração dinâmica. Nesse caso, seria necessário alterar precondições, efeitos e custos e reavaliar os planos. A formalização torna essa decisão de engenharia visível e permite investigar suas consequências.</a:t>
            </a:r>
          </a:p>
          <a:p>
            <a:endParaRPr/>
          </a:p>
          <a:p>
            <a:r>
              <a:t>CONDUÇÃO / DEMONSTRAÇÃO</a:t>
            </a:r>
          </a:p>
          <a:p>
            <a:r>
              <a:t>Perguntar quais precondições ainda faltam no estado inicial do caso mac_contention.</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29 — Operadores pertinentes à demonstração</a:t>
            </a:r>
          </a:p>
          <a:p>
            <a:r>
              <a:t>3 · PLANEJAMENTO AUTOMÁTICO</a:t>
            </a:r>
          </a:p>
          <a:p>
            <a:r>
              <a:t>Tempo previsto: 01:27 | Janela: 39:44–41:11</a:t>
            </a:r>
          </a:p>
          <a:p>
            <a:endParaRPr/>
          </a:p>
          <a:p>
            <a:r>
              <a:t>FALA SUGERIDA</a:t>
            </a:r>
          </a:p>
          <a:p>
            <a:r>
              <a:t>Apresento aqui os operadores necessários para compreender a demonstração, e não uma contagem de todo o catálogo. O código compartilha operadores entre cenários, de modo que parte do catálogo não é pertinente ao caso simulado selecionado.</a:t>
            </a:r>
          </a:p>
          <a:p>
            <a:endParaRPr/>
          </a:p>
          <a:p>
            <a:r>
              <a:t>A solicitação de autorização antecede as alterações controladas. A parada e a retomada possuem custos próprios. Restaurar o orçamento de percurso e separar canais exigem execução parada. Outras correções foram modeladas como ações que não precisam desse ciclo.</a:t>
            </a:r>
          </a:p>
          <a:p>
            <a:endParaRPr/>
          </a:p>
          <a:p>
            <a:r>
              <a:t>As etapas finais verificam o enlace, registram o resultado e encerram a ordem. No modelo, verificar o enlace exige as correções previstas e, no cenário simulado, a execução novamente ativa.</a:t>
            </a:r>
          </a:p>
          <a:p>
            <a:endParaRPr/>
          </a:p>
          <a:p>
            <a:r>
              <a:t>É importante observar que stop_run exige execução ativa; ele não exige que a execução já esteja parada. A distinção entre condição de entrada e efeito de saída é fundamental para evitar uma descrição circular dos operadores.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30 — Autorização e validação pertencem ao modelo</a:t>
            </a:r>
          </a:p>
          <a:p>
            <a:r>
              <a:t>3 · PLANEJAMENTO AUTOMÁTICO</a:t>
            </a:r>
          </a:p>
          <a:p>
            <a:r>
              <a:t>Tempo previsto: 01:26 | Janela: 41:11–42:37</a:t>
            </a:r>
          </a:p>
          <a:p>
            <a:endParaRPr/>
          </a:p>
          <a:p>
            <a:r>
              <a:t>FALA SUGERIDA</a:t>
            </a:r>
          </a:p>
          <a:p>
            <a:r>
              <a:t>O planejamento representa autorização como precondição de ações específicas. Isso permite verificar se uma sequência respeita a restrição no modelo. Porém, o predicado é produzido por um operador determinístico de solicitação de autorização.</a:t>
            </a:r>
          </a:p>
          <a:p>
            <a:endParaRPr/>
          </a:p>
          <a:p>
            <a:r>
              <a:t>Portanto, o plano não implementa um sistema externo de concessão de permissões. A presença do predicado não comprova que uma pessoa ou instituição aprovou a intervenção. Para executar ações reais, seria necessário um mecanismo que vinculasse esse estado a uma autorização efetivamente concedida.</a:t>
            </a:r>
          </a:p>
          <a:p>
            <a:endParaRPr/>
          </a:p>
          <a:p>
            <a:r>
              <a:t>O mesmo cuidado se aplica à verificação do enlace. O operador verify_link produz um fato no estado simbólico. Ele não realiza, por si só, uma campanha de medição que comprove recuperação do serviço. A contribuição atual é formalizar a ordem e os requisitos. Uma integração operacional exigiria transformar esses pontos em contratos verificáveis com o ambiente, preservando a possibilidade de recusa ou falha.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31 — GPS: análise meios-fins</a:t>
            </a:r>
          </a:p>
          <a:p>
            <a:r>
              <a:t>3 · PLANEJAMENTO AUTOMÁTICO</a:t>
            </a:r>
          </a:p>
          <a:p>
            <a:r>
              <a:t>Tempo previsto: 01:22 | Janela: 42:37–43:59</a:t>
            </a:r>
          </a:p>
          <a:p>
            <a:endParaRPr/>
          </a:p>
          <a:p>
            <a:r>
              <a:t>FALA SUGERIDA</a:t>
            </a:r>
          </a:p>
          <a:p>
            <a:r>
              <a:t>A análise meios-fins começa pela diferença entre o estado atual e o objetivo. Se service-restored ainda não está presente, o procedimento procura uma ação capaz de adicioná-lo. As precondições dessa ação tornam-se novos subobjetivos.</a:t>
            </a:r>
          </a:p>
          <a:p>
            <a:endParaRPr/>
          </a:p>
          <a:p>
            <a:r>
              <a:t>O processo continua recursivamente até encontrar condições já satisfeitas ou ações aplicáveis. Depois de aplicar uma ação, o estado é atualizado. O código utiliza controle de profundidade, prevenção de ciclos e retrocesso em ramos locais.</a:t>
            </a:r>
          </a:p>
          <a:p>
            <a:endParaRPr/>
          </a:p>
          <a:p>
            <a:r>
              <a:t>Esse procedimento produz uma justificativa intuitiva: cada ação aparece porque contribui para um subobjetivo. Entretanto, uma escolha local não considera necessariamente o custo total das precondições. Além disso, resolver subobjetivos em determinada ordem pode gerar interações difíceis de recuperar. A reverificação final detecta alguns desses problemas, mas não transforma a estratégia em um planejador completo. Por isso, comparo seu comportamento com a busca progressiva.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32 — Interação entre subobjetivos</a:t>
            </a:r>
          </a:p>
          <a:p>
            <a:r>
              <a:t>3 · PLANEJAMENTO AUTOMÁTICO</a:t>
            </a:r>
          </a:p>
          <a:p>
            <a:r>
              <a:t>Tempo previsto: 01:32 | Janela: 43:59–45:31</a:t>
            </a:r>
          </a:p>
          <a:p>
            <a:endParaRPr/>
          </a:p>
          <a:p>
            <a:r>
              <a:t>FALA SUGERIDA</a:t>
            </a:r>
          </a:p>
          <a:p>
            <a:r>
              <a:t>Este exemplo abstrato ilustra por que não basta alcançar cada subobjetivo uma vez. Suponha que uma ação estabeleça p e que outra estabeleça q removendo p. Depois das duas ações, q está satisfeito, mas a conjunção desejada não está.</a:t>
            </a:r>
          </a:p>
          <a:p>
            <a:endParaRPr/>
          </a:p>
          <a:p>
            <a:r>
              <a:t>A dificuldade não decorre de uma ação individual inválida. Cada ação pode ter sido aplicável. O problema está na interação entre seus efeitos ao longo da sequência.</a:t>
            </a:r>
          </a:p>
          <a:p>
            <a:endParaRPr/>
          </a:p>
          <a:p>
            <a:r>
              <a:t>A literatura de planejamento discute esse tipo de interação, com exemplos clássicos como a anomalia de Sussman no mundo dos blocos. O exemplo deste slide é mais simples e não pretende reproduzir aquela instância específica.</a:t>
            </a:r>
          </a:p>
          <a:p>
            <a:endParaRPr/>
          </a:p>
          <a:p>
            <a:r>
              <a:t>No projeto, a estratégia meios-fins reverifica os subobjetivos e pode rejeitar uma sequência que desfez uma condição necessária. Essa defesa melhora a correção da saída, mas detectar um plano inválido é diferente de encontrar uma solução alternativa. A busca no espaço de estados trata explicitamente outras sequências.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33 — Não otimalidade: custo local e custo total</a:t>
            </a:r>
          </a:p>
          <a:p>
            <a:r>
              <a:t>3 · PLANEJAMENTO AUTOMÁTICO</a:t>
            </a:r>
          </a:p>
          <a:p>
            <a:r>
              <a:t>Tempo previsto: 01:26 | Janela: 45:31–46:57</a:t>
            </a:r>
          </a:p>
          <a:p>
            <a:endParaRPr/>
          </a:p>
          <a:p>
            <a:r>
              <a:t>FALA SUGERIDA</a:t>
            </a:r>
          </a:p>
          <a:p>
            <a:r>
              <a:t>A não otimalidade pode ser demonstrada sem depender de uma instância complexa. Construo duas maneiras de alcançar o mesmo objetivo. A primeira utiliza uma ação de custo um, mas exige uma preparação de custo dez. A segunda custa três e pode ser aplicada imediatamente.</a:t>
            </a:r>
          </a:p>
          <a:p>
            <a:endParaRPr/>
          </a:p>
          <a:p>
            <a:r>
              <a:t>Uma preferência baseada no custo próprio do operador pode escolher a primeira alternativa. O plano resultante custa onze. A busca progressiva considera a sequência e encontra a alternativa de custo três.</a:t>
            </a:r>
          </a:p>
          <a:p>
            <a:endParaRPr/>
          </a:p>
          <a:p>
            <a:r>
              <a:t>O exemplo não afirma que GPS sempre será pior, nem que nunca encontrará a solução ótima. Ele refuta a afirmação universal de otimalidade para a estratégia utilizada. No caso de contenção apresentado adiante, ambos os planejadores encontram o mesmo custo. A combinação dessas duas evidências é mais informativa do que selecionar apenas um caso favorável: coincidência em uma instância não estabelece uma garantia geral.</a:t>
            </a:r>
          </a:p>
          <a:p>
            <a:endParaRPr/>
          </a:p>
          <a:p>
            <a:r>
              <a:t>CONDUÇÃO / DEMONSTRAÇÃO</a:t>
            </a:r>
          </a:p>
          <a:p>
            <a:r>
              <a:t>Se houver tempo, percorrer o contraexemplo do GPS: comparar custo 11 e custo 3.</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34 — Planejamento como busca progressiva</a:t>
            </a:r>
          </a:p>
          <a:p>
            <a:r>
              <a:t>3 · PLANEJAMENTO AUTOMÁTICO</a:t>
            </a:r>
          </a:p>
          <a:p>
            <a:r>
              <a:t>Tempo previsto: 01:29 | Janela: 46:57–48:26</a:t>
            </a:r>
          </a:p>
          <a:p>
            <a:endParaRPr/>
          </a:p>
          <a:p>
            <a:r>
              <a:t>FALA SUGERIDA</a:t>
            </a:r>
          </a:p>
          <a:p>
            <a:r>
              <a:t>A busca progressiva transforma o planejamento em um problema de percurso sobre estados. A partir do estado inicial, cada ação aplicável gera um sucessor. O teste de objetivo verifica a inclusão dos predicados desejados.</a:t>
            </a:r>
          </a:p>
          <a:p>
            <a:endParaRPr/>
          </a:p>
          <a:p>
            <a:r>
              <a:t>O caminho encontrado corresponde à sequência de ações. Seu custo é a soma dos custos das transições. Dessa forma, a mesma implementação genérica de A* pode resolver planejamento e roteamento, desde que cada domínio forneça a interface de estado inicial, sucessores e teste de objetivo.</a:t>
            </a:r>
          </a:p>
          <a:p>
            <a:endParaRPr/>
          </a:p>
          <a:p>
            <a:r>
              <a:t>A reutilização é conceitualmente importante, mas não torna os dois espaços igualmente simples. No roteamento, o estado é um identificador de nó. No planejamento, ele é um conjunto de predicados, e o número de combinações pode crescer rapidamente. Assim, uma topologia pequena e um domínio de planejamento com poucos objetos podem apresentar dificuldades computacionais distintas. O desempenho deve ser medido em cada espaço de estados.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35 — Heurística de objetivos não satisfeitos</a:t>
            </a:r>
          </a:p>
          <a:p>
            <a:r>
              <a:t>3 · PLANEJAMENTO AUTOMÁTICO</a:t>
            </a:r>
          </a:p>
          <a:p>
            <a:r>
              <a:t>Tempo previsto: 01:30 | Janela: 48:26–49:56</a:t>
            </a:r>
          </a:p>
          <a:p>
            <a:endParaRPr/>
          </a:p>
          <a:p>
            <a:r>
              <a:t>FALA SUGERIDA</a:t>
            </a:r>
          </a:p>
          <a:p>
            <a:r>
              <a:t>A heurística conta quantos predicados do objetivo ainda estão ausentes. Para justificá-la como limite inferior, precisamos relacionar a quantidade de objetivos que uma ação pode acrescentar ao seu custo.</a:t>
            </a:r>
          </a:p>
          <a:p>
            <a:endParaRPr/>
          </a:p>
          <a:p>
            <a:r>
              <a:t>Uma condição suficiente é que o custo de cada ação seja pelo menos o número de predicados do objetivo que ela pode adicionar. Assim, o custo necessário para obter todos os objetivos ausentes não pode ser menor do que essa contagem. Remover objetivos já satisfeitos não invalida o limite inferior; pode apenas aumentar o trabalho necessário.</a:t>
            </a:r>
          </a:p>
          <a:p>
            <a:endParaRPr/>
          </a:p>
          <a:p>
            <a:r>
              <a:t>Um caso particular simples ocorre quando cada ação adiciona no máximo um objetivo e custa pelo menos uma unidade. Essa condição vale para os dois predicados finais utilizados na demonstração. O cuidado acadêmico é chamá-la de suficiente, evitando apresentá-la como a única situação possível de admissibilidade. A comparação com heurística zero fornece um controle para medir o efeito da informação adicional.</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36 — Demonstração: plano para contenção MAC</a:t>
            </a:r>
          </a:p>
          <a:p>
            <a:r>
              <a:t>3 · PLANEJAMENTO AUTOMÁTICO</a:t>
            </a:r>
          </a:p>
          <a:p>
            <a:r>
              <a:t>Tempo previsto: 02:33 | Janela: 49:56–52:29</a:t>
            </a:r>
          </a:p>
          <a:p>
            <a:endParaRPr/>
          </a:p>
          <a:p>
            <a:r>
              <a:t>FALA SUGERIDA</a:t>
            </a:r>
          </a:p>
          <a:p>
            <a:r>
              <a:t>O exemplo utiliza a API de planejamento para construir explicitamente o cenário simulado. Primeiro, o modelo solicita autorização. Em seguida, interrompe a execução, separa os canais e retoma a execução. Só então verifica o enlace, registra a intervenção e encerra a ordem.</a:t>
            </a:r>
          </a:p>
          <a:p>
            <a:endParaRPr/>
          </a:p>
          <a:p>
            <a:r>
              <a:t>A soma dos custos é onze. Tanto GPS quanto A* encontram um plano válido com esse custo nesta instância. Durante a demonstração, a validação reaplica as ações e verifica o estado final. Esse procedimento permite examinar a solução independentemente da forma como ela foi encontrada.</a:t>
            </a:r>
          </a:p>
          <a:p>
            <a:endParaRPr/>
          </a:p>
          <a:p>
            <a:r>
              <a:t>Utilizo um script de apresentação que chama a API porque a auditoria identificou um argumento desatualizado no comando de planejamento da interface original. Não apresento um comando que falha como se estivesse validado. Essa escolha mantém a demonstração reproduzível sem alterar o código de aplicação que está sendo desenvolvido em paralelo.</a:t>
            </a:r>
          </a:p>
          <a:p>
            <a:endParaRPr/>
          </a:p>
          <a:p>
            <a:r>
              <a:t>CONDUÇÃO / DEMONSTRAÇÃO</a:t>
            </a:r>
          </a:p>
          <a:p>
            <a:r>
              <a:t>Executar o comando, conferir custo 11 e validação. Mostrar a posição de stop_run e start_run.</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37 — O domínio de restauração como máquina de estados</a:t>
            </a:r>
          </a:p>
          <a:p>
            <a:r>
              <a:t>3 · PLANEJAMENTO AUTOMÁTICO</a:t>
            </a:r>
          </a:p>
          <a:p>
            <a:r>
              <a:t>Tempo previsto: 02:07 | Janela: 52:29–54:36</a:t>
            </a:r>
          </a:p>
          <a:p>
            <a:endParaRPr/>
          </a:p>
          <a:p>
            <a:r>
              <a:t>FALA SUGERIDA</a:t>
            </a:r>
          </a:p>
          <a:p>
            <a:r>
              <a:t>O domínio de planejamento já é uma máquina de estados, e vale desenhá-lo assim pelo menos uma vez. Um estado STRIPS é literalmente um conjunto de literais verdadeiros, de modo que um plano é uma caminhada por um espaço de estados e cada seta é um operador com o seu custo.</a:t>
            </a:r>
          </a:p>
          <a:p>
            <a:endParaRPr/>
          </a:p>
          <a:p>
            <a:r>
              <a:t>A trajetória mostrada é a que o planejador devolve para uma contenção MAC: pedir autorização, interromper a execução, separar os canais, retomar a execução, verificar o enlace, registrar e encerrar. Sete transições, custo total onze.</a:t>
            </a:r>
          </a:p>
          <a:p>
            <a:endParaRPr/>
          </a:p>
          <a:p>
            <a:r>
              <a:t>O ponto que peço para observar está no fim. Com duas falhas no mesmo nó, verify_link exige um literal cleared POR FALHA. Se apenas uma for corrigida, verify_link não é aplicável, link-up não é alcançável, e com ele logged e service-restored também não são.</a:t>
            </a:r>
          </a:p>
          <a:p>
            <a:endParaRPr/>
          </a:p>
          <a:p>
            <a:r>
              <a:t>Isso muda o estatuto da garantia. Não existe uma verificação em tempo de execução dizendo "não declare serviço restaurado ainda". Existe uma aresta que simplesmente não está no grafo, e é por isso que o defeito relatado sobre múltiplas falhas deixou de ser possível em vez de ser apenas desencorajado.</a:t>
            </a:r>
          </a:p>
          <a:p>
            <a:endParaRPr/>
          </a:p>
          <a:p>
            <a:r>
              <a:t>A figura correspondente está em docs/assets, em variantes clara e escura, e pode ser projetada se houver tempo para percorrer os oito estados um a um.</a:t>
            </a:r>
          </a:p>
          <a:p>
            <a:endParaRPr/>
          </a:p>
          <a:p>
            <a:r>
              <a:t>CONDUÇÃO / DEMONSTRAÇÃO</a:t>
            </a:r>
          </a:p>
          <a:p>
            <a:r>
              <a:t>Percorrer os estados com o dedo na tela; parar em cleared e explicar o literal por falha.</a:t>
            </a:r>
          </a:p>
          <a:p>
            <a:endParaRPr/>
          </a:p>
          <a:p>
            <a:r>
              <a:t>FONTE / PROCEDÊNCIA</a:t>
            </a:r>
          </a:p>
          <a:p>
            <a:r>
              <a:t>Repositório: src/aisg/planning/domain_restoration.py</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38 — Falhas simultâneas e correção específica</a:t>
            </a:r>
          </a:p>
          <a:p>
            <a:r>
              <a:t>3 · PLANEJAMENTO AUTOMÁTICO</a:t>
            </a:r>
          </a:p>
          <a:p>
            <a:r>
              <a:t>Tempo previsto: 01:24 | Janela: 54:36–56:00</a:t>
            </a:r>
          </a:p>
          <a:p>
            <a:endParaRPr/>
          </a:p>
          <a:p>
            <a:r>
              <a:t>FALA SUGERIDA</a:t>
            </a:r>
          </a:p>
          <a:p>
            <a:r>
              <a:t>Na extensão para múltiplas falhas, um único indicador genérico de reparo seria insuficiente. Se corrigir uma falha ativasse esse indicador, o plano poderia verificar o enlace enquanto outra falha permanecesse presente.</a:t>
            </a:r>
          </a:p>
          <a:p>
            <a:endParaRPr/>
          </a:p>
          <a:p>
            <a:r>
              <a:t>O modelo utiliza um predicado de correção para cada falha declarada. A verificação exige a conjunção desses predicados. Para perda adicional e contenção, ambas as alterações podem ocorrer durante uma única interrupção, seguida de uma retomada. Essa possibilidade introduz uma decisão de sequenciamento e custo.</a:t>
            </a:r>
          </a:p>
          <a:p>
            <a:endParaRPr/>
          </a:p>
          <a:p>
            <a:r>
              <a:t>Entretanto, o conjunto de falhas é uma entrada da instância. A presença de várias hipóteses na memória do sistema especialista não demonstra automaticamente que elas ocorram simultaneamente. É necessária uma política para selecionar quais hipóteses serão tratadas como condições do planejamento. Além disso, verificar todas as falhas fornecidas não garante que falhas desconhecidas ou omitidas tenham sido eliminadas.</a:t>
            </a:r>
          </a:p>
          <a:p>
            <a:endParaRPr/>
          </a:p>
          <a:p>
            <a:r>
              <a:t>CONDUÇÃO / DEMONSTRAÇÃO</a:t>
            </a:r>
          </a:p>
          <a:p>
            <a:r>
              <a:t>Conferir o caso de duas falhas: custo 12, com uma única parada e retomada.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39 — Validação do domínio por grafo de planejamento</a:t>
            </a:r>
          </a:p>
          <a:p>
            <a:r>
              <a:t>3 · PLANEJAMENTO AUTOMÁTICO</a:t>
            </a:r>
          </a:p>
          <a:p>
            <a:r>
              <a:t>Tempo previsto: 02:29 | Janela: 56:00–58:29</a:t>
            </a:r>
          </a:p>
          <a:p>
            <a:endParaRPr/>
          </a:p>
          <a:p>
            <a:r>
              <a:t>FALA SUGERIDA</a:t>
            </a:r>
          </a:p>
          <a:p>
            <a:r>
              <a:t>Um domínio de planejamento escrito à mão é uma hipótese sobre o mundo, não um fato. Cada precondição afirma que algo é necessário e cada lista de remoção afirma que algo deixa de valer. Nenhuma dessas afirmações se verifica sozinha.</a:t>
            </a:r>
          </a:p>
          <a:p>
            <a:endParaRPr/>
          </a:p>
          <a:p>
            <a:r>
              <a:t>O grafo de planejamento de Blum e Furst alterna níveis de proposições e níveis de ações e propaga relações de exclusão mútua. Construí esse grafo e o utilizo para interrogar o domínio. Não implementei a extração de solução, porque o objetivo aqui é validação do domínio e não planejamento. Por isso a afirmação correta é que utilizo o grafo de planejamento, e não que implementei o Graphplan completo.</a:t>
            </a:r>
          </a:p>
          <a:p>
            <a:endParaRPr/>
          </a:p>
          <a:p>
            <a:r>
              <a:t>A primeira pergunta identifica operadores que jamais podem disparar. No cenário simulado não existe equipe em campo, logo nada estabelece a precondição de deslocamento, e dois operadores ficam inalcançáveis. São inofensivos para a correção, mas o grafo os aponta sem que seja preciso ler a lista de operadores.</a:t>
            </a:r>
          </a:p>
          <a:p>
            <a:endParaRPr/>
          </a:p>
          <a:p>
            <a:r>
              <a:t>A segunda pergunta é a mais informativa. Nenhuma proposição do domínio tem mais de um operador que a produza. Essa é a explicação estrutural de um resultado que eu havia observado empiricamente: o GPS nunca devolve custo maior que o A* neste domínio. A análise meios-fins não perde porque não há escolha a fazer.</a:t>
            </a:r>
          </a:p>
          <a:p>
            <a:endParaRPr/>
          </a:p>
          <a:p>
            <a:r>
              <a:t>A quarta pergunta devolve um limite inferior para o número de passos paralelos, obtido sem executar nenhum dos dois planejadores. É uma verificação externa, no mesmo espírito da comparação com Floyd–Warshall na busca.</a:t>
            </a:r>
          </a:p>
          <a:p>
            <a:endParaRPr/>
          </a:p>
          <a:p>
            <a:r>
              <a:t>CONDUÇÃO / DEMONSTRAÇÃO</a:t>
            </a:r>
          </a:p>
          <a:p>
            <a:r>
              <a:t>Ler as três análises do grafo de planejamento em voz alta, uma de cada vez.</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40 — O defeito reencontrado como exclusão mútua ausente</a:t>
            </a:r>
          </a:p>
          <a:p>
            <a:r>
              <a:t>3 · PLANEJAMENTO AUTOMÁTICO</a:t>
            </a:r>
          </a:p>
          <a:p>
            <a:r>
              <a:t>Tempo previsto: 02:13 | Janela: 58:29–60:42</a:t>
            </a:r>
          </a:p>
          <a:p>
            <a:endParaRPr/>
          </a:p>
          <a:p>
            <a:r>
              <a:t>FALA SUGERIDA</a:t>
            </a:r>
          </a:p>
          <a:p>
            <a:r>
              <a:t>Este é o resultado que justifica o esforço. Reconstruí o domínio na forma que ele tinha antes da correção, com um único literal de falha corrigida que qualquer reparo satisfazia, e submeti as duas versões à mesma análise.</a:t>
            </a:r>
          </a:p>
          <a:p>
            <a:endParaRPr/>
          </a:p>
          <a:p>
            <a:r>
              <a:t>Na versão anterior, o grafo relata que service-restored não é mutuamente exclusivo com nenhuma das duas falhas. Em linguagem comum: o domínio permitia declarar serviço restaurado com uma falha ainda ativa. É exatamente o defeito que havia sido relatado a partir do uso.</a:t>
            </a:r>
          </a:p>
          <a:p>
            <a:endParaRPr/>
          </a:p>
          <a:p>
            <a:r>
              <a:t>E o grafo faz mais do que detectar. Ele nomeia a causa na linha seguinte: um literal, dois produtores. Um literal compartilhado por vários operadores é um ponto de escolha disfarçado de invariante. Com um literal por falha, ambas as listas ficam vazias.</a:t>
            </a:r>
          </a:p>
          <a:p>
            <a:endParaRPr/>
          </a:p>
          <a:p>
            <a:r>
              <a:t>O ganho metodológico é a mudança de estatuto do defeito. Antes, era um plano ruim que alguém precisou ler com atenção para perceber. Agora é uma propriedade que um teste verifica a cada execução, e que voltaria a falhar se alguém reintroduzisse o literal compartilhado.</a:t>
            </a:r>
          </a:p>
          <a:p>
            <a:endParaRPr/>
          </a:p>
          <a:p>
            <a:r>
              <a:t>Registro também a limitação. O grafo é uma relaxação: ele ignora listas de remoção ao propagar alcançabilidade, de modo que ausência no grafo prova inalcançabilidade, mas presença não prova alcançabilidade. E o Graphplan minimiza níveis, não custo, razão pela qual ele não substitui o planejador progressivo por A*.</a:t>
            </a:r>
          </a:p>
          <a:p>
            <a:endParaRPr/>
          </a:p>
          <a:p>
            <a:r>
              <a:t>CONDUÇÃO / DEMONSTRAÇÃO</a:t>
            </a:r>
          </a:p>
          <a:p>
            <a:r>
              <a:t>Comparar as duas análises: antes da correção e depois dela.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41 — Rota alternativa como precondição verificável</a:t>
            </a:r>
          </a:p>
          <a:p>
            <a:r>
              <a:t>3 · PLANEJAMENTO AUTOMÁTICO</a:t>
            </a:r>
          </a:p>
          <a:p>
            <a:r>
              <a:t>Tempo previsto: 01:29 | Janela: 60:42–62:11</a:t>
            </a:r>
          </a:p>
          <a:p>
            <a:endParaRPr/>
          </a:p>
          <a:p>
            <a:r>
              <a:t>FALA SUGERIDA</a:t>
            </a:r>
          </a:p>
          <a:p>
            <a:r>
              <a:t>O operador de desvio de tráfego exige uma rota alternativa. O planejador consulta a busca sobre a topologia para verificar se existe um caminho que evite o nó afetado.</a:t>
            </a:r>
          </a:p>
          <a:p>
            <a:endParaRPr/>
          </a:p>
          <a:p>
            <a:r>
              <a:t>Essa verificação precisa utilizar o mesmo destino que será mostrado na saída. Caso contrário, poderíamos certificar a existência de uma rota para um dispositivo e apresentar uma solução destinada a outro. A identidade da origem, do destino, do nó excluído e da versão da topologia é parte do contrato entre os módulos.</a:t>
            </a:r>
          </a:p>
          <a:p>
            <a:endParaRPr/>
          </a:p>
          <a:p>
            <a:r>
              <a:t>Se não existir caminho, a precondição não deve ser adicionada. Na instância em que o desvio é a única correção disponível, o planejador deve informar ausência de solução.</a:t>
            </a:r>
          </a:p>
          <a:p>
            <a:endParaRPr/>
          </a:p>
          <a:p>
            <a:r>
              <a:t>Mesmo quando o caminho existe, a garantia é de conectividade no grafo e custo segundo o modelo. Capacidade residual, interferência dinâmica e estabilidade do fluxo não são demonstradas pela simples existência de uma sequência de enlaces.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42 — Busca de caminhos em um grafo ponderado</a:t>
            </a:r>
          </a:p>
          <a:p>
            <a:r>
              <a:t>4 · BUSCA A*</a:t>
            </a:r>
          </a:p>
          <a:p>
            <a:r>
              <a:t>Tempo previsto: 01:24 | Janela: 62:11–63:35</a:t>
            </a:r>
          </a:p>
          <a:p>
            <a:endParaRPr/>
          </a:p>
          <a:p>
            <a:r>
              <a:t>FALA SUGERIDA</a:t>
            </a:r>
          </a:p>
          <a:p>
            <a:r>
              <a:t>O terceiro minissistema resolve um problema de caminho mínimo em um grafo ponderado. O estado é o nó corrente e cada transição corresponde a um enlace disponível. A solução deve apresentar o caminho, não apenas informar que o destino é alcançável.</a:t>
            </a:r>
          </a:p>
          <a:p>
            <a:endParaRPr/>
          </a:p>
          <a:p>
            <a:r>
              <a:t>O custo do caminho é a soma dos custos dos enlaces. Como os meios possuem pesos diferentes, a menor quantidade de saltos pode não produzir o menor custo. Um percurso curto em número de enlaces pode utilizar uma conexão cara, enquanto um percurso mais longo pode passar por enlaces de menor peso.</a:t>
            </a:r>
          </a:p>
          <a:p>
            <a:endParaRPr/>
          </a:p>
          <a:p>
            <a:r>
              <a:t>Essa diferença permite comparar estratégias de busca de maneira concreta. Busca em largura, busca gulosa, custo uniforme e A* respondem de formas diferentes à informação de custo. A comparação deve manter a mesma instância e deixar claro qual objetivo cada estratégia otimiza ou procura aproximar.</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43 — Função de custo e significado dos parâmetros</a:t>
            </a:r>
          </a:p>
          <a:p>
            <a:r>
              <a:t>4 · BUSCA A*</a:t>
            </a:r>
          </a:p>
          <a:p>
            <a:r>
              <a:t>Tempo previsto: 01:33 | Janela: 63:35–65:08</a:t>
            </a:r>
          </a:p>
          <a:p>
            <a:endParaRPr/>
          </a:p>
          <a:p>
            <a:r>
              <a:t>FALA SUGERIDA</a:t>
            </a:r>
          </a:p>
          <a:p>
            <a:r>
              <a:t>A função de custo combina uma sobrecarga fixa por tipo de enlace com um termo proporcional à distância e inversamente proporcional à velocidade efetiva e à qualidade.</a:t>
            </a:r>
          </a:p>
          <a:p>
            <a:endParaRPr/>
          </a:p>
          <a:p>
            <a:r>
              <a:t>Esses parâmetros são abstrações. O valor denominado velocidade efetiva organiza a preferência entre meios no modelo; não representa a velocidade da luz na fibra ou a propagação física no rádio. Por isso, não utilizo os custos calculados para afirmar latências reais de uma tecnologia.</a:t>
            </a:r>
          </a:p>
          <a:p>
            <a:endParaRPr/>
          </a:p>
          <a:p>
            <a:r>
              <a:t>A qualidade está limitada ao intervalo maior que zero e menor ou igual a um. Reduzi-la aumenta o termo de transporte. A sobrecarga não negativa também contribui para o custo. Essas condições têm uma função adicional: elas permitirão demonstrar que a distância dividida pela maior velocidade efetiva é um limite inferior.</a:t>
            </a:r>
          </a:p>
          <a:p>
            <a:endParaRPr/>
          </a:p>
          <a:p>
            <a:r>
              <a:t>Caso a função de custo seja substituída por medições ou por um objetivo não aditivo, a prova precisa ser revisada. Não se deve conservar a heurística apenas por conveniência visual.</a:t>
            </a:r>
          </a:p>
          <a:p>
            <a:endParaRPr/>
          </a:p>
          <a:p>
            <a:r>
              <a:t>FONTE / PROCEDÊNCIA</a:t>
            </a:r>
          </a:p>
          <a:p>
            <a:r>
              <a:t>Modelo: src/aisg/domain/topology.py</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44 — Função de avaliação e fronteira de busca</a:t>
            </a:r>
          </a:p>
          <a:p>
            <a:r>
              <a:t>4 · BUSCA A*</a:t>
            </a:r>
          </a:p>
          <a:p>
            <a:r>
              <a:t>Tempo previsto: 01:32 | Janela: 65:08–66:40</a:t>
            </a:r>
          </a:p>
          <a:p>
            <a:endParaRPr/>
          </a:p>
          <a:p>
            <a:r>
              <a:t>FALA SUGERIDA</a:t>
            </a:r>
          </a:p>
          <a:p>
            <a:r>
              <a:t>A função de avaliação soma duas informações. O termo g representa o custo do melhor caminho conhecido até o estado. O termo h estima o custo que ainda falta para alcançar o objetivo.</a:t>
            </a:r>
          </a:p>
          <a:p>
            <a:endParaRPr/>
          </a:p>
          <a:p>
            <a:r>
              <a:t>A fronteira é uma fila de prioridade ordenada por f. Ao remover um estado, o algoritmo verifica se ele é objetivo e, caso contrário, examina seus sucessores. Se um caminho melhora o custo conhecido de um sucessor, o registro é atualizado.</a:t>
            </a:r>
          </a:p>
          <a:p>
            <a:endParaRPr/>
          </a:p>
          <a:p>
            <a:r>
              <a:t>A busca gulosa usa apenas a estimativa restante e pode ignorar um custo já elevado. A busca de custo uniforme utiliza apenas o custo acumulado, o que corresponde a A* com heurística zero. Essas relações ajudam a interpretar os resultados comparativos.</a:t>
            </a:r>
          </a:p>
          <a:p>
            <a:endParaRPr/>
          </a:p>
          <a:p>
            <a:r>
              <a:t>A garantia de A* depende das propriedades da heurística e do tratamento de estados repetidos. Portanto, a equação sozinha não é uma prova de correção. É necessário relacioná-la à implementação e às condições do problema.</a:t>
            </a:r>
          </a:p>
          <a:p>
            <a:endParaRPr/>
          </a:p>
          <a:p>
            <a:r>
              <a:t>FONTE / PROCEDÊNCIA</a:t>
            </a:r>
          </a:p>
          <a:p>
            <a:r>
              <a:t>Hart, Nilsson e Raphael (1968).</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45 — Condições e decisões de implementação</a:t>
            </a:r>
          </a:p>
          <a:p>
            <a:r>
              <a:t>4 · BUSCA A*</a:t>
            </a:r>
          </a:p>
          <a:p>
            <a:r>
              <a:t>Tempo previsto: 01:29 | Janela: 66:40–68:09</a:t>
            </a:r>
          </a:p>
          <a:p>
            <a:endParaRPr/>
          </a:p>
          <a:p>
            <a:r>
              <a:t>FALA SUGERIDA</a:t>
            </a:r>
          </a:p>
          <a:p>
            <a:r>
              <a:t>A implementação utiliza uma fila de prioridade e mantém o melhor custo conhecido para cada estado. Quando surge um caminho mais barato, atualiza o predecessor e permite reabrir o estado.</a:t>
            </a:r>
          </a:p>
          <a:p>
            <a:endParaRPr/>
          </a:p>
          <a:p>
            <a:r>
              <a:t>Esse mecanismo é importante porque uma heurística pode ser admissível sem ser consistente. Com consistência, um estado não precisa de reabertura para melhorar seu custo após expansão. Ainda assim, implementar o caso mais geral torna explícita a hipótese utilizada.</a:t>
            </a:r>
          </a:p>
          <a:p>
            <a:endParaRPr/>
          </a:p>
          <a:p>
            <a:r>
              <a:t>O desempate prefere maior custo acumulado entre estados com o mesmo f e depois utiliza a ordem de inserção. Essa escolha pode afetar o esforço observado, especialmente quando vários estados compartilham o mesmo valor de avaliação.</a:t>
            </a:r>
          </a:p>
          <a:p>
            <a:endParaRPr/>
          </a:p>
          <a:p>
            <a:r>
              <a:t>As garantias discutidas se referem a um grafo finito com custos não negativos e uma heurística não negativa que não superestima o custo restante e vale zero no objetivo. Problemas infinitos ou modelos com outros tipos de custo exigem hipóteses adicionais.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46 — Admissibilidade da heurística geométrica</a:t>
            </a:r>
          </a:p>
          <a:p>
            <a:r>
              <a:t>4 · BUSCA A*</a:t>
            </a:r>
          </a:p>
          <a:p>
            <a:r>
              <a:t>Tempo previsto: 01:33 | Janela: 68:09–69:42</a:t>
            </a:r>
          </a:p>
          <a:p>
            <a:endParaRPr/>
          </a:p>
          <a:p>
            <a:r>
              <a:t>FALA SUGERIDA</a:t>
            </a:r>
          </a:p>
          <a:p>
            <a:r>
              <a:t>A prova começa por um enlace. Como a sobrecarga é não negativa e o produto entre velocidade efetiva e qualidade não supera a maior velocidade do catálogo, o custo do enlace é pelo menos sua distância dividida por essa velocidade máxima.</a:t>
            </a:r>
          </a:p>
          <a:p>
            <a:endParaRPr/>
          </a:p>
          <a:p>
            <a:r>
              <a:t>Agora considero qualquer caminho entre o nó corrente e o objetivo. A soma dos custos é pelo menos a soma das distâncias dos enlaces dividida pela velocidade máxima. Pela desigualdade triangular, a soma dessas distâncias não pode ser menor que a distância direta entre os extremos.</a:t>
            </a:r>
          </a:p>
          <a:p>
            <a:endParaRPr/>
          </a:p>
          <a:p>
            <a:r>
              <a:t>Assim, o custo de qualquer caminho é maior ou igual ao valor da heurística. Isso também vale para o caminho de menor custo. Portanto, a heurística é admissível para o modelo adotado.</a:t>
            </a:r>
          </a:p>
          <a:p>
            <a:endParaRPr/>
          </a:p>
          <a:p>
            <a:r>
              <a:t>A prova depende da correspondência entre coordenadas, distâncias e custos. Se o peso de um enlace for substituído por um valor abaixo desse limite, a conclusão deixa de decorrer automaticamente das mesmas premissas.</a:t>
            </a:r>
          </a:p>
          <a:p>
            <a:endParaRPr/>
          </a:p>
          <a:p>
            <a:r>
              <a:t>CONDUÇÃO / DEMONSTRAÇÃO</a:t>
            </a:r>
          </a:p>
          <a:p>
            <a:r>
              <a:t>Apontar cada desigualdade e pedir que a audiência identifique a hipótese utilizada.</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47 — Consistência e verificação independente</a:t>
            </a:r>
          </a:p>
          <a:p>
            <a:r>
              <a:t>4 · BUSCA A*</a:t>
            </a:r>
          </a:p>
          <a:p>
            <a:r>
              <a:t>Tempo previsto: 01:35 | Janela: 69:42–71:17</a:t>
            </a:r>
          </a:p>
          <a:p>
            <a:endParaRPr/>
          </a:p>
          <a:p>
            <a:r>
              <a:t>FALA SUGERIDA</a:t>
            </a:r>
          </a:p>
          <a:p>
            <a:r>
              <a:t>A consistência compara a estimativa de um estado com o custo de uma transição e a estimativa do sucessor. A desigualdade triangular fornece a relação entre as distâncias. Ao dividir pela velocidade máxima e usar o limite inferior do custo do enlace, obtemos a condição de consistência.</a:t>
            </a:r>
          </a:p>
          <a:p>
            <a:endParaRPr/>
          </a:p>
          <a:p>
            <a:r>
              <a:t>Com valor zero no objetivo, essa propriedade implica admissibilidade nos estados que podem alcançar o objetivo. Ela também explica por que não é necessário reabrir estados para essa heurística consistente.</a:t>
            </a:r>
          </a:p>
          <a:p>
            <a:endParaRPr/>
          </a:p>
          <a:p>
            <a:r>
              <a:t>A prova não substitui testes. Um erro na leitura da topologia, no cálculo da distância ou na reconstrução do caminho poderia violar o comportamento esperado. Por outro lado, testar alguns grafos não demonstra uma propriedade universal.</a:t>
            </a:r>
          </a:p>
          <a:p>
            <a:endParaRPr/>
          </a:p>
          <a:p>
            <a:r>
              <a:t>Há ainda um cuidado na escolha do oráculo. No repositório, custo uniforme reutiliza a mesma função de A* com heurística zero. Comparar as duas versões é útil para avaliar a heurística, mas um algoritmo independente oferece uma verificação adicional da correção dos custos.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48 — Comparação: NOC → ER_03</a:t>
            </a:r>
          </a:p>
          <a:p>
            <a:r>
              <a:t>4 · BUSCA A*</a:t>
            </a:r>
          </a:p>
          <a:p>
            <a:r>
              <a:t>Tempo previsto: 02:26 | Janela: 71:17–73:43</a:t>
            </a:r>
          </a:p>
          <a:p>
            <a:endParaRPr/>
          </a:p>
          <a:p>
            <a:r>
              <a:t>FALA SUGERIDA</a:t>
            </a:r>
          </a:p>
          <a:p>
            <a:r>
              <a:t>Esta comparação utiliza a mesma origem, o mesmo destino e os mesmos pesos. O ponto central está na primeira linha. A busca em largura encontra quatro saltos, e é o menor número de saltos possível, mas custa quatrocentos e cinquenta e três vírgula cinquenta e um. O caminho de cinco saltos devolvido por custo uniforme e por A* custa trezentos e sessenta vírgula trinta e cinco.</a:t>
            </a:r>
          </a:p>
          <a:p>
            <a:endParaRPr/>
          </a:p>
          <a:p>
            <a:r>
              <a:t>A explicação é física, não numérica. O caminho curto em saltos desce para a malha de 900 MHz, que é lenta e acumula atraso de armazena-e-encaminha a cada repetidor. O caminho com um salto a mais permanece no LTE privativo, que é rápido. Contar saltos e minimizar custo são objetivos diferentes, e neste par eles discordam.</a:t>
            </a:r>
          </a:p>
          <a:p>
            <a:endParaRPr/>
          </a:p>
          <a:p>
            <a:r>
              <a:t>A busca gulosa acerta o custo nesta instância expandindo apenas sete estados, mas essa coincidência não é garantia: a heurística poderia conduzi-la a um caminho caro em outro par. A busca em profundidade encontra o mesmo caminho da largura, dependente da ordem de exploração.</a:t>
            </a:r>
          </a:p>
          <a:p>
            <a:endParaRPr/>
          </a:p>
          <a:p>
            <a:r>
              <a:t>A* e custo uniforme chegam ao mesmo custo, enquanto A* expande vinte e três estados e custo uniforme expande vinte e oito. Essa é uma observação da instância, não uma garantia de economia idêntica em qualquer problema.</a:t>
            </a:r>
          </a:p>
          <a:p>
            <a:endParaRPr/>
          </a:p>
          <a:p>
            <a:r>
              <a:t>Os custos em milissegundos pertencem à escala convencional já definida. A contagem de expansões inclui o estado objetivo removido da fronteira, conforme a instrumentação do código. Declarar essa convenção evita comparar números obtidos por definições diferentes.</a:t>
            </a:r>
          </a:p>
          <a:p>
            <a:endParaRPr/>
          </a:p>
          <a:p>
            <a:r>
              <a:t>CONDUÇÃO / DEMONSTRAÇÃO</a:t>
            </a:r>
          </a:p>
          <a:p>
            <a:r>
              <a:t>Comparar custo, caminho e expansões entre as cinco estratégias.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49 — Caminho ótimo e decomposição do custo</a:t>
            </a:r>
          </a:p>
          <a:p>
            <a:r>
              <a:t>4 · BUSCA A*</a:t>
            </a:r>
          </a:p>
          <a:p>
            <a:r>
              <a:t>Tempo previsto: 02:17 | Janela: 73:43–76:00</a:t>
            </a:r>
          </a:p>
          <a:p>
            <a:endParaRPr/>
          </a:p>
          <a:p>
            <a:r>
              <a:t>FALA SUGERIDA</a:t>
            </a:r>
          </a:p>
          <a:p>
            <a:r>
              <a:t>O caminho devolvido por A* sai do núcleo pela fibra até o eNodeB, atravessa dois repetidores LTE e termina no CPE do site, que entrega ao roteador de borda por cabo. A tabela decompõe o custo por enlace e mostra o acumulado.</a:t>
            </a:r>
          </a:p>
          <a:p>
            <a:endParaRPr/>
          </a:p>
          <a:p>
            <a:r>
              <a:t>Observe onde está o custo. Os três saltos de rádio LTE somam duzentos e noventa e um vírgula setenta e um, e o último salto por cabo custa oito vírgula sessenta e cinco. O meio domina o custo, e é por isso que a escolha entre LTE e 900 MHz importa mais do que o número de saltos.</a:t>
            </a:r>
          </a:p>
          <a:p>
            <a:endParaRPr/>
          </a:p>
          <a:p>
            <a:r>
              <a:t>Essa decomposição é parte da verificação da solução. Não basta confiar no custo informado pelo algoritmo: podemos conferir se cada enlace existe, se a origem e o destino correspondem à consulta e se a soma dos pesos reproduz o resultado.</a:t>
            </a:r>
          </a:p>
          <a:p>
            <a:endParaRPr/>
          </a:p>
          <a:p>
            <a:r>
              <a:t>Os valores foram arredondados apenas para apresentação. Por isso, a soma visual de parcelas com duas casas decimais pode diferir em um centésimo do total obtido com precisão completa. O script utiliza os valores originais para a verificação.</a:t>
            </a:r>
          </a:p>
          <a:p>
            <a:endParaRPr/>
          </a:p>
          <a:p>
            <a:r>
              <a:t>O exemplo também evidencia a diferença entre caminho exato e caminho único. O algoritmo retorna uma sequência concreta de custo mínimo, mas isso não implica que toda instância tenha apenas uma solução ótima. Empates devem ser interpretados segundo a política de desempate e a estrutura do grafo.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50 — Perda de um meio e comutação para o outro</a:t>
            </a:r>
          </a:p>
          <a:p>
            <a:r>
              <a:t>4 · BUSCA A*</a:t>
            </a:r>
          </a:p>
          <a:p>
            <a:r>
              <a:t>Tempo previsto: 01:53 | Janela: 76:00–77:53</a:t>
            </a:r>
          </a:p>
          <a:p>
            <a:endParaRPr/>
          </a:p>
          <a:p>
            <a:r>
              <a:t>FALA SUGERIDA</a:t>
            </a:r>
          </a:p>
          <a:p>
            <a:r>
              <a:t>Agora altero a instância desativando a fibra entre o núcleo e o eNodeB A. Isso não remove um enlace qualquer: retira do núcleo todo o caminho de LTE privativo, e portanto o meio que servia este site.</a:t>
            </a:r>
          </a:p>
          <a:p>
            <a:endParaRPr/>
          </a:p>
          <a:p>
            <a:r>
              <a:t>O site não fica isolado. A busca encontra a rota pela malha de 900 MHz, e o custo sobe de trezentos e sessenta vírgula trinta e cinco para quatrocentos e cinquenta e três vírgula cinquenta e um. É exatamente isso que o duplo acesso compra, e o preço aparece no custo.</a:t>
            </a:r>
          </a:p>
          <a:p>
            <a:endParaRPr/>
          </a:p>
          <a:p>
            <a:r>
              <a:t>Essa demonstração verifica adaptação a uma alteração explícita de conectividade. Ela não simula automaticamente a detecção temporal de uma falha nem o tempo necessário para convergência de um protocolo de roteamento. O enlace foi desativado como entrada da consulta.</a:t>
            </a:r>
          </a:p>
          <a:p>
            <a:endParaRPr/>
          </a:p>
          <a:p>
            <a:r>
              <a:t>Também é importante incluir o caso em que o destino fica isolado. Nesse caso, a resposta correta é ausência de caminho. Um sistema integrado não deve transformar essa ausência em um plano que pressupõe desvio disponível. A comunicação explícita de insucesso é parte da correção funcional.</a:t>
            </a:r>
          </a:p>
          <a:p>
            <a:endParaRPr/>
          </a:p>
          <a:p>
            <a:r>
              <a:t>CONDUÇÃO / DEMONSTRAÇÃO</a:t>
            </a:r>
          </a:p>
          <a:p>
            <a:r>
              <a:t>Conferir que o enlace desativado não aparece no novo caminho.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51 — Esforço de busca no cenário de 60 nós</a:t>
            </a:r>
          </a:p>
          <a:p>
            <a:r>
              <a:t>4 · BUSCA A*</a:t>
            </a:r>
          </a:p>
          <a:p>
            <a:r>
              <a:t>Tempo previsto: 02:54 | Janela: 77:53–80:47</a:t>
            </a:r>
          </a:p>
          <a:p>
            <a:endParaRPr/>
          </a:p>
          <a:p>
            <a:r>
              <a:t>FALA SUGERIDA</a:t>
            </a:r>
          </a:p>
          <a:p>
            <a:r>
              <a:t>A avaliação agregada considera todos os pares ordenados de nós distintos: sessenta vezes cinquenta e nove, totalizando três mil quinhentas e quarenta consultas.</a:t>
            </a:r>
          </a:p>
          <a:p>
            <a:endParaRPr/>
          </a:p>
          <a:p>
            <a:r>
              <a:t>Nessas consultas, a busca de custo uniforme realiza cento e nove mil setecentas e quarenta expansões, enquanto A* realiza noventa e nove mil novecentas e sessenta e três. A redução agregada é aproximadamente oito vírgula nove por cento. Os custos coincidem em todos os pares verificados.</a:t>
            </a:r>
          </a:p>
          <a:p>
            <a:endParaRPr/>
          </a:p>
          <a:p>
            <a:r>
              <a:t>Peço atenção a este ponto, porque ele contraria a expectativa comum. No cenário de trinta nós a redução era de vinte e cinco vírgula nove por cento. Ao dobrar o número de nós, ela caiu para oito vírgula nove por cento. A vantagem da heurística não cresceu com o tamanho do grafo: diminuiu.</a:t>
            </a:r>
          </a:p>
          <a:p>
            <a:endParaRPr/>
          </a:p>
          <a:p>
            <a:r>
              <a:t>A explicação está na estrutura, não no tamanho. Este cenário tem duas redes de acesso quase paralelas, e a distância em linha reta informa pouco sobre qual meio é mais barato, porque meios diferentes têm velocidades diferentes. Uma heurística geométrica é fraca quando a geometria não prediz o custo.</a:t>
            </a:r>
          </a:p>
          <a:p>
            <a:endParaRPr/>
          </a:p>
          <a:p>
            <a:r>
              <a:t>Se eu tivesse apresentado apenas o resultado de trinta nós, a leitura natural seria que a vantagem cresce com o grafo. Duas medições em dois grafos mostram o contrário e continuam sendo apenas duas medições. Para estudar escalabilidade seria necessário variar sistematicamente tamanho e estrutura, controlar os demais fatores e medir tempo, memória e distribuição do esforço.</a:t>
            </a:r>
          </a:p>
          <a:p>
            <a:endParaRPr/>
          </a:p>
          <a:p>
            <a:r>
              <a:t>Para estudar escalabilidade, seria necessário variar sistematicamente tamanho e estrutura, controlar os demais fatores e medir também tempo, memória e distribuição do esforço por consulta. A estatística apresentada é descritiva e não deve ser ampliada além desse alcance.</a:t>
            </a:r>
          </a:p>
          <a:p>
            <a:endParaRPr/>
          </a:p>
          <a:p>
            <a:r>
              <a:t>CONDUÇÃO / DEMONSTRAÇÃO</a:t>
            </a:r>
          </a:p>
          <a:p>
            <a:r>
              <a:t>Explicar o cálculo da redução agregada: 1 − 99963/109740.</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52 — Aprendizagem de heurísticas: possibilidade e cautela</a:t>
            </a:r>
          </a:p>
          <a:p>
            <a:r>
              <a:t>4 · BUSCA A*</a:t>
            </a:r>
          </a:p>
          <a:p>
            <a:r>
              <a:t>Tempo previsto: 01:35 | Janela: 80:47–82:22</a:t>
            </a:r>
          </a:p>
          <a:p>
            <a:endParaRPr/>
          </a:p>
          <a:p>
            <a:r>
              <a:t>FALA SUGERIDA</a:t>
            </a:r>
          </a:p>
          <a:p>
            <a:r>
              <a:t>A aprendizagem pode ser investigada como forma de estimar o custo restante. No roteamento, distâncias ótimas podem ser calculadas por algoritmos de caminho mínimo. Em grafos dirigidos, calcular distâncias até um objetivo exige considerar as transições invertidas.</a:t>
            </a:r>
          </a:p>
          <a:p>
            <a:endParaRPr/>
          </a:p>
          <a:p>
            <a:r>
              <a:t>Esses rótulos são exatos em relação ao grafo e aos pesos, mas não são gratuitos: produzi-los exige computação. No planejamento, enumerar estados e obter custos ótimos pode ser muito mais caro do que no pequeno grafo de comunicação.</a:t>
            </a:r>
          </a:p>
          <a:p>
            <a:endParaRPr/>
          </a:p>
          <a:p>
            <a:r>
              <a:t>Uma heurística aprendida também pode superestimar o custo restante. Bons resultados médios não demonstram admissibilidade. Uma alternativa conservadora é utilizá-la apenas como desempate depois do valor de f calculado com uma heurística admissível. Outra linha seria estudar busca com subotimalidade limitada, mas a garantia exige condições próprias e não decorre de qualquer regressor.</a:t>
            </a:r>
          </a:p>
          <a:p>
            <a:endParaRPr/>
          </a:p>
          <a:p>
            <a:r>
              <a:t>Essa possibilidade é uma agenda de investigação. Não há treinamento de heurística implementado ou validado na demonstração atual.</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53 — Contrato entre diagnóstico, planejamento e busca</a:t>
            </a:r>
          </a:p>
          <a:p>
            <a:r>
              <a:t>5 · INTEGRAÇÃO E AVALIAÇÃO</a:t>
            </a:r>
          </a:p>
          <a:p>
            <a:r>
              <a:t>Tempo previsto: 01:38 | Janela: 82:22–84:00</a:t>
            </a:r>
          </a:p>
          <a:p>
            <a:endParaRPr/>
          </a:p>
          <a:p>
            <a:r>
              <a:t>FALA SUGERIDA</a:t>
            </a:r>
          </a:p>
          <a:p>
            <a:r>
              <a:t>A integração precisa preservar a identidade do incidente. O diagnóstico deve referir-se ao mesmo nó que aparece no estado inicial. A consulta de rota deve utilizar os mesmos extremos considerados na verificação de desvio.</a:t>
            </a:r>
          </a:p>
          <a:p>
            <a:endParaRPr/>
          </a:p>
          <a:p>
            <a:r>
              <a:t>O script da apresentação compõe explicitamente as APIs: seleciona a base simulada, constrói o problema com a opção simulated e informa o destino de roteamento. Essa explicitação é importante porque escolher apenas a topologia simulada na interface original não seleciona automaticamente todos os demais componentes do cenário.</a:t>
            </a:r>
          </a:p>
          <a:p>
            <a:endParaRPr/>
          </a:p>
          <a:p>
            <a:r>
              <a:t>Depois de construir o problema, validamos o plano e conferimos a rota usada para fundamentar a precondição. O script também examina se o nó excluído aparece no caminho.</a:t>
            </a:r>
          </a:p>
          <a:p>
            <a:endParaRPr/>
          </a:p>
          <a:p>
            <a:r>
              <a:t>A composição demonstra compatibilidade funcional entre os módulos. Ela não configura uma execução experimental completa do ambiente, pois ainda não envia ações a um simulador nem coleta medições posteriores. O contrato apresentado identifica exatamente onde esses mecanismos precisariam ser conectados.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54 — Demonstração integrada: congestionamento</a:t>
            </a:r>
          </a:p>
          <a:p>
            <a:r>
              <a:t>5 · INTEGRAÇÃO E AVALIAÇÃO</a:t>
            </a:r>
          </a:p>
          <a:p>
            <a:r>
              <a:t>Tempo previsto: 01:58 | Janela: 84:00–85:58</a:t>
            </a:r>
          </a:p>
          <a:p>
            <a:endParaRPr/>
          </a:p>
          <a:p>
            <a:r>
              <a:t>FALA SUGERIDA</a:t>
            </a:r>
          </a:p>
          <a:p>
            <a:r>
              <a:t>O incidente integrado utiliza o caso ilustrativo de congestionamento associado a SAF_02, um repetidor da malha de 900 MHz. A origem é NOC e o destino é ER_06, um site normalmente servido por essa malha. O sistema especialista produz a hipótese congestion com suporte zero vírgula oitocentos e oitenta e oito.</a:t>
            </a:r>
          </a:p>
          <a:p>
            <a:endParaRPr/>
          </a:p>
          <a:p>
            <a:r>
              <a:t>A integração converte essa hipótese em uma condição do problema de planejamento. A disponibilidade de rota alternativa é verificada evitando SAF_02 e preservando ER_06 como destino. O plano inclui o operador de desvio e é validado pela reaplicação das ações.</a:t>
            </a:r>
          </a:p>
          <a:p>
            <a:endParaRPr/>
          </a:p>
          <a:p>
            <a:r>
              <a:t>A rota apresentada abandona a malha de 900 MHz e alcança ER_06 pelo LTE privativo, sem atravessar o repetidor afetado. O custo sobe para aproximadamente quinhentos e nove vírgula cinquenta e cinco na escala do modelo, porque o desvio troca o meio de acesso do site.</a:t>
            </a:r>
          </a:p>
          <a:p>
            <a:endParaRPr/>
          </a:p>
          <a:p>
            <a:r>
              <a:t>Durante a demonstração, observamos quatro relações: hipótese e nó; nó e estado inicial; destino e consulta de viabilidade; plano e rota mostrada. A coerência dessas relações é a evidência de integração. A recuperação efetiva do tráfego continua sendo uma questão experimental futura.</a:t>
            </a:r>
          </a:p>
          <a:p>
            <a:endParaRPr/>
          </a:p>
          <a:p>
            <a:r>
              <a:t>CONDUÇÃO / DEMONSTRAÇÃO</a:t>
            </a:r>
          </a:p>
          <a:p>
            <a:r>
              <a:t>Executar o comando; conferir base, predicado run-active, ação de desvio, destino e nó excluído.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55 — Procedimento experimental proposto</a:t>
            </a:r>
          </a:p>
          <a:p>
            <a:r>
              <a:t>5 · INTEGRAÇÃO E AVALIAÇÃO</a:t>
            </a:r>
          </a:p>
          <a:p>
            <a:r>
              <a:t>Tempo previsto: 01:02 | Janela: 85:58–87:00</a:t>
            </a:r>
          </a:p>
          <a:p>
            <a:endParaRPr/>
          </a:p>
          <a:p>
            <a:r>
              <a:t>FALA SUGERIDA</a:t>
            </a:r>
          </a:p>
          <a:p>
            <a:r>
              <a:t>Uma campanha experimental deve começar pela definição das perguntas. Para diagnóstico, podemos perguntar se o sistema discrimina mecanismos semelhantes em condições não usadas no ajuste. Para planejamento, se as restrições permanecem satisfeitas sob combinações de falhas. Para busca, como o esforço varia com estrutura e pesos.</a:t>
            </a:r>
          </a:p>
          <a:p>
            <a:endParaRPr/>
          </a:p>
          <a:p>
            <a:r>
              <a:t>As execuções precisam registrar versão, configuração e controle da aleatoriedade. Em ns-3, sementes, números de execução e fluxos aleatórios devem ser tratados conforme a documentação da versão utilizada. Repetir o mesmo fluxo não cria uma nova replicação independente.</a:t>
            </a:r>
          </a:p>
          <a:p>
            <a:endParaRPr/>
          </a:p>
          <a:p>
            <a:r>
              <a:t>A análise deve separar ajuste e avaliação. Se parâmetros forem calibrados em determinados cenários, o desempenho final precisa ser estimado em condições reservadas. Também é necessário registrar insucessos e abstenções, evitando apresentar apenas exemplos bem-sucedidos.</a:t>
            </a:r>
          </a:p>
          <a:p>
            <a:endParaRPr/>
          </a:p>
          <a:p>
            <a:r>
              <a:t>Os indicadores e as unidades de análise precisam ser definidos antes de calcular intervalos ou testes estatísticos. Pacotes da mesma execução e pares do mesmo grafo compartilham dependências que não podem ser ignoradas.</a:t>
            </a:r>
          </a:p>
          <a:p>
            <a:endParaRPr/>
          </a:p>
          <a:p>
            <a:r>
              <a:t>FONTE / PROCEDÊNCIA</a:t>
            </a:r>
          </a:p>
          <a:p>
            <a:r>
              <a:t>ns-3 Manual: Random Variables; protocolo proposto para o projeto.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56 — O que cada evidência permite concluir</a:t>
            </a:r>
          </a:p>
          <a:p>
            <a:r>
              <a:t>5 · INTEGRAÇÃO E AVALIAÇÃO</a:t>
            </a:r>
          </a:p>
          <a:p>
            <a:r>
              <a:t>Tempo previsto: 01:33 | Janela: 87:00–88:33</a:t>
            </a:r>
          </a:p>
          <a:p>
            <a:endParaRPr/>
          </a:p>
          <a:p>
            <a:r>
              <a:t>FALA SUGERIDA</a:t>
            </a:r>
          </a:p>
          <a:p>
            <a:r>
              <a:t>Esta matriz resume a interpretação das evidências. Os testes automatizados verificam propriedades exercitadas por suas entradas. A auditoria encontrou todos os testes então executados aprovados, mas também identificou uma falha no comando de planejamento. Isso mostra que aprovação da suíte não cobre automaticamente toda interface de uso.</a:t>
            </a:r>
          </a:p>
          <a:p>
            <a:endParaRPr/>
          </a:p>
          <a:p>
            <a:r>
              <a:t>Reaplicar um plano verifica sua consistência com o modelo de transição. Uma prova da heurística estabelece uma propriedade matemática sob hipóteses. As oitocentas e setenta consultas caracterizam o comportamento sobre o grafo escolhido.</a:t>
            </a:r>
          </a:p>
          <a:p>
            <a:endParaRPr/>
          </a:p>
          <a:p>
            <a:r>
              <a:t>Essas evidências são complementares. Nenhuma precisa ser desvalorizada, mas cada uma deve sustentar a conclusão apropriada. A confiabilidade da apresentação depende de preservar essa correspondência.</a:t>
            </a:r>
          </a:p>
          <a:p>
            <a:endParaRPr/>
          </a:p>
          <a:p>
            <a:r>
              <a:t>Na documentação que acompanha o arquivo, registro o estado auditado e os comandos utilizados. Contagens de testes podem mudar com o desenvolvimento do repositório; por isso, a apresentação privilegia as propriedades verificadas e mantém os detalhes da execução no relatório de avaliação.</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57 — Contribuições e limitações do trabalho</a:t>
            </a:r>
          </a:p>
          <a:p>
            <a:r>
              <a:t>6 · SÍNTESE E CONTINUIDADE</a:t>
            </a:r>
          </a:p>
          <a:p>
            <a:r>
              <a:t>Tempo previsto: 01:27 | Janela: 88:33–90:00</a:t>
            </a:r>
          </a:p>
          <a:p>
            <a:endParaRPr/>
          </a:p>
          <a:p>
            <a:r>
              <a:t>FALA SUGERIDA</a:t>
            </a:r>
          </a:p>
          <a:p>
            <a:r>
              <a:t>A contribuição do trabalho está na implementação de três métodos clássicos em torno de um domínio comum e na explicitação de suas interfaces. O conhecimento pode ser inspecionado regra por regra; os planos podem ser reaplicados; os caminhos podem ter seus custos recalculados.</a:t>
            </a:r>
          </a:p>
          <a:p>
            <a:endParaRPr/>
          </a:p>
          <a:p>
            <a:r>
              <a:t>Essa organização oferece uma base adequada para discutir correção algorítmica e modelagem. Também permite identificar onde a incerteza foi representada e onde ela foi simplificada. O diagnóstico possui graus de suporte, enquanto planejamento e roteamento operam com condições e custos determinados na instância.</a:t>
            </a:r>
          </a:p>
          <a:p>
            <a:endParaRPr/>
          </a:p>
          <a:p>
            <a:r>
              <a:t>As limitações principais são a ausência de calibração empírica dos limiares, o caráter ilustrativo dos casos e a falta de uma campanha documentada que conecte ações e observações de um simulador. O trabalho não apresenta esses limites como detalhes periféricos. Eles definem o alcance das conclusões e orientam os próximos experimentos.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58 — Agenda de investigação e critérios de avanço</a:t>
            </a:r>
          </a:p>
          <a:p>
            <a:r>
              <a:t>6 · SÍNTESE E CONTINUIDADE</a:t>
            </a:r>
          </a:p>
          <a:p>
            <a:r>
              <a:t>Tempo previsto: 00:00 | Janela: 90:00–90:00</a:t>
            </a:r>
          </a:p>
          <a:p>
            <a:endParaRPr/>
          </a:p>
          <a:p>
            <a:r>
              <a:t>FALA SUGERIDA</a:t>
            </a:r>
          </a:p>
          <a:p>
            <a:r>
              <a:t>A continuidade pode ser organizada por critérios de avanço observáveis. Para o diagnóstico, o próximo passo é avaliar casos que não participaram da construção das regras. Isso inclui situações ambíguas, informação ausente e combinações de falhas.</a:t>
            </a:r>
          </a:p>
          <a:p>
            <a:endParaRPr/>
          </a:p>
          <a:p>
            <a:r>
              <a:t>Para o planejamento, o avanço é conectar os efeitos simbólicos à execução instrumentada. Uma ação pode falhar ou produzir um resultado diferente do previsto, o que exige observação e replanejamento.</a:t>
            </a:r>
          </a:p>
          <a:p>
            <a:endParaRPr/>
          </a:p>
          <a:p>
            <a:r>
              <a:t>Para a busca, é necessário investigar famílias de grafos e funções de custo. O resultado favorável em uma topologia não basta para caracterizar escalabilidade.</a:t>
            </a:r>
          </a:p>
          <a:p>
            <a:endParaRPr/>
          </a:p>
          <a:p>
            <a:r>
              <a:t>Por fim, a reprodução deve ser tratada como parte do método. A apresentação, o roteiro, os comandos e as configurações precisam corresponder à mesma versão. O objetivo é que outra pessoa consiga repetir o percurso de avaliação e contestar suas conclusões com base em artefatos verificáveis.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t>SLIDE 59 — Referências e procedência dos resultados</a:t>
            </a:r>
          </a:p>
          <a:p>
            <a:r>
              <a:t>7 · REFERÊNCIAS E DISCUSSÃO</a:t>
            </a:r>
          </a:p>
          <a:p>
            <a:r>
              <a:t>Tempo previsto: 00:00 | Janela: 90:00–90:00</a:t>
            </a:r>
          </a:p>
          <a:p>
            <a:endParaRPr/>
          </a:p>
          <a:p>
            <a:r>
              <a:t>FALA SUGERIDA</a:t>
            </a:r>
          </a:p>
          <a:p>
            <a:r>
              <a:t>A fundamentação utiliza trabalhos primários sobre fatores de certeza, planejamento e busca heurística. A referência de Shortliffe e Buchanan contextualiza o raciocínio inexato por regras. Fikes e Nilsson fundamentam a representação e a estratégia de planejamento associadas a STRIPS. Hart, Nilsson e Raphael fornecem a referência histórica central de A*.</a:t>
            </a:r>
          </a:p>
          <a:p>
            <a:endParaRPr/>
          </a:p>
          <a:p>
            <a:r>
              <a:t>O artigo de Dijkstra contextualiza o problema de caminhos mínimos. A documentação de ns-3 é utilizada para orientar a proposta de controle da aleatoriedade em uma campanha futura, não como evidência de experimentos já executados.</a:t>
            </a:r>
          </a:p>
          <a:p>
            <a:endParaRPr/>
          </a:p>
          <a:p>
            <a:r>
              <a:t>Os resultados numéricos apresentados provêm do código e das instâncias do repositório. O roteiro contém os comandos correspondentes e o relatório identifica as condições de verificação. As referências são complementares: a literatura fundamenta conceitos, enquanto o repositório fornece evidência da implementação particular examinada nesta apresentação.</a:t>
            </a:r>
          </a:p>
          <a:p>
            <a:endParaRPr/>
          </a:p>
          <a:p>
            <a:r>
              <a:t>CONDUÇÃO / DEMONSTRAÇÃO</a:t>
            </a:r>
          </a:p>
          <a:p>
            <a:r>
              <a:t>Não ler a bibliografia integralmente. Indicar que os links também constam no roteiro.</a:t>
            </a:r>
          </a:p>
          <a:p>
            <a:endParaRPr/>
          </a:p>
          <a:p>
            <a:r>
              <a:t>[1] https://www.shortliffe.net/Buchanan-Shortliffe-1984/Chapter-11.pdf</a:t>
            </a:r>
          </a:p>
          <a:p>
            <a:r>
              <a:t>[2] https://ai.stanford.edu/~nilsson/OnlinePubs-Nils/PublishedPapers/strips.pdf</a:t>
            </a:r>
          </a:p>
          <a:p>
            <a:r>
              <a:t>[3] https://ai.stanford.edu/~nilsson/OnlinePubs-Nils/PublishedPapers/astar.pdf</a:t>
            </a:r>
          </a:p>
          <a:p>
            <a:r>
              <a:t>[4] https://doi.org/10.1007/BF01386390</a:t>
            </a:r>
          </a:p>
          <a:p>
            <a:r>
              <a:t>[5] https://www.nsnam.org/docs/manual/html/random-variables.html</a:t>
            </a:r>
          </a:p>
          <a:p>
            <a:r>
              <a:t>[6] https://github.com/fsd-dantas/ai4systems</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pt-BR"/>
          </a:p>
        </p:txBody>
      </p:sp>
      <p:sp>
        <p:nvSpPr>
          <p:cNvPr id="3" name="Notes Placeholder 2"/>
          <p:cNvSpPr>
            <a:spLocks noGrp="1"/>
          </p:cNvSpPr>
          <p:nvPr>
            <p:ph type="body" sz="quarter" idx="3"/>
          </p:nvPr>
        </p:nvSpPr>
        <p:spPr/>
        <p:txBody>
          <a:bodyPr/>
          <a:lstStyle/>
          <a:p>
            <a:r>
              <a:rPr dirty="0"/>
              <a:t>SLIDE 60 — </a:t>
            </a:r>
            <a:r>
              <a:rPr dirty="0" err="1"/>
              <a:t>Discussão</a:t>
            </a:r>
            <a:endParaRPr dirty="0"/>
          </a:p>
          <a:p>
            <a:r>
              <a:rPr dirty="0"/>
              <a:t>7 · REFERÊNCIAS E DISCUSSÃO</a:t>
            </a:r>
          </a:p>
          <a:p>
            <a:r>
              <a:rPr dirty="0"/>
              <a:t>Tempo </a:t>
            </a:r>
            <a:r>
              <a:rPr dirty="0" err="1"/>
              <a:t>previsto</a:t>
            </a:r>
            <a:r>
              <a:rPr dirty="0"/>
              <a:t>: 00:00 | Janela: 90:00–90:00</a:t>
            </a:r>
          </a:p>
          <a:p>
            <a:endParaRPr dirty="0"/>
          </a:p>
          <a:p>
            <a:r>
              <a:rPr dirty="0"/>
              <a:t>FALA SUGERIDA</a:t>
            </a:r>
          </a:p>
          <a:p>
            <a:r>
              <a:rPr dirty="0" err="1"/>
              <a:t>Encerro</a:t>
            </a:r>
            <a:r>
              <a:rPr dirty="0"/>
              <a:t> </a:t>
            </a:r>
            <a:r>
              <a:rPr dirty="0" err="1"/>
              <a:t>retomando</a:t>
            </a:r>
            <a:r>
              <a:rPr dirty="0"/>
              <a:t> a </a:t>
            </a:r>
            <a:r>
              <a:rPr dirty="0" err="1"/>
              <a:t>distinção</a:t>
            </a:r>
            <a:r>
              <a:rPr dirty="0"/>
              <a:t> central: uma </a:t>
            </a:r>
            <a:r>
              <a:rPr dirty="0" err="1"/>
              <a:t>solução</a:t>
            </a:r>
            <a:r>
              <a:rPr dirty="0"/>
              <a:t> </a:t>
            </a:r>
            <a:r>
              <a:rPr dirty="0" err="1"/>
              <a:t>pode</a:t>
            </a:r>
            <a:r>
              <a:rPr dirty="0"/>
              <a:t> </a:t>
            </a:r>
            <a:r>
              <a:rPr dirty="0" err="1"/>
              <a:t>estar</a:t>
            </a:r>
            <a:r>
              <a:rPr dirty="0"/>
              <a:t> </a:t>
            </a:r>
            <a:r>
              <a:rPr dirty="0" err="1"/>
              <a:t>correta</a:t>
            </a:r>
            <a:r>
              <a:rPr dirty="0"/>
              <a:t> em </a:t>
            </a:r>
            <a:r>
              <a:rPr dirty="0" err="1"/>
              <a:t>relação</a:t>
            </a:r>
            <a:r>
              <a:rPr dirty="0"/>
              <a:t> </a:t>
            </a:r>
            <a:r>
              <a:rPr dirty="0" err="1"/>
              <a:t>ao</a:t>
            </a:r>
            <a:r>
              <a:rPr dirty="0"/>
              <a:t> </a:t>
            </a:r>
            <a:r>
              <a:rPr dirty="0" err="1"/>
              <a:t>modelo</a:t>
            </a:r>
            <a:r>
              <a:rPr dirty="0"/>
              <a:t> e </a:t>
            </a:r>
            <a:r>
              <a:rPr dirty="0" err="1"/>
              <a:t>ainda</a:t>
            </a:r>
            <a:r>
              <a:rPr dirty="0"/>
              <a:t> </a:t>
            </a:r>
            <a:r>
              <a:rPr dirty="0" err="1"/>
              <a:t>exigir</a:t>
            </a:r>
            <a:r>
              <a:rPr dirty="0"/>
              <a:t> </a:t>
            </a:r>
            <a:r>
              <a:rPr dirty="0" err="1"/>
              <a:t>evidências</a:t>
            </a:r>
            <a:r>
              <a:rPr dirty="0"/>
              <a:t> </a:t>
            </a:r>
            <a:r>
              <a:rPr dirty="0" err="1"/>
              <a:t>adicionais</a:t>
            </a:r>
            <a:r>
              <a:rPr dirty="0"/>
              <a:t> para </a:t>
            </a:r>
            <a:r>
              <a:rPr dirty="0" err="1"/>
              <a:t>orientar</a:t>
            </a:r>
            <a:r>
              <a:rPr dirty="0"/>
              <a:t> </a:t>
            </a:r>
            <a:r>
              <a:rPr dirty="0" err="1"/>
              <a:t>decisões</a:t>
            </a:r>
            <a:r>
              <a:rPr dirty="0"/>
              <a:t> no </a:t>
            </a:r>
            <a:r>
              <a:rPr dirty="0" err="1"/>
              <a:t>ambiente</a:t>
            </a:r>
            <a:r>
              <a:rPr dirty="0"/>
              <a:t>.</a:t>
            </a:r>
          </a:p>
          <a:p>
            <a:endParaRPr dirty="0"/>
          </a:p>
          <a:p>
            <a:r>
              <a:rPr dirty="0"/>
              <a:t>No </a:t>
            </a:r>
            <a:r>
              <a:rPr dirty="0" err="1"/>
              <a:t>diagnóstico</a:t>
            </a:r>
            <a:r>
              <a:rPr dirty="0"/>
              <a:t>, </a:t>
            </a:r>
            <a:r>
              <a:rPr dirty="0" err="1"/>
              <a:t>essa</a:t>
            </a:r>
            <a:r>
              <a:rPr dirty="0"/>
              <a:t> </a:t>
            </a:r>
            <a:r>
              <a:rPr dirty="0" err="1"/>
              <a:t>passagem</a:t>
            </a:r>
            <a:r>
              <a:rPr dirty="0"/>
              <a:t> </a:t>
            </a:r>
            <a:r>
              <a:rPr dirty="0" err="1"/>
              <a:t>depende</a:t>
            </a:r>
            <a:r>
              <a:rPr dirty="0"/>
              <a:t> de </a:t>
            </a:r>
            <a:r>
              <a:rPr dirty="0" err="1"/>
              <a:t>validar</a:t>
            </a:r>
            <a:r>
              <a:rPr dirty="0"/>
              <a:t> as </a:t>
            </a:r>
            <a:r>
              <a:rPr dirty="0" err="1"/>
              <a:t>associações</a:t>
            </a:r>
            <a:r>
              <a:rPr dirty="0"/>
              <a:t> entre </a:t>
            </a:r>
            <a:r>
              <a:rPr dirty="0" err="1"/>
              <a:t>evidências</a:t>
            </a:r>
            <a:r>
              <a:rPr dirty="0"/>
              <a:t> e </a:t>
            </a:r>
            <a:r>
              <a:rPr dirty="0" err="1"/>
              <a:t>hipóteses</a:t>
            </a:r>
            <a:r>
              <a:rPr dirty="0"/>
              <a:t>. No </a:t>
            </a:r>
            <a:r>
              <a:rPr dirty="0" err="1"/>
              <a:t>planejamento</a:t>
            </a:r>
            <a:r>
              <a:rPr dirty="0"/>
              <a:t>, </a:t>
            </a:r>
            <a:r>
              <a:rPr dirty="0" err="1"/>
              <a:t>depende</a:t>
            </a:r>
            <a:r>
              <a:rPr dirty="0"/>
              <a:t> de </a:t>
            </a:r>
            <a:r>
              <a:rPr dirty="0" err="1"/>
              <a:t>verificar</a:t>
            </a:r>
            <a:r>
              <a:rPr dirty="0"/>
              <a:t> se as </a:t>
            </a:r>
            <a:r>
              <a:rPr dirty="0" err="1"/>
              <a:t>ações</a:t>
            </a:r>
            <a:r>
              <a:rPr dirty="0"/>
              <a:t> </a:t>
            </a:r>
            <a:r>
              <a:rPr dirty="0" err="1"/>
              <a:t>produzem</a:t>
            </a:r>
            <a:r>
              <a:rPr dirty="0"/>
              <a:t> </a:t>
            </a:r>
            <a:r>
              <a:rPr dirty="0" err="1"/>
              <a:t>os</a:t>
            </a:r>
            <a:r>
              <a:rPr dirty="0"/>
              <a:t> </a:t>
            </a:r>
            <a:r>
              <a:rPr dirty="0" err="1"/>
              <a:t>efeitos</a:t>
            </a:r>
            <a:r>
              <a:rPr dirty="0"/>
              <a:t> </a:t>
            </a:r>
            <a:r>
              <a:rPr dirty="0" err="1"/>
              <a:t>previstos</a:t>
            </a:r>
            <a:r>
              <a:rPr dirty="0"/>
              <a:t>. No </a:t>
            </a:r>
            <a:r>
              <a:rPr dirty="0" err="1"/>
              <a:t>roteamento</a:t>
            </a:r>
            <a:r>
              <a:rPr dirty="0"/>
              <a:t>, </a:t>
            </a:r>
            <a:r>
              <a:rPr dirty="0" err="1"/>
              <a:t>depende</a:t>
            </a:r>
            <a:r>
              <a:rPr dirty="0"/>
              <a:t> de </a:t>
            </a:r>
            <a:r>
              <a:rPr dirty="0" err="1"/>
              <a:t>justificar</a:t>
            </a:r>
            <a:r>
              <a:rPr dirty="0"/>
              <a:t> a </a:t>
            </a:r>
            <a:r>
              <a:rPr dirty="0" err="1"/>
              <a:t>correspondência</a:t>
            </a:r>
            <a:r>
              <a:rPr dirty="0"/>
              <a:t> entre </a:t>
            </a:r>
            <a:r>
              <a:rPr dirty="0" err="1"/>
              <a:t>os</a:t>
            </a:r>
            <a:r>
              <a:rPr dirty="0"/>
              <a:t> pesos </a:t>
            </a:r>
            <a:r>
              <a:rPr dirty="0" err="1"/>
              <a:t>escolhidos</a:t>
            </a:r>
            <a:r>
              <a:rPr dirty="0"/>
              <a:t> e o </a:t>
            </a:r>
            <a:r>
              <a:rPr dirty="0" err="1"/>
              <a:t>objetivo</a:t>
            </a:r>
            <a:r>
              <a:rPr dirty="0"/>
              <a:t> de comunicação </a:t>
            </a:r>
            <a:r>
              <a:rPr dirty="0" err="1"/>
              <a:t>que</a:t>
            </a:r>
            <a:r>
              <a:rPr dirty="0"/>
              <a:t> </a:t>
            </a:r>
            <a:r>
              <a:rPr dirty="0" err="1"/>
              <a:t>realmente</a:t>
            </a:r>
            <a:r>
              <a:rPr dirty="0"/>
              <a:t> </a:t>
            </a:r>
            <a:r>
              <a:rPr dirty="0" err="1"/>
              <a:t>importa</a:t>
            </a:r>
            <a:r>
              <a:rPr dirty="0"/>
              <a:t>.</a:t>
            </a:r>
          </a:p>
          <a:p>
            <a:endParaRPr dirty="0"/>
          </a:p>
          <a:p>
            <a:r>
              <a:rPr dirty="0" err="1"/>
              <a:t>Gostaria</a:t>
            </a:r>
            <a:r>
              <a:rPr dirty="0"/>
              <a:t> de </a:t>
            </a:r>
            <a:r>
              <a:rPr dirty="0" err="1"/>
              <a:t>propor</a:t>
            </a:r>
            <a:r>
              <a:rPr dirty="0"/>
              <a:t> uma </a:t>
            </a:r>
            <a:r>
              <a:rPr dirty="0" err="1"/>
              <a:t>discussão</a:t>
            </a:r>
            <a:r>
              <a:rPr dirty="0"/>
              <a:t> </a:t>
            </a:r>
            <a:r>
              <a:rPr dirty="0" err="1"/>
              <a:t>sobre</a:t>
            </a:r>
            <a:r>
              <a:rPr dirty="0"/>
              <a:t> qual dessas interfaces </a:t>
            </a:r>
            <a:r>
              <a:rPr dirty="0" err="1"/>
              <a:t>representa</a:t>
            </a:r>
            <a:r>
              <a:rPr dirty="0"/>
              <a:t> a </a:t>
            </a:r>
            <a:r>
              <a:rPr dirty="0" err="1"/>
              <a:t>maior</a:t>
            </a:r>
            <a:r>
              <a:rPr dirty="0"/>
              <a:t> </a:t>
            </a:r>
            <a:r>
              <a:rPr dirty="0" err="1"/>
              <a:t>limitação</a:t>
            </a:r>
            <a:r>
              <a:rPr dirty="0"/>
              <a:t> no </a:t>
            </a:r>
            <a:r>
              <a:rPr dirty="0" err="1"/>
              <a:t>estágio</a:t>
            </a:r>
            <a:r>
              <a:rPr dirty="0"/>
              <a:t> </a:t>
            </a:r>
            <a:r>
              <a:rPr dirty="0" err="1"/>
              <a:t>atual</a:t>
            </a:r>
            <a:r>
              <a:rPr dirty="0"/>
              <a:t> e qual </a:t>
            </a:r>
            <a:r>
              <a:rPr dirty="0" err="1"/>
              <a:t>experimento</a:t>
            </a:r>
            <a:r>
              <a:rPr dirty="0"/>
              <a:t> seria </a:t>
            </a:r>
            <a:r>
              <a:rPr dirty="0" err="1"/>
              <a:t>mais</a:t>
            </a:r>
            <a:r>
              <a:rPr dirty="0"/>
              <a:t> </a:t>
            </a:r>
            <a:r>
              <a:rPr dirty="0" err="1"/>
              <a:t>informativo</a:t>
            </a:r>
            <a:r>
              <a:rPr dirty="0"/>
              <a:t> para </a:t>
            </a:r>
            <a:r>
              <a:rPr dirty="0" err="1"/>
              <a:t>reduzi</a:t>
            </a:r>
            <a:r>
              <a:rPr dirty="0"/>
              <a:t>-la. Uma </a:t>
            </a:r>
            <a:r>
              <a:rPr dirty="0" err="1"/>
              <a:t>resposta</a:t>
            </a:r>
            <a:r>
              <a:rPr dirty="0"/>
              <a:t> </a:t>
            </a:r>
            <a:r>
              <a:rPr dirty="0" err="1"/>
              <a:t>pode</a:t>
            </a:r>
            <a:r>
              <a:rPr dirty="0"/>
              <a:t> </a:t>
            </a:r>
            <a:r>
              <a:rPr dirty="0" err="1"/>
              <a:t>priorizar</a:t>
            </a:r>
            <a:r>
              <a:rPr dirty="0"/>
              <a:t> a </a:t>
            </a:r>
            <a:r>
              <a:rPr dirty="0" err="1"/>
              <a:t>calibração</a:t>
            </a:r>
            <a:r>
              <a:rPr dirty="0"/>
              <a:t> da base; </a:t>
            </a:r>
            <a:r>
              <a:rPr dirty="0" err="1"/>
              <a:t>outra</a:t>
            </a:r>
            <a:r>
              <a:rPr dirty="0"/>
              <a:t> </a:t>
            </a:r>
            <a:r>
              <a:rPr dirty="0" err="1"/>
              <a:t>pode</a:t>
            </a:r>
            <a:r>
              <a:rPr dirty="0"/>
              <a:t> </a:t>
            </a:r>
            <a:r>
              <a:rPr dirty="0" err="1"/>
              <a:t>priorizar</a:t>
            </a:r>
            <a:r>
              <a:rPr dirty="0"/>
              <a:t> a </a:t>
            </a:r>
            <a:r>
              <a:rPr dirty="0" err="1"/>
              <a:t>execução</a:t>
            </a:r>
            <a:r>
              <a:rPr dirty="0"/>
              <a:t> </a:t>
            </a:r>
            <a:r>
              <a:rPr dirty="0" err="1"/>
              <a:t>instrumentada</a:t>
            </a:r>
            <a:r>
              <a:rPr dirty="0"/>
              <a:t> do plano. O critério </a:t>
            </a:r>
            <a:r>
              <a:rPr dirty="0" err="1"/>
              <a:t>que</a:t>
            </a:r>
            <a:r>
              <a:rPr dirty="0"/>
              <a:t> </a:t>
            </a:r>
            <a:r>
              <a:rPr dirty="0" err="1"/>
              <a:t>proponho</a:t>
            </a:r>
            <a:r>
              <a:rPr dirty="0"/>
              <a:t> é a </a:t>
            </a:r>
            <a:r>
              <a:rPr dirty="0" err="1"/>
              <a:t>capacidade</a:t>
            </a:r>
            <a:r>
              <a:rPr dirty="0"/>
              <a:t> de </a:t>
            </a:r>
            <a:r>
              <a:rPr dirty="0" err="1"/>
              <a:t>produzir</a:t>
            </a:r>
            <a:r>
              <a:rPr dirty="0"/>
              <a:t> </a:t>
            </a:r>
            <a:r>
              <a:rPr dirty="0" err="1"/>
              <a:t>evidência</a:t>
            </a:r>
            <a:r>
              <a:rPr dirty="0"/>
              <a:t> </a:t>
            </a:r>
            <a:r>
              <a:rPr dirty="0" err="1"/>
              <a:t>que</a:t>
            </a:r>
            <a:r>
              <a:rPr dirty="0"/>
              <a:t> </a:t>
            </a:r>
            <a:r>
              <a:rPr dirty="0" err="1"/>
              <a:t>possa</a:t>
            </a:r>
            <a:r>
              <a:rPr dirty="0"/>
              <a:t> </a:t>
            </a:r>
            <a:r>
              <a:rPr dirty="0" err="1"/>
              <a:t>confirmar</a:t>
            </a:r>
            <a:r>
              <a:rPr dirty="0"/>
              <a:t> </a:t>
            </a:r>
            <a:r>
              <a:rPr dirty="0" err="1"/>
              <a:t>ou</a:t>
            </a:r>
            <a:r>
              <a:rPr dirty="0"/>
              <a:t> </a:t>
            </a:r>
            <a:r>
              <a:rPr dirty="0" err="1"/>
              <a:t>refutar</a:t>
            </a:r>
            <a:r>
              <a:rPr dirty="0"/>
              <a:t> uma </a:t>
            </a:r>
            <a:r>
              <a:rPr dirty="0" err="1"/>
              <a:t>hipótese</a:t>
            </a:r>
            <a:r>
              <a:rPr dirty="0"/>
              <a:t> </a:t>
            </a:r>
            <a:r>
              <a:rPr dirty="0" err="1"/>
              <a:t>concreta</a:t>
            </a:r>
            <a:r>
              <a:rPr dirty="0"/>
              <a:t>. </a:t>
            </a:r>
            <a:r>
              <a:rPr dirty="0" err="1"/>
              <a:t>Obrigado</a:t>
            </a:r>
            <a:r>
              <a:rPr dirty="0"/>
              <a:t>; fico à </a:t>
            </a:r>
            <a:r>
              <a:rPr dirty="0" err="1"/>
              <a:t>disposição</a:t>
            </a:r>
            <a:r>
              <a:rPr dirty="0"/>
              <a:t> para </a:t>
            </a:r>
            <a:r>
              <a:rPr dirty="0" err="1"/>
              <a:t>discutir</a:t>
            </a:r>
            <a:r>
              <a:rPr dirty="0"/>
              <a:t> as </a:t>
            </a:r>
            <a:r>
              <a:rPr dirty="0" err="1"/>
              <a:t>decisões</a:t>
            </a:r>
            <a:r>
              <a:rPr dirty="0"/>
              <a:t> de </a:t>
            </a:r>
            <a:r>
              <a:rPr dirty="0" err="1"/>
              <a:t>modelagem</a:t>
            </a:r>
            <a:r>
              <a:rPr dirty="0"/>
              <a:t> e </a:t>
            </a:r>
            <a:r>
              <a:rPr dirty="0" err="1"/>
              <a:t>os</a:t>
            </a:r>
            <a:r>
              <a:rPr dirty="0"/>
              <a:t> </a:t>
            </a:r>
            <a:r>
              <a:rPr dirty="0" err="1"/>
              <a:t>resultados</a:t>
            </a:r>
            <a:r>
              <a:rPr dirty="0"/>
              <a:t>.</a:t>
            </a:r>
          </a:p>
          <a:p>
            <a:endParaRPr dirty="0"/>
          </a:p>
          <a:p>
            <a:r>
              <a:rPr dirty="0"/>
              <a:t>CONDUÇÃO / DEMONSTRAÇÃO</a:t>
            </a:r>
          </a:p>
          <a:p>
            <a:r>
              <a:rPr dirty="0" err="1"/>
              <a:t>Abrir</a:t>
            </a:r>
            <a:r>
              <a:rPr dirty="0"/>
              <a:t> a </a:t>
            </a:r>
            <a:r>
              <a:rPr dirty="0" err="1"/>
              <a:t>discussão</a:t>
            </a:r>
            <a:r>
              <a:rPr dirty="0"/>
              <a:t>. Usar o </a:t>
            </a:r>
            <a:r>
              <a:rPr dirty="0" err="1"/>
              <a:t>roteiro</a:t>
            </a:r>
            <a:r>
              <a:rPr dirty="0"/>
              <a:t> e o script de </a:t>
            </a:r>
            <a:r>
              <a:rPr dirty="0" err="1"/>
              <a:t>demonstração</a:t>
            </a:r>
            <a:r>
              <a:rPr dirty="0"/>
              <a:t> para </a:t>
            </a:r>
            <a:r>
              <a:rPr dirty="0" err="1"/>
              <a:t>aprofundar</a:t>
            </a:r>
            <a:r>
              <a:rPr dirty="0"/>
              <a:t> </a:t>
            </a:r>
            <a:r>
              <a:rPr dirty="0" err="1"/>
              <a:t>perguntas</a:t>
            </a:r>
            <a:r>
              <a:rPr dirty="0"/>
              <a:t> </a:t>
            </a:r>
            <a:r>
              <a:rPr dirty="0" err="1"/>
              <a:t>técnicas</a:t>
            </a:r>
            <a:r>
              <a:rPr dirty="0"/>
              <a:t>.</a:t>
            </a:r>
          </a:p>
        </p:txBody>
      </p:sp>
      <p:sp>
        <p:nvSpPr>
          <p:cNvPr id="4" name="Slide Number Placeholder 3"/>
          <p:cNvSpPr>
            <a:spLocks noGrp="1"/>
          </p:cNvSpPr>
          <p:nvPr>
            <p:ph type="sldNum" sz="quarter" idx="5"/>
          </p:nvPr>
        </p:nvSpPr>
        <p:spPr/>
        <p:txBody>
          <a:bodyPr/>
          <a:lstStyle/>
          <a:p>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47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3237F-C3FC-4846-88E0-7F628DC7CEF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50B2D18-5336-3F45-A5DB-1609F1E58DE9}"/>
              </a:ext>
            </a:extLst>
          </p:cNvPr>
          <p:cNvSpPr>
            <a:spLocks noGrp="1"/>
          </p:cNvSpPr>
          <p:nvPr>
            <p:ph idx="1"/>
          </p:nvPr>
        </p:nvSpPr>
        <p:spPr>
          <a:xfrm>
            <a:off x="838200" y="1825625"/>
            <a:ext cx="10515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Rodapé 4">
            <a:extLst>
              <a:ext uri="{FF2B5EF4-FFF2-40B4-BE49-F238E27FC236}">
                <a16:creationId xmlns:a16="http://schemas.microsoft.com/office/drawing/2014/main" id="{10B02B42-5A8D-FF47-BDF8-AE1E10AEB9B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9E43636-7209-6E4C-81DD-C079EDAC744A}"/>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
        <p:nvSpPr>
          <p:cNvPr id="7" name="Retângulo 6">
            <a:extLst>
              <a:ext uri="{FF2B5EF4-FFF2-40B4-BE49-F238E27FC236}">
                <a16:creationId xmlns:a16="http://schemas.microsoft.com/office/drawing/2014/main" id="{58ACC670-E9EE-C9BF-9113-43D54ED59BCC}"/>
              </a:ext>
            </a:extLst>
          </p:cNvPr>
          <p:cNvSpPr/>
          <p:nvPr userDrawn="1"/>
        </p:nvSpPr>
        <p:spPr>
          <a:xfrm>
            <a:off x="1540565" y="6281530"/>
            <a:ext cx="1649896" cy="439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1306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07557D-2F6C-584C-B08B-7202F22D04E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70E6E12D-21CE-3E4E-93DC-0566C4A50E5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100FD01-9FAB-5242-8832-DFD74E4EF668}"/>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E4022E12-6641-AD45-9AD7-63AA2BC22FEB}"/>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5AE509A8-81B3-BC42-A17A-03D5B4E674A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344683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1B042-FA96-0046-AC8F-02FB6106ED2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E2A7980-B797-0340-AFC1-3BA1AEFB33EE}"/>
              </a:ext>
            </a:extLst>
          </p:cNvPr>
          <p:cNvSpPr>
            <a:spLocks noGrp="1"/>
          </p:cNvSpPr>
          <p:nvPr>
            <p:ph sz="half" idx="1"/>
          </p:nvPr>
        </p:nvSpPr>
        <p:spPr>
          <a:xfrm>
            <a:off x="838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3B2D33B-7689-BB49-AF3C-FBA30A7DD1FC}"/>
              </a:ext>
            </a:extLst>
          </p:cNvPr>
          <p:cNvSpPr>
            <a:spLocks noGrp="1"/>
          </p:cNvSpPr>
          <p:nvPr>
            <p:ph sz="half" idx="2"/>
          </p:nvPr>
        </p:nvSpPr>
        <p:spPr>
          <a:xfrm>
            <a:off x="6172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0496422-2012-BF45-9BF9-9F03B989945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112A5800-465D-6343-9B9F-E5074AAA68A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A320169E-FDBE-2642-B1C6-F396D6733810}"/>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162704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568DE-CA90-8943-8E3B-6BCA9A7D59A9}"/>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28A109C-4E7E-C249-8663-BA034C92C2F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DA00E26-49F5-7C46-9807-E710126D9384}"/>
              </a:ext>
            </a:extLst>
          </p:cNvPr>
          <p:cNvSpPr>
            <a:spLocks noGrp="1"/>
          </p:cNvSpPr>
          <p:nvPr>
            <p:ph sz="half" idx="2"/>
          </p:nvPr>
        </p:nvSpPr>
        <p:spPr>
          <a:xfrm>
            <a:off x="839788" y="2505075"/>
            <a:ext cx="5157787"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E89714D-340E-1042-9716-75122060B63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68E22C24-80CC-B64D-958F-861C6E932C43}"/>
              </a:ext>
            </a:extLst>
          </p:cNvPr>
          <p:cNvSpPr>
            <a:spLocks noGrp="1"/>
          </p:cNvSpPr>
          <p:nvPr>
            <p:ph sz="quarter" idx="4"/>
          </p:nvPr>
        </p:nvSpPr>
        <p:spPr>
          <a:xfrm>
            <a:off x="6172200" y="2505075"/>
            <a:ext cx="5183188"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7CC4025-A95C-EE46-93C7-113D1DB5DBCB}"/>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8" name="Espaço Reservado para Rodapé 7">
            <a:extLst>
              <a:ext uri="{FF2B5EF4-FFF2-40B4-BE49-F238E27FC236}">
                <a16:creationId xmlns:a16="http://schemas.microsoft.com/office/drawing/2014/main" id="{39DDF7E4-26B3-5640-B02E-5A059C2460E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0282619A-E153-F64D-8A0A-90ADB5261C22}"/>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84164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886D7-2029-3849-B2AF-D4254BD8F207}"/>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56AD631-D12E-0A43-A4B2-34BD5F7932D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4" name="Espaço Reservado para Rodapé 3">
            <a:extLst>
              <a:ext uri="{FF2B5EF4-FFF2-40B4-BE49-F238E27FC236}">
                <a16:creationId xmlns:a16="http://schemas.microsoft.com/office/drawing/2014/main" id="{CB8894AF-CD21-A54A-B1AC-F22EA77D649A}"/>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F8E2A004-569A-A846-96B5-268E84C7657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709721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BF9C40E-F3D8-174D-8897-E1286A7FD875}"/>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3" name="Espaço Reservado para Rodapé 2">
            <a:extLst>
              <a:ext uri="{FF2B5EF4-FFF2-40B4-BE49-F238E27FC236}">
                <a16:creationId xmlns:a16="http://schemas.microsoft.com/office/drawing/2014/main" id="{FBAF9C72-0176-2D49-A135-74D9BB1B34E1}"/>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CB7EBAD3-7AFF-1446-9614-B1000EEB59B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142474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8B91D1-933F-D442-96F2-7E417F637D8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5645735-AA08-F84B-9AB6-9157ABFA936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17CD056-3CFC-B048-931E-78B888DCF4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FAC4021-4831-AE4A-A75A-DEAEB5A4037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87017886-1037-0F49-A3A4-76BA3091A8B5}"/>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C1A5089-28A6-524F-B561-0E2F5CFFC12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86065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31552-DD45-F849-A82E-F03ECC12FA5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B5D5D9D-9878-5649-A589-7F11E930501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F3C43375-1CF7-704D-B9D3-077EE12578D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8F0DC97-29D9-3741-A824-D0AF639F06E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49CC0792-30AF-1549-B8B6-0732B7AE3D7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81514C85-FE9E-B44D-8558-BF8DCF40BBD7}"/>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63595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5851E-50B9-204A-A492-C895127D61D6}"/>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6BC6D9D-4803-9640-B977-C6758177CF29}"/>
              </a:ext>
            </a:extLst>
          </p:cNvPr>
          <p:cNvSpPr>
            <a:spLocks noGrp="1"/>
          </p:cNvSpPr>
          <p:nvPr>
            <p:ph type="body" orient="vert" idx="1"/>
          </p:nvPr>
        </p:nvSpPr>
        <p:spPr>
          <a:xfrm>
            <a:off x="838200" y="1825625"/>
            <a:ext cx="10515600" cy="43513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2B5CE2-B28F-414A-A36D-9FEFEDB605C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60ECE862-E922-594C-8E24-3C3D2282E1A7}"/>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6BB98F9-4304-7A4D-A8AC-5993D6E84EE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895282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D91FE92-8621-A249-A763-1AB686BE2293}"/>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6F2C073-A6A6-5544-B957-9E964157990E}"/>
              </a:ext>
            </a:extLst>
          </p:cNvPr>
          <p:cNvSpPr>
            <a:spLocks noGrp="1"/>
          </p:cNvSpPr>
          <p:nvPr>
            <p:ph type="body" orient="vert" idx="1"/>
          </p:nvPr>
        </p:nvSpPr>
        <p:spPr>
          <a:xfrm>
            <a:off x="838200" y="365125"/>
            <a:ext cx="7734300" cy="58118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17AEB8-8067-D943-B83B-1AC63A2EE72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90EF7C2E-9C27-114D-BE41-5B207061945F}"/>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133FF784-4316-8748-B63B-6CDF5579761B}"/>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60221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Imagem 2" descr="Padrão do plano de fundo&#10;&#10;Descrição gerada automaticamente com confiança baixa">
            <a:extLst>
              <a:ext uri="{FF2B5EF4-FFF2-40B4-BE49-F238E27FC236}">
                <a16:creationId xmlns:a16="http://schemas.microsoft.com/office/drawing/2014/main" id="{DA6EB240-15CE-7D46-A968-108AB86B7A51}"/>
              </a:ext>
            </a:extLst>
          </p:cNvPr>
          <p:cNvPicPr>
            <a:picLocks noChangeAspect="1"/>
          </p:cNvPicPr>
          <p:nvPr userDrawn="1"/>
        </p:nvPicPr>
        <p:blipFill>
          <a:blip r:embed="rId13"/>
          <a:stretch>
            <a:fillRect/>
          </a:stretch>
        </p:blipFill>
        <p:spPr>
          <a:xfrm>
            <a:off x="0" y="0"/>
            <a:ext cx="12192000" cy="6858000"/>
          </a:xfrm>
          <a:prstGeom prst="rect">
            <a:avLst/>
          </a:prstGeom>
        </p:spPr>
      </p:pic>
      <p:pic>
        <p:nvPicPr>
          <p:cNvPr id="4" name="Imagem 3" descr="Uma imagem contendo Logotipo&#10;&#10;Descrição gerada automaticamente">
            <a:extLst>
              <a:ext uri="{FF2B5EF4-FFF2-40B4-BE49-F238E27FC236}">
                <a16:creationId xmlns:a16="http://schemas.microsoft.com/office/drawing/2014/main" id="{E61E87A7-A503-43EA-BA4B-19D3E975F3E0}"/>
              </a:ext>
            </a:extLst>
          </p:cNvPr>
          <p:cNvPicPr>
            <a:picLocks noChangeAspect="1"/>
          </p:cNvPicPr>
          <p:nvPr userDrawn="1"/>
        </p:nvPicPr>
        <p:blipFill>
          <a:blip r:embed="rId14"/>
          <a:stretch>
            <a:fillRect/>
          </a:stretch>
        </p:blipFill>
        <p:spPr>
          <a:xfrm>
            <a:off x="94904" y="6192982"/>
            <a:ext cx="3076861" cy="553835"/>
          </a:xfrm>
          <a:prstGeom prst="rect">
            <a:avLst/>
          </a:prstGeom>
        </p:spPr>
      </p:pic>
    </p:spTree>
    <p:extLst>
      <p:ext uri="{BB962C8B-B14F-4D97-AF65-F5344CB8AC3E}">
        <p14:creationId xmlns:p14="http://schemas.microsoft.com/office/powerpoint/2010/main" val="2593210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fsd-dantas/ai4systems/blob/main/topics/symbolic-network-restoration/src/aisg/domain/data/backhaul-topology-60.json"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github.com/fsd-dantas/ai4systems" TargetMode="External"/><Relationship Id="rId3" Type="http://schemas.openxmlformats.org/officeDocument/2006/relationships/hyperlink" Target="https://www.shortliffe.net/Buchanan-Shortliffe-1984/Chapter-11.pdf" TargetMode="External"/><Relationship Id="rId7" Type="http://schemas.openxmlformats.org/officeDocument/2006/relationships/hyperlink" Target="https://www.nsnam.org/docs/manual/html/random-variables.htm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doi.org/10.1007/BF01386390" TargetMode="External"/><Relationship Id="rId5" Type="http://schemas.openxmlformats.org/officeDocument/2006/relationships/hyperlink" Target="https://ai.stanford.edu/~nilsson/OnlinePubs-Nils/PublishedPapers/astar.pdf" TargetMode="External"/><Relationship Id="rId4" Type="http://schemas.openxmlformats.org/officeDocument/2006/relationships/hyperlink" Target="https://ai.stanford.edu/~nilsson/OnlinePubs-Nils/PublishedPapers/strips.pdf"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Uma imagem contendo Forma&#10;&#10;Descrição gerada automaticamente">
            <a:extLst>
              <a:ext uri="{FF2B5EF4-FFF2-40B4-BE49-F238E27FC236}">
                <a16:creationId xmlns:a16="http://schemas.microsoft.com/office/drawing/2014/main" id="{8A30E2B3-F0B9-3248-BAE6-F1209292D2C1}"/>
              </a:ext>
            </a:extLst>
          </p:cNvPr>
          <p:cNvPicPr>
            <a:picLocks noChangeAspect="1"/>
          </p:cNvPicPr>
          <p:nvPr/>
        </p:nvPicPr>
        <p:blipFill>
          <a:blip r:embed="rId3"/>
          <a:stretch>
            <a:fillRect/>
          </a:stretch>
        </p:blipFill>
        <p:spPr>
          <a:xfrm>
            <a:off x="-4194" y="-3211"/>
            <a:ext cx="12192000" cy="6858000"/>
          </a:xfrm>
          <a:prstGeom prst="rect">
            <a:avLst/>
          </a:prstGeom>
        </p:spPr>
      </p:pic>
      <p:pic>
        <p:nvPicPr>
          <p:cNvPr id="8" name="Imagem 7" descr="Texto, Aplicativo&#10;&#10;Descrição gerada automaticamente">
            <a:extLst>
              <a:ext uri="{FF2B5EF4-FFF2-40B4-BE49-F238E27FC236}">
                <a16:creationId xmlns:a16="http://schemas.microsoft.com/office/drawing/2014/main" id="{6B1950E5-AADD-F143-85B7-CCB042F31474}"/>
              </a:ext>
            </a:extLst>
          </p:cNvPr>
          <p:cNvPicPr>
            <a:picLocks noChangeAspect="1"/>
          </p:cNvPicPr>
          <p:nvPr/>
        </p:nvPicPr>
        <p:blipFill>
          <a:blip r:embed="rId4"/>
          <a:stretch>
            <a:fillRect/>
          </a:stretch>
        </p:blipFill>
        <p:spPr>
          <a:xfrm>
            <a:off x="297013" y="3099030"/>
            <a:ext cx="3008993" cy="1049821"/>
          </a:xfrm>
          <a:prstGeom prst="rect">
            <a:avLst/>
          </a:prstGeom>
        </p:spPr>
      </p:pic>
      <p:sp>
        <p:nvSpPr>
          <p:cNvPr id="9" name="TextBox 8"/>
          <p:cNvSpPr txBox="1"/>
          <p:nvPr/>
        </p:nvSpPr>
        <p:spPr>
          <a:xfrm>
            <a:off x="3962400" y="2505138"/>
            <a:ext cx="7342631" cy="2029968"/>
          </a:xfrm>
          <a:prstGeom prst="rect">
            <a:avLst/>
          </a:prstGeom>
          <a:noFill/>
        </p:spPr>
        <p:txBody>
          <a:bodyPr wrap="square" lIns="0" tIns="0" rIns="0" bIns="0">
            <a:noAutofit/>
          </a:bodyPr>
          <a:lstStyle/>
          <a:p>
            <a:pPr algn="l">
              <a:spcBef>
                <a:spcPts val="0"/>
              </a:spcBef>
              <a:spcAft>
                <a:spcPts val="0"/>
              </a:spcAft>
            </a:pPr>
            <a:r>
              <a:rPr lang="pt-BR" sz="4400" b="1" dirty="0">
                <a:solidFill>
                  <a:srgbClr val="FFFFFF"/>
                </a:solidFill>
                <a:latin typeface="Aptos"/>
              </a:rPr>
              <a:t>Inteligência Artificial Simbólica na Restauração de Redes </a:t>
            </a:r>
            <a:r>
              <a:rPr lang="pt-BR" sz="4400" b="1" i="1" dirty="0">
                <a:solidFill>
                  <a:srgbClr val="FFFFFF"/>
                </a:solidFill>
                <a:latin typeface="Aptos"/>
              </a:rPr>
              <a:t>Backhaul</a:t>
            </a:r>
            <a:r>
              <a:rPr lang="pt-BR" sz="4400" b="1" dirty="0">
                <a:solidFill>
                  <a:srgbClr val="FFFFFF"/>
                </a:solidFill>
                <a:latin typeface="Aptos"/>
              </a:rPr>
              <a:t> sem Fio</a:t>
            </a:r>
            <a:endParaRPr sz="4400" b="1" dirty="0">
              <a:solidFill>
                <a:srgbClr val="FFFFFF"/>
              </a:solidFill>
              <a:latin typeface="Aptos"/>
            </a:endParaRPr>
          </a:p>
        </p:txBody>
      </p:sp>
      <p:sp>
        <p:nvSpPr>
          <p:cNvPr id="10" name="TextBox 9"/>
          <p:cNvSpPr txBox="1"/>
          <p:nvPr/>
        </p:nvSpPr>
        <p:spPr>
          <a:xfrm>
            <a:off x="4068661" y="4069080"/>
            <a:ext cx="7342631" cy="868680"/>
          </a:xfrm>
          <a:prstGeom prst="rect">
            <a:avLst/>
          </a:prstGeom>
          <a:noFill/>
        </p:spPr>
        <p:txBody>
          <a:bodyPr wrap="square" lIns="0" tIns="0" rIns="0" bIns="0">
            <a:noAutofit/>
          </a:bodyPr>
          <a:lstStyle/>
          <a:p>
            <a:pPr algn="l">
              <a:lnSpc>
                <a:spcPct val="108000"/>
              </a:lnSpc>
              <a:spcBef>
                <a:spcPts val="0"/>
              </a:spcBef>
              <a:spcAft>
                <a:spcPts val="0"/>
              </a:spcAft>
            </a:pPr>
            <a:endParaRPr sz="2800" b="1" i="1" dirty="0">
              <a:solidFill>
                <a:srgbClr val="FFFFFF"/>
              </a:solidFill>
              <a:latin typeface="Aptos"/>
            </a:endParaRPr>
          </a:p>
        </p:txBody>
      </p:sp>
      <p:sp>
        <p:nvSpPr>
          <p:cNvPr id="11" name="TextBox 10"/>
          <p:cNvSpPr txBox="1"/>
          <p:nvPr/>
        </p:nvSpPr>
        <p:spPr>
          <a:xfrm>
            <a:off x="394287" y="5148072"/>
            <a:ext cx="6995160" cy="411480"/>
          </a:xfrm>
          <a:prstGeom prst="rect">
            <a:avLst/>
          </a:prstGeom>
          <a:noFill/>
        </p:spPr>
        <p:txBody>
          <a:bodyPr wrap="square" lIns="0" tIns="0" rIns="0" bIns="0">
            <a:noAutofit/>
          </a:bodyPr>
          <a:lstStyle/>
          <a:p>
            <a:pPr algn="l">
              <a:lnSpc>
                <a:spcPct val="108000"/>
              </a:lnSpc>
              <a:spcBef>
                <a:spcPts val="0"/>
              </a:spcBef>
              <a:spcAft>
                <a:spcPts val="0"/>
              </a:spcAft>
            </a:pPr>
            <a:r>
              <a:rPr sz="2000" b="1" dirty="0">
                <a:solidFill>
                  <a:srgbClr val="FFFFFF"/>
                </a:solidFill>
                <a:latin typeface="Aptos"/>
              </a:rPr>
              <a:t>INTRODUÇÃO À INTELIGÊNCIA ARTIFICIAL</a:t>
            </a:r>
          </a:p>
        </p:txBody>
      </p:sp>
      <p:sp>
        <p:nvSpPr>
          <p:cNvPr id="12" name="TextBox 11"/>
          <p:cNvSpPr txBox="1"/>
          <p:nvPr/>
        </p:nvSpPr>
        <p:spPr>
          <a:xfrm>
            <a:off x="7038358" y="5623560"/>
            <a:ext cx="3120705" cy="384048"/>
          </a:xfrm>
          <a:prstGeom prst="rect">
            <a:avLst/>
          </a:prstGeom>
          <a:noFill/>
        </p:spPr>
        <p:txBody>
          <a:bodyPr wrap="square" lIns="0" tIns="0" rIns="0" bIns="0">
            <a:noAutofit/>
          </a:bodyPr>
          <a:lstStyle/>
          <a:p>
            <a:pPr algn="l">
              <a:lnSpc>
                <a:spcPct val="108000"/>
              </a:lnSpc>
              <a:spcBef>
                <a:spcPts val="0"/>
              </a:spcBef>
              <a:spcAft>
                <a:spcPts val="0"/>
              </a:spcAft>
            </a:pPr>
            <a:r>
              <a:rPr sz="2100" b="0" dirty="0">
                <a:solidFill>
                  <a:srgbClr val="FFFFFF"/>
                </a:solidFill>
                <a:latin typeface="Aptos"/>
              </a:rPr>
              <a:t>Fernando Sabino Dantas</a:t>
            </a:r>
          </a:p>
        </p:txBody>
      </p:sp>
      <p:sp>
        <p:nvSpPr>
          <p:cNvPr id="13" name="TextBox 12"/>
          <p:cNvSpPr txBox="1"/>
          <p:nvPr/>
        </p:nvSpPr>
        <p:spPr>
          <a:xfrm>
            <a:off x="377505" y="6108192"/>
            <a:ext cx="5961888" cy="320040"/>
          </a:xfrm>
          <a:prstGeom prst="rect">
            <a:avLst/>
          </a:prstGeom>
          <a:noFill/>
        </p:spPr>
        <p:txBody>
          <a:bodyPr wrap="square" lIns="0" tIns="0" rIns="0" bIns="0">
            <a:noAutofit/>
          </a:bodyPr>
          <a:lstStyle/>
          <a:p>
            <a:pPr algn="l">
              <a:lnSpc>
                <a:spcPct val="108000"/>
              </a:lnSpc>
              <a:spcBef>
                <a:spcPts val="0"/>
              </a:spcBef>
              <a:spcAft>
                <a:spcPts val="0"/>
              </a:spcAft>
            </a:pPr>
            <a:r>
              <a:rPr sz="1800" b="0" dirty="0">
                <a:solidFill>
                  <a:srgbClr val="FFFFFF"/>
                </a:solidFill>
                <a:latin typeface="Aptos"/>
              </a:rPr>
              <a:t>Prof. Edson Emílio Scalabrin</a:t>
            </a:r>
          </a:p>
        </p:txBody>
      </p:sp>
    </p:spTree>
    <p:extLst>
      <p:ext uri="{BB962C8B-B14F-4D97-AF65-F5344CB8AC3E}">
        <p14:creationId xmlns:p14="http://schemas.microsoft.com/office/powerpoint/2010/main" val="376805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ÍNDICE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02 / 60</a:t>
            </a:r>
          </a:p>
        </p:txBody>
      </p:sp>
      <p:sp>
        <p:nvSpPr>
          <p:cNvPr id="4" name="slide-title-0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Estrutura</a:t>
            </a:r>
            <a:r>
              <a:rPr sz="2700" b="1" dirty="0">
                <a:solidFill>
                  <a:srgbClr val="172235"/>
                </a:solidFill>
                <a:latin typeface="Aptos"/>
              </a:rPr>
              <a:t> da </a:t>
            </a:r>
            <a:r>
              <a:rPr lang="pt-BR" sz="2700" b="1" dirty="0">
                <a:solidFill>
                  <a:srgbClr val="172235"/>
                </a:solidFill>
                <a:latin typeface="Aptos"/>
              </a:rPr>
              <a:t>A</a:t>
            </a:r>
            <a:r>
              <a:rPr sz="2700" b="1" dirty="0">
                <a:solidFill>
                  <a:srgbClr val="172235"/>
                </a:solidFill>
                <a:latin typeface="Aptos"/>
              </a:rPr>
              <a:t>presentação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59536" y="13441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1</a:t>
            </a:r>
          </a:p>
        </p:txBody>
      </p:sp>
      <p:sp>
        <p:nvSpPr>
          <p:cNvPr id="7" name="TextBox 6"/>
          <p:cNvSpPr txBox="1"/>
          <p:nvPr/>
        </p:nvSpPr>
        <p:spPr>
          <a:xfrm>
            <a:off x="1371600" y="13441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274C77"/>
                </a:solidFill>
                <a:latin typeface="Aptos"/>
              </a:rPr>
              <a:t>Fundamentos e </a:t>
            </a:r>
            <a:r>
              <a:rPr lang="pt-BR" b="1" dirty="0">
                <a:solidFill>
                  <a:srgbClr val="274C77"/>
                </a:solidFill>
                <a:latin typeface="Aptos"/>
              </a:rPr>
              <a:t>D</a:t>
            </a:r>
            <a:r>
              <a:rPr sz="1800" b="1" dirty="0">
                <a:solidFill>
                  <a:srgbClr val="274C77"/>
                </a:solidFill>
                <a:latin typeface="Aptos"/>
              </a:rPr>
              <a:t>omínio</a:t>
            </a:r>
          </a:p>
        </p:txBody>
      </p:sp>
      <p:sp>
        <p:nvSpPr>
          <p:cNvPr id="8" name="TextBox 7"/>
          <p:cNvSpPr txBox="1"/>
          <p:nvPr/>
        </p:nvSpPr>
        <p:spPr>
          <a:xfrm>
            <a:off x="5513832" y="13441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Problema, cenário e grandezas de comunicação</a:t>
            </a:r>
          </a:p>
        </p:txBody>
      </p:sp>
      <p:cxnSp>
        <p:nvCxnSpPr>
          <p:cNvPr id="9" name="Connector 8"/>
          <p:cNvCxnSpPr/>
          <p:nvPr/>
        </p:nvCxnSpPr>
        <p:spPr>
          <a:xfrm>
            <a:off x="1371600" y="1837943"/>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19613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2</a:t>
            </a:r>
          </a:p>
        </p:txBody>
      </p:sp>
      <p:sp>
        <p:nvSpPr>
          <p:cNvPr id="11" name="TextBox 10"/>
          <p:cNvSpPr txBox="1"/>
          <p:nvPr/>
        </p:nvSpPr>
        <p:spPr>
          <a:xfrm>
            <a:off x="1371600" y="19613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8C3041"/>
                </a:solidFill>
                <a:latin typeface="Aptos"/>
              </a:rPr>
              <a:t>Sistema </a:t>
            </a:r>
            <a:r>
              <a:rPr lang="pt-BR" b="1" dirty="0">
                <a:solidFill>
                  <a:srgbClr val="8C3041"/>
                </a:solidFill>
                <a:latin typeface="Aptos"/>
              </a:rPr>
              <a:t>E</a:t>
            </a:r>
            <a:r>
              <a:rPr sz="1800" b="1" dirty="0">
                <a:solidFill>
                  <a:srgbClr val="8C3041"/>
                </a:solidFill>
                <a:latin typeface="Aptos"/>
              </a:rPr>
              <a:t>specialista</a:t>
            </a:r>
          </a:p>
        </p:txBody>
      </p:sp>
      <p:sp>
        <p:nvSpPr>
          <p:cNvPr id="12" name="TextBox 11"/>
          <p:cNvSpPr txBox="1"/>
          <p:nvPr/>
        </p:nvSpPr>
        <p:spPr>
          <a:xfrm>
            <a:off x="5513832" y="19613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Representação, inferência e fatores de certeza</a:t>
            </a:r>
          </a:p>
        </p:txBody>
      </p:sp>
      <p:cxnSp>
        <p:nvCxnSpPr>
          <p:cNvPr id="13" name="Connector 12"/>
          <p:cNvCxnSpPr/>
          <p:nvPr/>
        </p:nvCxnSpPr>
        <p:spPr>
          <a:xfrm>
            <a:off x="1371600" y="24551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 y="257860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3E6B5C"/>
                </a:solidFill>
                <a:latin typeface="Aptos"/>
              </a:rPr>
              <a:t>3</a:t>
            </a:r>
          </a:p>
        </p:txBody>
      </p:sp>
      <p:sp>
        <p:nvSpPr>
          <p:cNvPr id="15" name="TextBox 14"/>
          <p:cNvSpPr txBox="1"/>
          <p:nvPr/>
        </p:nvSpPr>
        <p:spPr>
          <a:xfrm>
            <a:off x="1371600" y="257860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3E6B5C"/>
                </a:solidFill>
                <a:latin typeface="Aptos"/>
              </a:rPr>
              <a:t>Planejamento </a:t>
            </a:r>
            <a:r>
              <a:rPr lang="pt-BR" b="1" dirty="0">
                <a:solidFill>
                  <a:srgbClr val="3E6B5C"/>
                </a:solidFill>
                <a:latin typeface="Aptos"/>
              </a:rPr>
              <a:t>A</a:t>
            </a:r>
            <a:r>
              <a:rPr sz="1800" b="1" dirty="0">
                <a:solidFill>
                  <a:srgbClr val="3E6B5C"/>
                </a:solidFill>
                <a:latin typeface="Aptos"/>
              </a:rPr>
              <a:t>utomático</a:t>
            </a:r>
          </a:p>
        </p:txBody>
      </p:sp>
      <p:sp>
        <p:nvSpPr>
          <p:cNvPr id="16" name="TextBox 15"/>
          <p:cNvSpPr txBox="1"/>
          <p:nvPr/>
        </p:nvSpPr>
        <p:spPr>
          <a:xfrm>
            <a:off x="5513832" y="257860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STRIPS, análise meios-fins e busca progressiva</a:t>
            </a:r>
          </a:p>
        </p:txBody>
      </p:sp>
      <p:cxnSp>
        <p:nvCxnSpPr>
          <p:cNvPr id="17" name="Connector 16"/>
          <p:cNvCxnSpPr/>
          <p:nvPr/>
        </p:nvCxnSpPr>
        <p:spPr>
          <a:xfrm>
            <a:off x="1371600" y="307238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9536" y="319582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4</a:t>
            </a:r>
          </a:p>
        </p:txBody>
      </p:sp>
      <p:sp>
        <p:nvSpPr>
          <p:cNvPr id="19" name="TextBox 18"/>
          <p:cNvSpPr txBox="1"/>
          <p:nvPr/>
        </p:nvSpPr>
        <p:spPr>
          <a:xfrm>
            <a:off x="1371600" y="319582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Busca A*</a:t>
            </a:r>
          </a:p>
        </p:txBody>
      </p:sp>
      <p:sp>
        <p:nvSpPr>
          <p:cNvPr id="20" name="TextBox 19"/>
          <p:cNvSpPr txBox="1"/>
          <p:nvPr/>
        </p:nvSpPr>
        <p:spPr>
          <a:xfrm>
            <a:off x="5513832" y="319582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Caminho, garantias e comparação experimental</a:t>
            </a:r>
          </a:p>
        </p:txBody>
      </p:sp>
      <p:cxnSp>
        <p:nvCxnSpPr>
          <p:cNvPr id="21" name="Connector 20"/>
          <p:cNvCxnSpPr/>
          <p:nvPr/>
        </p:nvCxnSpPr>
        <p:spPr>
          <a:xfrm>
            <a:off x="1371600" y="368960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59536" y="381304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5</a:t>
            </a:r>
          </a:p>
        </p:txBody>
      </p:sp>
      <p:sp>
        <p:nvSpPr>
          <p:cNvPr id="23" name="TextBox 22"/>
          <p:cNvSpPr txBox="1"/>
          <p:nvPr/>
        </p:nvSpPr>
        <p:spPr>
          <a:xfrm>
            <a:off x="1371600" y="381304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8C3041"/>
                </a:solidFill>
                <a:latin typeface="Aptos"/>
              </a:rPr>
              <a:t>Integração e </a:t>
            </a:r>
            <a:r>
              <a:rPr lang="pt-BR" b="1" dirty="0">
                <a:solidFill>
                  <a:srgbClr val="8C3041"/>
                </a:solidFill>
                <a:latin typeface="Aptos"/>
              </a:rPr>
              <a:t>A</a:t>
            </a:r>
            <a:r>
              <a:rPr sz="1800" b="1" dirty="0">
                <a:solidFill>
                  <a:srgbClr val="8C3041"/>
                </a:solidFill>
                <a:latin typeface="Aptos"/>
              </a:rPr>
              <a:t>valiação</a:t>
            </a:r>
          </a:p>
        </p:txBody>
      </p:sp>
      <p:sp>
        <p:nvSpPr>
          <p:cNvPr id="24" name="TextBox 23"/>
          <p:cNvSpPr txBox="1"/>
          <p:nvPr/>
        </p:nvSpPr>
        <p:spPr>
          <a:xfrm>
            <a:off x="5513832" y="381304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Contratos, reprodução e limites de validade</a:t>
            </a:r>
          </a:p>
        </p:txBody>
      </p:sp>
      <p:cxnSp>
        <p:nvCxnSpPr>
          <p:cNvPr id="25" name="Connector 24"/>
          <p:cNvCxnSpPr/>
          <p:nvPr/>
        </p:nvCxnSpPr>
        <p:spPr>
          <a:xfrm>
            <a:off x="1371600" y="430682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9536" y="44302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6</a:t>
            </a:r>
          </a:p>
        </p:txBody>
      </p:sp>
      <p:sp>
        <p:nvSpPr>
          <p:cNvPr id="27" name="TextBox 26"/>
          <p:cNvSpPr txBox="1"/>
          <p:nvPr/>
        </p:nvSpPr>
        <p:spPr>
          <a:xfrm>
            <a:off x="1371600" y="44302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274C77"/>
                </a:solidFill>
                <a:latin typeface="Aptos"/>
              </a:rPr>
              <a:t>Síntese e </a:t>
            </a:r>
            <a:r>
              <a:rPr lang="pt-BR" b="1" dirty="0">
                <a:solidFill>
                  <a:srgbClr val="274C77"/>
                </a:solidFill>
                <a:latin typeface="Aptos"/>
              </a:rPr>
              <a:t>C</a:t>
            </a:r>
            <a:r>
              <a:rPr sz="1800" b="1" dirty="0">
                <a:solidFill>
                  <a:srgbClr val="274C77"/>
                </a:solidFill>
                <a:latin typeface="Aptos"/>
              </a:rPr>
              <a:t>ontinuidade</a:t>
            </a:r>
          </a:p>
        </p:txBody>
      </p:sp>
      <p:sp>
        <p:nvSpPr>
          <p:cNvPr id="28" name="TextBox 27"/>
          <p:cNvSpPr txBox="1"/>
          <p:nvPr/>
        </p:nvSpPr>
        <p:spPr>
          <a:xfrm>
            <a:off x="5513832" y="44302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Contribuições e agenda de investigação</a:t>
            </a:r>
          </a:p>
        </p:txBody>
      </p:sp>
      <p:cxnSp>
        <p:nvCxnSpPr>
          <p:cNvPr id="29" name="Connector 28"/>
          <p:cNvCxnSpPr/>
          <p:nvPr/>
        </p:nvCxnSpPr>
        <p:spPr>
          <a:xfrm>
            <a:off x="1371600" y="492404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 y="50474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4D5968"/>
                </a:solidFill>
                <a:latin typeface="Aptos"/>
              </a:rPr>
              <a:t>7</a:t>
            </a:r>
          </a:p>
        </p:txBody>
      </p:sp>
      <p:sp>
        <p:nvSpPr>
          <p:cNvPr id="31" name="TextBox 30"/>
          <p:cNvSpPr txBox="1"/>
          <p:nvPr/>
        </p:nvSpPr>
        <p:spPr>
          <a:xfrm>
            <a:off x="1371600" y="50474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dirty="0">
                <a:solidFill>
                  <a:srgbClr val="4D5968"/>
                </a:solidFill>
                <a:latin typeface="Aptos"/>
              </a:rPr>
              <a:t>Referências e </a:t>
            </a:r>
            <a:r>
              <a:rPr lang="pt-BR" b="1" dirty="0">
                <a:solidFill>
                  <a:srgbClr val="4D5968"/>
                </a:solidFill>
                <a:latin typeface="Aptos"/>
              </a:rPr>
              <a:t>D</a:t>
            </a:r>
            <a:r>
              <a:rPr sz="1800" b="1" dirty="0">
                <a:solidFill>
                  <a:srgbClr val="4D5968"/>
                </a:solidFill>
                <a:latin typeface="Aptos"/>
              </a:rPr>
              <a:t>iscussão</a:t>
            </a:r>
          </a:p>
        </p:txBody>
      </p:sp>
      <p:sp>
        <p:nvSpPr>
          <p:cNvPr id="32" name="TextBox 31"/>
          <p:cNvSpPr txBox="1"/>
          <p:nvPr/>
        </p:nvSpPr>
        <p:spPr>
          <a:xfrm>
            <a:off x="5513832" y="50474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Fundamentação e questões para debate</a:t>
            </a:r>
          </a:p>
        </p:txBody>
      </p:sp>
      <p:cxnSp>
        <p:nvCxnSpPr>
          <p:cNvPr id="33" name="Connector 32"/>
          <p:cNvCxnSpPr/>
          <p:nvPr/>
        </p:nvCxnSpPr>
        <p:spPr>
          <a:xfrm>
            <a:off x="1371600" y="55412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03 / 60</a:t>
            </a:r>
          </a:p>
        </p:txBody>
      </p:sp>
      <p:sp>
        <p:nvSpPr>
          <p:cNvPr id="4" name="slide-title-0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Problema e questão de investigação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dirty="0">
                <a:solidFill>
                  <a:srgbClr val="8C3041"/>
                </a:solidFill>
                <a:latin typeface="Aptos"/>
              </a:rPr>
              <a:t>Como </a:t>
            </a:r>
            <a:r>
              <a:rPr sz="2900" b="1" dirty="0" err="1">
                <a:solidFill>
                  <a:srgbClr val="8C3041"/>
                </a:solidFill>
                <a:latin typeface="Aptos"/>
              </a:rPr>
              <a:t>produzir</a:t>
            </a:r>
            <a:r>
              <a:rPr sz="2900" b="1" dirty="0">
                <a:solidFill>
                  <a:srgbClr val="8C3041"/>
                </a:solidFill>
                <a:latin typeface="Aptos"/>
              </a:rPr>
              <a:t> </a:t>
            </a:r>
            <a:r>
              <a:rPr sz="2900" b="1" dirty="0" err="1">
                <a:solidFill>
                  <a:srgbClr val="8C3041"/>
                </a:solidFill>
                <a:latin typeface="Aptos"/>
              </a:rPr>
              <a:t>recomendações</a:t>
            </a:r>
            <a:r>
              <a:rPr sz="2900" b="1" dirty="0">
                <a:solidFill>
                  <a:srgbClr val="8C3041"/>
                </a:solidFill>
                <a:latin typeface="Aptos"/>
              </a:rPr>
              <a:t> </a:t>
            </a:r>
            <a:r>
              <a:rPr sz="2900" b="1" dirty="0" err="1">
                <a:solidFill>
                  <a:srgbClr val="8C3041"/>
                </a:solidFill>
                <a:latin typeface="Aptos"/>
              </a:rPr>
              <a:t>justificáveis</a:t>
            </a:r>
            <a:r>
              <a:rPr sz="2900" b="1" dirty="0">
                <a:solidFill>
                  <a:srgbClr val="8C3041"/>
                </a:solidFill>
                <a:latin typeface="Aptos"/>
              </a:rPr>
              <a:t> de </a:t>
            </a:r>
            <a:r>
              <a:rPr sz="2900" b="1" dirty="0" err="1">
                <a:solidFill>
                  <a:srgbClr val="8C3041"/>
                </a:solidFill>
                <a:latin typeface="Aptos"/>
              </a:rPr>
              <a:t>diagnóstico</a:t>
            </a:r>
            <a:r>
              <a:rPr sz="2900" b="1" dirty="0">
                <a:solidFill>
                  <a:srgbClr val="8C3041"/>
                </a:solidFill>
                <a:latin typeface="Aptos"/>
              </a:rPr>
              <a:t>, </a:t>
            </a:r>
            <a:r>
              <a:rPr sz="2900" b="1" dirty="0" err="1">
                <a:solidFill>
                  <a:srgbClr val="8C3041"/>
                </a:solidFill>
                <a:latin typeface="Aptos"/>
              </a:rPr>
              <a:t>intervenção</a:t>
            </a:r>
            <a:r>
              <a:rPr sz="2900" b="1" dirty="0">
                <a:solidFill>
                  <a:srgbClr val="8C3041"/>
                </a:solidFill>
                <a:latin typeface="Aptos"/>
              </a:rPr>
              <a:t> e </a:t>
            </a:r>
            <a:r>
              <a:rPr sz="2900" b="1" dirty="0" err="1">
                <a:solidFill>
                  <a:srgbClr val="8C3041"/>
                </a:solidFill>
                <a:latin typeface="Aptos"/>
              </a:rPr>
              <a:t>roteamento</a:t>
            </a:r>
            <a:r>
              <a:rPr sz="2900" b="1" dirty="0">
                <a:solidFill>
                  <a:srgbClr val="8C3041"/>
                </a:solidFill>
                <a:latin typeface="Aptos"/>
              </a:rPr>
              <a:t> sob </a:t>
            </a:r>
            <a:r>
              <a:rPr sz="2900" b="1" dirty="0" err="1">
                <a:solidFill>
                  <a:srgbClr val="8C3041"/>
                </a:solidFill>
                <a:latin typeface="Aptos"/>
              </a:rPr>
              <a:t>hipóteses</a:t>
            </a:r>
            <a:r>
              <a:rPr sz="2900" b="1" dirty="0">
                <a:solidFill>
                  <a:srgbClr val="8C3041"/>
                </a:solidFill>
                <a:latin typeface="Aptos"/>
              </a:rPr>
              <a:t> </a:t>
            </a:r>
            <a:r>
              <a:rPr sz="2900" b="1" dirty="0" err="1">
                <a:solidFill>
                  <a:srgbClr val="8C3041"/>
                </a:solidFill>
                <a:latin typeface="Aptos"/>
              </a:rPr>
              <a:t>explícitas</a:t>
            </a:r>
            <a:r>
              <a:rPr sz="2900" b="1" dirty="0">
                <a:solidFill>
                  <a:srgbClr val="8C3041"/>
                </a:solidFill>
                <a:latin typeface="Aptos"/>
              </a:rPr>
              <a:t>?</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Diagnóstico: quais hipóteses são sustentadas pelas evidências?</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Planejamento: quais ações satisfazem o objetivo e as restrições?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Busca: qual caminho minimiza o custo definido no modelo?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integração exige coerência entre evidências, estados, ações e objetivos.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0</a:t>
            </a:r>
            <a:r>
              <a:rPr lang="pt-BR" sz="1000" b="0" dirty="0">
                <a:solidFill>
                  <a:srgbClr val="4D5968"/>
                </a:solidFill>
                <a:latin typeface="Aptos"/>
              </a:rPr>
              <a:t>4</a:t>
            </a:r>
            <a:r>
              <a:rPr sz="1000" b="0" dirty="0">
                <a:solidFill>
                  <a:srgbClr val="4D5968"/>
                </a:solidFill>
                <a:latin typeface="Aptos"/>
              </a:rPr>
              <a:t> / 60</a:t>
            </a:r>
          </a:p>
        </p:txBody>
      </p:sp>
      <p:sp>
        <p:nvSpPr>
          <p:cNvPr id="4" name="slide-title-0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Topologia</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pic>
        <p:nvPicPr>
          <p:cNvPr id="174" name="Picture 173">
            <a:hlinkClick r:id="rId3"/>
            <a:extLst>
              <a:ext uri="{FF2B5EF4-FFF2-40B4-BE49-F238E27FC236}">
                <a16:creationId xmlns:a16="http://schemas.microsoft.com/office/drawing/2014/main" id="{3C2BF877-4F8A-A80E-4BB0-6CA5E34B91C8}"/>
              </a:ext>
            </a:extLst>
          </p:cNvPr>
          <p:cNvPicPr>
            <a:picLocks noChangeAspect="1"/>
          </p:cNvPicPr>
          <p:nvPr/>
        </p:nvPicPr>
        <p:blipFill>
          <a:blip r:embed="rId4"/>
          <a:stretch>
            <a:fillRect/>
          </a:stretch>
        </p:blipFill>
        <p:spPr>
          <a:xfrm>
            <a:off x="793531" y="1026708"/>
            <a:ext cx="9694753" cy="57855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0</a:t>
            </a:r>
            <a:r>
              <a:rPr lang="pt-BR" sz="1000" b="0" dirty="0">
                <a:solidFill>
                  <a:srgbClr val="4D5968"/>
                </a:solidFill>
                <a:latin typeface="Aptos"/>
              </a:rPr>
              <a:t>5</a:t>
            </a:r>
            <a:r>
              <a:rPr sz="1000" b="0" dirty="0">
                <a:solidFill>
                  <a:srgbClr val="4D5968"/>
                </a:solidFill>
                <a:latin typeface="Aptos"/>
              </a:rPr>
              <a:t> / 60</a:t>
            </a:r>
          </a:p>
        </p:txBody>
      </p:sp>
      <p:sp>
        <p:nvSpPr>
          <p:cNvPr id="4" name="slide-title-0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Grandezas</a:t>
            </a:r>
            <a:r>
              <a:rPr sz="2700" b="1" dirty="0">
                <a:solidFill>
                  <a:srgbClr val="172235"/>
                </a:solidFill>
                <a:latin typeface="Aptos"/>
              </a:rPr>
              <a:t> </a:t>
            </a:r>
            <a:r>
              <a:rPr lang="pt-BR" sz="2700" b="1" dirty="0">
                <a:solidFill>
                  <a:srgbClr val="172235"/>
                </a:solidFill>
                <a:latin typeface="Aptos"/>
              </a:rPr>
              <a:t>F</a:t>
            </a:r>
            <a:r>
              <a:rPr sz="2700" b="1" dirty="0" err="1">
                <a:solidFill>
                  <a:srgbClr val="172235"/>
                </a:solidFill>
                <a:latin typeface="Aptos"/>
              </a:rPr>
              <a:t>ísicas</a:t>
            </a:r>
            <a:r>
              <a:rPr sz="2700" b="1" dirty="0">
                <a:solidFill>
                  <a:srgbClr val="172235"/>
                </a:solidFill>
                <a:latin typeface="Aptos"/>
              </a:rPr>
              <a:t>: </a:t>
            </a:r>
            <a:r>
              <a:rPr lang="pt-BR" sz="2700" b="1" dirty="0">
                <a:solidFill>
                  <a:srgbClr val="172235"/>
                </a:solidFill>
                <a:latin typeface="Aptos"/>
              </a:rPr>
              <a:t>D</a:t>
            </a:r>
            <a:r>
              <a:rPr sz="2700" b="1" dirty="0" err="1">
                <a:solidFill>
                  <a:srgbClr val="172235"/>
                </a:solidFill>
                <a:latin typeface="Aptos"/>
              </a:rPr>
              <a:t>efinição</a:t>
            </a:r>
            <a:r>
              <a:rPr sz="2700" b="1" dirty="0">
                <a:solidFill>
                  <a:srgbClr val="172235"/>
                </a:solidFill>
                <a:latin typeface="Aptos"/>
              </a:rPr>
              <a:t> e </a:t>
            </a:r>
            <a:r>
              <a:rPr lang="pt-BR" sz="2700" b="1" dirty="0">
                <a:solidFill>
                  <a:srgbClr val="172235"/>
                </a:solidFill>
                <a:latin typeface="Aptos"/>
              </a:rPr>
              <a:t>I</a:t>
            </a:r>
            <a:r>
              <a:rPr sz="2700" b="1" dirty="0" err="1">
                <a:solidFill>
                  <a:srgbClr val="172235"/>
                </a:solidFill>
                <a:latin typeface="Aptos"/>
              </a:rPr>
              <a:t>nterpretação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277977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Grandeza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técnica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Interpretação</a:t>
                      </a:r>
                    </a:p>
                  </a:txBody>
                  <a:tcPr marL="82296" marR="82296" marT="54864" marB="54864" anchor="ctr">
                    <a:solidFill>
                      <a:srgbClr val="172235"/>
                    </a:solidFill>
                  </a:tcPr>
                </a:tc>
                <a:extLst>
                  <a:ext uri="{0D108BD9-81ED-4DB2-BD59-A6C34878D82A}">
                    <a16:rowId xmlns:a16="http://schemas.microsoft.com/office/drawing/2014/main" val="10000"/>
                  </a:ext>
                </a:extLst>
              </a:tr>
              <a:tr h="771144">
                <a:tc>
                  <a:txBody>
                    <a:bodyPr/>
                    <a:lstStyle/>
                    <a:p>
                      <a:pPr>
                        <a:lnSpc>
                          <a:spcPct val="102000"/>
                        </a:lnSpc>
                        <a:spcAft>
                          <a:spcPts val="0"/>
                        </a:spcAft>
                      </a:pPr>
                      <a:r>
                        <a:rPr sz="1800" b="1">
                          <a:solidFill>
                            <a:srgbClr val="172235"/>
                          </a:solidFill>
                          <a:latin typeface="Aptos"/>
                        </a:rPr>
                        <a:t>RSSI (dBm)</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Indicador de potência recebida, referido a 1 mW.</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Valores mais negativos indicam menor potência recebida.</a:t>
                      </a:r>
                    </a:p>
                  </a:txBody>
                  <a:tcPr marL="82296" marR="82296" marT="54864" marB="54864" anchor="ctr">
                    <a:solidFill>
                      <a:srgbClr val="FFFFFF"/>
                    </a:solidFill>
                  </a:tcPr>
                </a:tc>
                <a:extLst>
                  <a:ext uri="{0D108BD9-81ED-4DB2-BD59-A6C34878D82A}">
                    <a16:rowId xmlns:a16="http://schemas.microsoft.com/office/drawing/2014/main" val="10001"/>
                  </a:ext>
                </a:extLst>
              </a:tr>
              <a:tr h="771144">
                <a:tc>
                  <a:txBody>
                    <a:bodyPr/>
                    <a:lstStyle/>
                    <a:p>
                      <a:pPr>
                        <a:lnSpc>
                          <a:spcPct val="102000"/>
                        </a:lnSpc>
                        <a:spcAft>
                          <a:spcPts val="0"/>
                        </a:spcAft>
                      </a:pPr>
                      <a:r>
                        <a:rPr sz="1800" b="1">
                          <a:solidFill>
                            <a:srgbClr val="172235"/>
                          </a:solidFill>
                          <a:latin typeface="Aptos"/>
                        </a:rPr>
                        <a:t>SNR (dB)</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Relação entre a potência do sinal de interesse e a potência do ruído.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Valores reduzidos podem elevar a ocorrência de erros de recepção.</a:t>
                      </a:r>
                    </a:p>
                  </a:txBody>
                  <a:tcPr marL="82296" marR="82296" marT="54864" marB="54864" anchor="ctr">
                    <a:solidFill>
                      <a:srgbClr val="F0F2F5"/>
                    </a:solidFill>
                  </a:tcPr>
                </a:tc>
                <a:extLst>
                  <a:ext uri="{0D108BD9-81ED-4DB2-BD59-A6C34878D82A}">
                    <a16:rowId xmlns:a16="http://schemas.microsoft.com/office/drawing/2014/main" val="10002"/>
                  </a:ext>
                </a:extLst>
              </a:tr>
              <a:tr h="771144">
                <a:tc>
                  <a:txBody>
                    <a:bodyPr/>
                    <a:lstStyle/>
                    <a:p>
                      <a:pPr>
                        <a:lnSpc>
                          <a:spcPct val="102000"/>
                        </a:lnSpc>
                        <a:spcAft>
                          <a:spcPts val="0"/>
                        </a:spcAft>
                      </a:pPr>
                      <a:r>
                        <a:rPr sz="1800" b="1">
                          <a:solidFill>
                            <a:srgbClr val="172235"/>
                          </a:solidFill>
                          <a:latin typeface="Aptos"/>
                        </a:rPr>
                        <a:t>Perda de percurso (dB)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Atenuação no percurso de propagação modelado.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Maior perda reduz a potência recebida, mantidas as demais condições.</a:t>
                      </a:r>
                    </a:p>
                  </a:txBody>
                  <a:tcPr marL="82296" marR="82296"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endParaRPr sz="1350" b="0" dirty="0">
              <a:solidFill>
                <a:srgbClr val="274C77"/>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0</a:t>
            </a:r>
            <a:r>
              <a:rPr lang="pt-BR" sz="1000" b="0" dirty="0">
                <a:solidFill>
                  <a:srgbClr val="4D5968"/>
                </a:solidFill>
                <a:latin typeface="Aptos"/>
              </a:rPr>
              <a:t>6</a:t>
            </a:r>
            <a:r>
              <a:rPr sz="1000" b="0" dirty="0">
                <a:solidFill>
                  <a:srgbClr val="4D5968"/>
                </a:solidFill>
                <a:latin typeface="Aptos"/>
              </a:rPr>
              <a:t> / 60</a:t>
            </a:r>
          </a:p>
        </p:txBody>
      </p:sp>
      <p:sp>
        <p:nvSpPr>
          <p:cNvPr id="4" name="slide-title-0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Indicadores</a:t>
            </a:r>
            <a:r>
              <a:rPr sz="2700" b="1" dirty="0">
                <a:solidFill>
                  <a:srgbClr val="172235"/>
                </a:solidFill>
                <a:latin typeface="Aptos"/>
              </a:rPr>
              <a:t> de </a:t>
            </a:r>
            <a:r>
              <a:rPr lang="pt-BR" sz="2700" b="1" dirty="0">
                <a:solidFill>
                  <a:srgbClr val="172235"/>
                </a:solidFill>
                <a:latin typeface="Aptos"/>
              </a:rPr>
              <a:t>A</a:t>
            </a:r>
            <a:r>
              <a:rPr sz="2700" b="1" dirty="0" err="1">
                <a:solidFill>
                  <a:srgbClr val="172235"/>
                </a:solidFill>
                <a:latin typeface="Aptos"/>
              </a:rPr>
              <a:t>cesso</a:t>
            </a:r>
            <a:r>
              <a:rPr sz="2700" b="1" dirty="0">
                <a:solidFill>
                  <a:srgbClr val="172235"/>
                </a:solidFill>
                <a:latin typeface="Aptos"/>
              </a:rPr>
              <a:t> </a:t>
            </a:r>
            <a:r>
              <a:rPr sz="2700" b="1" dirty="0" err="1">
                <a:solidFill>
                  <a:srgbClr val="172235"/>
                </a:solidFill>
                <a:latin typeface="Aptos"/>
              </a:rPr>
              <a:t>ao</a:t>
            </a:r>
            <a:r>
              <a:rPr sz="2700" b="1" dirty="0">
                <a:solidFill>
                  <a:srgbClr val="172235"/>
                </a:solidFill>
                <a:latin typeface="Aptos"/>
              </a:rPr>
              <a:t> </a:t>
            </a:r>
            <a:r>
              <a:rPr lang="pt-BR" sz="2700" b="1" dirty="0">
                <a:solidFill>
                  <a:srgbClr val="172235"/>
                </a:solidFill>
                <a:latin typeface="Aptos"/>
              </a:rPr>
              <a:t>M</a:t>
            </a:r>
            <a:r>
              <a:rPr sz="2700" b="1" dirty="0" err="1">
                <a:solidFill>
                  <a:srgbClr val="172235"/>
                </a:solidFill>
                <a:latin typeface="Aptos"/>
              </a:rPr>
              <a:t>eio</a:t>
            </a:r>
            <a:r>
              <a:rPr sz="2700" b="1" dirty="0">
                <a:solidFill>
                  <a:srgbClr val="172235"/>
                </a:solidFill>
                <a:latin typeface="Aptos"/>
              </a:rPr>
              <a:t> e </a:t>
            </a:r>
            <a:r>
              <a:rPr lang="pt-BR" sz="2700" b="1" dirty="0">
                <a:solidFill>
                  <a:srgbClr val="172235"/>
                </a:solidFill>
                <a:latin typeface="Aptos"/>
              </a:rPr>
              <a:t>D</a:t>
            </a:r>
            <a:r>
              <a:rPr sz="2700" b="1" dirty="0" err="1">
                <a:solidFill>
                  <a:srgbClr val="172235"/>
                </a:solidFill>
                <a:latin typeface="Aptos"/>
              </a:rPr>
              <a:t>esempenho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Indicador</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operacional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Possíveis associações</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Retransmissões MAC (%)</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Percentual segundo a unidade e o denominador de contagem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Contenção, colisões ou falhas de recepção.</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Perda de pacotes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Pacotes não recebidos em relação aos enviados, com prazo de avaliação.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Descarte, falhas de enlace ou indisponibilidade de rota.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RTT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Intervalo entre o envio e o recebimento da resposta correspondente.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Filas, retransmissões, processamento e percurso.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Carga oferecida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Taxa de tráfego oferecida dividida pela capacidade de referência.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Pressão sobre a capacidade efetiva e possível saturação.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Um indicador de degradação não identifica isoladamente sua causa.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0</a:t>
            </a:r>
            <a:r>
              <a:rPr lang="pt-BR" sz="1000" b="0" dirty="0">
                <a:solidFill>
                  <a:srgbClr val="4D5968"/>
                </a:solidFill>
                <a:latin typeface="Aptos"/>
              </a:rPr>
              <a:t>7</a:t>
            </a:r>
            <a:r>
              <a:rPr sz="1000" b="0" dirty="0">
                <a:solidFill>
                  <a:srgbClr val="4D5968"/>
                </a:solidFill>
                <a:latin typeface="Aptos"/>
              </a:rPr>
              <a:t> / 60</a:t>
            </a:r>
          </a:p>
        </p:txBody>
      </p:sp>
      <p:sp>
        <p:nvSpPr>
          <p:cNvPr id="4" name="slide-title-0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Observações</a:t>
            </a:r>
            <a:r>
              <a:rPr sz="2700" b="1" dirty="0">
                <a:solidFill>
                  <a:srgbClr val="172235"/>
                </a:solidFill>
                <a:latin typeface="Aptos"/>
              </a:rPr>
              <a:t>, </a:t>
            </a:r>
            <a:r>
              <a:rPr lang="pt-BR" sz="2700" b="1" dirty="0">
                <a:solidFill>
                  <a:srgbClr val="172235"/>
                </a:solidFill>
                <a:latin typeface="Aptos"/>
              </a:rPr>
              <a:t>I</a:t>
            </a:r>
            <a:r>
              <a:rPr sz="2700" b="1" dirty="0" err="1">
                <a:solidFill>
                  <a:srgbClr val="172235"/>
                </a:solidFill>
                <a:latin typeface="Aptos"/>
              </a:rPr>
              <a:t>ntervenções</a:t>
            </a:r>
            <a:r>
              <a:rPr sz="2700" b="1" dirty="0">
                <a:solidFill>
                  <a:srgbClr val="172235"/>
                </a:solidFill>
                <a:latin typeface="Aptos"/>
              </a:rPr>
              <a:t> e </a:t>
            </a:r>
            <a:r>
              <a:rPr lang="pt-BR" sz="2700" b="1" dirty="0">
                <a:solidFill>
                  <a:srgbClr val="172235"/>
                </a:solidFill>
                <a:latin typeface="Aptos"/>
              </a:rPr>
              <a:t>I</a:t>
            </a:r>
            <a:r>
              <a:rPr sz="2700" b="1" dirty="0" err="1">
                <a:solidFill>
                  <a:srgbClr val="172235"/>
                </a:solidFill>
                <a:latin typeface="Aptos"/>
              </a:rPr>
              <a:t>nformação</a:t>
            </a:r>
            <a:r>
              <a:rPr sz="2700" b="1" dirty="0">
                <a:solidFill>
                  <a:srgbClr val="172235"/>
                </a:solidFill>
                <a:latin typeface="Aptos"/>
              </a:rPr>
              <a:t> </a:t>
            </a:r>
            <a:r>
              <a:rPr lang="pt-BR" sz="2700" b="1" dirty="0">
                <a:solidFill>
                  <a:srgbClr val="172235"/>
                </a:solidFill>
                <a:latin typeface="Aptos"/>
              </a:rPr>
              <a:t>D</a:t>
            </a:r>
            <a:r>
              <a:rPr sz="2700" b="1" dirty="0" err="1">
                <a:solidFill>
                  <a:srgbClr val="172235"/>
                </a:solidFill>
                <a:latin typeface="Aptos"/>
              </a:rPr>
              <a:t>esconhecida</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Observação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Valor, unidade, sujeito, janela temporal e procedência devem identificar a evidência.</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Intervenção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Parâmetros configurados e falhas introduzidas pertencem ao controle do experimento.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Desconhecido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Ausência de observação não equivale a valor zero nem à negação de uma hipótese.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0</a:t>
            </a:r>
            <a:r>
              <a:rPr lang="pt-BR" sz="1000" dirty="0">
                <a:solidFill>
                  <a:srgbClr val="4D5968"/>
                </a:solidFill>
                <a:latin typeface="Aptos"/>
              </a:rPr>
              <a:t>8</a:t>
            </a:r>
            <a:r>
              <a:rPr sz="1000" b="0" dirty="0">
                <a:solidFill>
                  <a:srgbClr val="4D5968"/>
                </a:solidFill>
                <a:latin typeface="Aptos"/>
              </a:rPr>
              <a:t> / 60</a:t>
            </a:r>
          </a:p>
        </p:txBody>
      </p:sp>
      <p:sp>
        <p:nvSpPr>
          <p:cNvPr id="4" name="slide-title-0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lang="pt-BR" sz="2700" b="1" dirty="0">
                <a:solidFill>
                  <a:srgbClr val="172235"/>
                </a:solidFill>
                <a:latin typeface="Aptos"/>
              </a:rPr>
              <a:t>3</a:t>
            </a:r>
            <a:r>
              <a:rPr sz="2700" b="1" dirty="0">
                <a:solidFill>
                  <a:srgbClr val="172235"/>
                </a:solidFill>
                <a:latin typeface="Aptos"/>
              </a:rPr>
              <a:t> </a:t>
            </a:r>
            <a:r>
              <a:rPr lang="pt-BR" sz="2700" b="1" dirty="0">
                <a:solidFill>
                  <a:srgbClr val="172235"/>
                </a:solidFill>
                <a:latin typeface="Aptos"/>
              </a:rPr>
              <a:t>R</a:t>
            </a:r>
            <a:r>
              <a:rPr sz="2700" b="1" dirty="0">
                <a:solidFill>
                  <a:srgbClr val="172235"/>
                </a:solidFill>
                <a:latin typeface="Aptos"/>
              </a:rPr>
              <a:t>epresentações</a:t>
            </a:r>
            <a:r>
              <a:rPr lang="pt-BR" sz="2700" b="1" dirty="0">
                <a:solidFill>
                  <a:srgbClr val="172235"/>
                </a:solidFill>
                <a:latin typeface="Aptos"/>
              </a:rPr>
              <a:t> e</a:t>
            </a:r>
            <a:r>
              <a:rPr sz="2700" b="1" dirty="0">
                <a:solidFill>
                  <a:srgbClr val="172235"/>
                </a:solidFill>
                <a:latin typeface="Aptos"/>
              </a:rPr>
              <a:t> </a:t>
            </a:r>
            <a:r>
              <a:rPr lang="pt-BR" sz="2700" b="1" dirty="0">
                <a:solidFill>
                  <a:srgbClr val="172235"/>
                </a:solidFill>
                <a:latin typeface="Aptos"/>
              </a:rPr>
              <a:t>3</a:t>
            </a:r>
            <a:r>
              <a:rPr sz="2700" b="1" dirty="0">
                <a:solidFill>
                  <a:srgbClr val="172235"/>
                </a:solidFill>
                <a:latin typeface="Aptos"/>
              </a:rPr>
              <a:t> </a:t>
            </a:r>
            <a:r>
              <a:rPr lang="pt-BR" sz="2700" b="1" dirty="0">
                <a:solidFill>
                  <a:srgbClr val="172235"/>
                </a:solidFill>
                <a:latin typeface="Aptos"/>
              </a:rPr>
              <a:t>C</a:t>
            </a:r>
            <a:r>
              <a:rPr sz="2700" b="1" dirty="0" err="1">
                <a:solidFill>
                  <a:srgbClr val="172235"/>
                </a:solidFill>
                <a:latin typeface="Aptos"/>
              </a:rPr>
              <a:t>ritérios</a:t>
            </a:r>
            <a:r>
              <a:rPr sz="2700" b="1" dirty="0">
                <a:solidFill>
                  <a:srgbClr val="172235"/>
                </a:solidFill>
                <a:latin typeface="Aptos"/>
              </a:rPr>
              <a:t> de </a:t>
            </a:r>
            <a:r>
              <a:rPr lang="pt-BR" sz="2700" b="1" dirty="0">
                <a:solidFill>
                  <a:srgbClr val="172235"/>
                </a:solidFill>
                <a:latin typeface="Aptos"/>
              </a:rPr>
              <a:t>C</a:t>
            </a:r>
            <a:r>
              <a:rPr sz="2700" b="1" dirty="0" err="1">
                <a:solidFill>
                  <a:srgbClr val="172235"/>
                </a:solidFill>
                <a:latin typeface="Aptos"/>
              </a:rPr>
              <a:t>orreção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Sistema especialista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dirty="0">
                <a:solidFill>
                  <a:srgbClr val="172235"/>
                </a:solidFill>
                <a:latin typeface="Aptos"/>
              </a:rPr>
              <a:t>Fatos e </a:t>
            </a:r>
            <a:r>
              <a:rPr sz="2100" b="0" dirty="0" err="1">
                <a:solidFill>
                  <a:srgbClr val="172235"/>
                </a:solidFill>
                <a:latin typeface="Aptos"/>
              </a:rPr>
              <a:t>regras</a:t>
            </a:r>
            <a:r>
              <a:rPr sz="2100" b="0" dirty="0">
                <a:solidFill>
                  <a:srgbClr val="172235"/>
                </a:solidFill>
                <a:latin typeface="Aptos"/>
              </a:rPr>
              <a:t> → </a:t>
            </a:r>
            <a:r>
              <a:rPr sz="2100" b="0" dirty="0" err="1">
                <a:solidFill>
                  <a:srgbClr val="172235"/>
                </a:solidFill>
                <a:latin typeface="Aptos"/>
              </a:rPr>
              <a:t>hipóteses</a:t>
            </a:r>
            <a:r>
              <a:rPr sz="2100" b="0" dirty="0">
                <a:solidFill>
                  <a:srgbClr val="172235"/>
                </a:solidFill>
                <a:latin typeface="Aptos"/>
              </a:rPr>
              <a:t> </a:t>
            </a:r>
            <a:r>
              <a:rPr sz="2100" b="0" dirty="0" err="1">
                <a:solidFill>
                  <a:srgbClr val="172235"/>
                </a:solidFill>
                <a:latin typeface="Aptos"/>
              </a:rPr>
              <a:t>graduadas</a:t>
            </a:r>
            <a:endParaRPr sz="2100" b="0" dirty="0">
              <a:solidFill>
                <a:srgbClr val="172235"/>
              </a:solidFill>
              <a:latin typeface="Aptos"/>
            </a:endParaRPr>
          </a:p>
          <a:p>
            <a:pPr algn="l">
              <a:lnSpc>
                <a:spcPct val="108000"/>
              </a:lnSpc>
              <a:spcBef>
                <a:spcPts val="0"/>
              </a:spcBef>
              <a:spcAft>
                <a:spcPts val="0"/>
              </a:spcAft>
            </a:pPr>
            <a:r>
              <a:rPr sz="2100" b="1" dirty="0">
                <a:solidFill>
                  <a:srgbClr val="172235"/>
                </a:solidFill>
                <a:latin typeface="Aptos"/>
              </a:rPr>
              <a:t>Critério: </a:t>
            </a:r>
            <a:r>
              <a:rPr sz="2100" b="0" dirty="0" err="1">
                <a:solidFill>
                  <a:srgbClr val="172235"/>
                </a:solidFill>
                <a:latin typeface="Aptos"/>
              </a:rPr>
              <a:t>aplicação</a:t>
            </a:r>
            <a:r>
              <a:rPr sz="2100" b="0" dirty="0">
                <a:solidFill>
                  <a:srgbClr val="172235"/>
                </a:solidFill>
                <a:latin typeface="Aptos"/>
              </a:rPr>
              <a:t> </a:t>
            </a:r>
            <a:r>
              <a:rPr sz="2100" b="0" dirty="0" err="1">
                <a:solidFill>
                  <a:srgbClr val="172235"/>
                </a:solidFill>
                <a:latin typeface="Aptos"/>
              </a:rPr>
              <a:t>rastreável</a:t>
            </a:r>
            <a:r>
              <a:rPr sz="2100" b="0" dirty="0">
                <a:solidFill>
                  <a:srgbClr val="172235"/>
                </a:solidFill>
                <a:latin typeface="Aptos"/>
              </a:rPr>
              <a:t> da base de </a:t>
            </a:r>
            <a:r>
              <a:rPr sz="2100" b="0" dirty="0" err="1">
                <a:solidFill>
                  <a:srgbClr val="172235"/>
                </a:solidFill>
                <a:latin typeface="Aptos"/>
              </a:rPr>
              <a:t>conhecimento</a:t>
            </a:r>
            <a:r>
              <a:rPr sz="2100" b="0" dirty="0">
                <a:solidFill>
                  <a:srgbClr val="172235"/>
                </a:solidFill>
                <a:latin typeface="Aptos"/>
              </a:rPr>
              <a:t>.</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Planejamento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dirty="0">
                <a:solidFill>
                  <a:srgbClr val="172235"/>
                </a:solidFill>
                <a:latin typeface="Aptos"/>
              </a:rPr>
              <a:t>Estado, </a:t>
            </a:r>
            <a:r>
              <a:rPr sz="2100" b="0" dirty="0" err="1">
                <a:solidFill>
                  <a:srgbClr val="172235"/>
                </a:solidFill>
                <a:latin typeface="Aptos"/>
              </a:rPr>
              <a:t>ações</a:t>
            </a:r>
            <a:r>
              <a:rPr sz="2100" b="0" dirty="0">
                <a:solidFill>
                  <a:srgbClr val="172235"/>
                </a:solidFill>
                <a:latin typeface="Aptos"/>
              </a:rPr>
              <a:t> e </a:t>
            </a:r>
            <a:r>
              <a:rPr sz="2100" b="0" dirty="0" err="1">
                <a:solidFill>
                  <a:srgbClr val="172235"/>
                </a:solidFill>
                <a:latin typeface="Aptos"/>
              </a:rPr>
              <a:t>objetivo</a:t>
            </a:r>
            <a:r>
              <a:rPr sz="2100" b="0" dirty="0">
                <a:solidFill>
                  <a:srgbClr val="172235"/>
                </a:solidFill>
                <a:latin typeface="Aptos"/>
              </a:rPr>
              <a:t> → plano</a:t>
            </a:r>
          </a:p>
          <a:p>
            <a:pPr algn="l">
              <a:lnSpc>
                <a:spcPct val="108000"/>
              </a:lnSpc>
              <a:spcBef>
                <a:spcPts val="0"/>
              </a:spcBef>
              <a:spcAft>
                <a:spcPts val="0"/>
              </a:spcAft>
            </a:pPr>
            <a:r>
              <a:rPr sz="2100" b="1" dirty="0">
                <a:solidFill>
                  <a:srgbClr val="172235"/>
                </a:solidFill>
                <a:latin typeface="Aptos"/>
              </a:rPr>
              <a:t>Critério: </a:t>
            </a:r>
            <a:r>
              <a:rPr sz="2100" b="0" dirty="0" err="1">
                <a:solidFill>
                  <a:srgbClr val="172235"/>
                </a:solidFill>
                <a:latin typeface="Aptos"/>
              </a:rPr>
              <a:t>aplicabilidade</a:t>
            </a:r>
            <a:r>
              <a:rPr sz="2100" b="0" dirty="0">
                <a:solidFill>
                  <a:srgbClr val="172235"/>
                </a:solidFill>
                <a:latin typeface="Aptos"/>
              </a:rPr>
              <a:t> e </a:t>
            </a:r>
            <a:r>
              <a:rPr sz="2100" b="0" dirty="0" err="1">
                <a:solidFill>
                  <a:srgbClr val="172235"/>
                </a:solidFill>
                <a:latin typeface="Aptos"/>
              </a:rPr>
              <a:t>satisfação</a:t>
            </a:r>
            <a:r>
              <a:rPr sz="2100" b="0" dirty="0">
                <a:solidFill>
                  <a:srgbClr val="172235"/>
                </a:solidFill>
                <a:latin typeface="Aptos"/>
              </a:rPr>
              <a:t> do </a:t>
            </a:r>
            <a:r>
              <a:rPr sz="2100" b="0" dirty="0" err="1">
                <a:solidFill>
                  <a:srgbClr val="172235"/>
                </a:solidFill>
                <a:latin typeface="Aptos"/>
              </a:rPr>
              <a:t>objetivo</a:t>
            </a:r>
            <a:r>
              <a:rPr sz="2100" b="0" dirty="0">
                <a:solidFill>
                  <a:srgbClr val="172235"/>
                </a:solidFill>
                <a:latin typeface="Aptos"/>
              </a:rPr>
              <a:t>.</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Busca A*</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dirty="0" err="1">
                <a:solidFill>
                  <a:srgbClr val="172235"/>
                </a:solidFill>
                <a:latin typeface="Aptos"/>
              </a:rPr>
              <a:t>Grafo</a:t>
            </a:r>
            <a:r>
              <a:rPr sz="2100" b="0" dirty="0">
                <a:solidFill>
                  <a:srgbClr val="172235"/>
                </a:solidFill>
                <a:latin typeface="Aptos"/>
              </a:rPr>
              <a:t> e custos → </a:t>
            </a:r>
            <a:r>
              <a:rPr sz="2100" b="0" dirty="0" err="1">
                <a:solidFill>
                  <a:srgbClr val="172235"/>
                </a:solidFill>
                <a:latin typeface="Aptos"/>
              </a:rPr>
              <a:t>caminho</a:t>
            </a:r>
            <a:endParaRPr sz="2100" b="0" dirty="0">
              <a:solidFill>
                <a:srgbClr val="172235"/>
              </a:solidFill>
              <a:latin typeface="Aptos"/>
            </a:endParaRPr>
          </a:p>
          <a:p>
            <a:pPr algn="l">
              <a:lnSpc>
                <a:spcPct val="108000"/>
              </a:lnSpc>
              <a:spcBef>
                <a:spcPts val="0"/>
              </a:spcBef>
              <a:spcAft>
                <a:spcPts val="0"/>
              </a:spcAft>
            </a:pPr>
            <a:r>
              <a:rPr sz="2100" b="1" dirty="0">
                <a:solidFill>
                  <a:srgbClr val="172235"/>
                </a:solidFill>
                <a:latin typeface="Aptos"/>
              </a:rPr>
              <a:t>Critério: </a:t>
            </a:r>
            <a:r>
              <a:rPr sz="2100" b="0" dirty="0" err="1">
                <a:solidFill>
                  <a:srgbClr val="172235"/>
                </a:solidFill>
                <a:latin typeface="Aptos"/>
              </a:rPr>
              <a:t>conectividade</a:t>
            </a:r>
            <a:r>
              <a:rPr sz="2100" b="0" dirty="0">
                <a:solidFill>
                  <a:srgbClr val="172235"/>
                </a:solidFill>
                <a:latin typeface="Aptos"/>
              </a:rPr>
              <a:t> e </a:t>
            </a:r>
            <a:r>
              <a:rPr sz="2100" b="0" dirty="0" err="1">
                <a:solidFill>
                  <a:srgbClr val="172235"/>
                </a:solidFill>
                <a:latin typeface="Aptos"/>
              </a:rPr>
              <a:t>custo</a:t>
            </a:r>
            <a:r>
              <a:rPr sz="2100" b="0" dirty="0">
                <a:solidFill>
                  <a:srgbClr val="172235"/>
                </a:solidFill>
                <a:latin typeface="Aptos"/>
              </a:rPr>
              <a:t> </a:t>
            </a:r>
            <a:r>
              <a:rPr sz="2100" b="0" dirty="0" err="1">
                <a:solidFill>
                  <a:srgbClr val="172235"/>
                </a:solidFill>
                <a:latin typeface="Aptos"/>
              </a:rPr>
              <a:t>mínimo</a:t>
            </a:r>
            <a:r>
              <a:rPr sz="2100" b="0" dirty="0">
                <a:solidFill>
                  <a:srgbClr val="172235"/>
                </a:solidFill>
                <a:latin typeface="Aptos"/>
              </a:rPr>
              <a:t> sob as </a:t>
            </a:r>
            <a:r>
              <a:rPr sz="2100" b="0" dirty="0" err="1">
                <a:solidFill>
                  <a:srgbClr val="172235"/>
                </a:solidFill>
                <a:latin typeface="Aptos"/>
              </a:rPr>
              <a:t>condições</a:t>
            </a:r>
            <a:r>
              <a:rPr sz="2100" b="0" dirty="0">
                <a:solidFill>
                  <a:srgbClr val="172235"/>
                </a:solidFill>
                <a:latin typeface="Aptos"/>
              </a:rPr>
              <a:t> da </a:t>
            </a:r>
            <a:r>
              <a:rPr sz="2100" b="0" dirty="0" err="1">
                <a:solidFill>
                  <a:srgbClr val="172235"/>
                </a:solidFill>
                <a:latin typeface="Aptos"/>
              </a:rPr>
              <a:t>heurística</a:t>
            </a:r>
            <a:r>
              <a:rPr sz="2100" b="0" dirty="0">
                <a:solidFill>
                  <a:srgbClr val="172235"/>
                </a:solidFill>
                <a:latin typeface="Apto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lang="pt-BR" sz="1000" dirty="0">
                <a:solidFill>
                  <a:srgbClr val="4D5968"/>
                </a:solidFill>
                <a:latin typeface="Aptos"/>
              </a:rPr>
              <a:t>09</a:t>
            </a:r>
            <a:r>
              <a:rPr sz="1000" b="0" dirty="0">
                <a:solidFill>
                  <a:srgbClr val="4D5968"/>
                </a:solidFill>
                <a:latin typeface="Aptos"/>
              </a:rPr>
              <a:t> / 60</a:t>
            </a:r>
          </a:p>
        </p:txBody>
      </p:sp>
      <p:sp>
        <p:nvSpPr>
          <p:cNvPr id="4" name="slide-title-1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Escolha</a:t>
            </a:r>
            <a:r>
              <a:rPr sz="2700" b="1" dirty="0">
                <a:solidFill>
                  <a:srgbClr val="172235"/>
                </a:solidFill>
                <a:latin typeface="Aptos"/>
              </a:rPr>
              <a:t> </a:t>
            </a:r>
            <a:r>
              <a:rPr lang="pt-BR" sz="2700" b="1" dirty="0">
                <a:solidFill>
                  <a:srgbClr val="172235"/>
                </a:solidFill>
                <a:latin typeface="Aptos"/>
              </a:rPr>
              <a:t>M</a:t>
            </a:r>
            <a:r>
              <a:rPr sz="2700" b="1" dirty="0" err="1">
                <a:solidFill>
                  <a:srgbClr val="172235"/>
                </a:solidFill>
                <a:latin typeface="Aptos"/>
              </a:rPr>
              <a:t>etodológica</a:t>
            </a:r>
            <a:r>
              <a:rPr sz="2700" b="1" dirty="0">
                <a:solidFill>
                  <a:srgbClr val="172235"/>
                </a:solidFill>
                <a:latin typeface="Aptos"/>
              </a:rPr>
              <a:t> e </a:t>
            </a:r>
            <a:r>
              <a:rPr lang="pt-BR" sz="2700" b="1" dirty="0">
                <a:solidFill>
                  <a:srgbClr val="172235"/>
                </a:solidFill>
                <a:latin typeface="Aptos"/>
              </a:rPr>
              <a:t>A</a:t>
            </a:r>
            <a:r>
              <a:rPr sz="2700" b="1" dirty="0" err="1">
                <a:solidFill>
                  <a:srgbClr val="172235"/>
                </a:solidFill>
                <a:latin typeface="Aptos"/>
              </a:rPr>
              <a:t>lcance</a:t>
            </a:r>
            <a:r>
              <a:rPr sz="2700" b="1" dirty="0">
                <a:solidFill>
                  <a:srgbClr val="172235"/>
                </a:solidFill>
                <a:latin typeface="Aptos"/>
              </a:rPr>
              <a:t> das </a:t>
            </a:r>
            <a:r>
              <a:rPr lang="pt-BR" sz="2700" b="1" dirty="0">
                <a:solidFill>
                  <a:srgbClr val="172235"/>
                </a:solidFill>
                <a:latin typeface="Aptos"/>
              </a:rPr>
              <a:t>E</a:t>
            </a:r>
            <a:r>
              <a:rPr sz="2700" b="1" dirty="0" err="1">
                <a:solidFill>
                  <a:srgbClr val="172235"/>
                </a:solidFill>
                <a:latin typeface="Aptos"/>
              </a:rPr>
              <a:t>vidências</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Justificativa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Limite</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Regras explícitas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Conhecimento inspecionável e exemplos reproduzíveis.</a:t>
                      </a:r>
                    </a:p>
                  </a:txBody>
                  <a:tcPr marL="82296" marR="82296" marT="54864" marB="54864" anchor="ctr">
                    <a:solidFill>
                      <a:srgbClr val="FFFFFF"/>
                    </a:solidFill>
                  </a:tcPr>
                </a:tc>
                <a:tc>
                  <a:txBody>
                    <a:bodyPr/>
                    <a:lstStyle/>
                    <a:p>
                      <a:pPr>
                        <a:lnSpc>
                          <a:spcPct val="102000"/>
                        </a:lnSpc>
                        <a:spcAft>
                          <a:spcPts val="0"/>
                        </a:spcAft>
                      </a:pPr>
                      <a:r>
                        <a:rPr sz="1800" b="0" dirty="0" err="1">
                          <a:solidFill>
                            <a:srgbClr val="172235"/>
                          </a:solidFill>
                          <a:latin typeface="Aptos"/>
                        </a:rPr>
                        <a:t>Regras</a:t>
                      </a:r>
                      <a:r>
                        <a:rPr sz="1800" b="0" dirty="0">
                          <a:solidFill>
                            <a:srgbClr val="172235"/>
                          </a:solidFill>
                          <a:latin typeface="Aptos"/>
                        </a:rPr>
                        <a:t> e </a:t>
                      </a:r>
                      <a:r>
                        <a:rPr sz="1800" b="0" dirty="0" err="1">
                          <a:solidFill>
                            <a:srgbClr val="172235"/>
                          </a:solidFill>
                          <a:latin typeface="Aptos"/>
                        </a:rPr>
                        <a:t>limiares</a:t>
                      </a:r>
                      <a:r>
                        <a:rPr sz="1800" b="0" dirty="0">
                          <a:solidFill>
                            <a:srgbClr val="172235"/>
                          </a:solidFill>
                          <a:latin typeface="Aptos"/>
                        </a:rPr>
                        <a:t> </a:t>
                      </a:r>
                      <a:r>
                        <a:rPr sz="1800" b="0" dirty="0" err="1">
                          <a:solidFill>
                            <a:srgbClr val="172235"/>
                          </a:solidFill>
                          <a:latin typeface="Aptos"/>
                        </a:rPr>
                        <a:t>podem</a:t>
                      </a:r>
                      <a:r>
                        <a:rPr sz="1800" b="0" dirty="0">
                          <a:solidFill>
                            <a:srgbClr val="172235"/>
                          </a:solidFill>
                          <a:latin typeface="Aptos"/>
                        </a:rPr>
                        <a:t> </a:t>
                      </a:r>
                      <a:r>
                        <a:rPr sz="1800" b="0" dirty="0" err="1">
                          <a:solidFill>
                            <a:srgbClr val="172235"/>
                          </a:solidFill>
                          <a:latin typeface="Aptos"/>
                        </a:rPr>
                        <a:t>incorporar</a:t>
                      </a:r>
                      <a:r>
                        <a:rPr sz="1800" b="0" dirty="0">
                          <a:solidFill>
                            <a:srgbClr val="172235"/>
                          </a:solidFill>
                          <a:latin typeface="Aptos"/>
                        </a:rPr>
                        <a:t> </a:t>
                      </a:r>
                      <a:r>
                        <a:rPr sz="1800" b="0" dirty="0" err="1">
                          <a:solidFill>
                            <a:srgbClr val="172235"/>
                          </a:solidFill>
                          <a:latin typeface="Aptos"/>
                        </a:rPr>
                        <a:t>erros</a:t>
                      </a:r>
                      <a:r>
                        <a:rPr sz="1800" b="0" dirty="0">
                          <a:solidFill>
                            <a:srgbClr val="172235"/>
                          </a:solidFill>
                          <a:latin typeface="Aptos"/>
                        </a:rPr>
                        <a:t> e lacunas.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Planejamento simbólico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Precondições e efeitos permitem validar sequências.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determinísticos simplificam a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 com limite inferior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Busca informada com condições de otimalidade explicitadas.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Garantia condicionada ao modelo de custo.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Casos ilustrativos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Verificação de comportamento e comunicação dos conceitos.</a:t>
                      </a:r>
                    </a:p>
                  </a:txBody>
                  <a:tcPr marL="82296" marR="82296" marT="54864" marB="54864" anchor="ctr">
                    <a:solidFill>
                      <a:srgbClr val="F0F2F5"/>
                    </a:solidFill>
                  </a:tcPr>
                </a:tc>
                <a:tc>
                  <a:txBody>
                    <a:bodyPr/>
                    <a:lstStyle/>
                    <a:p>
                      <a:pPr>
                        <a:lnSpc>
                          <a:spcPct val="102000"/>
                        </a:lnSpc>
                        <a:spcAft>
                          <a:spcPts val="0"/>
                        </a:spcAft>
                      </a:pPr>
                      <a:r>
                        <a:rPr sz="1800" b="0" dirty="0">
                          <a:solidFill>
                            <a:srgbClr val="172235"/>
                          </a:solidFill>
                          <a:latin typeface="Aptos"/>
                        </a:rPr>
                        <a:t>Não </a:t>
                      </a:r>
                      <a:r>
                        <a:rPr sz="1800" b="0" dirty="0" err="1">
                          <a:solidFill>
                            <a:srgbClr val="172235"/>
                          </a:solidFill>
                          <a:latin typeface="Aptos"/>
                        </a:rPr>
                        <a:t>estimam</a:t>
                      </a:r>
                      <a:r>
                        <a:rPr sz="1800" b="0" dirty="0">
                          <a:solidFill>
                            <a:srgbClr val="172235"/>
                          </a:solidFill>
                          <a:latin typeface="Aptos"/>
                        </a:rPr>
                        <a:t> </a:t>
                      </a:r>
                      <a:r>
                        <a:rPr sz="1800" b="0" dirty="0" err="1">
                          <a:solidFill>
                            <a:srgbClr val="172235"/>
                          </a:solidFill>
                          <a:latin typeface="Aptos"/>
                        </a:rPr>
                        <a:t>acurácia</a:t>
                      </a:r>
                      <a:r>
                        <a:rPr sz="1800" b="0" dirty="0">
                          <a:solidFill>
                            <a:srgbClr val="172235"/>
                          </a:solidFill>
                          <a:latin typeface="Aptos"/>
                        </a:rPr>
                        <a:t> em uma </a:t>
                      </a:r>
                      <a:r>
                        <a:rPr sz="1800" b="0" dirty="0" err="1">
                          <a:solidFill>
                            <a:srgbClr val="172235"/>
                          </a:solidFill>
                          <a:latin typeface="Aptos"/>
                        </a:rPr>
                        <a:t>população</a:t>
                      </a:r>
                      <a:r>
                        <a:rPr sz="1800" b="0" dirty="0">
                          <a:solidFill>
                            <a:srgbClr val="172235"/>
                          </a:solidFill>
                          <a:latin typeface="Aptos"/>
                        </a:rPr>
                        <a:t> operacional.</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1</a:t>
            </a:r>
            <a:r>
              <a:rPr lang="pt-BR" sz="1000" b="0" dirty="0">
                <a:solidFill>
                  <a:srgbClr val="4D5968"/>
                </a:solidFill>
                <a:latin typeface="Aptos"/>
              </a:rPr>
              <a:t>0</a:t>
            </a:r>
            <a:r>
              <a:rPr sz="1000" b="0" dirty="0">
                <a:solidFill>
                  <a:srgbClr val="4D5968"/>
                </a:solidFill>
                <a:latin typeface="Aptos"/>
              </a:rPr>
              <a:t> / 60</a:t>
            </a:r>
          </a:p>
        </p:txBody>
      </p:sp>
      <p:sp>
        <p:nvSpPr>
          <p:cNvPr id="4" name="slide-title-1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Diagnóstico</a:t>
            </a:r>
            <a:r>
              <a:rPr sz="2700" b="1" dirty="0">
                <a:solidFill>
                  <a:srgbClr val="172235"/>
                </a:solidFill>
                <a:latin typeface="Aptos"/>
              </a:rPr>
              <a:t> </a:t>
            </a:r>
            <a:r>
              <a:rPr lang="pt-BR" sz="2700" b="1" dirty="0">
                <a:solidFill>
                  <a:srgbClr val="172235"/>
                </a:solidFill>
                <a:latin typeface="Aptos"/>
              </a:rPr>
              <a:t>B</a:t>
            </a:r>
            <a:r>
              <a:rPr sz="2700" b="1" dirty="0" err="1">
                <a:solidFill>
                  <a:srgbClr val="172235"/>
                </a:solidFill>
                <a:latin typeface="Aptos"/>
              </a:rPr>
              <a:t>aseado</a:t>
            </a:r>
            <a:r>
              <a:rPr sz="2700" b="1" dirty="0">
                <a:solidFill>
                  <a:srgbClr val="172235"/>
                </a:solidFill>
                <a:latin typeface="Aptos"/>
              </a:rPr>
              <a:t> em </a:t>
            </a:r>
            <a:r>
              <a:rPr lang="pt-BR" sz="2700" b="1" dirty="0">
                <a:solidFill>
                  <a:srgbClr val="172235"/>
                </a:solidFill>
                <a:latin typeface="Aptos"/>
              </a:rPr>
              <a:t>R</a:t>
            </a:r>
            <a:r>
              <a:rPr sz="2700" b="1" dirty="0" err="1">
                <a:solidFill>
                  <a:srgbClr val="172235"/>
                </a:solidFill>
                <a:latin typeface="Aptos"/>
              </a:rPr>
              <a:t>egras</a:t>
            </a:r>
            <a:r>
              <a:rPr sz="2700" b="1" dirty="0">
                <a:solidFill>
                  <a:srgbClr val="172235"/>
                </a:solidFill>
                <a:latin typeface="Aptos"/>
              </a:rPr>
              <a:t> de </a:t>
            </a:r>
            <a:r>
              <a:rPr lang="pt-BR" sz="2700" b="1" dirty="0">
                <a:solidFill>
                  <a:srgbClr val="172235"/>
                </a:solidFill>
                <a:latin typeface="Aptos"/>
              </a:rPr>
              <a:t>P</a:t>
            </a:r>
            <a:r>
              <a:rPr sz="2700" b="1" dirty="0" err="1">
                <a:solidFill>
                  <a:srgbClr val="172235"/>
                </a:solidFill>
                <a:latin typeface="Aptos"/>
              </a:rPr>
              <a:t>rodução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Implementação: src/aisg/expert_system/kb_simulated.py</a:t>
            </a:r>
          </a:p>
        </p:txBody>
      </p:sp>
      <p:sp>
        <p:nvSpPr>
          <p:cNvPr id="7" name="Rectangle 6"/>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hipótese deve ser acompanhada das evidências e regras que a sustentam.</a:t>
            </a:r>
          </a:p>
        </p:txBody>
      </p:sp>
      <p:sp>
        <p:nvSpPr>
          <p:cNvPr id="9" name="Oval 8"/>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dirty="0">
                <a:solidFill>
                  <a:srgbClr val="172235"/>
                </a:solidFill>
                <a:latin typeface="Aptos"/>
              </a:rPr>
              <a:t>41 </a:t>
            </a:r>
            <a:r>
              <a:rPr sz="2200" b="0" dirty="0" err="1">
                <a:solidFill>
                  <a:srgbClr val="172235"/>
                </a:solidFill>
                <a:latin typeface="Aptos"/>
              </a:rPr>
              <a:t>regras</a:t>
            </a:r>
            <a:r>
              <a:rPr sz="2200" b="0" dirty="0">
                <a:solidFill>
                  <a:srgbClr val="172235"/>
                </a:solidFill>
                <a:latin typeface="Aptos"/>
              </a:rPr>
              <a:t> </a:t>
            </a:r>
            <a:r>
              <a:rPr sz="2200" b="0" dirty="0" err="1">
                <a:solidFill>
                  <a:srgbClr val="172235"/>
                </a:solidFill>
                <a:latin typeface="Aptos"/>
              </a:rPr>
              <a:t>na</a:t>
            </a:r>
            <a:r>
              <a:rPr sz="2200" b="0" dirty="0">
                <a:solidFill>
                  <a:srgbClr val="172235"/>
                </a:solidFill>
                <a:latin typeface="Aptos"/>
              </a:rPr>
              <a:t> base do </a:t>
            </a:r>
            <a:r>
              <a:rPr sz="2200" b="0" dirty="0" err="1">
                <a:solidFill>
                  <a:srgbClr val="172235"/>
                </a:solidFill>
                <a:latin typeface="Aptos"/>
              </a:rPr>
              <a:t>cenário</a:t>
            </a:r>
            <a:r>
              <a:rPr sz="2200" b="0" dirty="0">
                <a:solidFill>
                  <a:srgbClr val="172235"/>
                </a:solidFill>
                <a:latin typeface="Aptos"/>
              </a:rPr>
              <a:t> </a:t>
            </a:r>
            <a:r>
              <a:rPr sz="2200" b="0" dirty="0" err="1">
                <a:solidFill>
                  <a:srgbClr val="172235"/>
                </a:solidFill>
                <a:latin typeface="Aptos"/>
              </a:rPr>
              <a:t>simulado</a:t>
            </a:r>
            <a:r>
              <a:rPr sz="2200" b="0" dirty="0">
                <a:solidFill>
                  <a:srgbClr val="172235"/>
                </a:solidFill>
                <a:latin typeface="Aptos"/>
              </a:rPr>
              <a:t>.</a:t>
            </a:r>
          </a:p>
        </p:txBody>
      </p:sp>
      <p:sp>
        <p:nvSpPr>
          <p:cNvPr id="11" name="Oval 10"/>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Oito casos ilustrativos, incluindo a condição saudável.</a:t>
            </a:r>
          </a:p>
        </p:txBody>
      </p:sp>
      <p:sp>
        <p:nvSpPr>
          <p:cNvPr id="13" name="Oval 12"/>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dirty="0" err="1">
                <a:solidFill>
                  <a:srgbClr val="172235"/>
                </a:solidFill>
                <a:latin typeface="Aptos"/>
              </a:rPr>
              <a:t>Encadeamento</a:t>
            </a:r>
            <a:r>
              <a:rPr sz="2200" b="0" dirty="0">
                <a:solidFill>
                  <a:srgbClr val="172235"/>
                </a:solidFill>
                <a:latin typeface="Aptos"/>
              </a:rPr>
              <a:t> </a:t>
            </a:r>
            <a:r>
              <a:rPr sz="2200" b="0" dirty="0" err="1">
                <a:solidFill>
                  <a:srgbClr val="172235"/>
                </a:solidFill>
                <a:latin typeface="Aptos"/>
              </a:rPr>
              <a:t>progressivo</a:t>
            </a:r>
            <a:r>
              <a:rPr sz="2200" b="0" dirty="0">
                <a:solidFill>
                  <a:srgbClr val="172235"/>
                </a:solidFill>
                <a:latin typeface="Aptos"/>
              </a:rPr>
              <a:t> e </a:t>
            </a:r>
            <a:r>
              <a:rPr sz="2200" b="0" dirty="0" err="1">
                <a:solidFill>
                  <a:srgbClr val="172235"/>
                </a:solidFill>
                <a:latin typeface="Aptos"/>
              </a:rPr>
              <a:t>regressivo</a:t>
            </a:r>
            <a:r>
              <a:rPr sz="2200" b="0" dirty="0">
                <a:solidFill>
                  <a:srgbClr val="172235"/>
                </a:solidFill>
                <a:latin typeface="Aptos"/>
              </a:rPr>
              <a:t> </a:t>
            </a:r>
            <a:r>
              <a:rPr sz="2200" b="0" dirty="0" err="1">
                <a:solidFill>
                  <a:srgbClr val="172235"/>
                </a:solidFill>
                <a:latin typeface="Aptos"/>
              </a:rPr>
              <a:t>sobre</a:t>
            </a:r>
            <a:r>
              <a:rPr sz="2200" b="0" dirty="0">
                <a:solidFill>
                  <a:srgbClr val="172235"/>
                </a:solidFill>
                <a:latin typeface="Aptos"/>
              </a:rPr>
              <a:t> o </a:t>
            </a:r>
            <a:r>
              <a:rPr sz="2200" b="0" dirty="0" err="1">
                <a:solidFill>
                  <a:srgbClr val="172235"/>
                </a:solidFill>
                <a:latin typeface="Aptos"/>
              </a:rPr>
              <a:t>mesmo</a:t>
            </a:r>
            <a:r>
              <a:rPr sz="2200" b="0" dirty="0">
                <a:solidFill>
                  <a:srgbClr val="172235"/>
                </a:solidFill>
                <a:latin typeface="Aptos"/>
              </a:rPr>
              <a:t> motor.</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rastreabilidade da inferência é verificável; a validade diagnóstica exige avaliação independente.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lang="pt-BR" sz="1000" b="0" dirty="0">
                <a:solidFill>
                  <a:srgbClr val="4D5968"/>
                </a:solidFill>
                <a:latin typeface="Aptos"/>
              </a:rPr>
              <a:t>11</a:t>
            </a:r>
            <a:r>
              <a:rPr sz="1000" b="0" dirty="0">
                <a:solidFill>
                  <a:srgbClr val="4D5968"/>
                </a:solidFill>
                <a:latin typeface="Aptos"/>
              </a:rPr>
              <a:t> / 60</a:t>
            </a:r>
          </a:p>
        </p:txBody>
      </p:sp>
      <p:sp>
        <p:nvSpPr>
          <p:cNvPr id="4" name="slide-title-1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Arquitetura e separação de responsabilidades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Entradas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Valores e respostas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Memória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Fatos e suporte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Inferência</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 aplicação</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Saídas</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e explicação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Base de conhecimento: variáveis, regras e limiares.</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Motor: avaliação de condições, conflito e propagação de suporte.</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Explicação: procedência das conclusões e justificativa das perguntas.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Alterar o conhecimento do domínio não exige substituir o algoritmo de inferência.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1</a:t>
            </a:r>
            <a:r>
              <a:rPr lang="pt-BR" sz="1000" b="0" dirty="0">
                <a:solidFill>
                  <a:srgbClr val="4D5968"/>
                </a:solidFill>
                <a:latin typeface="Aptos"/>
              </a:rPr>
              <a:t>2</a:t>
            </a:r>
            <a:r>
              <a:rPr sz="1000" b="0" dirty="0">
                <a:solidFill>
                  <a:srgbClr val="4D5968"/>
                </a:solidFill>
                <a:latin typeface="Aptos"/>
              </a:rPr>
              <a:t> / 60</a:t>
            </a:r>
          </a:p>
        </p:txBody>
      </p:sp>
      <p:sp>
        <p:nvSpPr>
          <p:cNvPr id="4" name="slide-title-1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Organização</a:t>
            </a:r>
            <a:r>
              <a:rPr sz="2700" b="1" dirty="0">
                <a:solidFill>
                  <a:srgbClr val="172235"/>
                </a:solidFill>
                <a:latin typeface="Aptos"/>
              </a:rPr>
              <a:t> da </a:t>
            </a:r>
            <a:r>
              <a:rPr lang="pt-BR" sz="2700" b="1" dirty="0">
                <a:solidFill>
                  <a:srgbClr val="172235"/>
                </a:solidFill>
                <a:latin typeface="Aptos"/>
              </a:rPr>
              <a:t>B</a:t>
            </a:r>
            <a:r>
              <a:rPr sz="2700" b="1" dirty="0" err="1">
                <a:solidFill>
                  <a:srgbClr val="172235"/>
                </a:solidFill>
                <a:latin typeface="Aptos"/>
              </a:rPr>
              <a:t>ase</a:t>
            </a:r>
            <a:r>
              <a:rPr sz="2700" b="1" dirty="0">
                <a:solidFill>
                  <a:srgbClr val="172235"/>
                </a:solidFill>
                <a:latin typeface="Aptos"/>
              </a:rPr>
              <a:t> de </a:t>
            </a:r>
            <a:r>
              <a:rPr lang="pt-BR" sz="2700" b="1" dirty="0">
                <a:solidFill>
                  <a:srgbClr val="172235"/>
                </a:solidFill>
                <a:latin typeface="Aptos"/>
              </a:rPr>
              <a:t>C</a:t>
            </a:r>
            <a:r>
              <a:rPr sz="2700" b="1" dirty="0" err="1">
                <a:solidFill>
                  <a:srgbClr val="172235"/>
                </a:solidFill>
                <a:latin typeface="Aptos"/>
              </a:rPr>
              <a:t>onhecimento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Qualidade</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RSSI e SNR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Sintomas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Perda e atraso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Diagnóstico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concorrentes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Recomendação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Ação e autorização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Condições intermediárias reduzem repetição de conhecimento.</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Regras de contraevidência podem reduzir o suporte de hipóteses.</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Indicadores correlacionados exigem cuidado na agregação.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estrutura em camadas organiza o raciocínio; não demonstra independência causal.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1</a:t>
            </a:r>
            <a:r>
              <a:rPr lang="pt-BR" sz="1000" b="0" dirty="0">
                <a:solidFill>
                  <a:srgbClr val="4D5968"/>
                </a:solidFill>
                <a:latin typeface="Aptos"/>
              </a:rPr>
              <a:t>3</a:t>
            </a:r>
            <a:r>
              <a:rPr sz="1000" b="0" dirty="0">
                <a:solidFill>
                  <a:srgbClr val="4D5968"/>
                </a:solidFill>
                <a:latin typeface="Aptos"/>
              </a:rPr>
              <a:t> / 60</a:t>
            </a:r>
          </a:p>
        </p:txBody>
      </p:sp>
      <p:sp>
        <p:nvSpPr>
          <p:cNvPr id="4" name="slide-title-1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Variáveis</a:t>
            </a:r>
            <a:r>
              <a:rPr sz="2700" b="1" dirty="0">
                <a:solidFill>
                  <a:srgbClr val="172235"/>
                </a:solidFill>
                <a:latin typeface="Aptos"/>
              </a:rPr>
              <a:t> </a:t>
            </a:r>
            <a:r>
              <a:rPr lang="pt-BR" sz="2700" b="1" dirty="0">
                <a:solidFill>
                  <a:srgbClr val="172235"/>
                </a:solidFill>
                <a:latin typeface="Aptos"/>
              </a:rPr>
              <a:t>O</a:t>
            </a:r>
            <a:r>
              <a:rPr sz="2700" b="1" dirty="0" err="1">
                <a:solidFill>
                  <a:srgbClr val="172235"/>
                </a:solidFill>
                <a:latin typeface="Aptos"/>
              </a:rPr>
              <a:t>bserváveis</a:t>
            </a:r>
            <a:r>
              <a:rPr sz="2700" b="1" dirty="0">
                <a:solidFill>
                  <a:srgbClr val="172235"/>
                </a:solidFill>
                <a:latin typeface="Aptos"/>
              </a:rPr>
              <a:t> e </a:t>
            </a:r>
            <a:r>
              <a:rPr lang="pt-BR" sz="2700" b="1" dirty="0">
                <a:solidFill>
                  <a:srgbClr val="172235"/>
                </a:solidFill>
                <a:latin typeface="Aptos"/>
              </a:rPr>
              <a:t>P</a:t>
            </a:r>
            <a:r>
              <a:rPr sz="2700" b="1" dirty="0" err="1">
                <a:solidFill>
                  <a:srgbClr val="172235"/>
                </a:solidFill>
                <a:latin typeface="Aptos"/>
              </a:rPr>
              <a:t>arâmetros</a:t>
            </a:r>
            <a:r>
              <a:rPr sz="2700" b="1" dirty="0">
                <a:solidFill>
                  <a:srgbClr val="172235"/>
                </a:solidFill>
                <a:latin typeface="Aptos"/>
              </a:rPr>
              <a:t> do </a:t>
            </a:r>
            <a:r>
              <a:rPr lang="pt-BR" sz="2700" b="1" dirty="0">
                <a:solidFill>
                  <a:srgbClr val="172235"/>
                </a:solidFill>
                <a:latin typeface="Aptos"/>
              </a:rPr>
              <a:t>C</a:t>
            </a:r>
            <a:r>
              <a:rPr sz="2700" b="1" dirty="0" err="1">
                <a:solidFill>
                  <a:srgbClr val="172235"/>
                </a:solidFill>
                <a:latin typeface="Aptos"/>
              </a:rPr>
              <a:t>enário</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Grupo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Exemplos no código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 na inferência</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Condições de recepção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rssi_dbm; snr_db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Qualificação do sinal.</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Desempenho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retry_rate_pct; packet_loss_pct; rtt_ms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Sintomas e hipóteses concorrentes.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Carga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offered_load_pct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Pressão sobre a capacidade de referência.</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Controle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excess_path_loss_db; co_channel_emitter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Informação assistida sobre a intervenção.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Disponibilidade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node_responding; route_present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Distinção entre nó, percurso e encaminhamento.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Os intervalos aceitos pela implementação não são faixas validadas de operação.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dirty="0">
                <a:solidFill>
                  <a:srgbClr val="4D5968"/>
                </a:solidFill>
                <a:latin typeface="Aptos"/>
              </a:rPr>
              <a:t>1</a:t>
            </a:r>
            <a:r>
              <a:rPr lang="pt-BR" sz="1000" b="0" dirty="0">
                <a:solidFill>
                  <a:srgbClr val="4D5968"/>
                </a:solidFill>
                <a:latin typeface="Aptos"/>
              </a:rPr>
              <a:t>4</a:t>
            </a:r>
            <a:r>
              <a:rPr sz="1000" b="0" dirty="0">
                <a:solidFill>
                  <a:srgbClr val="4D5968"/>
                </a:solidFill>
                <a:latin typeface="Aptos"/>
              </a:rPr>
              <a:t> / 60</a:t>
            </a:r>
          </a:p>
        </p:txBody>
      </p:sp>
      <p:sp>
        <p:nvSpPr>
          <p:cNvPr id="4" name="slide-title-1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lang="pt-BR" sz="2700" b="1" dirty="0">
                <a:solidFill>
                  <a:srgbClr val="172235"/>
                </a:solidFill>
                <a:latin typeface="Aptos"/>
              </a:rPr>
              <a:t>Distribuição das 41 Regras em 5 Camadas</a:t>
            </a:r>
            <a:endParaRPr sz="2700" b="1" dirty="0">
              <a:solidFill>
                <a:srgbClr val="172235"/>
              </a:solidFill>
              <a:latin typeface="Aptos"/>
            </a:endParaRP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a:extLst>
              <a:ext uri="{FF2B5EF4-FFF2-40B4-BE49-F238E27FC236}">
                <a16:creationId xmlns:a16="http://schemas.microsoft.com/office/drawing/2014/main" id="{DDCFFC67-128A-8538-932B-606EFE0C6D72}"/>
              </a:ext>
            </a:extLst>
          </p:cNvPr>
          <p:cNvPicPr>
            <a:picLocks noChangeAspect="1"/>
          </p:cNvPicPr>
          <p:nvPr/>
        </p:nvPicPr>
        <p:blipFill>
          <a:blip r:embed="rId3"/>
          <a:stretch>
            <a:fillRect/>
          </a:stretch>
        </p:blipFill>
        <p:spPr>
          <a:xfrm>
            <a:off x="1891862" y="1203107"/>
            <a:ext cx="9927153" cy="54465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BA07C-AF26-5F7C-4BFE-A89782C734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1FB30F-EFE3-28F2-9A3F-4BD86D19129F}"/>
              </a:ext>
            </a:extLst>
          </p:cNvPr>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a:extLst>
              <a:ext uri="{FF2B5EF4-FFF2-40B4-BE49-F238E27FC236}">
                <a16:creationId xmlns:a16="http://schemas.microsoft.com/office/drawing/2014/main" id="{DE3599C0-A719-E405-CF6E-C76C82E97261}"/>
              </a:ext>
            </a:extLst>
          </p:cNvPr>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15 / 60</a:t>
            </a:r>
          </a:p>
        </p:txBody>
      </p:sp>
      <p:sp>
        <p:nvSpPr>
          <p:cNvPr id="4" name="slide-title-15">
            <a:extLst>
              <a:ext uri="{FF2B5EF4-FFF2-40B4-BE49-F238E27FC236}">
                <a16:creationId xmlns:a16="http://schemas.microsoft.com/office/drawing/2014/main" id="{643BC3BA-C382-65EF-BD58-6CA8781E0999}"/>
              </a:ext>
            </a:extLst>
          </p:cNvPr>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dirty="0" err="1">
                <a:solidFill>
                  <a:srgbClr val="172235"/>
                </a:solidFill>
                <a:latin typeface="Aptos"/>
              </a:rPr>
              <a:t>Regra</a:t>
            </a:r>
            <a:r>
              <a:rPr sz="2700" b="1" dirty="0">
                <a:solidFill>
                  <a:srgbClr val="172235"/>
                </a:solidFill>
                <a:latin typeface="Aptos"/>
              </a:rPr>
              <a:t> de </a:t>
            </a:r>
            <a:r>
              <a:rPr lang="pt-BR" sz="2700" b="1" dirty="0">
                <a:solidFill>
                  <a:srgbClr val="172235"/>
                </a:solidFill>
                <a:latin typeface="Aptos"/>
              </a:rPr>
              <a:t>D</a:t>
            </a:r>
            <a:r>
              <a:rPr sz="2700" b="1" dirty="0" err="1">
                <a:solidFill>
                  <a:srgbClr val="172235"/>
                </a:solidFill>
                <a:latin typeface="Aptos"/>
              </a:rPr>
              <a:t>iagnóstico</a:t>
            </a:r>
            <a:r>
              <a:rPr sz="2700" b="1" dirty="0">
                <a:solidFill>
                  <a:srgbClr val="172235"/>
                </a:solidFill>
                <a:latin typeface="Aptos"/>
              </a:rPr>
              <a:t> e </a:t>
            </a:r>
            <a:r>
              <a:rPr lang="pt-BR" sz="2700" b="1" dirty="0">
                <a:solidFill>
                  <a:srgbClr val="172235"/>
                </a:solidFill>
                <a:latin typeface="Aptos"/>
              </a:rPr>
              <a:t>C</a:t>
            </a:r>
            <a:r>
              <a:rPr sz="2700" b="1" dirty="0" err="1">
                <a:solidFill>
                  <a:srgbClr val="172235"/>
                </a:solidFill>
                <a:latin typeface="Aptos"/>
              </a:rPr>
              <a:t>ontra</a:t>
            </a:r>
            <a:r>
              <a:rPr lang="pt-BR" sz="2700" b="1" dirty="0">
                <a:solidFill>
                  <a:srgbClr val="172235"/>
                </a:solidFill>
                <a:latin typeface="Aptos"/>
              </a:rPr>
              <a:t>-E</a:t>
            </a:r>
            <a:r>
              <a:rPr sz="2700" b="1" dirty="0" err="1">
                <a:solidFill>
                  <a:srgbClr val="172235"/>
                </a:solidFill>
                <a:latin typeface="Aptos"/>
              </a:rPr>
              <a:t>vidência</a:t>
            </a:r>
            <a:endParaRPr sz="2700" b="1" dirty="0">
              <a:solidFill>
                <a:srgbClr val="172235"/>
              </a:solidFill>
              <a:latin typeface="Aptos"/>
            </a:endParaRPr>
          </a:p>
        </p:txBody>
      </p:sp>
      <p:cxnSp>
        <p:nvCxnSpPr>
          <p:cNvPr id="5" name="Connector 4">
            <a:extLst>
              <a:ext uri="{FF2B5EF4-FFF2-40B4-BE49-F238E27FC236}">
                <a16:creationId xmlns:a16="http://schemas.microsoft.com/office/drawing/2014/main" id="{E979809A-D4B3-75B2-EAD1-0971CD0B469F}"/>
              </a:ext>
            </a:extLst>
          </p:cNvPr>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187F573F-4B82-4CD1-4B16-76C7AAA23541}"/>
              </a:ext>
            </a:extLst>
          </p:cNvPr>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6D4CC7B-9EF9-5D7A-B820-250FD23ECCF9}"/>
              </a:ext>
            </a:extLst>
          </p:cNvPr>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dirty="0">
                <a:solidFill>
                  <a:srgbClr val="172235"/>
                </a:solidFill>
                <a:latin typeface="Consolas"/>
              </a:rPr>
              <a:t>S14: SE </a:t>
            </a:r>
            <a:r>
              <a:rPr sz="1750" b="0" dirty="0" err="1">
                <a:solidFill>
                  <a:srgbClr val="172235"/>
                </a:solidFill>
                <a:latin typeface="Consolas"/>
              </a:rPr>
              <a:t>retry_rate_pct</a:t>
            </a:r>
            <a:r>
              <a:rPr sz="1750" b="0" dirty="0">
                <a:solidFill>
                  <a:srgbClr val="172235"/>
                </a:solidFill>
                <a:latin typeface="Consolas"/>
              </a:rPr>
              <a:t> &gt; 30</a:t>
            </a:r>
          </a:p>
          <a:p>
            <a:pPr algn="l">
              <a:lnSpc>
                <a:spcPct val="108000"/>
              </a:lnSpc>
              <a:spcBef>
                <a:spcPts val="0"/>
              </a:spcBef>
              <a:spcAft>
                <a:spcPts val="0"/>
              </a:spcAft>
            </a:pPr>
            <a:r>
              <a:rPr sz="1750" b="0" dirty="0">
                <a:solidFill>
                  <a:srgbClr val="172235"/>
                </a:solidFill>
                <a:latin typeface="Consolas"/>
              </a:rPr>
              <a:t>     E </a:t>
            </a:r>
            <a:r>
              <a:rPr sz="1750" b="0" dirty="0" err="1">
                <a:solidFill>
                  <a:srgbClr val="172235"/>
                </a:solidFill>
                <a:latin typeface="Consolas"/>
              </a:rPr>
              <a:t>signal_quality</a:t>
            </a:r>
            <a:r>
              <a:rPr sz="1750" b="0" dirty="0">
                <a:solidFill>
                  <a:srgbClr val="172235"/>
                </a:solidFill>
                <a:latin typeface="Consolas"/>
              </a:rPr>
              <a:t> != poor</a:t>
            </a:r>
          </a:p>
          <a:p>
            <a:pPr algn="l">
              <a:lnSpc>
                <a:spcPct val="108000"/>
              </a:lnSpc>
              <a:spcBef>
                <a:spcPts val="0"/>
              </a:spcBef>
              <a:spcAft>
                <a:spcPts val="0"/>
              </a:spcAft>
            </a:pPr>
            <a:r>
              <a:rPr sz="1750" b="0" dirty="0">
                <a:solidFill>
                  <a:srgbClr val="172235"/>
                </a:solidFill>
                <a:latin typeface="Consolas"/>
              </a:rPr>
              <a:t>     E </a:t>
            </a:r>
            <a:r>
              <a:rPr sz="1750" b="0" dirty="0" err="1">
                <a:solidFill>
                  <a:srgbClr val="172235"/>
                </a:solidFill>
                <a:latin typeface="Consolas"/>
              </a:rPr>
              <a:t>co_channel_emitter</a:t>
            </a:r>
            <a:r>
              <a:rPr sz="1750" b="0" dirty="0">
                <a:solidFill>
                  <a:srgbClr val="172235"/>
                </a:solidFill>
                <a:latin typeface="Consolas"/>
              </a:rPr>
              <a:t> = no</a:t>
            </a:r>
          </a:p>
          <a:p>
            <a:pPr algn="l">
              <a:lnSpc>
                <a:spcPct val="108000"/>
              </a:lnSpc>
              <a:spcBef>
                <a:spcPts val="0"/>
              </a:spcBef>
              <a:spcAft>
                <a:spcPts val="0"/>
              </a:spcAft>
            </a:pPr>
            <a:r>
              <a:rPr sz="1750" b="0" dirty="0">
                <a:solidFill>
                  <a:srgbClr val="172235"/>
                </a:solidFill>
                <a:latin typeface="Consolas"/>
              </a:rPr>
              <a:t>     ENTÃO diagnosis = </a:t>
            </a:r>
            <a:r>
              <a:rPr sz="1750" b="0" dirty="0" err="1">
                <a:solidFill>
                  <a:srgbClr val="172235"/>
                </a:solidFill>
                <a:latin typeface="Consolas"/>
              </a:rPr>
              <a:t>mac_contention</a:t>
            </a:r>
            <a:r>
              <a:rPr sz="1750" b="0" dirty="0">
                <a:solidFill>
                  <a:srgbClr val="172235"/>
                </a:solidFill>
                <a:latin typeface="Consolas"/>
              </a:rPr>
              <a:t>    CF = +0,85</a:t>
            </a:r>
          </a:p>
          <a:p>
            <a:pPr algn="l">
              <a:lnSpc>
                <a:spcPct val="108000"/>
              </a:lnSpc>
              <a:spcBef>
                <a:spcPts val="0"/>
              </a:spcBef>
              <a:spcAft>
                <a:spcPts val="0"/>
              </a:spcAft>
            </a:pPr>
            <a:endParaRPr sz="1750" b="0" dirty="0">
              <a:solidFill>
                <a:srgbClr val="172235"/>
              </a:solidFill>
              <a:latin typeface="Consolas"/>
            </a:endParaRPr>
          </a:p>
          <a:p>
            <a:pPr algn="l">
              <a:lnSpc>
                <a:spcPct val="108000"/>
              </a:lnSpc>
              <a:spcBef>
                <a:spcPts val="0"/>
              </a:spcBef>
              <a:spcAft>
                <a:spcPts val="0"/>
              </a:spcAft>
            </a:pPr>
            <a:r>
              <a:rPr sz="1750" b="0" dirty="0">
                <a:solidFill>
                  <a:srgbClr val="172235"/>
                </a:solidFill>
                <a:latin typeface="Consolas"/>
              </a:rPr>
              <a:t>S25: SE </a:t>
            </a:r>
            <a:r>
              <a:rPr sz="1750" b="0" dirty="0" err="1">
                <a:solidFill>
                  <a:srgbClr val="172235"/>
                </a:solidFill>
                <a:latin typeface="Consolas"/>
              </a:rPr>
              <a:t>retry_rate_pct</a:t>
            </a:r>
            <a:r>
              <a:rPr sz="1750" b="0" dirty="0">
                <a:solidFill>
                  <a:srgbClr val="172235"/>
                </a:solidFill>
                <a:latin typeface="Consolas"/>
              </a:rPr>
              <a:t> &lt;= 30</a:t>
            </a:r>
          </a:p>
          <a:p>
            <a:pPr algn="l">
              <a:lnSpc>
                <a:spcPct val="108000"/>
              </a:lnSpc>
              <a:spcBef>
                <a:spcPts val="0"/>
              </a:spcBef>
              <a:spcAft>
                <a:spcPts val="0"/>
              </a:spcAft>
            </a:pPr>
            <a:r>
              <a:rPr sz="1750" b="0" dirty="0">
                <a:solidFill>
                  <a:srgbClr val="172235"/>
                </a:solidFill>
                <a:latin typeface="Consolas"/>
              </a:rPr>
              <a:t>     ENTÃO diagnosis = </a:t>
            </a:r>
            <a:r>
              <a:rPr sz="1750" b="0" dirty="0" err="1">
                <a:solidFill>
                  <a:srgbClr val="172235"/>
                </a:solidFill>
                <a:latin typeface="Consolas"/>
              </a:rPr>
              <a:t>mac_contention</a:t>
            </a:r>
            <a:r>
              <a:rPr sz="1750" b="0" dirty="0">
                <a:solidFill>
                  <a:srgbClr val="172235"/>
                </a:solidFill>
                <a:latin typeface="Consolas"/>
              </a:rPr>
              <a:t>    CF = −0,80</a:t>
            </a:r>
          </a:p>
        </p:txBody>
      </p:sp>
      <p:sp>
        <p:nvSpPr>
          <p:cNvPr id="8" name="Oval 7">
            <a:extLst>
              <a:ext uri="{FF2B5EF4-FFF2-40B4-BE49-F238E27FC236}">
                <a16:creationId xmlns:a16="http://schemas.microsoft.com/office/drawing/2014/main" id="{6501C2E7-A536-1367-D1FA-200FB200791D}"/>
              </a:ext>
            </a:extLst>
          </p:cNvPr>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6143E28-371C-156B-43A6-BBB5173A08A5}"/>
              </a:ext>
            </a:extLst>
          </p:cNvPr>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Os limiares e pesos são nominais.</a:t>
            </a:r>
          </a:p>
        </p:txBody>
      </p:sp>
      <p:sp>
        <p:nvSpPr>
          <p:cNvPr id="10" name="Oval 9">
            <a:extLst>
              <a:ext uri="{FF2B5EF4-FFF2-40B4-BE49-F238E27FC236}">
                <a16:creationId xmlns:a16="http://schemas.microsoft.com/office/drawing/2014/main" id="{749AC3E2-121B-2B94-B444-43BBC58AECB8}"/>
              </a:ext>
            </a:extLst>
          </p:cNvPr>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54E4D517-4F5E-D128-D70E-405D5A0DDF4C}"/>
              </a:ext>
            </a:extLst>
          </p:cNvPr>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regra expressa uma associação heurística explicitamente revisável.</a:t>
            </a:r>
          </a:p>
        </p:txBody>
      </p:sp>
      <p:sp>
        <p:nvSpPr>
          <p:cNvPr id="12" name="Rectangle 11">
            <a:extLst>
              <a:ext uri="{FF2B5EF4-FFF2-40B4-BE49-F238E27FC236}">
                <a16:creationId xmlns:a16="http://schemas.microsoft.com/office/drawing/2014/main" id="{08927D97-CD71-EDE4-D08A-D33E732702F8}"/>
              </a:ext>
            </a:extLst>
          </p:cNvPr>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275B8057-56DB-67B6-FFBF-0F24EB6A92E7}"/>
              </a:ext>
            </a:extLst>
          </p:cNvPr>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diagnóstico é uma hipótese sustentada pelo modelo, não uma identificação causal exclusiva.</a:t>
            </a:r>
          </a:p>
        </p:txBody>
      </p:sp>
    </p:spTree>
    <p:extLst>
      <p:ext uri="{BB962C8B-B14F-4D97-AF65-F5344CB8AC3E}">
        <p14:creationId xmlns:p14="http://schemas.microsoft.com/office/powerpoint/2010/main" val="57014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16 / 60</a:t>
            </a:r>
          </a:p>
        </p:txBody>
      </p:sp>
      <p:sp>
        <p:nvSpPr>
          <p:cNvPr id="4" name="slide-title-1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Fatores de certeza: significado e limites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Shortliffe e Buchanan (1975), reimpresso em Rule-Based Expert Systems, cap. 11.</a:t>
            </a:r>
          </a:p>
        </p:txBody>
      </p:sp>
      <p:sp>
        <p:nvSpPr>
          <p:cNvPr id="7" name="TextBox 6"/>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Escala de suporte</a:t>
            </a:r>
          </a:p>
        </p:txBody>
      </p:sp>
      <p:sp>
        <p:nvSpPr>
          <p:cNvPr id="8" name="TextBox 7"/>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[−1, +1]</a:t>
            </a:r>
          </a:p>
          <a:p>
            <a:pPr algn="l">
              <a:lnSpc>
                <a:spcPct val="108000"/>
              </a:lnSpc>
              <a:spcBef>
                <a:spcPts val="0"/>
              </a:spcBef>
              <a:spcAft>
                <a:spcPts val="0"/>
              </a:spcAft>
            </a:pPr>
            <a:r>
              <a:rPr sz="2100" b="0">
                <a:solidFill>
                  <a:srgbClr val="172235"/>
                </a:solidFill>
                <a:latin typeface="Aptos"/>
              </a:rPr>
              <a:t>Valores positivos apoiam; negativos contrariam a conclusão no formalismo.</a:t>
            </a:r>
          </a:p>
        </p:txBody>
      </p:sp>
      <p:cxnSp>
        <p:nvCxnSpPr>
          <p:cNvPr id="9" name="Connector 8"/>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Interpretação</a:t>
            </a:r>
          </a:p>
        </p:txBody>
      </p:sp>
      <p:sp>
        <p:nvSpPr>
          <p:cNvPr id="11" name="TextBox 10"/>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0,94 não significa 94% de probabilidade de acerto nem confiança estatística de 94%.</a:t>
            </a:r>
          </a:p>
        </p:txBody>
      </p:sp>
      <p:cxnSp>
        <p:nvCxnSpPr>
          <p:cNvPr id="12" name="Connector 11"/>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4" name="TextBox 13"/>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Pesos e limiares precisam de revisão; evidências dependentes podem inflar o suporte agregado.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17 / 60</a:t>
            </a:r>
          </a:p>
        </p:txBody>
      </p:sp>
      <p:sp>
        <p:nvSpPr>
          <p:cNvPr id="4" name="slide-title-1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Propagação e combinação de suporte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CFpremissa = min(CF₁, …, CFₖ)</a:t>
            </a:r>
          </a:p>
          <a:p>
            <a:pPr algn="l">
              <a:lnSpc>
                <a:spcPct val="108000"/>
              </a:lnSpc>
              <a:spcBef>
                <a:spcPts val="0"/>
              </a:spcBef>
              <a:spcAft>
                <a:spcPts val="0"/>
              </a:spcAft>
            </a:pPr>
            <a:r>
              <a:rPr sz="2500" b="0">
                <a:solidFill>
                  <a:srgbClr val="274C77"/>
                </a:solidFill>
                <a:latin typeface="Cambria Math"/>
              </a:rPr>
              <a:t>CFcontribuição = CFpremissa × CFregra</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Premissa acima de 0,2: regra elegível ao disparo.</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Duas contribuições positivas: a ⊕ b = a + b(1 − a).</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0,60 × 0,80 = 0,48; 0,48 ⊕ 0,30 = 0,636.</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cálculo demonstra a álgebra adotada; não calibra o significado empírico do resultado.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18 / 60</a:t>
            </a:r>
          </a:p>
        </p:txBody>
      </p:sp>
      <p:sp>
        <p:nvSpPr>
          <p:cNvPr id="4" name="slide-title-1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Contraevidência e dependência entre regras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Sinais opostos: a ⊕ b = (a + b) / [1 − min(|a|, |b|)]</a:t>
            </a:r>
          </a:p>
        </p:txBody>
      </p:sp>
      <p:sp>
        <p:nvSpPr>
          <p:cNvPr id="8" name="Oval 7"/>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+0,80 combinado com −0,50 resulta em +0,60.</a:t>
            </a:r>
          </a:p>
        </p:txBody>
      </p:sp>
      <p:sp>
        <p:nvSpPr>
          <p:cNvPr id="10" name="Oval 9"/>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Para dois valores negativos: a ⊕ b = a + b(1 + a).</a:t>
            </a:r>
          </a:p>
        </p:txBody>
      </p:sp>
      <p:sp>
        <p:nvSpPr>
          <p:cNvPr id="12" name="Oval 11"/>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Conflito extremo (+1, −1): a implementação adota 0 por convenção.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Reutilizar uma observação em várias regras não cria novas evidências independentes.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19 / 60</a:t>
            </a:r>
          </a:p>
        </p:txBody>
      </p:sp>
      <p:sp>
        <p:nvSpPr>
          <p:cNvPr id="4" name="slide-title-1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progressivo e resolução de conflito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199" cy="347472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 ou política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Ciclo de inferência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Avaliar condições; selecionar e disparar uma regra.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Atualização inspecionável da memória.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Ordem de declaração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a primeira regra elegível.</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Dependência explícita da organização da base.</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Especificidade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Priorizar regras com mais condições; desempates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Favorecimento de antecedentes mais específicos.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Recência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regras apoiadas em fatos mais recentes.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Ênfase na atualização da memória.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invariância do resultado entre políticas deve ser testada, especialmente com contraevidência.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20 / 60</a:t>
            </a:r>
          </a:p>
        </p:txBody>
      </p:sp>
      <p:sp>
        <p:nvSpPr>
          <p:cNvPr id="4" name="slide-title-2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hipótese de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0574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187451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diagnostico sobre a base simulada</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diagnosis             mac_contention       CF +0,94125</a:t>
            </a:r>
          </a:p>
          <a:p>
            <a:pPr algn="l">
              <a:lnSpc>
                <a:spcPct val="108000"/>
              </a:lnSpc>
              <a:spcBef>
                <a:spcPts val="0"/>
              </a:spcBef>
              <a:spcAft>
                <a:spcPts val="0"/>
              </a:spcAft>
            </a:pPr>
            <a:r>
              <a:rPr sz="1750" b="0">
                <a:solidFill>
                  <a:srgbClr val="172235"/>
                </a:solidFill>
                <a:latin typeface="Consolas"/>
              </a:rPr>
              <a:t>recommended_action    separate_channels    CF +0,80006</a:t>
            </a:r>
          </a:p>
          <a:p>
            <a:pPr algn="l">
              <a:lnSpc>
                <a:spcPct val="108000"/>
              </a:lnSpc>
              <a:spcBef>
                <a:spcPts val="0"/>
              </a:spcBef>
              <a:spcAft>
                <a:spcPts val="0"/>
              </a:spcAft>
            </a:pPr>
            <a:r>
              <a:rPr sz="1750" b="0">
                <a:solidFill>
                  <a:srgbClr val="172235"/>
                </a:solidFill>
                <a:latin typeface="Consolas"/>
              </a:rPr>
              <a:t>authorization_required yes</a:t>
            </a:r>
          </a:p>
        </p:txBody>
      </p:sp>
      <p:sp>
        <p:nvSpPr>
          <p:cNvPr id="8" name="Oval 7"/>
          <p:cNvSpPr/>
          <p:nvPr/>
        </p:nvSpPr>
        <p:spPr>
          <a:xfrm>
            <a:off x="786384" y="368960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58444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Entrada: caso ilustrativo mac_contention.</a:t>
            </a:r>
          </a:p>
        </p:txBody>
      </p:sp>
      <p:sp>
        <p:nvSpPr>
          <p:cNvPr id="10" name="Oval 9"/>
          <p:cNvSpPr/>
          <p:nvPr/>
        </p:nvSpPr>
        <p:spPr>
          <a:xfrm>
            <a:off x="786384" y="418338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07822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Saída: hipótese, ação recomendada e necessidade de autorização.</a:t>
            </a:r>
          </a:p>
        </p:txBody>
      </p:sp>
      <p:sp>
        <p:nvSpPr>
          <p:cNvPr id="12" name="Oval 11"/>
          <p:cNvSpPr/>
          <p:nvPr/>
        </p:nvSpPr>
        <p:spPr>
          <a:xfrm>
            <a:off x="786384" y="4677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7200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autorização exigida não significa autorização concedida.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Valores calculados pela base simulada em Python; não são medições de acurácia.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21 / 60</a:t>
            </a:r>
          </a:p>
        </p:txBody>
      </p:sp>
      <p:sp>
        <p:nvSpPr>
          <p:cNvPr id="4" name="slide-title-2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regressivo e consulta orientada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Objetivo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Variável a estabelecer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Regras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Conclusões pertinentes</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Premissas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Perguntas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Resultado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Suporte e justificativa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Condição refutada interrompe a avaliação da regra.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usuário pode declarar desconhecimento.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corte de suficiência, por padrão CF ≥ 0,9, limita a exploração.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Encerrar uma consulta por suficiência não prova que evidências futuras sejam irrelevantes.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22 / 60</a:t>
            </a:r>
          </a:p>
        </p:txBody>
      </p:sp>
      <p:sp>
        <p:nvSpPr>
          <p:cNvPr id="4" name="slide-title-2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Explicação, hipótese e identificação causal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Como?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Quais fatos, regras e contribuições produziram a conclusão?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Por quê?</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Qual regra em avaliação motivou a solicitação de uma informação?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Com que 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justificativa interna deve ser confrontada com intervenções e casos independentes.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23 / 60</a:t>
            </a:r>
          </a:p>
        </p:txBody>
      </p:sp>
      <p:sp>
        <p:nvSpPr>
          <p:cNvPr id="4" name="slide-title-2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Resultados dos oito casos ilustrativos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42232"/>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Caso / hipótese principal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CF</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Ação recomendada</a:t>
                      </a:r>
                    </a:p>
                  </a:txBody>
                  <a:tcPr marL="82296" marR="82296" marT="54864" marB="54864" anchor="ctr">
                    <a:solidFill>
                      <a:srgbClr val="172235"/>
                    </a:solidFill>
                  </a:tcPr>
                </a:tc>
                <a:extLst>
                  <a:ext uri="{0D108BD9-81ED-4DB2-BD59-A6C34878D82A}">
                    <a16:rowId xmlns:a16="http://schemas.microsoft.com/office/drawing/2014/main" val="10000"/>
                  </a:ext>
                </a:extLst>
              </a:tr>
              <a:tr h="459486">
                <a:tc>
                  <a:txBody>
                    <a:bodyPr/>
                    <a:lstStyle/>
                    <a:p>
                      <a:pPr>
                        <a:lnSpc>
                          <a:spcPct val="102000"/>
                        </a:lnSpc>
                        <a:spcAft>
                          <a:spcPts val="0"/>
                        </a:spcAft>
                      </a:pPr>
                      <a:r>
                        <a:rPr sz="1700" b="1">
                          <a:solidFill>
                            <a:srgbClr val="172235"/>
                          </a:solidFill>
                          <a:latin typeface="Aptos"/>
                        </a:rPr>
                        <a:t>Interferência cocanal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+0,9295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change_channel</a:t>
                      </a:r>
                    </a:p>
                  </a:txBody>
                  <a:tcPr marL="82296" marR="82296" marT="54864" marB="54864" anchor="ctr">
                    <a:solidFill>
                      <a:srgbClr val="FFFFFF"/>
                    </a:solidFill>
                  </a:tcPr>
                </a:tc>
                <a:extLst>
                  <a:ext uri="{0D108BD9-81ED-4DB2-BD59-A6C34878D82A}">
                    <a16:rowId xmlns:a16="http://schemas.microsoft.com/office/drawing/2014/main" val="10001"/>
                  </a:ext>
                </a:extLst>
              </a:tr>
              <a:tr h="459486">
                <a:tc>
                  <a:txBody>
                    <a:bodyPr/>
                    <a:lstStyle/>
                    <a:p>
                      <a:pPr>
                        <a:lnSpc>
                          <a:spcPct val="102000"/>
                        </a:lnSpc>
                        <a:spcAft>
                          <a:spcPts val="0"/>
                        </a:spcAft>
                      </a:pPr>
                      <a:r>
                        <a:rPr sz="1700" b="1">
                          <a:solidFill>
                            <a:srgbClr val="172235"/>
                          </a:solidFill>
                          <a:latin typeface="Aptos"/>
                        </a:rPr>
                        <a:t>Perda adicional de percurso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+0,9240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restore_path_budget</a:t>
                      </a:r>
                    </a:p>
                  </a:txBody>
                  <a:tcPr marL="82296" marR="82296" marT="54864" marB="54864" anchor="ctr">
                    <a:solidFill>
                      <a:srgbClr val="F0F2F5"/>
                    </a:solidFill>
                  </a:tcPr>
                </a:tc>
                <a:extLst>
                  <a:ext uri="{0D108BD9-81ED-4DB2-BD59-A6C34878D82A}">
                    <a16:rowId xmlns:a16="http://schemas.microsoft.com/office/drawing/2014/main" val="10002"/>
                  </a:ext>
                </a:extLst>
              </a:tr>
              <a:tr h="459486">
                <a:tc>
                  <a:txBody>
                    <a:bodyPr/>
                    <a:lstStyle/>
                    <a:p>
                      <a:pPr>
                        <a:lnSpc>
                          <a:spcPct val="102000"/>
                        </a:lnSpc>
                        <a:spcAft>
                          <a:spcPts val="0"/>
                        </a:spcAft>
                      </a:pPr>
                      <a:r>
                        <a:rPr sz="1700" b="1">
                          <a:solidFill>
                            <a:srgbClr val="172235"/>
                          </a:solidFill>
                          <a:latin typeface="Aptos"/>
                        </a:rPr>
                        <a:t>Contenção MAC</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+0,9413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separate_channels</a:t>
                      </a:r>
                    </a:p>
                  </a:txBody>
                  <a:tcPr marL="82296" marR="82296" marT="54864" marB="54864" anchor="ctr">
                    <a:solidFill>
                      <a:srgbClr val="FFFFFF"/>
                    </a:solidFill>
                  </a:tcPr>
                </a:tc>
                <a:extLst>
                  <a:ext uri="{0D108BD9-81ED-4DB2-BD59-A6C34878D82A}">
                    <a16:rowId xmlns:a16="http://schemas.microsoft.com/office/drawing/2014/main" val="10003"/>
                  </a:ext>
                </a:extLst>
              </a:tr>
              <a:tr h="459486">
                <a:tc>
                  <a:txBody>
                    <a:bodyPr/>
                    <a:lstStyle/>
                    <a:p>
                      <a:pPr>
                        <a:lnSpc>
                          <a:spcPct val="102000"/>
                        </a:lnSpc>
                        <a:spcAft>
                          <a:spcPts val="0"/>
                        </a:spcAft>
                      </a:pPr>
                      <a:r>
                        <a:rPr sz="1700" b="1">
                          <a:solidFill>
                            <a:srgbClr val="172235"/>
                          </a:solidFill>
                          <a:latin typeface="Aptos"/>
                        </a:rPr>
                        <a:t>Nó indisponível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restart_node</a:t>
                      </a:r>
                    </a:p>
                  </a:txBody>
                  <a:tcPr marL="82296" marR="82296" marT="54864" marB="54864" anchor="ctr">
                    <a:solidFill>
                      <a:srgbClr val="F0F2F5"/>
                    </a:solidFill>
                  </a:tcPr>
                </a:tc>
                <a:extLst>
                  <a:ext uri="{0D108BD9-81ED-4DB2-BD59-A6C34878D82A}">
                    <a16:rowId xmlns:a16="http://schemas.microsoft.com/office/drawing/2014/main" val="10004"/>
                  </a:ext>
                </a:extLst>
              </a:tr>
              <a:tr h="459486">
                <a:tc>
                  <a:txBody>
                    <a:bodyPr/>
                    <a:lstStyle/>
                    <a:p>
                      <a:pPr>
                        <a:lnSpc>
                          <a:spcPct val="102000"/>
                        </a:lnSpc>
                        <a:spcAft>
                          <a:spcPts val="0"/>
                        </a:spcAft>
                      </a:pPr>
                      <a:r>
                        <a:rPr sz="1700" b="1">
                          <a:solidFill>
                            <a:srgbClr val="172235"/>
                          </a:solidFill>
                          <a:latin typeface="Aptos"/>
                        </a:rPr>
                        <a:t>Repetidor a montante indisponível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+0,9750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restore_upstream_relay</a:t>
                      </a:r>
                    </a:p>
                  </a:txBody>
                  <a:tcPr marL="82296" marR="82296" marT="54864" marB="54864" anchor="ctr">
                    <a:solidFill>
                      <a:srgbClr val="FFFFFF"/>
                    </a:solidFill>
                  </a:tcPr>
                </a:tc>
                <a:extLst>
                  <a:ext uri="{0D108BD9-81ED-4DB2-BD59-A6C34878D82A}">
                    <a16:rowId xmlns:a16="http://schemas.microsoft.com/office/drawing/2014/main" val="10005"/>
                  </a:ext>
                </a:extLst>
              </a:tr>
              <a:tr h="459486">
                <a:tc>
                  <a:txBody>
                    <a:bodyPr/>
                    <a:lstStyle/>
                    <a:p>
                      <a:pPr>
                        <a:lnSpc>
                          <a:spcPct val="102000"/>
                        </a:lnSpc>
                        <a:spcAft>
                          <a:spcPts val="0"/>
                        </a:spcAft>
                      </a:pPr>
                      <a:r>
                        <a:rPr sz="1700" b="1">
                          <a:solidFill>
                            <a:srgbClr val="172235"/>
                          </a:solidFill>
                          <a:latin typeface="Aptos"/>
                        </a:rPr>
                        <a:t>Configuração de roteamento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fix_routing</a:t>
                      </a:r>
                    </a:p>
                  </a:txBody>
                  <a:tcPr marL="82296" marR="82296" marT="54864" marB="54864" anchor="ctr">
                    <a:solidFill>
                      <a:srgbClr val="F0F2F5"/>
                    </a:solidFill>
                  </a:tcPr>
                </a:tc>
                <a:extLst>
                  <a:ext uri="{0D108BD9-81ED-4DB2-BD59-A6C34878D82A}">
                    <a16:rowId xmlns:a16="http://schemas.microsoft.com/office/drawing/2014/main" val="10006"/>
                  </a:ext>
                </a:extLst>
              </a:tr>
              <a:tr h="459486">
                <a:tc>
                  <a:txBody>
                    <a:bodyPr/>
                    <a:lstStyle/>
                    <a:p>
                      <a:pPr>
                        <a:lnSpc>
                          <a:spcPct val="102000"/>
                        </a:lnSpc>
                        <a:spcAft>
                          <a:spcPts val="0"/>
                        </a:spcAft>
                      </a:pPr>
                      <a:r>
                        <a:rPr sz="1700" b="1">
                          <a:solidFill>
                            <a:srgbClr val="172235"/>
                          </a:solidFill>
                          <a:latin typeface="Aptos"/>
                        </a:rPr>
                        <a:t>Congestionamento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+0,8880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reroute_traffic</a:t>
                      </a:r>
                    </a:p>
                  </a:txBody>
                  <a:tcPr marL="82296" marR="82296" marT="54864" marB="54864" anchor="ctr">
                    <a:solidFill>
                      <a:srgbClr val="FFFFFF"/>
                    </a:solidFill>
                  </a:tcPr>
                </a:tc>
                <a:extLst>
                  <a:ext uri="{0D108BD9-81ED-4DB2-BD59-A6C34878D82A}">
                    <a16:rowId xmlns:a16="http://schemas.microsoft.com/office/drawing/2014/main" val="10007"/>
                  </a:ext>
                </a:extLst>
              </a:tr>
              <a:tr h="459486">
                <a:tc>
                  <a:txBody>
                    <a:bodyPr/>
                    <a:lstStyle/>
                    <a:p>
                      <a:pPr>
                        <a:lnSpc>
                          <a:spcPct val="102000"/>
                        </a:lnSpc>
                        <a:spcAft>
                          <a:spcPts val="0"/>
                        </a:spcAft>
                      </a:pPr>
                      <a:r>
                        <a:rPr sz="1700" b="1">
                          <a:solidFill>
                            <a:srgbClr val="172235"/>
                          </a:solidFill>
                          <a:latin typeface="Aptos"/>
                        </a:rPr>
                        <a:t>Condição saudável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+0,8100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no_action</a:t>
                      </a:r>
                    </a:p>
                  </a:txBody>
                  <a:tcPr marL="82296" marR="82296" marT="54864" marB="54864" anchor="ctr">
                    <a:solidFill>
                      <a:srgbClr val="F0F2F5"/>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Resultados de casos construídos para verificação; não constituem estimativa de acurácia.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24 / 60</a:t>
            </a:r>
          </a:p>
        </p:txBody>
      </p:sp>
      <p:sp>
        <p:nvSpPr>
          <p:cNvPr id="4" name="slide-title-2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Avaliação crítica do sistema especialista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Dimensão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Evidência disponível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Avaliação adicional</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Implementação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Regras, CF, consultas e explicações executáveis.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contraditórios, retração e variação de políticas.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Conhecimento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Limiar e peso explicitamente identificados.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Revisão especializada e sensibilidade dos parâmetros.</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Diagnóstico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Oito casos ilustrativos com resultados reproduzíveis.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independentes, abstenção e falhas simultâneas.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Experimento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Intervenções descritas como possibilidades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Traços, replicações e separação entre controle e observação.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25 / 60</a:t>
            </a:r>
          </a:p>
        </p:txBody>
      </p:sp>
      <p:sp>
        <p:nvSpPr>
          <p:cNvPr id="4" name="slide-title-2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Do diagnóstico à sequência de ações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ação recomendada não determina, por si só, uma sequência executável.</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inicial: diagnóstico selecionado e condições do cenário.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Objetivo: service-restored(N) ∧ logged(N).</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Restrições: autorização modelada, parada, retomada e verificação.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seleção de hipóteses para o estado inicial é uma decisão explícita de integração.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26 / 60</a:t>
            </a:r>
          </a:p>
        </p:txBody>
      </p:sp>
      <p:sp>
        <p:nvSpPr>
          <p:cNvPr id="4" name="slide-title-2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Modelo formal de planejamento STRIPS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Fikes e Nilsson (1971); implementação: src/aisg/planning/strips.py</a:t>
            </a:r>
          </a:p>
        </p:txBody>
      </p:sp>
      <p:sp>
        <p:nvSpPr>
          <p:cNvPr id="7" name="Rectangle 6"/>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P = ⟨F, A, I, G, c⟩</a:t>
            </a:r>
          </a:p>
          <a:p>
            <a:pPr algn="l">
              <a:lnSpc>
                <a:spcPct val="108000"/>
              </a:lnSpc>
              <a:spcBef>
                <a:spcPts val="0"/>
              </a:spcBef>
              <a:spcAft>
                <a:spcPts val="0"/>
              </a:spcAft>
            </a:pPr>
            <a:r>
              <a:rPr sz="2500" b="0">
                <a:solidFill>
                  <a:srgbClr val="274C77"/>
                </a:solidFill>
                <a:latin typeface="Cambria Math"/>
              </a:rPr>
              <a:t>s ⊆ F;  Pre(a) ⊆ s</a:t>
            </a:r>
          </a:p>
          <a:p>
            <a:pPr algn="l">
              <a:lnSpc>
                <a:spcPct val="108000"/>
              </a:lnSpc>
              <a:spcBef>
                <a:spcPts val="0"/>
              </a:spcBef>
              <a:spcAft>
                <a:spcPts val="0"/>
              </a:spcAft>
            </a:pPr>
            <a:r>
              <a:rPr sz="2500" b="0">
                <a:solidFill>
                  <a:srgbClr val="274C77"/>
                </a:solidFill>
                <a:latin typeface="Cambria Math"/>
              </a:rPr>
              <a:t>γ(s, a) = [s ∖ Del(a)] ∪ Add(a)</a:t>
            </a:r>
          </a:p>
        </p:txBody>
      </p:sp>
      <p:sp>
        <p:nvSpPr>
          <p:cNvPr id="9" name="Oval 8"/>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 fatos possíveis; A: ações; I: estado inicial; G: objetivo.</a:t>
            </a:r>
          </a:p>
        </p:txBody>
      </p:sp>
      <p:sp>
        <p:nvSpPr>
          <p:cNvPr id="11" name="Oval 10"/>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ação é aplicável quando suas precondições estão satisfeitas.</a:t>
            </a:r>
          </a:p>
        </p:txBody>
      </p:sp>
      <p:sp>
        <p:nvSpPr>
          <p:cNvPr id="13" name="Oval 12"/>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plano é solução quando G ⊆ sfinal.</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projeto usa uma representação proposicional após a instanciação dos operadores.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27 / 60</a:t>
            </a:r>
          </a:p>
        </p:txBody>
      </p:sp>
      <p:sp>
        <p:nvSpPr>
          <p:cNvPr id="4" name="slide-title-2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Hipóteses de planejamento e suas consequências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Hipótese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Uso no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Mundo fechado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Fatos ausentes são falsos no estado de planejamento.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Não deve ser aplicado automaticamente à telemetria desconhecida.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Efeitos determinísticos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Uma ação aplicável produz os efeitos declarados.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Falha de execução exigiria monitoramento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Estado discreto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são representadas por predicados.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Tempos, filas e recursos contínuos são abstraídos.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Custo aditivo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custo do plano soma os custos das ações.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são unidades convencionais, não duração medida.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28 / 60</a:t>
            </a:r>
          </a:p>
        </p:txBody>
      </p:sp>
      <p:sp>
        <p:nvSpPr>
          <p:cNvPr id="4" name="slide-title-2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 separar canais no cenário simulado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separate_channels(?n)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Pre = { authorized(?n), mac-contention(?n),</a:t>
            </a:r>
          </a:p>
          <a:p>
            <a:pPr algn="l">
              <a:lnSpc>
                <a:spcPct val="108000"/>
              </a:lnSpc>
              <a:spcBef>
                <a:spcPts val="0"/>
              </a:spcBef>
              <a:spcAft>
                <a:spcPts val="0"/>
              </a:spcAft>
            </a:pPr>
            <a:r>
              <a:rPr sz="1750" b="0">
                <a:solidFill>
                  <a:srgbClr val="172235"/>
                </a:solidFill>
                <a:latin typeface="Consolas"/>
              </a:rPr>
              <a:t>        run-stopped(?n) }</a:t>
            </a:r>
          </a:p>
          <a:p>
            <a:pPr algn="l">
              <a:lnSpc>
                <a:spcPct val="108000"/>
              </a:lnSpc>
              <a:spcBef>
                <a:spcPts val="0"/>
              </a:spcBef>
              <a:spcAft>
                <a:spcPts val="0"/>
              </a:spcAft>
            </a:pPr>
            <a:r>
              <a:rPr sz="1750" b="0">
                <a:solidFill>
                  <a:srgbClr val="172235"/>
                </a:solidFill>
                <a:latin typeface="Consolas"/>
              </a:rPr>
              <a:t>Add = { cleared-mac-contention(?n) }</a:t>
            </a:r>
          </a:p>
          <a:p>
            <a:pPr algn="l">
              <a:lnSpc>
                <a:spcPct val="108000"/>
              </a:lnSpc>
              <a:spcBef>
                <a:spcPts val="0"/>
              </a:spcBef>
              <a:spcAft>
                <a:spcPts val="0"/>
              </a:spcAft>
            </a:pPr>
            <a:r>
              <a:rPr sz="1750" b="0">
                <a:solidFill>
                  <a:srgbClr val="172235"/>
                </a:solidFill>
                <a:latin typeface="Consolas"/>
              </a:rPr>
              <a:t>Del = { mac-contention(?n) }</a:t>
            </a:r>
          </a:p>
          <a:p>
            <a:pPr algn="l">
              <a:lnSpc>
                <a:spcPct val="108000"/>
              </a:lnSpc>
              <a:spcBef>
                <a:spcPts val="0"/>
              </a:spcBef>
              <a:spcAft>
                <a:spcPts val="0"/>
              </a:spcAft>
            </a:pPr>
            <a:r>
              <a:rPr sz="1750" b="0">
                <a:solidFill>
                  <a:srgbClr val="172235"/>
                </a:solidFill>
                <a:latin typeface="Consolas"/>
              </a:rPr>
              <a:t>custo = 3</a:t>
            </a:r>
          </a:p>
        </p:txBody>
      </p:sp>
      <p:sp>
        <p:nvSpPr>
          <p:cNvPr id="8" name="Oval 7"/>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execução precisa estar parada para esta alteração de parâmetro.</a:t>
            </a:r>
          </a:p>
        </p:txBody>
      </p:sp>
      <p:sp>
        <p:nvSpPr>
          <p:cNvPr id="10" name="Oval 9"/>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 predicado de correção identifica a falha específica.</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Exigência de parada é uma escolha deste domínio, não uma propriedade universal de simuladores.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29 / 60</a:t>
            </a:r>
          </a:p>
        </p:txBody>
      </p:sp>
      <p:sp>
        <p:nvSpPr>
          <p:cNvPr id="4" name="slide-title-2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Operadores pertinentes à demonstração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00703"/>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Operador / 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Condição principal</a:t>
                      </a:r>
                    </a:p>
                  </a:txBody>
                  <a:tcPr marL="82296" marR="82296" marT="54864" marB="54864" anchor="ctr">
                    <a:solidFill>
                      <a:srgbClr val="172235"/>
                    </a:solidFill>
                  </a:tcPr>
                </a:tc>
                <a:extLst>
                  <a:ext uri="{0D108BD9-81ED-4DB2-BD59-A6C34878D82A}">
                    <a16:rowId xmlns:a16="http://schemas.microsoft.com/office/drawing/2014/main" val="10000"/>
                  </a:ext>
                </a:extLst>
              </a:tr>
              <a:tr h="600456">
                <a:tc>
                  <a:txBody>
                    <a:bodyPr/>
                    <a:lstStyle/>
                    <a:p>
                      <a:pPr>
                        <a:lnSpc>
                          <a:spcPct val="102000"/>
                        </a:lnSpc>
                        <a:spcAft>
                          <a:spcPts val="0"/>
                        </a:spcAft>
                      </a:pPr>
                      <a:r>
                        <a:rPr sz="1700" b="1">
                          <a:solidFill>
                            <a:srgbClr val="172235"/>
                          </a:solidFill>
                          <a:latin typeface="Aptos"/>
                        </a:rPr>
                        <a:t>request_authorization</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Diagnóstico estabelecido no modelo.</a:t>
                      </a:r>
                    </a:p>
                  </a:txBody>
                  <a:tcPr marL="82296" marR="82296" marT="54864" marB="54864" anchor="ctr">
                    <a:solidFill>
                      <a:srgbClr val="FFFFFF"/>
                    </a:solidFill>
                  </a:tcPr>
                </a:tc>
                <a:extLst>
                  <a:ext uri="{0D108BD9-81ED-4DB2-BD59-A6C34878D82A}">
                    <a16:rowId xmlns:a16="http://schemas.microsoft.com/office/drawing/2014/main" val="10001"/>
                  </a:ext>
                </a:extLst>
              </a:tr>
              <a:tr h="600456">
                <a:tc>
                  <a:txBody>
                    <a:bodyPr/>
                    <a:lstStyle/>
                    <a:p>
                      <a:pPr>
                        <a:lnSpc>
                          <a:spcPct val="102000"/>
                        </a:lnSpc>
                        <a:spcAft>
                          <a:spcPts val="0"/>
                        </a:spcAft>
                      </a:pPr>
                      <a:r>
                        <a:rPr sz="1700" b="1">
                          <a:solidFill>
                            <a:srgbClr val="172235"/>
                          </a:solidFill>
                          <a:latin typeface="Aptos"/>
                        </a:rPr>
                        <a:t>stop_run / start_run</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2 / 2</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Execução ativa e autorizada / execução parada.</a:t>
                      </a:r>
                    </a:p>
                  </a:txBody>
                  <a:tcPr marL="82296" marR="82296" marT="54864" marB="54864" anchor="ctr">
                    <a:solidFill>
                      <a:srgbClr val="F0F2F5"/>
                    </a:solidFill>
                  </a:tcPr>
                </a:tc>
                <a:extLst>
                  <a:ext uri="{0D108BD9-81ED-4DB2-BD59-A6C34878D82A}">
                    <a16:rowId xmlns:a16="http://schemas.microsoft.com/office/drawing/2014/main" val="10002"/>
                  </a:ext>
                </a:extLst>
              </a:tr>
              <a:tr h="600456">
                <a:tc>
                  <a:txBody>
                    <a:bodyPr/>
                    <a:lstStyle/>
                    <a:p>
                      <a:pPr>
                        <a:lnSpc>
                          <a:spcPct val="102000"/>
                        </a:lnSpc>
                        <a:spcAft>
                          <a:spcPts val="0"/>
                        </a:spcAft>
                      </a:pPr>
                      <a:r>
                        <a:rPr sz="1700" b="1">
                          <a:solidFill>
                            <a:srgbClr val="172235"/>
                          </a:solidFill>
                          <a:latin typeface="Aptos"/>
                        </a:rPr>
                        <a:t>restore_path_budget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Perda adicional, autorização e execução parada.</a:t>
                      </a:r>
                    </a:p>
                  </a:txBody>
                  <a:tcPr marL="82296" marR="82296" marT="54864" marB="54864" anchor="ctr">
                    <a:solidFill>
                      <a:srgbClr val="FFFFFF"/>
                    </a:solidFill>
                  </a:tcPr>
                </a:tc>
                <a:extLst>
                  <a:ext uri="{0D108BD9-81ED-4DB2-BD59-A6C34878D82A}">
                    <a16:rowId xmlns:a16="http://schemas.microsoft.com/office/drawing/2014/main" val="10003"/>
                  </a:ext>
                </a:extLst>
              </a:tr>
              <a:tr h="600456">
                <a:tc>
                  <a:txBody>
                    <a:bodyPr/>
                    <a:lstStyle/>
                    <a:p>
                      <a:pPr>
                        <a:lnSpc>
                          <a:spcPct val="102000"/>
                        </a:lnSpc>
                        <a:spcAft>
                          <a:spcPts val="0"/>
                        </a:spcAft>
                      </a:pPr>
                      <a:r>
                        <a:rPr sz="1700" b="1">
                          <a:solidFill>
                            <a:srgbClr val="172235"/>
                          </a:solidFill>
                          <a:latin typeface="Aptos"/>
                        </a:rPr>
                        <a:t>separate_channels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Contenção, autorização e execução parada.</a:t>
                      </a:r>
                    </a:p>
                  </a:txBody>
                  <a:tcPr marL="82296" marR="82296" marT="54864" marB="54864" anchor="ctr">
                    <a:solidFill>
                      <a:srgbClr val="F0F2F5"/>
                    </a:solidFill>
                  </a:tcPr>
                </a:tc>
                <a:extLst>
                  <a:ext uri="{0D108BD9-81ED-4DB2-BD59-A6C34878D82A}">
                    <a16:rowId xmlns:a16="http://schemas.microsoft.com/office/drawing/2014/main" val="10004"/>
                  </a:ext>
                </a:extLst>
              </a:tr>
              <a:tr h="600456">
                <a:tc>
                  <a:txBody>
                    <a:bodyPr/>
                    <a:lstStyle/>
                    <a:p>
                      <a:pPr>
                        <a:lnSpc>
                          <a:spcPct val="102000"/>
                        </a:lnSpc>
                        <a:spcAft>
                          <a:spcPts val="0"/>
                        </a:spcAft>
                      </a:pPr>
                      <a:r>
                        <a:rPr sz="1700" b="1">
                          <a:solidFill>
                            <a:srgbClr val="172235"/>
                          </a:solidFill>
                          <a:latin typeface="Aptos"/>
                        </a:rPr>
                        <a:t>restart_node / fix_routing</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 / 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Falha correspondente e autorização.</a:t>
                      </a:r>
                    </a:p>
                  </a:txBody>
                  <a:tcPr marL="82296" marR="82296" marT="54864" marB="54864" anchor="ctr">
                    <a:solidFill>
                      <a:srgbClr val="FFFFFF"/>
                    </a:solidFill>
                  </a:tcPr>
                </a:tc>
                <a:extLst>
                  <a:ext uri="{0D108BD9-81ED-4DB2-BD59-A6C34878D82A}">
                    <a16:rowId xmlns:a16="http://schemas.microsoft.com/office/drawing/2014/main" val="10005"/>
                  </a:ext>
                </a:extLst>
              </a:tr>
              <a:tr h="600456">
                <a:tc>
                  <a:txBody>
                    <a:bodyPr/>
                    <a:lstStyle/>
                    <a:p>
                      <a:pPr>
                        <a:lnSpc>
                          <a:spcPct val="102000"/>
                        </a:lnSpc>
                        <a:spcAft>
                          <a:spcPts val="0"/>
                        </a:spcAft>
                      </a:pPr>
                      <a:r>
                        <a:rPr sz="1700" b="1">
                          <a:solidFill>
                            <a:srgbClr val="172235"/>
                          </a:solidFill>
                          <a:latin typeface="Aptos"/>
                        </a:rPr>
                        <a:t>verify_link / record_logbook / close_work_order</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 / 1 / 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Correções concluídas; verificação e registro.</a:t>
                      </a:r>
                    </a:p>
                  </a:txBody>
                  <a:tcPr marL="82296" marR="82296" marT="54864" marB="54864" anchor="ctr">
                    <a:solidFill>
                      <a:srgbClr val="F0F2F5"/>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Seleção de operadores relevantes; a tabela não pretende enumerar todo o catálogo compartilhado.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30 / 60</a:t>
            </a:r>
          </a:p>
        </p:txBody>
      </p:sp>
      <p:sp>
        <p:nvSpPr>
          <p:cNvPr id="4" name="slide-title-3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Autorização e validação pertencem ao modelo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Requisito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Ações de alteração especificadas exigem authorized(N) entre suas precondições.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Abstração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request_authorization adiciona o predicado por efeito determinístico; não consulta uma autoridade externa.</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altera o estado simbólico; não comprova recuperação por medição automática.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31 / 60</a:t>
            </a:r>
          </a:p>
        </p:txBody>
      </p:sp>
      <p:sp>
        <p:nvSpPr>
          <p:cNvPr id="4" name="slide-title-3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GPS: análise meios-fins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Diferença</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Objetivo ainda ausente</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Operador</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Efeito que o estabelece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Subobjetivos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Precondições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Aplicação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Novo estado e revisão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Seleciona ações pertinentes ao objetivo corrente.</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Resolve precondições recursivamente e realiza retrocesso local.</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 objetivos para detectar efeitos que desfazem conquistas anteriores.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estratégia implementada não oferece garantia geral de completude ou de custo mínimo.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32 / 60</a:t>
            </a:r>
          </a:p>
        </p:txBody>
      </p:sp>
      <p:sp>
        <p:nvSpPr>
          <p:cNvPr id="4" name="slide-title-3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Interação entre subobjetivos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Objetivo: p ∧ q</a:t>
            </a:r>
          </a:p>
          <a:p>
            <a:pPr algn="l">
              <a:lnSpc>
                <a:spcPct val="108000"/>
              </a:lnSpc>
              <a:spcBef>
                <a:spcPts val="0"/>
              </a:spcBef>
              <a:spcAft>
                <a:spcPts val="0"/>
              </a:spcAft>
            </a:pPr>
            <a:r>
              <a:rPr sz="2500" b="0">
                <a:solidFill>
                  <a:srgbClr val="274C77"/>
                </a:solidFill>
                <a:latin typeface="Cambria Math"/>
              </a:rPr>
              <a:t>a₁: adiciona p</a:t>
            </a:r>
          </a:p>
          <a:p>
            <a:pPr algn="l">
              <a:lnSpc>
                <a:spcPct val="108000"/>
              </a:lnSpc>
              <a:spcBef>
                <a:spcPts val="0"/>
              </a:spcBef>
              <a:spcAft>
                <a:spcPts val="0"/>
              </a:spcAft>
            </a:pPr>
            <a:r>
              <a:rPr sz="2500" b="0">
                <a:solidFill>
                  <a:srgbClr val="274C77"/>
                </a:solidFill>
                <a:latin typeface="Cambria Math"/>
              </a:rPr>
              <a:t>a₂: adiciona q e remove p</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Alcançar q pode invalidar p obtido anteriormente.</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satisfação sequencial isolada não garante a conjunção final.</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Reverificar o objetivo detecta o conflito; resolver o conflito exige outra busca.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Exemplo didático de interação de objetivos; não é uma execução do domínio de redes.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33 / 60</a:t>
            </a:r>
          </a:p>
        </p:txBody>
      </p:sp>
      <p:sp>
        <p:nvSpPr>
          <p:cNvPr id="4" name="slide-title-3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Não otimalidade: custo local e custo total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Alternativa abstrata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da ação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total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Preparar ambiente e aplicar correção 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Correção A: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Preparação: 10; total: 11</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Aplicar correção B diretamente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Correção B: 3</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preparação; total: 3</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GPS com preferência por custo próprio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 a ação de custo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Pode devolver o plano de custo 11</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Busca progressiva 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Avalia o custo do percurso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Obtém custo 3 nesta instância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Contraexemplo abstrato e reproduzível; custos não são durações experimentais.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34 / 60</a:t>
            </a:r>
          </a:p>
        </p:txBody>
      </p:sp>
      <p:sp>
        <p:nvSpPr>
          <p:cNvPr id="4" name="slide-title-3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Planejamento como busca progressiva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466344">
                <a:tc>
                  <a:txBody>
                    <a:bodyPr/>
                    <a:lstStyle/>
                    <a:p>
                      <a:pPr>
                        <a:lnSpc>
                          <a:spcPct val="102000"/>
                        </a:lnSpc>
                        <a:spcAft>
                          <a:spcPts val="0"/>
                        </a:spcAft>
                      </a:pPr>
                      <a:r>
                        <a:rPr sz="1650" b="1">
                          <a:solidFill>
                            <a:srgbClr val="FFFFFF"/>
                          </a:solidFill>
                          <a:latin typeface="Aptos"/>
                        </a:rPr>
                        <a:t>Componente da busca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Correspondência no planejamento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Estado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Conjunto de predicados verdadeiros.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Sucessor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Estado produzido por uma ação aplicável.</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de transição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convencional da ação.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Teste de objetivo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Inclusão de G no estado corrente.</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Solução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Sequência de ações e trajetória de estados.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planejador e o roteador reutilizam a mesma função astar().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35 / 60</a:t>
            </a:r>
          </a:p>
        </p:txBody>
      </p:sp>
      <p:sp>
        <p:nvSpPr>
          <p:cNvPr id="4" name="slide-title-3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Heurística de objetivos não satisfeitos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h(s) = |G ∖ s|</a:t>
            </a:r>
          </a:p>
          <a:p>
            <a:pPr algn="l">
              <a:lnSpc>
                <a:spcPct val="108000"/>
              </a:lnSpc>
              <a:spcBef>
                <a:spcPts val="0"/>
              </a:spcBef>
              <a:spcAft>
                <a:spcPts val="0"/>
              </a:spcAft>
            </a:pPr>
            <a:r>
              <a:rPr sz="2500" b="0">
                <a:solidFill>
                  <a:srgbClr val="274C77"/>
                </a:solidFill>
                <a:latin typeface="Cambria Math"/>
              </a:rPr>
              <a:t>Condição suficiente: c(a) ≥ |Add(a) ∩ G|</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Caso particular: cada ação satisfaz no máximo um objetivo e custa pelo menos 1.</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 objetivo utilizado, logged e service-restored são adicionados por ações distintas.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Comparação de controle: h(s) = 0, equivalente à busca de custo uniforme.</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condição é suficiente; não é uma caracterização necessária de toda heurística admissível.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36 / 60</a:t>
            </a:r>
          </a:p>
        </p:txBody>
      </p:sp>
      <p:sp>
        <p:nvSpPr>
          <p:cNvPr id="4" name="slide-title-3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plano para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1  request_authorization(ER_03)   1</a:t>
            </a:r>
          </a:p>
          <a:p>
            <a:pPr algn="l">
              <a:lnSpc>
                <a:spcPct val="108000"/>
              </a:lnSpc>
              <a:spcBef>
                <a:spcPts val="0"/>
              </a:spcBef>
              <a:spcAft>
                <a:spcPts val="0"/>
              </a:spcAft>
            </a:pPr>
            <a:r>
              <a:rPr sz="1750" b="0">
                <a:solidFill>
                  <a:srgbClr val="172235"/>
                </a:solidFill>
                <a:latin typeface="Consolas"/>
              </a:rPr>
              <a:t>2  stop_run(ER_03)                2</a:t>
            </a:r>
          </a:p>
          <a:p>
            <a:pPr algn="l">
              <a:lnSpc>
                <a:spcPct val="108000"/>
              </a:lnSpc>
              <a:spcBef>
                <a:spcPts val="0"/>
              </a:spcBef>
              <a:spcAft>
                <a:spcPts val="0"/>
              </a:spcAft>
            </a:pPr>
            <a:r>
              <a:rPr sz="1750" b="0">
                <a:solidFill>
                  <a:srgbClr val="172235"/>
                </a:solidFill>
                <a:latin typeface="Consolas"/>
              </a:rPr>
              <a:t>3  separate_channels(ER_03)       3</a:t>
            </a:r>
          </a:p>
          <a:p>
            <a:pPr algn="l">
              <a:lnSpc>
                <a:spcPct val="108000"/>
              </a:lnSpc>
              <a:spcBef>
                <a:spcPts val="0"/>
              </a:spcBef>
              <a:spcAft>
                <a:spcPts val="0"/>
              </a:spcAft>
            </a:pPr>
            <a:r>
              <a:rPr sz="1750" b="0">
                <a:solidFill>
                  <a:srgbClr val="172235"/>
                </a:solidFill>
                <a:latin typeface="Consolas"/>
              </a:rPr>
              <a:t>4  start_run(ER_03)               2</a:t>
            </a:r>
          </a:p>
          <a:p>
            <a:pPr algn="l">
              <a:lnSpc>
                <a:spcPct val="108000"/>
              </a:lnSpc>
              <a:spcBef>
                <a:spcPts val="0"/>
              </a:spcBef>
              <a:spcAft>
                <a:spcPts val="0"/>
              </a:spcAft>
            </a:pPr>
            <a:r>
              <a:rPr sz="1750" b="0">
                <a:solidFill>
                  <a:srgbClr val="172235"/>
                </a:solidFill>
                <a:latin typeface="Consolas"/>
              </a:rPr>
              <a:t>5  verify_link(ER_03)             1</a:t>
            </a:r>
          </a:p>
          <a:p>
            <a:pPr algn="l">
              <a:lnSpc>
                <a:spcPct val="108000"/>
              </a:lnSpc>
              <a:spcBef>
                <a:spcPts val="0"/>
              </a:spcBef>
              <a:spcAft>
                <a:spcPts val="0"/>
              </a:spcAft>
            </a:pPr>
            <a:r>
              <a:rPr sz="1750" b="0">
                <a:solidFill>
                  <a:srgbClr val="172235"/>
                </a:solidFill>
                <a:latin typeface="Consolas"/>
              </a:rPr>
              <a:t>6  record_logbook(ER_03)          1</a:t>
            </a:r>
          </a:p>
          <a:p>
            <a:pPr algn="l">
              <a:lnSpc>
                <a:spcPct val="108000"/>
              </a:lnSpc>
              <a:spcBef>
                <a:spcPts val="0"/>
              </a:spcBef>
              <a:spcAft>
                <a:spcPts val="0"/>
              </a:spcAft>
            </a:pPr>
            <a:r>
              <a:rPr sz="1750" b="0">
                <a:solidFill>
                  <a:srgbClr val="172235"/>
                </a:solidFill>
                <a:latin typeface="Consolas"/>
              </a:rPr>
              <a:t>7  close_work_order(ER_03)        1</a:t>
            </a:r>
          </a:p>
          <a:p>
            <a:pPr algn="l">
              <a:lnSpc>
                <a:spcPct val="108000"/>
              </a:lnSpc>
              <a:spcBef>
                <a:spcPts val="0"/>
              </a:spcBef>
              <a:spcAft>
                <a:spcPts val="0"/>
              </a:spcAft>
            </a:pPr>
            <a:r>
              <a:rPr sz="1750" b="0">
                <a:solidFill>
                  <a:srgbClr val="172235"/>
                </a:solidFill>
                <a:latin typeface="Consolas"/>
              </a:rPr>
              <a:t>                                 total = 11</a:t>
            </a:r>
          </a:p>
        </p:txBody>
      </p:sp>
      <p:sp>
        <p:nvSpPr>
          <p:cNvPr id="8" name="Oval 7"/>
          <p:cNvSpPr/>
          <p:nvPr/>
        </p:nvSpPr>
        <p:spPr>
          <a:xfrm>
            <a:off x="786384" y="48783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77316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GPS e A*: plano válido de custo 11 nesta instância.</a:t>
            </a:r>
          </a:p>
        </p:txBody>
      </p:sp>
      <p:sp>
        <p:nvSpPr>
          <p:cNvPr id="10" name="Oval 9"/>
          <p:cNvSpPr/>
          <p:nvPr/>
        </p:nvSpPr>
        <p:spPr>
          <a:xfrm>
            <a:off x="786384" y="537210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26694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Demonstração pela API Python com simulated=True.</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Validade: todas as ações aplicáveis e objetivo final satisfeito no modelo.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37 / 60</a:t>
            </a:r>
          </a:p>
        </p:txBody>
      </p:sp>
      <p:sp>
        <p:nvSpPr>
          <p:cNvPr id="4" name="slide-title-3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domínio de restauração como máquina de estados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Repositório: src/aisg/planning/domain_restoration.py</a:t>
            </a:r>
          </a:p>
        </p:txBody>
      </p:sp>
      <p:sp>
        <p:nvSpPr>
          <p:cNvPr id="7" name="Rectangle 6"/>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diagnosed</a:t>
            </a:r>
          </a:p>
        </p:txBody>
      </p:sp>
      <p:sp>
        <p:nvSpPr>
          <p:cNvPr id="9" name="TextBox 8"/>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estado inicial</a:t>
            </a:r>
          </a:p>
        </p:txBody>
      </p:sp>
      <p:sp>
        <p:nvSpPr>
          <p:cNvPr id="10" name="Chevron 9"/>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run-stopped</a:t>
            </a:r>
          </a:p>
        </p:txBody>
      </p:sp>
      <p:sp>
        <p:nvSpPr>
          <p:cNvPr id="13" name="TextBox 12"/>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authorizar e parar</a:t>
            </a:r>
          </a:p>
        </p:txBody>
      </p:sp>
      <p:sp>
        <p:nvSpPr>
          <p:cNvPr id="14" name="Chevron 13"/>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cleared-&lt;falha&gt;</a:t>
            </a:r>
          </a:p>
        </p:txBody>
      </p:sp>
      <p:sp>
        <p:nvSpPr>
          <p:cNvPr id="17" name="TextBox 16"/>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separate_channels</a:t>
            </a:r>
          </a:p>
        </p:txBody>
      </p:sp>
      <p:sp>
        <p:nvSpPr>
          <p:cNvPr id="18" name="Chevron 17"/>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service-restored</a:t>
            </a:r>
          </a:p>
        </p:txBody>
      </p:sp>
      <p:sp>
        <p:nvSpPr>
          <p:cNvPr id="21" name="TextBox 20"/>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retomar, verificar, encerrar</a:t>
            </a:r>
          </a:p>
        </p:txBody>
      </p:sp>
      <p:sp>
        <p:nvSpPr>
          <p:cNvPr id="22" name="Oval 21"/>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estado STRIPS É um conjunto de literais verdadeiros.</a:t>
            </a:r>
          </a:p>
        </p:txBody>
      </p:sp>
      <p:sp>
        <p:nvSpPr>
          <p:cNvPr id="24" name="Oval 23"/>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Cada seta é um operador, com custo e listas de adição e remoção.</a:t>
            </a:r>
          </a:p>
        </p:txBody>
      </p:sp>
      <p:sp>
        <p:nvSpPr>
          <p:cNvPr id="26" name="Oval 25"/>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falha por literal: verify_link exige um cleared por falha.</a:t>
            </a:r>
          </a:p>
        </p:txBody>
      </p:sp>
      <p:sp>
        <p:nvSpPr>
          <p:cNvPr id="28" name="Oval 27"/>
          <p:cNvSpPr/>
          <p:nvPr/>
        </p:nvSpPr>
        <p:spPr>
          <a:xfrm>
            <a:off x="786384" y="53812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408" y="52760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duas falhas, limpar uma deixa o objetivo INALCANÇÁVEL.</a:t>
            </a:r>
          </a:p>
        </p:txBody>
      </p:sp>
      <p:sp>
        <p:nvSpPr>
          <p:cNvPr id="30" name="Rectangle 29"/>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invariante não é um aviso no código: é uma aresta ausente no grafo.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38 / 60</a:t>
            </a:r>
          </a:p>
        </p:txBody>
      </p:sp>
      <p:sp>
        <p:nvSpPr>
          <p:cNvPr id="4" name="slide-title-3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Falhas simultâneas e correção específica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Diagnóstico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Duas falhas selecionadas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Parada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Uma interrupção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Correções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 predicado por falha</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Verificação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Todas corrigidas e execução 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exige cleared-… para cada falha declarada na instância.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Perda adicional e contenção podem compartilhar uma parada e uma retomada.</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Diagnósticos concorrentes não comprovam, por si só, múltiplas falhas.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garantia de completude do reparo é relativa ao conjunto de falhas fornecido ao planejador.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39 / 60</a:t>
            </a:r>
          </a:p>
        </p:txBody>
      </p:sp>
      <p:sp>
        <p:nvSpPr>
          <p:cNvPr id="4" name="slide-title-3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Validação do domínio por grafo de planejamento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8F73CDF9-7689-3316-13F7-0C39740B9699}"/>
              </a:ext>
            </a:extLst>
          </p:cNvPr>
          <p:cNvPicPr>
            <a:picLocks noChangeAspect="1"/>
          </p:cNvPicPr>
          <p:nvPr/>
        </p:nvPicPr>
        <p:blipFill>
          <a:blip r:embed="rId3"/>
          <a:stretch>
            <a:fillRect/>
          </a:stretch>
        </p:blipFill>
        <p:spPr>
          <a:xfrm>
            <a:off x="1476461" y="1060772"/>
            <a:ext cx="8347047" cy="530532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40 / 60</a:t>
            </a:r>
          </a:p>
        </p:txBody>
      </p:sp>
      <p:sp>
        <p:nvSpPr>
          <p:cNvPr id="4" name="slide-title-4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defeito reencontrado como exclusão mútua ausente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82219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63931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MACning-graph</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ANTES da correção: um único fault-cleared</a:t>
            </a:r>
          </a:p>
          <a:p>
            <a:pPr algn="l">
              <a:lnSpc>
                <a:spcPct val="108000"/>
              </a:lnSpc>
              <a:spcBef>
                <a:spcPts val="0"/>
              </a:spcBef>
              <a:spcAft>
                <a:spcPts val="0"/>
              </a:spcAft>
            </a:pPr>
            <a:r>
              <a:rPr sz="1750" b="0">
                <a:solidFill>
                  <a:srgbClr val="172235"/>
                </a:solidFill>
                <a:latin typeface="Consolas"/>
              </a:rPr>
              <a:t>pontos de escolha:</a:t>
            </a:r>
          </a:p>
          <a:p>
            <a:pPr algn="l">
              <a:lnSpc>
                <a:spcPct val="108000"/>
              </a:lnSpc>
              <a:spcBef>
                <a:spcPts val="0"/>
              </a:spcBef>
              <a:spcAft>
                <a:spcPts val="0"/>
              </a:spcAft>
            </a:pPr>
            <a:r>
              <a:rPr sz="1750" b="0">
                <a:solidFill>
                  <a:srgbClr val="172235"/>
                </a:solidFill>
                <a:latin typeface="Consolas"/>
              </a:rPr>
              <a:t>  fault-cleared(N) &lt;- fix_a, fix_b</a:t>
            </a:r>
          </a:p>
          <a:p>
            <a:pPr algn="l">
              <a:lnSpc>
                <a:spcPct val="108000"/>
              </a:lnSpc>
              <a:spcBef>
                <a:spcPts val="0"/>
              </a:spcBef>
              <a:spcAft>
                <a:spcPts val="0"/>
              </a:spcAft>
            </a:pPr>
            <a:r>
              <a:rPr sz="1750" b="0">
                <a:solidFill>
                  <a:srgbClr val="172235"/>
                </a:solidFill>
                <a:latin typeface="Consolas"/>
              </a:rPr>
              <a:t>violacoes do invariante de sucesso:</a:t>
            </a:r>
          </a:p>
          <a:p>
            <a:pPr algn="l">
              <a:lnSpc>
                <a:spcPct val="108000"/>
              </a:lnSpc>
              <a:spcBef>
                <a:spcPts val="0"/>
              </a:spcBef>
              <a:spcAft>
                <a:spcPts val="0"/>
              </a:spcAft>
            </a:pPr>
            <a:r>
              <a:rPr sz="1750" b="0">
                <a:solidFill>
                  <a:srgbClr val="172235"/>
                </a:solidFill>
                <a:latin typeface="Consolas"/>
              </a:rPr>
              <a:t>  service-restored(N) is not mutex with fault-a(N)</a:t>
            </a:r>
          </a:p>
          <a:p>
            <a:pPr algn="l">
              <a:lnSpc>
                <a:spcPct val="108000"/>
              </a:lnSpc>
              <a:spcBef>
                <a:spcPts val="0"/>
              </a:spcBef>
              <a:spcAft>
                <a:spcPts val="0"/>
              </a:spcAft>
            </a:pPr>
            <a:r>
              <a:rPr sz="1750" b="0">
                <a:solidFill>
                  <a:srgbClr val="172235"/>
                </a:solidFill>
                <a:latin typeface="Consolas"/>
              </a:rPr>
              <a:t>  service-restored(N) is not mutex with fault-b(N)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DEPOIS: um literal cleared por falha</a:t>
            </a:r>
          </a:p>
          <a:p>
            <a:pPr algn="l">
              <a:lnSpc>
                <a:spcPct val="108000"/>
              </a:lnSpc>
              <a:spcBef>
                <a:spcPts val="0"/>
              </a:spcBef>
              <a:spcAft>
                <a:spcPts val="0"/>
              </a:spcAft>
            </a:pPr>
            <a:r>
              <a:rPr sz="1750" b="0">
                <a:solidFill>
                  <a:srgbClr val="172235"/>
                </a:solidFill>
                <a:latin typeface="Consolas"/>
              </a:rPr>
              <a:t>pontos de escolha: nenhum</a:t>
            </a:r>
          </a:p>
          <a:p>
            <a:pPr algn="l">
              <a:lnSpc>
                <a:spcPct val="108000"/>
              </a:lnSpc>
              <a:spcBef>
                <a:spcPts val="0"/>
              </a:spcBef>
              <a:spcAft>
                <a:spcPts val="0"/>
              </a:spcAft>
            </a:pPr>
            <a:r>
              <a:rPr sz="1750" b="0">
                <a:solidFill>
                  <a:srgbClr val="172235"/>
                </a:solidFill>
                <a:latin typeface="Consolas"/>
              </a:rPr>
              <a:t>violacoes do invariante de sucesso: nenhuma</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grafo não só detecta o defeito: nomeia a causa, um literal com dois produtores.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41 / 60</a:t>
            </a:r>
          </a:p>
        </p:txBody>
      </p:sp>
      <p:sp>
        <p:nvSpPr>
          <p:cNvPr id="4" name="slide-title-4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Rota alternativa como precondição verificável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Consulta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procura um caminho entre a origem e o destino, excluindo o nó afetado.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Contrato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existência desse caminho sustenta alternate-route(N) para o incidente considerado.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Limite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Conectividade no grafo não comprova capacidade residual, autorização externa ou recuperação medida.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42 / 60</a:t>
            </a:r>
          </a:p>
        </p:txBody>
      </p:sp>
      <p:sp>
        <p:nvSpPr>
          <p:cNvPr id="4" name="slide-title-4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Busca de caminhos em um grafo ponderado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Encontrar um caminho de custo mínimo entre uma origem e um destino.</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nó corrente; ação: percorrer um enlace disponível.</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Solução: sequência explícita de nós e transições.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Custo: soma dos pesos dos enlaces do caminho.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Menor número de saltos e menor custo são objetivos diferentes.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43 / 60</a:t>
            </a:r>
          </a:p>
        </p:txBody>
      </p:sp>
      <p:sp>
        <p:nvSpPr>
          <p:cNvPr id="4" name="slide-title-4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custo e significado dos parâmetros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Modelo: src/aisg/domain/topology.py</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c(u,v) = bₜ + d(u,v) / (vₜ × qᵤᵥ)</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bₜ ≥ 0: sobrecarga convencional por enlace do tipo t.</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vₜ &gt; 0: velocidade efetiva abstrata; 0 &lt; qᵤᵥ ≤ 1: qualidade.</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Os valores em ms pertencem à escala do modelo; não são RTTs medidos.</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vₜ não representa a velocidade física de propagação eletromagnética.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44 / 60</a:t>
            </a:r>
          </a:p>
        </p:txBody>
      </p:sp>
      <p:sp>
        <p:nvSpPr>
          <p:cNvPr id="4" name="slide-title-4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avaliação e fronteira de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Hart, Nilsson e Raphael (1968).</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f(n) = g(n) + h(n)</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g(n): menor custo conhecido da origem até n.</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h(n): estimativa do custo restante até o objetivo.</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fronteira prioriza o menor f; a solução é reconhecida na remoção do objetivo.</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combina custo acumulado e estimativa restante; a busca gulosa utiliza apenas 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45 / 60</a:t>
            </a:r>
          </a:p>
        </p:txBody>
      </p:sp>
      <p:sp>
        <p:nvSpPr>
          <p:cNvPr id="4" name="slide-title-4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Condições e decisões de implementação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Aspecto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Instância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Grafo finito e custos não negativos.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do problema considerado.</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Desempate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Maior g; depois ordem de inserção.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Comportamento reprodutível com entradas ordenadas.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Reabertura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Estado retorna à fronteira se seu custo melhora.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Suporte a heurísticas admissíveis inconsistentes.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Entradas obsoletas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Descartar registros superados da fila.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Evitar expansão com custo já melhorado.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Reconstrução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Armazenar predecessor e 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Retornar o caminho e verificar seu custo.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a garantia discutida: 0 ≤ h(n) ≤ h*(n), com h(objetivo) = 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46 / 60</a:t>
            </a:r>
          </a:p>
        </p:txBody>
      </p:sp>
      <p:sp>
        <p:nvSpPr>
          <p:cNvPr id="4" name="slide-title-4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Admissibilidade da heurística geométrica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h(n) = d(n,g) / vmax</a:t>
            </a:r>
          </a:p>
          <a:p>
            <a:pPr algn="l">
              <a:lnSpc>
                <a:spcPct val="108000"/>
              </a:lnSpc>
              <a:spcBef>
                <a:spcPts val="0"/>
              </a:spcBef>
              <a:spcAft>
                <a:spcPts val="0"/>
              </a:spcAft>
            </a:pPr>
            <a:r>
              <a:rPr sz="2500" b="0">
                <a:solidFill>
                  <a:srgbClr val="274C77"/>
                </a:solidFill>
                <a:latin typeface="Cambria Math"/>
              </a:rPr>
              <a:t>c(u,v) ≥ d(u,v) / vmax</a:t>
            </a:r>
          </a:p>
          <a:p>
            <a:pPr algn="l">
              <a:lnSpc>
                <a:spcPct val="108000"/>
              </a:lnSpc>
              <a:spcBef>
                <a:spcPts val="0"/>
              </a:spcBef>
              <a:spcAft>
                <a:spcPts val="0"/>
              </a:spcAft>
            </a:pPr>
            <a:r>
              <a:rPr sz="2500" b="0">
                <a:solidFill>
                  <a:srgbClr val="274C77"/>
                </a:solidFill>
                <a:latin typeface="Cambria Math"/>
              </a:rPr>
              <a:t>Σ c(u,v) ≥ Σ d(u,v)/vmax ≥ d(n,g)/vmax</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vmax é a maior velocidade efetiva do catálogo.</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primeira desigualdade usa as condições da função de custo.</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segunda utiliza a desigualdade triangular.</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qualquer caminho até g: custo ≥ h(n). Portanto, h(n) ≤ h*(n).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47 / 60</a:t>
            </a:r>
          </a:p>
        </p:txBody>
      </p:sp>
      <p:sp>
        <p:nvSpPr>
          <p:cNvPr id="4" name="slide-title-4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Consistência e verificação independente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d(u,g) ≤ d(u,v) + d(v,g)</a:t>
            </a:r>
          </a:p>
          <a:p>
            <a:pPr algn="l">
              <a:lnSpc>
                <a:spcPct val="108000"/>
              </a:lnSpc>
              <a:spcBef>
                <a:spcPts val="0"/>
              </a:spcBef>
              <a:spcAft>
                <a:spcPts val="0"/>
              </a:spcAft>
            </a:pPr>
            <a:r>
              <a:rPr sz="2500" b="0">
                <a:solidFill>
                  <a:srgbClr val="274C77"/>
                </a:solidFill>
                <a:latin typeface="Cambria Math"/>
              </a:rPr>
              <a:t>h(u) ≤ c(u,v) + h(v)</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desigualdade triangular também estabelece consistência.</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Verificar cada aresta e objetivo examina as instâncias fornecidas.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oráculo independente, como Floyd–Warshall, reduz dependência do próprio 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Prova estabelece a propriedade sob hipóteses; testes verificam implementação e instâncias.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48 / 60</a:t>
            </a:r>
          </a:p>
        </p:txBody>
      </p:sp>
      <p:sp>
        <p:nvSpPr>
          <p:cNvPr id="4" name="slide-title-4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Comparação: NOC → ER_03</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466344">
                <a:tc>
                  <a:txBody>
                    <a:bodyPr/>
                    <a:lstStyle/>
                    <a:p>
                      <a:pPr>
                        <a:lnSpc>
                          <a:spcPct val="102000"/>
                        </a:lnSpc>
                        <a:spcAft>
                          <a:spcPts val="0"/>
                        </a:spcAft>
                      </a:pPr>
                      <a:r>
                        <a:rPr sz="1650" b="1">
                          <a:solidFill>
                            <a:srgbClr val="FFFFFF"/>
                          </a:solidFill>
                          <a:latin typeface="Aptos"/>
                        </a:rPr>
                        <a:t>Estratégia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Saltos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Expandidos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Garantia geral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Largura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15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de saltos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Profundidade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uniforme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28</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mínimo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Gulosa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23</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sob as hipóteses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caminho mais barato tem MAIS saltos: contar saltos não ordena por custo.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49 / 60</a:t>
            </a:r>
          </a:p>
        </p:txBody>
      </p:sp>
      <p:sp>
        <p:nvSpPr>
          <p:cNvPr id="4" name="slide-title-4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Caminho ótimo e decomposição do custo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66344">
                <a:tc>
                  <a:txBody>
                    <a:bodyPr/>
                    <a:lstStyle/>
                    <a:p>
                      <a:pPr>
                        <a:lnSpc>
                          <a:spcPct val="102000"/>
                        </a:lnSpc>
                        <a:spcAft>
                          <a:spcPts val="0"/>
                        </a:spcAft>
                      </a:pPr>
                      <a:r>
                        <a:rPr sz="1650" b="1">
                          <a:solidFill>
                            <a:srgbClr val="FFFFFF"/>
                          </a:solidFill>
                          <a:latin typeface="Aptos"/>
                        </a:rPr>
                        <a:t>Enlace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Tipo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Acumulado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700" b="1">
                          <a:solidFill>
                            <a:srgbClr val="172235"/>
                          </a:solidFill>
                          <a:latin typeface="Aptos"/>
                        </a:rPr>
                        <a:t>NOC → eNB_A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Fibra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700" b="1">
                          <a:solidFill>
                            <a:srgbClr val="172235"/>
                          </a:solidFill>
                          <a:latin typeface="Aptos"/>
                        </a:rPr>
                        <a:t>eNB_A → RELAY_1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128,73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188,73 ms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700" b="1">
                          <a:solidFill>
                            <a:srgbClr val="172235"/>
                          </a:solidFill>
                          <a:latin typeface="Aptos"/>
                        </a:rPr>
                        <a:t>RELAY_1 → RELAY_5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86,33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275,05 ms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700" b="1">
                          <a:solidFill>
                            <a:srgbClr val="172235"/>
                          </a:solidFill>
                          <a:latin typeface="Aptos"/>
                        </a:rPr>
                        <a:t>RELAY_5 → CPE_03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76,65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351,70 ms</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700" b="1">
                          <a:solidFill>
                            <a:srgbClr val="172235"/>
                          </a:solidFill>
                          <a:latin typeface="Aptos"/>
                        </a:rPr>
                        <a:t>CPE_03 → ER_03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Ethernet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8,65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360,35 ms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Cinco enlaces, um por salto; total calculado antes do arredondamento.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50 / 60</a:t>
            </a:r>
          </a:p>
        </p:txBody>
      </p:sp>
      <p:sp>
        <p:nvSpPr>
          <p:cNvPr id="4" name="slide-title-5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Perda de um meio e comutação para o outro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Condição inicial</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eNB_A → RELAY_1 → RELAY_5 → CPE_03 → ER_03</a:t>
            </a:r>
          </a:p>
          <a:p>
            <a:pPr algn="l">
              <a:lnSpc>
                <a:spcPct val="108000"/>
              </a:lnSpc>
              <a:spcBef>
                <a:spcPts val="0"/>
              </a:spcBef>
              <a:spcAft>
                <a:spcPts val="0"/>
              </a:spcAft>
            </a:pPr>
            <a:r>
              <a:rPr sz="2100" b="0">
                <a:solidFill>
                  <a:srgbClr val="172235"/>
                </a:solidFill>
                <a:latin typeface="Aptos"/>
              </a:rPr>
              <a:t>Custo: 360,35 ms do modelo; acesso por pLTE.</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Perturbação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Desativar a fibra NOC–eNB_A, o que retira todo o acesso pLTE a partir do núcleo.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Nova solução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SAF_01 → SAF_02 → RM_03 → ER_03</a:t>
            </a:r>
          </a:p>
          <a:p>
            <a:pPr algn="l">
              <a:lnSpc>
                <a:spcPct val="108000"/>
              </a:lnSpc>
              <a:spcBef>
                <a:spcPts val="0"/>
              </a:spcBef>
              <a:spcAft>
                <a:spcPts val="0"/>
              </a:spcAft>
            </a:pPr>
            <a:r>
              <a:rPr sz="2100" b="0">
                <a:solidFill>
                  <a:srgbClr val="172235"/>
                </a:solidFill>
                <a:latin typeface="Aptos"/>
              </a:rPr>
              <a:t>Custo: 453,51 ms do modelo; acesso por 900 MHz.</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51 / 60</a:t>
            </a:r>
          </a:p>
        </p:txBody>
      </p:sp>
      <p:sp>
        <p:nvSpPr>
          <p:cNvPr id="4" name="slide-title-5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Esforço de busca no cenário de 60 nós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783080"/>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Custo uniforme</a:t>
            </a:r>
          </a:p>
        </p:txBody>
      </p:sp>
      <p:sp>
        <p:nvSpPr>
          <p:cNvPr id="7" name="Rectangle 6"/>
          <p:cNvSpPr/>
          <p:nvPr/>
        </p:nvSpPr>
        <p:spPr>
          <a:xfrm>
            <a:off x="3337560" y="1673352"/>
            <a:ext cx="6473951" cy="612648"/>
          </a:xfrm>
          <a:prstGeom prst="rect">
            <a:avLst/>
          </a:prstGeom>
          <a:solidFill>
            <a:srgbClr val="4D5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48672" y="1783080"/>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109 740</a:t>
            </a:r>
          </a:p>
        </p:txBody>
      </p:sp>
      <p:sp>
        <p:nvSpPr>
          <p:cNvPr id="9" name="TextBox 8"/>
          <p:cNvSpPr txBox="1"/>
          <p:nvPr/>
        </p:nvSpPr>
        <p:spPr>
          <a:xfrm>
            <a:off x="822960" y="2807208"/>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A*</a:t>
            </a:r>
          </a:p>
        </p:txBody>
      </p:sp>
      <p:sp>
        <p:nvSpPr>
          <p:cNvPr id="10" name="Rectangle 9"/>
          <p:cNvSpPr/>
          <p:nvPr/>
        </p:nvSpPr>
        <p:spPr>
          <a:xfrm>
            <a:off x="3337560" y="2697480"/>
            <a:ext cx="5897172" cy="612648"/>
          </a:xfrm>
          <a:prstGeom prst="rect">
            <a:avLst/>
          </a:prstGeom>
          <a:solidFill>
            <a:srgbClr val="3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71892" y="2807208"/>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99 963</a:t>
            </a:r>
          </a:p>
        </p:txBody>
      </p:sp>
      <p:sp>
        <p:nvSpPr>
          <p:cNvPr id="12" name="Oval 11"/>
          <p:cNvSpPr/>
          <p:nvPr/>
        </p:nvSpPr>
        <p:spPr>
          <a:xfrm>
            <a:off x="786384" y="37627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657600"/>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3.540 pares ordenados de origem e destino distintos.</a:t>
            </a:r>
          </a:p>
        </p:txBody>
      </p:sp>
      <p:sp>
        <p:nvSpPr>
          <p:cNvPr id="14" name="Oval 13"/>
          <p:cNvSpPr/>
          <p:nvPr/>
        </p:nvSpPr>
        <p:spPr>
          <a:xfrm>
            <a:off x="786384" y="42931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187952"/>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Redução agregada de expansões: 8,9%.</a:t>
            </a:r>
          </a:p>
        </p:txBody>
      </p:sp>
      <p:sp>
        <p:nvSpPr>
          <p:cNvPr id="16" name="Oval 15"/>
          <p:cNvSpPr/>
          <p:nvPr/>
        </p:nvSpPr>
        <p:spPr>
          <a:xfrm>
            <a:off x="786384" y="482346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6697" y="4700015"/>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30 nós a redução era 25,9%: ela DIMINUIU.</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Duas medições em dois grafos; a vantagem não cresceu com o tamanho.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52 / 60</a:t>
            </a:r>
          </a:p>
        </p:txBody>
      </p:sp>
      <p:sp>
        <p:nvSpPr>
          <p:cNvPr id="4" name="slide-title-5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Aprendizagem de heurísticas: possibilidade e cautela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Alvo de aprendizagem</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Estimar h*(s), o custo ótimo restante, em instâncias para as quais seja possível obtê-lo.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Risco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estimativa aprendida pode superestimar e invalidar a garantia de custo mínimo.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Uso conservador</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Utilizar a estimativa apenas em desempates após f admissível; avaliar instâncias não vistas.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53 / 60</a:t>
            </a:r>
          </a:p>
        </p:txBody>
      </p:sp>
      <p:sp>
        <p:nvSpPr>
          <p:cNvPr id="4" name="slide-title-5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Contrato entre diagnóstico, planejamento 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Evidências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Sujeito e contexto</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Hipótese</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explícita</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Plano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Condições e ações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Rota</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Mesmos extremos</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Fixar nó afetado, origem, destino e versão da topologia.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Usar a base simulada e simulated=True no planejamento.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Validar o plano e verificar a rota que fundamenta o desvio.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script da apresentação explicita a composição pela API; não executa intervenções em ns-3.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54 / 60</a:t>
            </a:r>
          </a:p>
        </p:txBody>
      </p:sp>
      <p:sp>
        <p:nvSpPr>
          <p:cNvPr id="4" name="slide-title-5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integrada: congestionamento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incidente integrado</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Caso: congestion      Nó afetado: SAF_02</a:t>
            </a:r>
          </a:p>
          <a:p>
            <a:pPr algn="l">
              <a:lnSpc>
                <a:spcPct val="108000"/>
              </a:lnSpc>
              <a:spcBef>
                <a:spcPts val="0"/>
              </a:spcBef>
              <a:spcAft>
                <a:spcPts val="0"/>
              </a:spcAft>
            </a:pPr>
            <a:r>
              <a:rPr sz="1750" b="0">
                <a:solidFill>
                  <a:srgbClr val="172235"/>
                </a:solidFill>
                <a:latin typeface="Consolas"/>
              </a:rPr>
              <a:t>Base: simulated       Planejamento: simulated=True</a:t>
            </a:r>
          </a:p>
          <a:p>
            <a:pPr algn="l">
              <a:lnSpc>
                <a:spcPct val="108000"/>
              </a:lnSpc>
              <a:spcBef>
                <a:spcPts val="0"/>
              </a:spcBef>
              <a:spcAft>
                <a:spcPts val="0"/>
              </a:spcAft>
            </a:pPr>
            <a:r>
              <a:rPr sz="1750" b="0">
                <a:solidFill>
                  <a:srgbClr val="172235"/>
                </a:solidFill>
                <a:latin typeface="Consolas"/>
              </a:rPr>
              <a:t>Origem: NOC           Destino: ER_06</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Diagnóstico: congestion, CF +0,888</a:t>
            </a:r>
          </a:p>
          <a:p>
            <a:pPr algn="l">
              <a:lnSpc>
                <a:spcPct val="108000"/>
              </a:lnSpc>
              <a:spcBef>
                <a:spcPts val="0"/>
              </a:spcBef>
              <a:spcAft>
                <a:spcPts val="0"/>
              </a:spcAft>
            </a:pPr>
            <a:r>
              <a:rPr sz="1750" b="0">
                <a:solidFill>
                  <a:srgbClr val="172235"/>
                </a:solidFill>
                <a:latin typeface="Consolas"/>
              </a:rPr>
              <a:t>Plano: contém reroute_traffic; validação positiva</a:t>
            </a:r>
          </a:p>
          <a:p>
            <a:pPr algn="l">
              <a:lnSpc>
                <a:spcPct val="108000"/>
              </a:lnSpc>
              <a:spcBef>
                <a:spcPts val="0"/>
              </a:spcBef>
              <a:spcAft>
                <a:spcPts val="0"/>
              </a:spcAft>
            </a:pPr>
            <a:r>
              <a:rPr sz="1750" b="0">
                <a:solidFill>
                  <a:srgbClr val="172235"/>
                </a:solidFill>
                <a:latin typeface="Consolas"/>
              </a:rPr>
              <a:t>Rota: NOC → eNB_A → RELAY_1 → RELAY_5 → CPE_06 → ER_06</a:t>
            </a:r>
          </a:p>
          <a:p>
            <a:pPr algn="l">
              <a:lnSpc>
                <a:spcPct val="108000"/>
              </a:lnSpc>
              <a:spcBef>
                <a:spcPts val="0"/>
              </a:spcBef>
              <a:spcAft>
                <a:spcPts val="0"/>
              </a:spcAft>
            </a:pPr>
            <a:r>
              <a:rPr sz="1750" b="0">
                <a:solidFill>
                  <a:srgbClr val="172235"/>
                </a:solidFill>
                <a:latin typeface="Consolas"/>
              </a:rPr>
              <a:t>Custo da rota: 509,55 ms do modelo</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desvio exclui SAF_02 e move o site da malha de 900 MHz para o pLTE.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55 / 60</a:t>
            </a:r>
          </a:p>
        </p:txBody>
      </p:sp>
      <p:sp>
        <p:nvSpPr>
          <p:cNvPr id="4" name="slide-title-5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Procedimento experimental proposto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ns-3 Manual: Random Variables; protocolo proposto para o projeto.</a:t>
            </a:r>
          </a:p>
        </p:txBody>
      </p:sp>
      <p:graphicFrame>
        <p:nvGraphicFramePr>
          <p:cNvPr id="7"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Registro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Especificar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Fixar hipóteses, variáveis, objetivos e critérios de exclusão.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Protocolo anterior à coleta.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Executar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Variar mecanismos e intensidades; repetir com fluxos aleatórios controlados.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Versões, configuração, sementes e identificadores de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Avaliar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Comparar diagnóstico, planos e rotas com referências adequadas.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Resultados completos, abstenções, falhas e custos.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Analisar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Separar ajuste e avaliação; usar unidades independentes para inferência.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dispersão e limites de validade.</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Protocolo proposto; não descreve uma campanha de ns-3 já realizada.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56 / 60</a:t>
            </a:r>
          </a:p>
        </p:txBody>
      </p:sp>
      <p:sp>
        <p:nvSpPr>
          <p:cNvPr id="4" name="slide-title-5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que cada evidência permite concluir</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Evidência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sustentada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não estabelecida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Testes automatizados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Propriedades exercitadas passaram nas instâncias verificadas.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Ausência de todos os defeitos ou desempenho operacional.</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Plano reaplicado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Sequência aplicável e objetivo atingido no modelo.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Execução física ou experimental bem-sucedida.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Prova da heurística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Limite inferior sob as hipóteses da função de custo.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Validade para qualquer métrica de rede.</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870 consultas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e esforço no grafo sintético selecionado.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Lei geral de escalabilidade ou validade externa.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57 / 60</a:t>
            </a:r>
          </a:p>
        </p:txBody>
      </p:sp>
      <p:sp>
        <p:nvSpPr>
          <p:cNvPr id="4" name="slide-title-5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Contribuições e limitações do trabalho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Representação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Conhecimento, estado e custo são explicitados e podem ser inspecionados.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Implementação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Inferência, planejamento e roteamento possuem exemplos reproduzíveis e validação de saídas.</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Resultados permanecem condicionados a casos ilustrativos, efeitos assumidos e topologia sintética.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58 / 60</a:t>
            </a:r>
          </a:p>
        </p:txBody>
      </p:sp>
      <p:sp>
        <p:nvSpPr>
          <p:cNvPr id="4" name="slide-title-5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Agenda de investigação e critérios de avanço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Prioridade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Pergunta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Critério de avanço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Validação diagnóstica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 base distingue falhas em casos não usados no ajuste?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Avaliação independente, com abstenções e ambiguidades.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Execução e realimentação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ambiente confirma os efeitos previstos pelo plano?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Ações instrumentadas, observação posterior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Generalização da busca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 benefício persiste em outras topologias e pesos?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Famílias controladas de instâncias e análise de esforço.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Reprodutibilidade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Outra pessoa consegue repetir os resultados?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Configurações, versões, comandos e artefatos completos.</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59 / 60</a:t>
            </a:r>
          </a:p>
        </p:txBody>
      </p:sp>
      <p:sp>
        <p:nvSpPr>
          <p:cNvPr id="4" name="slide-title-5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Referências e procedência dos resultados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8096" y="1353312"/>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[1]</a:t>
            </a:r>
          </a:p>
        </p:txBody>
      </p:sp>
      <p:sp>
        <p:nvSpPr>
          <p:cNvPr id="7" name="TextBox 6"/>
          <p:cNvSpPr txBox="1"/>
          <p:nvPr/>
        </p:nvSpPr>
        <p:spPr>
          <a:xfrm>
            <a:off x="1280160" y="1353312"/>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3"/>
              </a:rPr>
              <a:t>Shortliffe, E. H.; Buchanan, B. G. A Model of Inexact Reasoning in Medicine. Mathematical Biosciences, 23, 351–379, 1975.</a:t>
            </a:r>
          </a:p>
        </p:txBody>
      </p:sp>
      <p:sp>
        <p:nvSpPr>
          <p:cNvPr id="8" name="TextBox 7"/>
          <p:cNvSpPr txBox="1"/>
          <p:nvPr/>
        </p:nvSpPr>
        <p:spPr>
          <a:xfrm>
            <a:off x="768096" y="2048256"/>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[2]</a:t>
            </a:r>
          </a:p>
        </p:txBody>
      </p:sp>
      <p:sp>
        <p:nvSpPr>
          <p:cNvPr id="9" name="TextBox 8"/>
          <p:cNvSpPr txBox="1"/>
          <p:nvPr/>
        </p:nvSpPr>
        <p:spPr>
          <a:xfrm>
            <a:off x="1280160" y="2048256"/>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4"/>
              </a:rPr>
              <a:t>Fikes, R. E.; Nilsson, N. J. STRIPS: A New Approach to the Application of Theorem Proving to Problem Solving. Artificial Intelligence, 2, 189–208, 1971.</a:t>
            </a:r>
          </a:p>
        </p:txBody>
      </p:sp>
      <p:sp>
        <p:nvSpPr>
          <p:cNvPr id="10" name="TextBox 9"/>
          <p:cNvSpPr txBox="1"/>
          <p:nvPr/>
        </p:nvSpPr>
        <p:spPr>
          <a:xfrm>
            <a:off x="768096" y="2743200"/>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[3]</a:t>
            </a:r>
          </a:p>
        </p:txBody>
      </p:sp>
      <p:sp>
        <p:nvSpPr>
          <p:cNvPr id="11" name="TextBox 10"/>
          <p:cNvSpPr txBox="1"/>
          <p:nvPr/>
        </p:nvSpPr>
        <p:spPr>
          <a:xfrm>
            <a:off x="1280160" y="2743200"/>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5"/>
              </a:rPr>
              <a:t>Hart, P. E.; Nilsson, N. J.; Raphael, B. A Formal Basis for the Heuristic Determination of Minimum Cost Paths. IEEE TSSC, 4(2), 100–107, 1968.</a:t>
            </a:r>
          </a:p>
        </p:txBody>
      </p:sp>
      <p:sp>
        <p:nvSpPr>
          <p:cNvPr id="12" name="TextBox 11"/>
          <p:cNvSpPr txBox="1"/>
          <p:nvPr/>
        </p:nvSpPr>
        <p:spPr>
          <a:xfrm>
            <a:off x="768096" y="3438144"/>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[4]</a:t>
            </a:r>
          </a:p>
        </p:txBody>
      </p:sp>
      <p:sp>
        <p:nvSpPr>
          <p:cNvPr id="13" name="TextBox 12"/>
          <p:cNvSpPr txBox="1"/>
          <p:nvPr/>
        </p:nvSpPr>
        <p:spPr>
          <a:xfrm>
            <a:off x="1280160" y="3438144"/>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6"/>
              </a:rPr>
              <a:t>Dijkstra, E. W. A Note on Two Problems in Connexion with Graphs. Numerische Mathematik, 1, 269–271, 1959.</a:t>
            </a:r>
          </a:p>
        </p:txBody>
      </p:sp>
      <p:sp>
        <p:nvSpPr>
          <p:cNvPr id="14" name="TextBox 13"/>
          <p:cNvSpPr txBox="1"/>
          <p:nvPr/>
        </p:nvSpPr>
        <p:spPr>
          <a:xfrm>
            <a:off x="768096" y="4133087"/>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[5]</a:t>
            </a:r>
          </a:p>
        </p:txBody>
      </p:sp>
      <p:sp>
        <p:nvSpPr>
          <p:cNvPr id="15" name="TextBox 14"/>
          <p:cNvSpPr txBox="1"/>
          <p:nvPr/>
        </p:nvSpPr>
        <p:spPr>
          <a:xfrm>
            <a:off x="1280160" y="4133087"/>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7"/>
              </a:rPr>
              <a:t>ns-3 Project. Manual: Random Variables. Documentação de sementes, execuções e fluxos aleatórios. Consulta: 10 set. 2026.</a:t>
            </a:r>
          </a:p>
        </p:txBody>
      </p:sp>
      <p:sp>
        <p:nvSpPr>
          <p:cNvPr id="16" name="TextBox 15"/>
          <p:cNvSpPr txBox="1"/>
          <p:nvPr/>
        </p:nvSpPr>
        <p:spPr>
          <a:xfrm>
            <a:off x="768096" y="4828031"/>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[6]</a:t>
            </a:r>
          </a:p>
        </p:txBody>
      </p:sp>
      <p:sp>
        <p:nvSpPr>
          <p:cNvPr id="17" name="TextBox 16"/>
          <p:cNvSpPr txBox="1"/>
          <p:nvPr/>
        </p:nvSpPr>
        <p:spPr>
          <a:xfrm>
            <a:off x="1280160" y="4828031"/>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8"/>
              </a:rPr>
              <a:t>Dantas, F. S. AI for Smart Grids: código, topologia, exemplos e testes. Repositório do projeto. Estado auditado registrado no relatório acompanhante.</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Referências primárias; resultados do projeto reproduzidos pelo script acompanhante.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60 / 60</a:t>
            </a:r>
          </a:p>
        </p:txBody>
      </p:sp>
      <p:sp>
        <p:nvSpPr>
          <p:cNvPr id="4" name="slide-title-6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Discussão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Qual evidência adicional seria necessária para transformar uma recomendação válida no modelo em uma decisão confiável no ambiente?</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Validação das hipóteses de diagnóstico.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Correspondência entre efeitos planejados e observados.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Adequação da função de custo e do cenário experimental.</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Código, roteiro e demonstrações permitem examinar e reproduzir o argumento.</a:t>
            </a: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3898</TotalTime>
  <Words>14167</Words>
  <Application>Microsoft Office PowerPoint</Application>
  <PresentationFormat>Widescreen</PresentationFormat>
  <Paragraphs>1384</Paragraphs>
  <Slides>60</Slides>
  <Notes>60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vt:lpstr>
      <vt:lpstr>Arial</vt:lpstr>
      <vt:lpstr>Calibri</vt:lpstr>
      <vt:lpstr>Cambria Math</vt:lpstr>
      <vt:lpstr>Consolas</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especialista, planejamento automático e busca A* em redes sem fio simuladas</dc:title>
  <dc:subject>Três minissistemas de inteligência artificial: modelo, implementação e avaliação</dc:subject>
  <dc:creator>Fernando Sabino Dantas</dc:creator>
  <cp:keywords>sistema especialista; STRIPS; GPS; A*; simulação; redes sem fio</cp:keywords>
  <dc:description>Roteiro e notas gerados a partir de academic_content.py.</dc:description>
  <cp:lastModifiedBy>Fernando Sabino Dantas</cp:lastModifiedBy>
  <cp:revision>60</cp:revision>
  <dcterms:created xsi:type="dcterms:W3CDTF">2020-10-27T13:01:25Z</dcterms:created>
  <dcterms:modified xsi:type="dcterms:W3CDTF">2026-09-13T17:50:53Z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9b6cd5-d141-4a33-8bf1-0ca04484304f_Enabled">
    <vt:lpwstr>true</vt:lpwstr>
  </property>
  <property fmtid="{D5CDD505-2E9C-101B-9397-08002B2CF9AE}" pid="3" name="MSIP_Label_a59b6cd5-d141-4a33-8bf1-0ca04484304f_SetDate">
    <vt:lpwstr>2022-04-18T20:01:33Z</vt:lpwstr>
  </property>
  <property fmtid="{D5CDD505-2E9C-101B-9397-08002B2CF9AE}" pid="4" name="MSIP_Label_a59b6cd5-d141-4a33-8bf1-0ca04484304f_Method">
    <vt:lpwstr>Standard</vt:lpwstr>
  </property>
  <property fmtid="{D5CDD505-2E9C-101B-9397-08002B2CF9AE}" pid="5" name="MSIP_Label_a59b6cd5-d141-4a33-8bf1-0ca04484304f_Name">
    <vt:lpwstr>restricted-default</vt:lpwstr>
  </property>
  <property fmtid="{D5CDD505-2E9C-101B-9397-08002B2CF9AE}" pid="6" name="MSIP_Label_a59b6cd5-d141-4a33-8bf1-0ca04484304f_SiteId">
    <vt:lpwstr>38ae3bcd-9579-4fd4-adda-b42e1495d55a</vt:lpwstr>
  </property>
  <property fmtid="{D5CDD505-2E9C-101B-9397-08002B2CF9AE}" pid="7" name="MSIP_Label_a59b6cd5-d141-4a33-8bf1-0ca04484304f_ActionId">
    <vt:lpwstr>0d8ed3b0-d898-44d0-a9dd-a42b5d4dab99</vt:lpwstr>
  </property>
  <property fmtid="{D5CDD505-2E9C-101B-9397-08002B2CF9AE}" pid="8" name="MSIP_Label_a59b6cd5-d141-4a33-8bf1-0ca04484304f_ContentBits">
    <vt:lpwstr>0</vt:lpwstr>
  </property>
  <property fmtid="{D5CDD505-2E9C-101B-9397-08002B2CF9AE}" pid="9" name="Document_Confidentiality">
    <vt:lpwstr>Restricted</vt:lpwstr>
  </property>
</Properties>
</file>