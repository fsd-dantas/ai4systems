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Não comece pelo código: comece pelo domínio e pela escolha do</a:t>
            </a:r>
          </a:p>
          <a:p>
            <a:r>
              <a:t>método. Os três trabalhos partilham um único domínio, e isso é proposital —</a:t>
            </a:r>
          </a:p>
          <a:p>
            <a:r>
              <a:t>permite mostrar que os sistemas se integram, em vez de apenas coexistirem.</a:t>
            </a:r>
          </a:p>
          <a:p/>
          <a:p>
            <a:r>
              <a:t>Antes de começar, deixe rodando "python -m pytest": 108 testes verdes na tela</a:t>
            </a:r>
          </a:p>
          <a:p>
            <a:r>
              <a:t>são um bom cartão de visita.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o roteiro: 30 minutos por tema, com demonstração ao vivo em cada um.</a:t>
            </a:r>
          </a:p>
          <a:p/>
          <a:p>
            <a:r>
              <a:t>O ponto a plantar já aqui: os três não são exercícios separados. O diagnóstico</a:t>
            </a:r>
          </a:p>
          <a:p>
            <a:r>
              <a:t>produzido pelo trabalho 1 é a entrada do trabalho 2, e o trabalho 2 chama a</a:t>
            </a:r>
          </a:p>
          <a:p>
            <a:r>
              <a:t>função do trabalho 3. Ao final voltaremos a isso com um comando 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Descreva o domínio em uma frase: a rede que liga ativos distribuídos de um</a:t>
            </a:r>
          </a:p>
          <a:p>
            <a:r>
              <a:t>sistema elétrico ao centro de operação — núcleo em fibra, setores de rádio de</a:t>
            </a:r>
          </a:p>
          <a:p>
            <a:r>
              <a:t>900 MHz, uma cadeia de repetidores armazena-e-encaminha e uma sobreposição LTE.</a:t>
            </a:r>
          </a:p>
          <a:p/>
          <a:p>
            <a:r>
              <a:t>Diga explicitamente que a topologia é SINTÉTICA: um modelo didático da classe de</a:t>
            </a:r>
          </a:p>
          <a:p>
            <a:r>
              <a:t>cenários estudada em laboratórios de backhaul sem fio. Não há inventário real,</a:t>
            </a:r>
          </a:p>
          <a:p>
            <a:r>
              <a:t>endereçamento nem identificação de equipamento. Dizer isso antes que perguntem</a:t>
            </a:r>
          </a:p>
          <a:p>
            <a:r>
              <a:t>vale mais do que responder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argumento mais forte da apresentação inteira. Não o apresse.</a:t>
            </a:r>
          </a:p>
          <a:p/>
          <a:p>
            <a:r>
              <a:t>Para rotular um enlace como "degradado" ou "em falha" seriam precisas duas</a:t>
            </a:r>
          </a:p>
          <a:p>
            <a:r>
              <a:t>coisas: um instrumento de degradação controlada, capaz de produzir a falha de</a:t>
            </a:r>
          </a:p>
          <a:p>
            <a:r>
              <a:t>forma reprodutível, e uma linha de base de observabilidade autenticada contra a</a:t>
            </a:r>
          </a:p>
          <a:p>
            <a:r>
              <a:t>qual comparar. Sem as duas, nenhum rótulo vem de medição.</a:t>
            </a:r>
          </a:p>
          <a:p/>
          <a:p>
            <a:r>
              <a:t>E um modelo treinado apenas em estado normal não infere degradação de modo</a:t>
            </a:r>
          </a:p>
          <a:p>
            <a:r>
              <a:t>confiável — ele nunca viu a classe que deveria reconhecer.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Nenhuma das colunas é superior em abstrato. A escolha depende do que se tem.</a:t>
            </a:r>
          </a:p>
          <a:p/>
          <a:p>
            <a:r>
              <a:t>Onde não há dados rotulados, o caminho honesto é codificar conhecimento de</a:t>
            </a:r>
          </a:p>
          <a:p>
            <a:r>
              <a:t>engenharia em regras explícitas. A vantagem não é só de disponibilidade: um</a:t>
            </a:r>
          </a:p>
          <a:p>
            <a:r>
              <a:t>especialista pode discordar da regra R14 e mudar apenas ela. Não se discute</a:t>
            </a:r>
          </a:p>
          <a:p>
            <a:r>
              <a:t>assim com um peso de rede neural.</a:t>
            </a:r>
          </a:p>
          <a:p/>
          <a:p>
            <a:r>
              <a:t>Se perguntarem "e quando houver dados?", a resposta está na próxima decisão de</a:t>
            </a:r>
          </a:p>
          <a:p>
            <a:r>
              <a:t>projeto: os limiares estão num único bloco, prontos para calibração.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sabemos por que é simbólico. Agora, como se constrói.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Enquadre como um problema de classificação com evidência incerta. Sensores</a:t>
            </a:r>
          </a:p>
          <a:p>
            <a:r>
              <a:t>são imperfeitos, dados são incompletos, fenômenos variam.</a:t>
            </a:r>
          </a:p>
          <a:p/>
          <a:p>
            <a:r>
              <a:t>Guarde a última linha: "recomenda, não atua". Voltaremos a ela no tema 2, onde</a:t>
            </a:r>
          </a:p>
          <a:p>
            <a:r>
              <a:t>ela deixa de ser um princípio e vira uma precondição.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Insista na separação entre base de conhecimento e motor de inferência: é ela</a:t>
            </a:r>
          </a:p>
          <a:p>
            <a:r>
              <a:t>que permite trocar o conhecimento sem reescrever o raciocínio.</a:t>
            </a:r>
          </a:p>
          <a:p/>
          <a:p>
            <a:r>
              <a:t>No repositório essa separação é real, não nominal: o motor não sabe nada sobre</a:t>
            </a:r>
          </a:p>
          <a:p>
            <a:r>
              <a:t>redes. Se ele funciona aqui, funciona em qualquer domínio que se escreva em</a:t>
            </a:r>
          </a:p>
          <a:p>
            <a:r>
              <a:t>regras — e essa é a condição para reutilizá-lo como fonte de conhecimento no</a:t>
            </a:r>
          </a:p>
          <a:p>
            <a:r>
              <a:t>trabalho multiespecialista de 25/09.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Treze variáveis perguntáveis. Não leia a tabela inteira — aponte três ou</a:t>
            </a:r>
          </a:p>
          <a:p>
            <a:r>
              <a:t>quatro e diga que são grandezas que um operador de rede realmente observa.</a:t>
            </a:r>
          </a:p>
          <a:p/>
          <a:p>
            <a:r>
              <a:t>Note que há dois tipos: medições numéricas com faixa declarada, e categóricas</a:t>
            </a:r>
          </a:p>
          <a:p>
            <a:r>
              <a:t>com domínio fechado. A validação recusa valor fora da faixa e rótulo não</a:t>
            </a:r>
          </a:p>
          <a:p>
            <a:r>
              <a:t>declarado, antes de qualquer inferência.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as camadas de baixo para cima: medição vira qualidade de sinal,</a:t>
            </a:r>
          </a:p>
          <a:p>
            <a:r>
              <a:t>estado e desempenho viram sintoma, evidência vira diagnóstico, diagnóstico vira</a:t>
            </a:r>
          </a:p>
          <a:p>
            <a:r>
              <a:t>ação, ação vira exigência de autorização.</a:t>
            </a:r>
          </a:p>
          <a:p/>
          <a:p>
            <a:r>
              <a:t>A pergunta a fazer em voz alta: por que estratificar? Porque as regras de</a:t>
            </a:r>
          </a:p>
          <a:p>
            <a:r>
              <a:t>diagnóstico nunca leem rssi_dbm diretamente — leem signal_quality. Trocar o</a:t>
            </a:r>
          </a:p>
          <a:p>
            <a:r>
              <a:t>sensor de RF muda a camada 1 e nada mais. Isso é modularidade do conhecimento, e</a:t>
            </a:r>
          </a:p>
          <a:p>
            <a:r>
              <a:t>é uma vantagem prática de regras sobre código procedural.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R10 é uma regra de diagnóstico comum: duas condições, uma conclusão, uma</a:t>
            </a:r>
          </a:p>
          <a:p>
            <a:r>
              <a:t>confiança.</a:t>
            </a:r>
          </a:p>
          <a:p/>
          <a:p>
            <a:r>
              <a:t>R25 é a mais interessante. O fator de certeza negativo diz "tempo limpo é</a:t>
            </a:r>
          </a:p>
          <a:p>
            <a:r>
              <a:t>evidência CONTRA atenuação por chuva". Regras booleanas obrigariam a escolher</a:t>
            </a:r>
          </a:p>
          <a:p>
            <a:r>
              <a:t>entre ignorar essa evidência e afirmar demais. E o especialista real raciocina</a:t>
            </a:r>
          </a:p>
          <a:p>
            <a:r>
              <a:t>assim: certas observações reduzem a suspeita sem eliminá-la.</a:t>
            </a:r>
          </a:p>
          <a:p/>
          <a:p>
            <a:r>
              <a:t>R36 é a porta de governança, e prepara o tema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Faça a aritmética no quadro, não só no slide.</a:t>
            </a:r>
          </a:p>
          <a:p/>
          <a:p>
            <a:r>
              <a:t>Duas evidências de 0,8 dão 0,96: mais forte que qualquer uma isolada, e ainda</a:t>
            </a:r>
          </a:p>
          <a:p>
            <a:r>
              <a:t>assim longe da certeza. Evidências contraditórias de +0,8 e -0,8 cancelam-se</a:t>
            </a:r>
          </a:p>
          <a:p>
            <a:r>
              <a:t>exatamente em zero.</a:t>
            </a:r>
          </a:p>
          <a:p/>
          <a:p>
            <a:r>
              <a:t>Se perguntarem por que não probabilidade bayesiana: fatores de certeza não</a:t>
            </a:r>
          </a:p>
          <a:p>
            <a:r>
              <a:t>exigem probabilidades a priori nem independência condicional — que, sem dados,</a:t>
            </a:r>
          </a:p>
          <a:p>
            <a:r>
              <a:t>não há como estimar. O preço é que a álgebra é heurística, não</a:t>
            </a:r>
          </a:p>
          <a:p>
            <a:r>
              <a:t>probabilisticamente fundamentada. É o mesmo compromisso do MYCIN, e a mesma</a:t>
            </a:r>
          </a:p>
          <a:p>
            <a:r>
              <a:t>limitação. Diga a limitação; ela fortalece a apresentação, não a enfraquece.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por que disparar uma regra por ciclo e não todas de uma vez: se o</a:t>
            </a:r>
          </a:p>
          <a:p>
            <a:r>
              <a:t>motor disparasse tudo simultaneamente, a resolução de conflito não teria efeito</a:t>
            </a:r>
          </a:p>
          <a:p>
            <a:r>
              <a:t>observável e o trace não contaria uma história.</a:t>
            </a:r>
          </a:p>
          <a:p/>
          <a:p>
            <a:r>
              <a:t>Este é o modo em que o sistema seria acoplado a um sistema de monitoramento</a:t>
            </a:r>
          </a:p>
          <a:p>
            <a:r>
              <a:t>real: a telemetria chega, o motor conclui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Percorra o trace regra a regra com o dedo na tela: a cadeia</a:t>
            </a:r>
          </a:p>
          <a:p>
            <a:r>
              <a:t>inteira é legível, da medição até a exigência de autorização.</a:t>
            </a:r>
          </a:p>
          <a:p/>
          <a:p>
            <a:r>
              <a:t>Aponte a última linha: rain_fade aparece com CF NEGATIVO. O sistema não apenas</a:t>
            </a:r>
          </a:p>
          <a:p>
            <a:r>
              <a:t>escolheu uma hipótese — ele registrou evidência contra outra. Isso é o que</a:t>
            </a:r>
          </a:p>
          <a:p>
            <a:r>
              <a:t>distingue um sistema com incerteza de um classificador que só devolve um rótulo.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curto-circuito é o ponto técnico que vale explicar. Sem ele, o modo</a:t>
            </a:r>
          </a:p>
          <a:p>
            <a:r>
              <a:t>regressivo pergunta quase tanto quanto o progressivo — e perde a razão de</a:t>
            </a:r>
          </a:p>
          <a:p>
            <a:r>
              <a:t>existir. Foi, aliás, um defeito real: um teste apanhou o motor perguntando todas</a:t>
            </a:r>
          </a:p>
          <a:p>
            <a:r>
              <a:t>as 13 variáveis, e a correção foi abandonar a regra assim que uma condição se</a:t>
            </a:r>
          </a:p>
          <a:p>
            <a:r>
              <a:t>mostra falsa.</a:t>
            </a:r>
          </a:p>
          <a:p/>
          <a:p>
            <a:r>
              <a:t>Mencione que o teste</a:t>
            </a:r>
          </a:p>
          <a:p>
            <a:r>
              <a:t>test_backward_chaining_matches_forward_chaining_on_the_same_evidence</a:t>
            </a:r>
          </a:p>
          <a:p>
            <a:r>
              <a:t>verifica que os dois sentidos, com a mesma evidência, concluem o mesmo.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único momento não roteirizado da apresentação. Ensaie antes.</a:t>
            </a:r>
          </a:p>
          <a:p/>
          <a:p>
            <a:r>
              <a:t>Digite "?" numa das perguntas para mostrar o "por quê": o motor exibe a cadeia</a:t>
            </a:r>
          </a:p>
          <a:p>
            <a:r>
              <a:t>de regras que o levou até ali. Um sistema que só responde não é utilizável em</a:t>
            </a:r>
          </a:p>
          <a:p>
            <a:r>
              <a:t>operação crítica; um que mostra o caminho pode ser auditado e contestado.</a:t>
            </a:r>
          </a:p>
          <a:p/>
          <a:p>
            <a:r>
              <a:t>Aceita também uma certeza junto da resposta: "rain 0.6" informa chuva com</a:t>
            </a:r>
          </a:p>
          <a:p>
            <a:r>
              <a:t>confiança 0,6.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várias regras estão prontas, é preciso escolher. As três políticas são</a:t>
            </a:r>
          </a:p>
          <a:p>
            <a:r>
              <a:t>selecionáveis em tempo de execução — mostre com --strategy recency que a ordem</a:t>
            </a:r>
          </a:p>
          <a:p>
            <a:r>
              <a:t>de disparo muda.</a:t>
            </a:r>
          </a:p>
          <a:p/>
          <a:p>
            <a:r>
              <a:t>A afirmação a fazer, e que é verificada em teste: com regras monotônicas, a</a:t>
            </a:r>
          </a:p>
          <a:p>
            <a:r>
              <a:t>política muda a ORDEM do raciocínio, não o ponto fixo. Há teste para as duas</a:t>
            </a:r>
          </a:p>
          <a:p>
            <a:r>
              <a:t>metades: que as ordens diferem entre políticas, e que o diagnóstico final é o</a:t>
            </a:r>
          </a:p>
          <a:p>
            <a:r>
              <a:t>mesmo.</a:t>
            </a:r>
          </a:p>
          <a:p/>
          <a:p>
            <a:r>
              <a:t>Este é o diferencial barato da apresentação: a maioria dos trabalhos não trata</a:t>
            </a:r>
          </a:p>
          <a:p>
            <a:r>
              <a:t>resolução de conflito.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"como" desce recursivamente das conclusões até os fatos informados pelo</a:t>
            </a:r>
          </a:p>
          <a:p>
            <a:r>
              <a:t>usuário, citando em cada nível a regra e a justificativa em linguagem natural</a:t>
            </a:r>
          </a:p>
          <a:p>
            <a:r>
              <a:t>que ela carrega.</a:t>
            </a:r>
          </a:p>
          <a:p/>
          <a:p>
            <a:r>
              <a:t>Contraste com ELIZA, que abrimos na primeira aula: ELIZA produzia respostas</a:t>
            </a:r>
          </a:p>
          <a:p>
            <a:r>
              <a:t>convincentes sem modelo do domínio. Aqui, toda conclusão é rastreável até a</a:t>
            </a:r>
          </a:p>
          <a:p>
            <a:r>
              <a:t>regra e o fato que a sustentam. É a diferença entre parecer e poder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Oito casos, oito diagnósticos corretos. Mas o número a apontar é o de</a:t>
            </a:r>
          </a:p>
          <a:p>
            <a:r>
              <a:t>rain_fade: CF +0,56, nitidamente mais baixo que os demais.</a:t>
            </a:r>
          </a:p>
          <a:p/>
          <a:p>
            <a:r>
              <a:t>Isso não é um defeito — é o sistema admitindo que a evidência é fraca. Chuva com</a:t>
            </a:r>
          </a:p>
          <a:p>
            <a:r>
              <a:t>margem estreita é mesmo evidência fraca. Um sistema que devolvesse +0,95 nesse</a:t>
            </a:r>
          </a:p>
          <a:p>
            <a:r>
              <a:t>caso estaria mentindo.</a:t>
            </a:r>
          </a:p>
          <a:p/>
          <a:p>
            <a:r>
              <a:t>Note também as duas linhas que não exigem autorização: observar, e não agir.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1 pelos limites, e não pelos resultados.</a:t>
            </a:r>
          </a:p>
          <a:p/>
          <a:p>
            <a:r>
              <a:t>Os limiares vieram de faixas de folha de dados de rádio sub-GHz e de prática</a:t>
            </a:r>
          </a:p>
          <a:p>
            <a:r>
              <a:t>comum de telecom — são ponto de partida para calibração, não valores medidos.</a:t>
            </a:r>
          </a:p>
          <a:p/>
          <a:p>
            <a:r>
              <a:t>A decisão de projeto que importa: eles estão todos num único dicionário</a:t>
            </a:r>
          </a:p>
          <a:p>
            <a:r>
              <a:t>THRESHOLDS. Quando existir linha de base medida, ajustam-se os valores e as</a:t>
            </a:r>
          </a:p>
          <a:p>
            <a:r>
              <a:t>regras não mudam. É por isso que o bloco está declarado num lugar só.</a:t>
            </a:r>
          </a:p>
          <a:p/>
          <a:p>
            <a:r>
              <a:t>O sistema diz isso na própria saída, ao fim de cada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o sistema especialista disse o que fazer. Agora, em que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Chame a atenção para o objetivo duplo: o serviço restaurado E o registro</a:t>
            </a:r>
          </a:p>
          <a:p>
            <a:r>
              <a:t>feito. Fechar a ordem de serviço sem registrar não satisfaz o objetivo.</a:t>
            </a:r>
          </a:p>
          <a:p/>
          <a:p>
            <a:r>
              <a:t>Isso é disciplina de evidência expressa como objetivo de planejamento — a mesma</a:t>
            </a:r>
          </a:p>
          <a:p>
            <a:r>
              <a:t>lógica de um laboratório que só aceita um resultado se ele estiver registrado.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a anatomia de um operador: precondições, lista de adição, lista</a:t>
            </a:r>
          </a:p>
          <a:p>
            <a:r>
              <a:t>de remoção. À direita, a recursão do GPS.</a:t>
            </a:r>
          </a:p>
          <a:p/>
          <a:p>
            <a:r>
              <a:t>Deixe claro que STRIPS e GPS não competem: STRIPS diz COMO DESCREVER uma ação,</a:t>
            </a:r>
          </a:p>
          <a:p>
            <a:r>
              <a:t>GPS diz COMO ESCOLHER a próxima. A mesma representação STRIPS pode ser resolvida</a:t>
            </a:r>
          </a:p>
          <a:p>
            <a:r>
              <a:t>por meios-fins, por busca progressiva ou por um planejador de ordem parcial — e</a:t>
            </a:r>
          </a:p>
          <a:p>
            <a:r>
              <a:t>neste trabalho ela é resolvida de duas maneiras.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três conjuntos. Depois explique a hipótese do mundo fechado: o estado</a:t>
            </a:r>
          </a:p>
          <a:p>
            <a:r>
              <a:t>é o conjunto dos literais VERDADEIROS, e tudo o que não está lá é considerado</a:t>
            </a:r>
          </a:p>
          <a:p>
            <a:r>
              <a:t>falso. Não precisamos dizer que a antena não está desalinhada — basta não dizer</a:t>
            </a:r>
          </a:p>
          <a:p>
            <a:r>
              <a:t>que está.</a:t>
            </a:r>
          </a:p>
          <a:p/>
          <a:p>
            <a:r>
              <a:t>Isso é o que torna o estado finito e a busca tratável.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tabela inteira. Aponte três coisas:</a:t>
            </a:r>
          </a:p>
          <a:p/>
          <a:p>
            <a:r>
              <a:t>Primeiro, dispatch_crew custa 4 e replace_power_unit custa 5. Se toda ação</a:t>
            </a:r>
          </a:p>
          <a:p>
            <a:r>
              <a:t>custasse 1, planejar seria contar passos — com custos diferentes, o planejador</a:t>
            </a:r>
          </a:p>
          <a:p>
            <a:r>
              <a:t>precisa realmente pesar, e uma correção remota barata pode vencer uma correção</a:t>
            </a:r>
          </a:p>
          <a:p>
            <a:r>
              <a:t>local aparentemente mais simples.</a:t>
            </a:r>
          </a:p>
          <a:p/>
          <a:p>
            <a:r>
              <a:t>Segundo, quase toda linha exige autorização.</a:t>
            </a:r>
          </a:p>
          <a:p/>
          <a:p>
            <a:r>
              <a:t>Terceiro, monitor_and_wait é a única exceção — e isso é deliberado.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ponto de projeto mais forte do tema 2.</a:t>
            </a:r>
          </a:p>
          <a:p/>
          <a:p>
            <a:r>
              <a:t>Poderíamos ter escrito na documentação "não aja sem autorização". Em vez disso,</a:t>
            </a:r>
          </a:p>
          <a:p>
            <a:r>
              <a:t>authorized(?n) é precondição de todo operador que alcança a planta. O planejador</a:t>
            </a:r>
          </a:p>
          <a:p>
            <a:r>
              <a:t>não pode produzir um plano que aja sem autorização — não porque foi instruído a</a:t>
            </a:r>
          </a:p>
          <a:p>
            <a:r>
              <a:t>não fazê-lo, mas porque esse plano não existe no espaço de estados.</a:t>
            </a:r>
          </a:p>
          <a:p/>
          <a:p>
            <a:r>
              <a:t>Há um teste que verifica essa invariante em todos os oito diagnósticos.</a:t>
            </a:r>
          </a:p>
          <a:p/>
          <a:p>
            <a:r>
              <a:t>A única exceção é monitor_and_wait, porque observar não altera a planta.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Newell e Simon, 1959. A contribuição conceitual é dupla.</a:t>
            </a:r>
          </a:p>
          <a:p/>
          <a:p>
            <a:r>
              <a:t>Primeiro, o vocabulário: estados, operadores, objetivos, subobjetivos — que o</a:t>
            </a:r>
          </a:p>
          <a:p>
            <a:r>
              <a:t>planejamento usa até hoje.</a:t>
            </a:r>
          </a:p>
          <a:p/>
          <a:p>
            <a:r>
              <a:t>Segundo, e mais importante para nós: o porquê de cada ação fica explícito. Cada</a:t>
            </a:r>
          </a:p>
          <a:p>
            <a:r>
              <a:t>ação existe para eliminar uma diferença concreta. Compare com a saída de um</a:t>
            </a:r>
          </a:p>
          <a:p>
            <a:r>
              <a:t>solver moderno, que devolve um plano ótimo sem dizer por que cada passo está</a:t>
            </a:r>
          </a:p>
          <a:p>
            <a:r>
              <a:t>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 trace com o dedo. Cada linha "DIFERENÇA a reduzir" é uma pergunta;</a:t>
            </a:r>
          </a:p>
          <a:p>
            <a:r>
              <a:t>cada "operador candidato" é uma tentativa de resposta; e a recursão termina</a:t>
            </a:r>
          </a:p>
          <a:p>
            <a:r>
              <a:t>quando a diferença desaparece — aqui, quando descobrimos que a equipe já está na</a:t>
            </a:r>
          </a:p>
          <a:p>
            <a:r>
              <a:t>base.</a:t>
            </a:r>
          </a:p>
          <a:p/>
          <a:p>
            <a:r>
              <a:t>O plano final é a pilha desfeita na ordem inversa.</a:t>
            </a:r>
          </a:p>
          <a:p/>
          <a:p>
            <a:r>
              <a:t>$ aisg plan --diagnosis node_power_failure --node RM_A5 --solver gps --trace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as limitações você mesmo. Um trabalho que apresenta só os acertos convida</a:t>
            </a:r>
          </a:p>
          <a:p>
            <a:r>
              <a:t>a pergunta; um que apresenta os limites demonstra domínio.</a:t>
            </a:r>
          </a:p>
          <a:p/>
          <a:p>
            <a:r>
              <a:t>A anomalia de Sussman merece a explicação: alcançar o objetivo A e depois o</a:t>
            </a:r>
          </a:p>
          <a:p>
            <a:r>
              <a:t>objetivo B pode destruir A. Nossa implementação não resolve o problema — adota a</a:t>
            </a:r>
          </a:p>
          <a:p>
            <a:r>
              <a:t>defesa mínima de reverificar ao final e falhar explicitamente. Falhar de forma</a:t>
            </a:r>
          </a:p>
          <a:p>
            <a:r>
              <a:t>visível é melhor que devolver um plano que não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caso está num teste do repositório, não é hipotético:</a:t>
            </a:r>
          </a:p>
          <a:p>
            <a:r>
              <a:t>test_gps_can_be_suboptimal_when_a_cheap_action_has_expensive_preconditions.</a:t>
            </a:r>
          </a:p>
          <a:p/>
          <a:p>
            <a:r>
              <a:t>O GPS vê um operador de custo 1 e escolhe-o. Não vê que ele exige um</a:t>
            </a:r>
          </a:p>
          <a:p>
            <a:r>
              <a:t>deslocamento de custo 10. O A*, que raciocina sobre o custo acumulado do caminho</a:t>
            </a:r>
          </a:p>
          <a:p>
            <a:r>
              <a:t>inteiro, encontra o plano de custo 3.</a:t>
            </a:r>
          </a:p>
          <a:p/>
          <a:p>
            <a:r>
              <a:t>É exatamente por isso que os dois planejadores convivem no mesmo repositório: um</a:t>
            </a:r>
          </a:p>
          <a:p>
            <a:r>
              <a:t>explica, o outro garante.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Feito esse mapeamento, QUALQUER algoritmo de busca resolve o planejamento.</a:t>
            </a:r>
          </a:p>
          <a:p/>
          <a:p>
            <a:r>
              <a:t>E aqui está o ponto que liga os temas 2 e 3: a mesma função astar do terceiro</a:t>
            </a:r>
          </a:p>
          <a:p>
            <a:r>
              <a:t>trabalho resolve o planejamento. Não é uma cópia adaptada — é a mesma função,</a:t>
            </a:r>
          </a:p>
          <a:p>
            <a:r>
              <a:t>importada de aisg.search.algorithms. Uma implementação, dois espaços de estados.</a:t>
            </a:r>
          </a:p>
          <a:p/>
          <a:p>
            <a:r>
              <a:t>Se houver uma única coisa a lembrar deste tema, é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sobre honestidade técnica.</a:t>
            </a:r>
          </a:p>
          <a:p/>
          <a:p>
            <a:r>
              <a:t>Seria fácil escrever "usamos a heurística de contagem de objetivos" e seguir em</a:t>
            </a:r>
          </a:p>
          <a:p>
            <a:r>
              <a:t>frente. Mas ela só é admissível sob duas condições, e essas condições precisam</a:t>
            </a:r>
          </a:p>
          <a:p>
            <a:r>
              <a:t>ser verificadas no domínio — o que fizemos.</a:t>
            </a:r>
          </a:p>
          <a:p/>
          <a:p>
            <a:r>
              <a:t>A frase final é a que importa: uma heurística inadmissível não quebra o A*. Ele</a:t>
            </a:r>
          </a:p>
          <a:p>
            <a:r>
              <a:t>continua rodando e passa a devolver soluções subótimas SEM AVISAR. Por isso a</a:t>
            </a:r>
          </a:p>
          <a:p>
            <a:r>
              <a:t>admissibilidade se demonstra, não se presume.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Note a ordem: autorização primeiro, deslocamento depois, reparo,</a:t>
            </a:r>
          </a:p>
          <a:p>
            <a:r>
              <a:t>verificação, registro, encerramento.</a:t>
            </a:r>
          </a:p>
          <a:p/>
          <a:p>
            <a:r>
              <a:t>Sobre validação: um plano só vale se for executável passo a passo E atingir o</a:t>
            </a:r>
          </a:p>
          <a:p>
            <a:r>
              <a:t>objetivo. Plan.validate() reexecuta o plano desde o estado inicial e aponta o</a:t>
            </a:r>
          </a:p>
          <a:p>
            <a:r>
              <a:t>primeiro passo inaplicável com a precondição que faltou.</a:t>
            </a:r>
          </a:p>
          <a:p/>
          <a:p>
            <a:r>
              <a:t>Dois testes corrompem planos de propósito — um remove a autorização, outro</a:t>
            </a:r>
          </a:p>
          <a:p>
            <a:r>
              <a:t>remove o encerramento — para provar que a validação apanha os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Rode: aisg plan --diagnosis rain_fade --solver astar</a:t>
            </a:r>
          </a:p>
          <a:p/>
          <a:p>
            <a:r>
              <a:t>O plano tem quatro ações e nenhuma delas alcança a planta: monitorar, verificar,</a:t>
            </a:r>
          </a:p>
          <a:p>
            <a:r>
              <a:t>registrar, encerrar. Não há deslocamento de equipe e não há autorização, porque</a:t>
            </a:r>
          </a:p>
          <a:p>
            <a:r>
              <a:t>observar não altera nada.</a:t>
            </a:r>
          </a:p>
          <a:p/>
          <a:p>
            <a:r>
              <a:t>A causa é transitória. Intervir seria tratar o clima.</a:t>
            </a:r>
          </a:p>
          <a:p/>
          <a:p>
            <a:r>
              <a:t>Saber quando não agir é tão importante quanto saber agir — e num sistema de</a:t>
            </a:r>
          </a:p>
          <a:p>
            <a:r>
              <a:t>recomendação operacional, é a diferença entre útil e perigoso.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segundo ponto de contato entre os trabalhos, e o mais concreto.</a:t>
            </a:r>
          </a:p>
          <a:p/>
          <a:p>
            <a:r>
              <a:t>O planejador poderia simplesmente assumir que existe rota alternativa. Em vez</a:t>
            </a:r>
          </a:p>
          <a:p>
            <a:r>
              <a:t>disso, ele pergunta ao A*: existe caminho de NOC até o dispositivo de campo que</a:t>
            </a:r>
          </a:p>
          <a:p>
            <a:r>
              <a:t>não passe pelo nó congestionado? Se a resposta é não, o literal não entra no</a:t>
            </a:r>
          </a:p>
          <a:p>
            <a:r>
              <a:t>estado inicial e o desvio deixa de ser uma opção.</a:t>
            </a:r>
          </a:p>
          <a:p/>
          <a:p>
            <a:r>
              <a:t>Há teste para os dois lados: com rota e sem rota.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já usamos o A* duas vezes sem explicá-lo. Agora explicamos.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 modelo de custo antes do algoritmo, porque a prova depende dele.</a:t>
            </a:r>
          </a:p>
          <a:p/>
          <a:p>
            <a:r>
              <a:t>A velocidade é uma velocidade EFETIVA de transporte, não uma velocidade física</a:t>
            </a:r>
          </a:p>
          <a:p>
            <a:r>
              <a:t>de propagação: é uma abstração que reúne serialização, enfileiramento e o fato</a:t>
            </a:r>
          </a:p>
          <a:p>
            <a:r>
              <a:t>de que saltos de rádio mais longos operam com modulação mais robusta — e</a:t>
            </a:r>
          </a:p>
          <a:p>
            <a:r>
              <a:t>portanto mais lenta.</a:t>
            </a:r>
          </a:p>
          <a:p/>
          <a:p>
            <a:r>
              <a:t>Diga que é uma abstração. Um revisor que perceba isso sozinho vai desconfiar do</a:t>
            </a:r>
          </a:p>
          <a:p>
            <a:r>
              <a:t>resto.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o caminho ótimo com os custos salto a salto. À direita, a</a:t>
            </a:r>
          </a:p>
          <a:p>
            <a:r>
              <a:t>heurística, as duas provas, e a tabela comparativa.</a:t>
            </a:r>
          </a:p>
          <a:p/>
          <a:p>
            <a:r>
              <a:t>As duas metades de f importam: só g dá o custo uniforme, que é ótimo mas cego; só</a:t>
            </a:r>
          </a:p>
          <a:p>
            <a:r>
              <a:t>h dá a busca gulosa, que é rápida mas sem garantia. O A* é a combinação — e a</a:t>
            </a:r>
          </a:p>
          <a:p>
            <a:r>
              <a:t>tabela mostra exatamente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três pontos costumam faltar em implementações de sala de aula.</a:t>
            </a:r>
          </a:p>
          <a:p/>
          <a:p>
            <a:r>
              <a:t>O desempate importa para a reprodutibilidade: sem ele, duas execuções podem</a:t>
            </a:r>
          </a:p>
          <a:p>
            <a:r>
              <a:t>devolver caminhos diferentes de mesmo custo, e a demonstração fica instável.</a:t>
            </a:r>
          </a:p>
          <a:p/>
          <a:p>
            <a:r>
              <a:t>A reabertura é o caso geral: nossa heurística é consistente, então nunca</a:t>
            </a:r>
          </a:p>
          <a:p>
            <a:r>
              <a:t>acontece — mas tratamos, em vez de SUPOR a consistência. Supor é como se</a:t>
            </a:r>
          </a:p>
          <a:p>
            <a:r>
              <a:t>introduzem defeitos silenciosos.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momento de nível de doutorado da apresentação. Vá devagar.</a:t>
            </a:r>
          </a:p>
          <a:p/>
          <a:p>
            <a:r>
              <a:t>A chave é dividir pela velocidade MÁXIMA do sistema — a da fibra. Como nenhum</a:t>
            </a:r>
          </a:p>
          <a:p>
            <a:r>
              <a:t>enlace pode ser mais rápido que o mais rápido de todos, e como a sobrecarga</a:t>
            </a:r>
          </a:p>
          <a:p>
            <a:r>
              <a:t>nunca é negativa, cada salto custa pelo menos a distância percorrida dividida</a:t>
            </a:r>
          </a:p>
          <a:p>
            <a:r>
              <a:t>por esse máximo. A desigualdade triangular fecha o argumento.</a:t>
            </a:r>
          </a:p>
          <a:p/>
          <a:p>
            <a:r>
              <a:t>E não é acidente: o modelo de custo foi PROJETADO para que a prova se sustente.</a:t>
            </a:r>
          </a:p>
          <a:p>
            <a:r>
              <a:t>As distâncias são derivadas das coordenadas, nunca armazenadas em separado, de</a:t>
            </a:r>
          </a:p>
          <a:p>
            <a:r>
              <a:t>modo que geometria e heurística não podem divergir.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 a matemática e passe imediatamente à verificação. Não paramos no</a:t>
            </a:r>
          </a:p>
          <a:p>
            <a:r>
              <a:t>argumento: dois testes checam as duas propriedades exaustivamente, comparando</a:t>
            </a:r>
          </a:p>
          <a:p>
            <a:r>
              <a:t>contra o custo ótimo obtido por busca de custo uniforme — que não usa heurística</a:t>
            </a:r>
          </a:p>
          <a:p>
            <a:r>
              <a:t>nenhuma e serve de verdade de referência.</a:t>
            </a:r>
          </a:p>
          <a:p/>
          <a:p>
            <a:r>
              <a:t>Se alguém perguntar "como você sabe que a prova está certa?", a resposta é que a</a:t>
            </a:r>
          </a:p>
          <a:p>
            <a:r>
              <a:t>prova e o teste concordam em mais de mil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é o centro do tema 3. Leia as três lições:</a:t>
            </a:r>
          </a:p>
          <a:p/>
          <a:p>
            <a:r>
              <a:t>Primeira: a busca em largura minimiza SALTOS, não custo. Quatro saltos por 357</a:t>
            </a:r>
          </a:p>
          <a:p>
            <a:r>
              <a:t>ms, quase quatro vezes o ótimo — porque conta um salto de fibra e um salto de</a:t>
            </a:r>
          </a:p>
          <a:p>
            <a:r>
              <a:t>rádio armazena-e-encaminha como iguais.</a:t>
            </a:r>
          </a:p>
          <a:p/>
          <a:p>
            <a:r>
              <a:t>Segunda: a gulosa é a mais rápida E ESTÁ ERRADA. Cinco expansões contra onze do</a:t>
            </a:r>
          </a:p>
          <a:p>
            <a:r>
              <a:t>A*, e um caminho 3,9 vezes mais caro. É o argumento mais direto a favor do termo</a:t>
            </a:r>
          </a:p>
          <a:p>
            <a:r>
              <a:t>g(n).</a:t>
            </a:r>
          </a:p>
          <a:p/>
          <a:p>
            <a:r>
              <a:t>Terceira: o A* alcança o mesmo ótimo do custo uniforme expandindo menos nós. A</a:t>
            </a:r>
          </a:p>
          <a:p>
            <a:r>
              <a:t>heurística não muda a resposta; muda o trabalho necessário para chegar a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caminho ótimo evita inteiramente a cadeia armazena-e-encaminha e desce pela</a:t>
            </a:r>
          </a:p>
          <a:p>
            <a:r>
              <a:t>sobreposição LTE.</a:t>
            </a:r>
          </a:p>
          <a:p/>
          <a:p>
            <a:r>
              <a:t>Repare que o salto LTE domina o custo — 70 dos 92 ms. Ainda assim, é mais barato</a:t>
            </a:r>
          </a:p>
          <a:p>
            <a:r>
              <a:t>que três saltos de repetidor, cada um pagando 25 ms só de sobrecarga por</a:t>
            </a:r>
          </a:p>
          <a:p>
            <a:r>
              <a:t>terminar e retransmitir o quadro.</a:t>
            </a:r>
          </a:p>
          <a:p/>
          <a:p>
            <a:r>
              <a:t>Este é o tipo de conclusão que um operador de rede tiraria de um estudo de</a:t>
            </a:r>
          </a:p>
          <a:p>
            <a:r>
              <a:t>planejamento — e o algoritmo chegou a ela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único par pode ser sorte. Estes números somam TODOS os pares</a:t>
            </a:r>
          </a:p>
          <a:p>
            <a:r>
              <a:t>origem-objetivo de cada cenário.</a:t>
            </a:r>
          </a:p>
          <a:p/>
          <a:p>
            <a:r>
              <a:t>A economia agregada triplica ao passar de 17 para 30 nós. É o argumento prático</a:t>
            </a:r>
          </a:p>
          <a:p>
            <a:r>
              <a:t>a favor do A* quando a rede cresce: num grafo pequeno, a busca cega é barata;</a:t>
            </a:r>
          </a:p>
          <a:p>
            <a:r>
              <a:t>num grande, deixa de ser.</a:t>
            </a:r>
          </a:p>
          <a:p/>
          <a:p>
            <a:r>
              <a:t>O teste test_the_heuristic_saves_more_work_as_the_graph_grows verifica essa</a:t>
            </a:r>
          </a:p>
          <a:p>
            <a:r>
              <a:t>RELAÇÃO — que a economia cresce — e não os números específicos, que mudariam a</a:t>
            </a:r>
          </a:p>
          <a:p>
            <a:r>
              <a:t>cada ajuste na topologia.</a:t>
            </a:r>
          </a:p>
          <a:p/>
          <a:p>
            <a:r>
              <a:t>$ aisg --topology scale route --compare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Demonstre a injeção de falha ao vivo. É assim que a integração com o</a:t>
            </a:r>
          </a:p>
          <a:p>
            <a:r>
              <a:t>planejador funciona: quando o plano inclui desviar tráfego, a rota é recalculada</a:t>
            </a:r>
          </a:p>
          <a:p>
            <a:r>
              <a:t>evitando o nó afetado.</a:t>
            </a:r>
          </a:p>
          <a:p/>
          <a:p>
            <a:r>
              <a:t>O teste test_disabling_a_link_changes_the_optimal_route verifica exatamente</a:t>
            </a:r>
          </a:p>
          <a:p>
            <a:r>
              <a:t>isso: que o custo sobe e que o caminho muda.</a:t>
            </a:r>
          </a:p>
          <a:p/>
          <a:p>
            <a:r>
              <a:t>Este slide também responde a uma pergunta provável: o sistema lida com mudança?</a:t>
            </a:r>
          </a:p>
          <a:p>
            <a:r>
              <a:t>Lida — recalculando, não consultando uma tabela fixa.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3 amarrando-o ao tema 2.</a:t>
            </a:r>
          </a:p>
          <a:p/>
          <a:p>
            <a:r>
              <a:t>A busca está definida sobre um PROBLEMA ABSTRATO: estado inicial, teste de</a:t>
            </a:r>
          </a:p>
          <a:p>
            <a:r>
              <a:t>objetivo, função sucessora. Nada nela sabe o que é um nó de rede.</a:t>
            </a:r>
          </a:p>
          <a:p/>
          <a:p>
            <a:r>
              <a:t>Por isso a mesma função serve para achar um caminho num grafo de comunicação e</a:t>
            </a:r>
          </a:p>
          <a:p>
            <a:r>
              <a:t>para achar uma sequência de ações num espaço de estados de planejamento. Não há</a:t>
            </a:r>
          </a:p>
          <a:p>
            <a:r>
              <a:t>duas implementações de A* neste repositório — há uma, usada duas vezes.</a:t>
            </a:r>
          </a:p>
          <a:p/>
          <a:p>
            <a:r>
              <a:t>É o tipo de reuso que só aparece quando a abstração está certa.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Último bloco, e o único em que os três trabalhos aparecem juntos.</a:t>
            </a:r>
          </a:p>
          <a:p/>
          <a:p>
            <a:r>
              <a:t>Até aqui cada tema foi apresentado isoladamente. Agora mostre que eles formam um</a:t>
            </a:r>
          </a:p>
          <a:p>
            <a:r>
              <a:t>sistema: um incidente atravessa os três, e o que sai de um é a entrada do</a:t>
            </a:r>
          </a:p>
          <a:p>
            <a:r>
              <a:t>seguinte.</a:t>
            </a:r>
          </a:p>
          <a:p/>
          <a:p>
            <a:r>
              <a:t>Reserve tempo para as perguntas — com três temas de trinta minutos, elas tendem</a:t>
            </a:r>
          </a:p>
          <a:p>
            <a:r>
              <a:t>a concentrar-se no fim.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demonstração final. Um comando só.</a:t>
            </a:r>
          </a:p>
          <a:p/>
          <a:p>
            <a:r>
              <a:t>O sistema especialista diagnostica congestionamento. O diagnóstico vira o estado</a:t>
            </a:r>
          </a:p>
          <a:p>
            <a:r>
              <a:t>inicial do planejador. O planejador só pode propor desvio porque a busca A*</a:t>
            </a:r>
          </a:p>
          <a:p>
            <a:r>
              <a:t>CONFIRMOU que existe rota alternativa evitando o nó. E o plano sai com</a:t>
            </a:r>
          </a:p>
          <a:p>
            <a:r>
              <a:t>autorização, verificação e registro.</a:t>
            </a:r>
          </a:p>
          <a:p/>
          <a:p>
            <a:r>
              <a:t>Os três trabalhos não são três exercícios: são um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pelos limites, e não pelos resultados. É o que separa um trabalho de</a:t>
            </a:r>
          </a:p>
          <a:p>
            <a:r>
              <a:t>engenharia de uma demonstração.</a:t>
            </a:r>
          </a:p>
          <a:p/>
          <a:p>
            <a:r>
              <a:t>Cada uma destas linhas é uma afirmação que o sistema faz sobre si mesmo — a</a:t>
            </a:r>
          </a:p>
          <a:p>
            <a:r>
              <a:t>última aparece impressa ao fim de cada consulta.</a:t>
            </a:r>
          </a:p>
          <a:p/>
          <a:p>
            <a:r>
              <a:t>Se houver tempo, mencione o que vem a seguir: o sistema multiespecialista e a</a:t>
            </a:r>
          </a:p>
          <a:p>
            <a:r>
              <a:t>eco-resolução em 25/09, e a análise do artigo sobre encadeamento em 02/10.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mostre este slide na apresentação — ele é a sua cola. Deixe-o oculto ou</a:t>
            </a:r>
          </a:p>
          <a:p>
            <a:r>
              <a:t>pule-o rapidamente.</a:t>
            </a:r>
          </a:p>
          <a:p/>
          <a:p>
            <a:r>
              <a:t>Se uma pergunta não estiver aqui e você não souber, a melhor resposta é a</a:t>
            </a:r>
          </a:p>
          <a:p>
            <a:r>
              <a:t>honesta: dizer o que sabe, dizer o que não verificou, e oferecer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  <a:p/>
          <a:p>
            <a:r>
              <a:t>O repositório é público, tem 108 testes verdes em integração contínua para</a:t>
            </a:r>
          </a:p>
          <a:p>
            <a:r>
              <a:t>Python 3.10 a 3.13, documentação bilíngue, e uma wiki que liga cada conceito da</a:t>
            </a:r>
          </a:p>
          <a:p>
            <a:r>
              <a:t>disciplina ao ponto do código que o implementa.</a:t>
            </a:r>
          </a:p>
          <a:p/>
          <a:p>
            <a:r>
              <a:t>Convide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nner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920"/>
            <a:ext cx="12191695" cy="34284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"/>
              </a:rPr>
              <a:t>Sistema especialista · Planejamento automático ·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9FC6D8"/>
                </a:solidFill>
                <a:latin typeface="Segoe UI"/>
              </a:rPr>
              <a:t>Fernando Sabino Dantas  ·  Introdução à Inteligência Artificial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Os três trabalhos, um único domínio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Sistema especialista: 43 regras, encadeamento nos dois sentidos, fatores de certeza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Geração automática de planos: STRIPS, resolvido por GPS e por A* progressivo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Busca A*: caminho exato, com prova de admissibilidade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Domínio comum: a rede de comunicação de um sistema elétrico inteligente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Os três se integram: o diagnóstico vira o estado inicial do plano, e o plano consulta a busca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O domínio: backhaul de comunicação</a:t>
            </a:r>
          </a:p>
        </p:txBody>
      </p:sp>
      <p:pic>
        <p:nvPicPr>
          <p:cNvPr id="5" name="Picture 4" descr="01-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941" y="1234440"/>
            <a:ext cx="876781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17 nós no cenário base, 30 no cenário de escala. Topologia sintética.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Por que sistemas simbólicos, e não aprendizado de máquina?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Não existe, para este domínio, conjunto de dados rotulado de falhas.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Dedutivo × indutivo: a escolha depende do que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72B2"/>
                </a:solidFill>
                <a:latin typeface="Segoe UI"/>
              </a:rPr>
              <a:t>Dedutivo (regras)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do especialista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Auditável regra 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Contestável: discute-se uma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por omissão — sem conclusão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Indutivo (aprendizagem)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de exemplos rotulados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Auditabilidade variável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Difícil discutir um peso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em silêncio — conclusão errada e confiante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TEMA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Sistema especialista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Regras de produção, encadeamento progressivo e regressivo, fatores de certeza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enlace do backhaul degradou ou caiu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Duas perguntas: por quê? e o que fazer?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Oito hipóteses concorrentes de diagnóstico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resposta precisa vir com um grau de confiança, não como certeza absoluta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 sistema recomenda — não atua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Arquitetura de um sistema especialista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Base de conhecimento — fatos, regras, heurísticas do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Memória de trabalho — fatos do problema em curso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Motor de inferência — aplica as regras e conclui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Módulo de explicação — justifica as conclusões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Interface — entrada de dados e consulta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separação entre conhecimento e inferência é a característica definidora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As variáveis observáveis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2157984"/>
                <a:gridCol w="4315968"/>
              </a:tblGrid>
              <a:tr h="390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Variável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Domínio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rssi_dbm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[-120, -30] 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snr_db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[-5, 40] 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packet_loss_pct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rtt_ms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5000] 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traffic_load_pct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link_state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 | down | flapping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ok | on-battery | failed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weather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clear | rain | storm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spectrum_scan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clean | occupied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neighbours_affected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one | many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recent_change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config | firmware | antenna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vlan_trunk_ok / upstream_relay_reachable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booleana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yes | no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As 43 regras em cinco camadas</a:t>
            </a:r>
          </a:p>
        </p:txBody>
      </p:sp>
      <p:pic>
        <p:nvPicPr>
          <p:cNvPr id="5" name="Picture 4" descr="02-expert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17" y="1234440"/>
            <a:ext cx="76084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A camada 3b traz contra-evidência: regras com fator de certeza negativo.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Três regras, três papéis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R10:  SE  qualidade_do_sinal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   varredura_de_espectro = occupied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rf_interference          (CF +0,85)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R25:  SE  clima = clear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rain_fade                (CF -0,80)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&lt;- contra-evidência: torna a hipótese MENOS provável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R36:  SE  ação_recomendada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exige_autorização = yes                (CF +1,00)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Fatores de certeza: a álgebra do MYCIN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está em [-1, +1]:  +1 confirmado   -1 refutado   0 sem evidência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premissa    = MÍNIMO entre as condições      (o elo mais fraco)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conclusão   = CF da premissa  ×  CF da regra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disparo           = só acima do limiar 0,2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combinação de duas conclusões independentes: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&gt;= 0        cf1 + cf2 × (1 -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&lt;= 0        cf1 + cf2 × (1 +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sinais opostos    (cf1 + cf2) / (1 - min(|cf1|, |cf2|))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606D"/>
                </a:solidFill>
                <a:latin typeface="Segoe UI"/>
              </a:rPr>
              <a:t>O mínimo modela o elo mais fraco: uma premissa não é mais forte que sua condição mais fraca.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progressivo — dirigido por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dos fatos e deriva tudo o que puder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Ciclo reconhecer-agir: monta o conjunto de conflito, resolve, dispara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regra por ciclo — e não todas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assim a ordem do raciocínio fica visível no trace, e a resolução de conflito tem efeito observável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alarme de monitoramento: chega telemetria, o sistema conclui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encadeamento progressivo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--case interference --trace --explain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R01: premissa CF +1,00 × regra CF +0,90 =&gt; signal_quality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R10: premissa CF +0,90 × regra CF +0,85 =&gt; diagnosis = rf_interference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R28: premissa CF +0,93 × regra CF +0,90 =&gt; ação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R36: premissa CF +0,84 × regra CF +1,00 =&gt; autorização = yes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rf_interference        CF +0,93  ###################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rain_fade              CF -0,80  -################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regressivo — dirigido por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da pergunta “o diagnóstico é X?” e busca só a evidência que a sustenta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do Expert SINTA — e o modo do engenheiro às duas da manhã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Curto-circuito: condição falsa abandona a regra — as demais NÃO são perguntadas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Corte por suficiência: objetivo com CF ≥ 0,9 encerra a busca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Resultado: o caso de falha de energia conclui com 6 de 13 perguntas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consulta guiada por objetivo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--interactive --mode backward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o estado do enlace [up, down, flapping]?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(Enter = não sei)   ('?' = por quê)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down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a situação de alimentação do nó [ok, on-battery, failed]?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Por que esta pergunta está sendo feita: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R16: SE alimentação_do_nó = failed ENTÃO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 node_power_failure (CF +0,95)  —  6 de 13 perguntas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Resolução de conflito: qual regra dispara primeiro?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198"/>
                <a:gridCol w="4449451"/>
                <a:gridCol w="389327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Política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Critério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Efeito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first-match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Ordem de declaração na 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Previsível, ingênua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Mais condições primeiro (padrão)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Prefere a regra mais informada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Fatos mais recentes primeiro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Segue a evidência nova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Explicação: como a conclusão foi obtida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 = node_power_failure (CF +0,95, R16)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&lt;= R16: SE alimentação_do_nó =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ENTÃO diagnóstico =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Falha de alimentação explica a perda do nó independentemente do rádio.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alimentação_do_nó = failed (CF +1,00, fato inicial)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oito casos de demonstração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692"/>
                <a:gridCol w="3055552"/>
                <a:gridCol w="1050346"/>
                <a:gridCol w="3151038"/>
                <a:gridCol w="143229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Caso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Diagnóstico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CF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Ação recomendada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Autoriza?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rf_interference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path_obstruction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+0,56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wait_and_monitor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dispatch_power_team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upstream_relay_failure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restore_upstream_relay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vlan_misconfiguration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fix_vlan_allowlist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no_action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Os limiares são nominais e não calibrados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Reunidos num único bloco, para que a calibração futura ajuste valores sem reescrever regras.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9E73"/>
                </a:solidFill>
                <a:latin typeface="Segoe UI"/>
              </a:rPr>
              <a:t>TEMA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Geração automática de planos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STRIPS, GPS por análise meios-fins, e planejamento como busca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problema: sequenciamento sob restrições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diagnóstico já foi feito e a ação já foi recomendada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Falta decidir em que sequência executá-la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equipe não realinha uma antena antes de chegar ao local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Nada toca a planta antes da autorização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Objetivo: service-restored(N) E logged(N)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evidência faz parte do objetivo — não é um extra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STRIPS: a representação, e GPS: a estratégia</a:t>
            </a:r>
          </a:p>
        </p:txBody>
      </p:sp>
      <p:pic>
        <p:nvPicPr>
          <p:cNvPr id="5" name="Picture 4" descr="03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136" y="1234440"/>
            <a:ext cx="739542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Três conjuntos definem uma ação. O estado é o conjunto dos literais verdadeiros.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operador STRIPS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realign_antenna(?n)                                custo 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  authorized(?n)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crew-at(?n)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adiciona:     + fault-cleared(?n)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remove:       -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estado = { diagnosed(N), crew-at(BASE), misaligned(N) }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hipótese do mundo fechado: o que não está no conjunto é falso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doze operadores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6860"/>
                <a:gridCol w="1116198"/>
                <a:gridCol w="2046364"/>
                <a:gridCol w="279049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Equipe no local?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Autorização?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request_authorization(?n)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dispatch_crew(?from, ?to)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replace_power_unit(?n)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restore_relay(?n)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+ rota alternativa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monitor_and_wait(?n)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verify_link / record_logbook / close_work_order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Governança como precondição, não como recomendação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Agir sem autorização não é desaconselhado: é um estado INALCANÇÁVEL.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GPS: análise meios-fins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Olhe a DIFERENÇA entre o estado atual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Escolha um operador que REDUZA essa diferença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Recursivamente, satisfaça as precondições desse operador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Aplique o operador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Toda ação existe para eliminar uma diferença concreta — por isso o trace se lê como justificativa, não como log de busca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trace do GPS: uma justificativa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DIFERENÇA a reduzir: service-restored(RM_A5)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operador candidato: close_work_order(RM_A5)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link-up(RM_A5), logged(RM_A5)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DIFERENÇA a reduzir: link-up(RM_A5)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operador candidato: verify_link(RM_A5)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DIFERENÇA a reduzir: fault-cleared(RM_A5)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operador candidato: replace_power_unit(RM_A5)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DIFERENÇA a reduzir: crew-at(RM_A5)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APLICA dispatch_crew(BASE, 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já satisfeito: crew-at(BASE)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As limitações do GPS — ditas antes que perguntem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GPS não é completo nem ótimo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Adota o primeiro operador que reduz a diferença; só revisa por retrocesso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Anomalia de Sussman: com subobjetivos que interagem, atingir um pode desfazer outro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Nossa defesa mínima: reverificar os subobjetivos ao final e falhar explicitamente, em vez de devolver plano inválido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não-otimalidade do GPS, demonstrada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O GPS ordena os operadores pelo custo PRÓPRIO,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olhar o custo das PRECONDIÇÕES.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conserto_barato_no_local   custo  1   exige: on-site(N)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deslocar_equipe            custo 10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conserto_remoto            custo  3   exige: nada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GPS:  deslocar_equipe (10) + conserto_barato (1)   =  custo 11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A* :  conserto_remoto (3)                          =  custo 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Planejamento é busca: o mesmo problema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6473952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Busca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Planejamento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conjunto de literais verdadeiros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ação sucessora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qualquer ação aplicável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do passo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da 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teste de objetivo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objetivo está contido no estado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 heurística do planejador, e sua condição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goal_count: h(s) = número de literais do objetivo ainda não satisfeitos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Admissível APENAS SE nenhuma ação satisfaz mais de um literal do objetivo e toda ação custa ao menos 1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Neste domínio a condição vale: service-restored e logged vêm de operadores diferentes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Declaramos a condição em vez de supô-la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heurística inadmissível custaria a otimalidade em silêncio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os dois planejadores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plan --diagnosis node_power_failure --node RM_A5 --solver both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1. request_authorization(RM_A5)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2. dispatch_crew(BASE, RM_A5)     [4]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3. replace_power_unit(RM_A5)      [5]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4. verify_link(RM_A5)   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5. record_logbook(RM_A5)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6. close_work_order(RM_A5)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 total: 13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Validação: o plano é executável e atinge o objetivo.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 sistema também sabe quando NÃO agir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Para atenuação por chuva, o plano correto não toca a planta e não desloca equipe.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Integração com a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reroute_traffic exige o literal alternate-route(?n)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Esse literal NÃO é inventado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Quando o diagnóstico é congestionamento, o planejador consulta o A* sobre a topologia, evitando o nó afetado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Se não houver rota, a ação fica inaplicável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e o planejador falha honestamente, em vez de propor um desvio impossível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69F00"/>
                </a:solidFill>
                <a:latin typeface="Segoe UI"/>
              </a:rPr>
              <a:t>TEMA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Busca A*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f(n) = g(n) + h(n), prova de admissibilidade, e comparação entre estratégias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Qual o caminho de menor custo de transporte entre dois nós?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requisito da disciplina é explícito: retornar o CAMINHO EXATO entre o estado inicial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custo(u,v) = sobrecarga(tipo) + distância / (velocidade(tipo) × qualidade)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repetidor armazena-e-encaminha TERMINA e retransmite o quadro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por isso paga 25 ms de sobrecarga, contra 0,5 ms da fibra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f(n) = g(n) + h(n)</a:t>
            </a:r>
          </a:p>
        </p:txBody>
      </p:sp>
      <p:pic>
        <p:nvPicPr>
          <p:cNvPr id="5" name="Picture 4" descr="04-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888" y="1234440"/>
            <a:ext cx="6915919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O caminho ótimo evita inteiramente a cadeia armazena-e-encaminha.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Três detalhes que separam um A* correto de um A* de brinquedo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Desempate: empates em f resolvem-se preferindo o maior g, depois a ordem de inserção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 execuções ficam reprodutíveis — importante numa apresentação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Reabertura: um estado fechado é reaberto se surgir caminho mais barato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com heurística consistente isso nunca ocorre, mas tratamos o caso geral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Custos negativos são recusados com erro explícito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admissibilidade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h(n) = distância_em_linha_reta(n, objetivo)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Como  sobrecarga &gt;= 0,  qualidade &lt;= 1,  velocidade(tipo) &lt;=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custo(u,v)  &gt;=  d(u,v)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Somando ao longo de qualquer caminho de n até o objetivo, o custo total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é ao menos a distância TOTAL PERCORRIDA dividida pela velocidade máxima.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triangular, a distância percorrida é ao menos a linha reta.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custo_ótimo(n)  &gt;=  h(n)          admissível   ∎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consistência, e a verificação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d(u, objetivo)  &lt;=  d(u,v) + d(v, objetivo)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Dividindo pela velocidade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h(u)  &lt;=  custo(u,v) + h(v)       consistente   ∎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 consistência implica a admissibilidade,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e garante que nenhum nó precise ser reaberto.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VERIFICADO, não apenas argumentado: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272 pares no cenário base + 870 no de escala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todas as arestas, todos os objetivos — zero violações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Cinco estratégias, o mesmo problema: NOC → RECLOSER_7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7013"/>
                <a:gridCol w="1398693"/>
                <a:gridCol w="1998133"/>
                <a:gridCol w="1998133"/>
                <a:gridCol w="219794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Estratégia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Passos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(ms)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Ótimo?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Largura (BFS)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só em passos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Profundidade (DFS)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343,06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Gulosa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A*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caminho ótimo, salto a salto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-&gt; LTE_ENB -&gt; RM_A5 -&gt; RECLOSER_7        92,22 ms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salto                  meio                 qual.   custo    acum.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       ethernet local        1,00     5,99     5,99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LTE_CORE -&gt; LTE_ENB    fibra óptica          0,95    10,55    16,54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LTE_ENB -&gt; RM_A5       LTE privativo         0,80    69,94    86,48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RM_A5 -&gt; RECLOSER_7    ethernet local        1,00     5,74    92,22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vantagem da heurística cresce com o grafo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7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562"/>
                <a:gridCol w="1325077"/>
                <a:gridCol w="2650155"/>
                <a:gridCol w="2650155"/>
                <a:gridCol w="1892968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Nós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A* 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Economia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1 382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1 519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9,0 %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escala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5 571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7 657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27,2 %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Falha e recálculo de rota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route --from NOC --to RECLOSER_7 --disable-link LTE_ENB-RM_A5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antes : 92,22 ms   NOC -&gt; LTE_CORE -&gt; LTE_ENB -&gt; RM_A5 -&gt;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depois: ~357 ms    NOC -&gt; AP_B -&gt; RM_B3 -&gt; SAF_A2 -&gt;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a sobreposição LTE, o caminho passa a usar a cadeia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armazena-e-encaminha — e o custo quase quadruplica.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Uma implementação, dois espaços de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 mesma função astar() resolve o roteamento na rede e o planejamento de ações.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Integração e 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Os três sistemas num único incidente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5 minutos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comando, os três sistemas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pipeline --case congestion --node SAF_A2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1/3  diagnóstico ......... congestion (CF +0,89)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ação recomendada .... reroute_traffic (CF +0,71)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2/3  rota alternativa confirmada pelo A*: True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plano com 5 ações, custo 6, validado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3/3  rota evitando SAF_A2: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NOC -&gt; LTE_CORE -&gt; LTE_ENB -&gt; RM_A5 -&gt; RECLOSER_7   92,22 ms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Limites de validade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topologia é sintética — não representa nenhuma instalação real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Os limiares são nominais e não calibrados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Não existe conjunto de dados rotulado de falhas para este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sistema recomenda, não atua — no planejador isso não é conselho: é precondição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conclusão obtida aqui vale para ESTE MODELO, não para uma planta física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Perguntas prováveis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2142"/>
                <a:gridCol w="6567777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Pergunta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Resposta curta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não aprendizado de máquina?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 há dados rotulados de falha, nem como produzi-los sem instrumento de degradação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Como escolhe entre regras concorrentes?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Três políticas selecionáveis; a padrão é especificidade. Muda a ordem, não a conclusão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heurística é admissível?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— prova por desigualdade triangular e verificação exaustiva em teste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GPS sempre acha o melhor plano?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Não. Há um teste que exibe um caso concreto de não-otimalidade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 banco de dados?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Nenhum. JSON versionado, regras em código, memória de trabalho em 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 se não houver rota alternativa?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ação fica inaplicável e o planejador falha honestamente. Há teste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CF e não probabilidade?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CF não exige priors nem independência condicional — que sem dados não se estimam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github.com/fsd-dantas/ai-for-smartgrids   ·   108 testes   ·   wiki com a teoria da disciplina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