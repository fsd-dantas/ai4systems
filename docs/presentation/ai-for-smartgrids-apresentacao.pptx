
<file path=[Content_Types].xml><?xml version="1.0" encoding="utf-8"?>
<Types xmlns="http://schemas.openxmlformats.org/package/2006/content-types">
  <Default Extension="bin" ContentType="application/vnd.openxmlformats-officedocument.presentationml.printerSettings"/>
  <Default Extension="jpeg" ContentType="image/jpeg"/>
  <Default Extension="png" ContentType="image/png"/>
  <Default Extension="rels" ContentType="application/vnd.openxmlformats-package.relationships+xml"/>
  <Default Extension="xml" ContentType="application/xml"/>
  <Override PartName="/docProps/app.xml" ContentType="application/vnd.openxmlformats-officedocument.extended-properties+xml"/>
  <Override PartName="/docProps/core.xml" ContentType="application/vnd.openxmlformats-package.core-properties+xml"/>
  <Override PartName="/ppt/notesMasters/notesMaster1.xml" ContentType="application/vnd.openxmlformats-officedocument.presentationml.notesMaster+xml"/>
  <Override PartName="/ppt/notesSlides/notesSlide1.xml" ContentType="application/vnd.openxmlformats-officedocument.presentationml.notesSlide+xml"/>
  <Override PartName="/ppt/notesSlides/notesSlide10.xml" ContentType="application/vnd.openxmlformats-officedocument.presentationml.notesSlide+xml"/>
  <Override PartName="/ppt/notesSlides/notesSlide11.xml" ContentType="application/vnd.openxmlformats-officedocument.presentationml.notesSlide+xml"/>
  <Override PartName="/ppt/notesSlides/notesSlide12.xml" ContentType="application/vnd.openxmlformats-officedocument.presentationml.notesSlide+xml"/>
  <Override PartName="/ppt/notesSlides/notesSlide13.xml" ContentType="application/vnd.openxmlformats-officedocument.presentationml.notesSlide+xml"/>
  <Override PartName="/ppt/notesSlides/notesSlide14.xml" ContentType="application/vnd.openxmlformats-officedocument.presentationml.notesSlide+xml"/>
  <Override PartName="/ppt/notesSlides/notesSlide15.xml" ContentType="application/vnd.openxmlformats-officedocument.presentationml.notesSlide+xml"/>
  <Override PartName="/ppt/notesSlides/notesSlide16.xml" ContentType="application/vnd.openxmlformats-officedocument.presentationml.notesSlide+xml"/>
  <Override PartName="/ppt/notesSlides/notesSlide17.xml" ContentType="application/vnd.openxmlformats-officedocument.presentationml.notesSlide+xml"/>
  <Override PartName="/ppt/notesSlides/notesSlide18.xml" ContentType="application/vnd.openxmlformats-officedocument.presentationml.notesSlide+xml"/>
  <Override PartName="/ppt/notesSlides/notesSlide19.xml" ContentType="application/vnd.openxmlformats-officedocument.presentationml.notesSlide+xml"/>
  <Override PartName="/ppt/notesSlides/notesSlide2.xml" ContentType="application/vnd.openxmlformats-officedocument.presentationml.notesSlide+xml"/>
  <Override PartName="/ppt/notesSlides/notesSlide20.xml" ContentType="application/vnd.openxmlformats-officedocument.presentationml.notesSlide+xml"/>
  <Override PartName="/ppt/notesSlides/notesSlide21.xml" ContentType="application/vnd.openxmlformats-officedocument.presentationml.notesSlide+xml"/>
  <Override PartName="/ppt/notesSlides/notesSlide22.xml" ContentType="application/vnd.openxmlformats-officedocument.presentationml.notesSlide+xml"/>
  <Override PartName="/ppt/notesSlides/notesSlide23.xml" ContentType="application/vnd.openxmlformats-officedocument.presentationml.notesSlide+xml"/>
  <Override PartName="/ppt/notesSlides/notesSlide24.xml" ContentType="application/vnd.openxmlformats-officedocument.presentationml.notesSlide+xml"/>
  <Override PartName="/ppt/notesSlides/notesSlide25.xml" ContentType="application/vnd.openxmlformats-officedocument.presentationml.notesSlide+xml"/>
  <Override PartName="/ppt/notesSlides/notesSlide26.xml" ContentType="application/vnd.openxmlformats-officedocument.presentationml.notesSlide+xml"/>
  <Override PartName="/ppt/notesSlides/notesSlide27.xml" ContentType="application/vnd.openxmlformats-officedocument.presentationml.notesSlide+xml"/>
  <Override PartName="/ppt/notesSlides/notesSlide28.xml" ContentType="application/vnd.openxmlformats-officedocument.presentationml.notesSlide+xml"/>
  <Override PartName="/ppt/notesSlides/notesSlide29.xml" ContentType="application/vnd.openxmlformats-officedocument.presentationml.notesSlide+xml"/>
  <Override PartName="/ppt/notesSlides/notesSlide3.xml" ContentType="application/vnd.openxmlformats-officedocument.presentationml.notesSlide+xml"/>
  <Override PartName="/ppt/notesSlides/notesSlide30.xml" ContentType="application/vnd.openxmlformats-officedocument.presentationml.notesSlide+xml"/>
  <Override PartName="/ppt/notesSlides/notesSlide31.xml" ContentType="application/vnd.openxmlformats-officedocument.presentationml.notesSlide+xml"/>
  <Override PartName="/ppt/notesSlides/notesSlide32.xml" ContentType="application/vnd.openxmlformats-officedocument.presentationml.notesSlide+xml"/>
  <Override PartName="/ppt/notesSlides/notesSlide33.xml" ContentType="application/vnd.openxmlformats-officedocument.presentationml.notesSlide+xml"/>
  <Override PartName="/ppt/notesSlides/notesSlide34.xml" ContentType="application/vnd.openxmlformats-officedocument.presentationml.notesSlide+xml"/>
  <Override PartName="/ppt/notesSlides/notesSlide35.xml" ContentType="application/vnd.openxmlformats-officedocument.presentationml.notesSlide+xml"/>
  <Override PartName="/ppt/notesSlides/notesSlide36.xml" ContentType="application/vnd.openxmlformats-officedocument.presentationml.notesSlide+xml"/>
  <Override PartName="/ppt/notesSlides/notesSlide37.xml" ContentType="application/vnd.openxmlformats-officedocument.presentationml.notesSlide+xml"/>
  <Override PartName="/ppt/notesSlides/notesSlide38.xml" ContentType="application/vnd.openxmlformats-officedocument.presentationml.notesSlide+xml"/>
  <Override PartName="/ppt/notesSlides/notesSlide39.xml" ContentType="application/vnd.openxmlformats-officedocument.presentationml.notesSlide+xml"/>
  <Override PartName="/ppt/notesSlides/notesSlide4.xml" ContentType="application/vnd.openxmlformats-officedocument.presentationml.notesSlide+xml"/>
  <Override PartName="/ppt/notesSlides/notesSlide40.xml" ContentType="application/vnd.openxmlformats-officedocument.presentationml.notesSlide+xml"/>
  <Override PartName="/ppt/notesSlides/notesSlide41.xml" ContentType="application/vnd.openxmlformats-officedocument.presentationml.notesSlide+xml"/>
  <Override PartName="/ppt/notesSlides/notesSlide42.xml" ContentType="application/vnd.openxmlformats-officedocument.presentationml.notesSlide+xml"/>
  <Override PartName="/ppt/notesSlides/notesSlide43.xml" ContentType="application/vnd.openxmlformats-officedocument.presentationml.notesSlide+xml"/>
  <Override PartName="/ppt/notesSlides/notesSlide44.xml" ContentType="application/vnd.openxmlformats-officedocument.presentationml.notesSlide+xml"/>
  <Override PartName="/ppt/notesSlides/notesSlide45.xml" ContentType="application/vnd.openxmlformats-officedocument.presentationml.notesSlide+xml"/>
  <Override PartName="/ppt/notesSlides/notesSlide46.xml" ContentType="application/vnd.openxmlformats-officedocument.presentationml.notesSlide+xml"/>
  <Override PartName="/ppt/notesSlides/notesSlide47.xml" ContentType="application/vnd.openxmlformats-officedocument.presentationml.notesSlide+xml"/>
  <Override PartName="/ppt/notesSlides/notesSlide48.xml" ContentType="application/vnd.openxmlformats-officedocument.presentationml.notesSlide+xml"/>
  <Override PartName="/ppt/notesSlides/notesSlide49.xml" ContentType="application/vnd.openxmlformats-officedocument.presentationml.notesSlide+xml"/>
  <Override PartName="/ppt/notesSlides/notesSlide5.xml" ContentType="application/vnd.openxmlformats-officedocument.presentationml.notesSlide+xml"/>
  <Override PartName="/ppt/notesSlides/notesSlide50.xml" ContentType="application/vnd.openxmlformats-officedocument.presentationml.notesSlide+xml"/>
  <Override PartName="/ppt/notesSlides/notesSlide51.xml" ContentType="application/vnd.openxmlformats-officedocument.presentationml.notesSlide+xml"/>
  <Override PartName="/ppt/notesSlides/notesSlide52.xml" ContentType="application/vnd.openxmlformats-officedocument.presentationml.notesSlide+xml"/>
  <Override PartName="/ppt/notesSlides/notesSlide53.xml" ContentType="application/vnd.openxmlformats-officedocument.presentationml.notesSlide+xml"/>
  <Override PartName="/ppt/notesSlides/notesSlide54.xml" ContentType="application/vnd.openxmlformats-officedocument.presentationml.notesSlide+xml"/>
  <Override PartName="/ppt/notesSlides/notesSlide6.xml" ContentType="application/vnd.openxmlformats-officedocument.presentationml.notesSlide+xml"/>
  <Override PartName="/ppt/notesSlides/notesSlide7.xml" ContentType="application/vnd.openxmlformats-officedocument.presentationml.notesSlide+xml"/>
  <Override PartName="/ppt/notesSlides/notesSlide8.xml" ContentType="application/vnd.openxmlformats-officedocument.presentationml.notesSlide+xml"/>
  <Override PartName="/ppt/notesSlides/notesSlide9.xml" ContentType="application/vnd.openxmlformats-officedocument.presentationml.notesSlide+xml"/>
  <Override PartName="/ppt/presProps.xml" ContentType="application/vnd.openxmlformats-officedocument.presentationml.presProps+xml"/>
  <Override PartName="/ppt/presentation.xml" ContentType="application/vnd.openxmlformats-officedocument.presentationml.presentation.main+xml"/>
  <Override PartName="/ppt/slideLayouts/slideLayout1.xml" ContentType="application/vnd.openxmlformats-officedocument.presentationml.slideLayout+xml"/>
  <Override PartName="/ppt/slideLayouts/slideLayout10.xml" ContentType="application/vnd.openxmlformats-officedocument.presentationml.slideLayout+xml"/>
  <Override PartName="/ppt/slideLayouts/slideLayout11.xml" ContentType="application/vnd.openxmlformats-officedocument.presentationml.slideLayout+xml"/>
  <Override PartName="/ppt/slideLayouts/slideLayout2.xml" ContentType="application/vnd.openxmlformats-officedocument.presentationml.slideLayout+xml"/>
  <Override PartName="/ppt/slideLayouts/slideLayout3.xml" ContentType="application/vnd.openxmlformats-officedocument.presentationml.slideLayout+xml"/>
  <Override PartName="/ppt/slideLayouts/slideLayout4.xml" ContentType="application/vnd.openxmlformats-officedocument.presentationml.slideLayout+xml"/>
  <Override PartName="/ppt/slideLayouts/slideLayout5.xml" ContentType="application/vnd.openxmlformats-officedocument.presentationml.slideLayout+xml"/>
  <Override PartName="/ppt/slideLayouts/slideLayout6.xml" ContentType="application/vnd.openxmlformats-officedocument.presentationml.slideLayout+xml"/>
  <Override PartName="/ppt/slideLayouts/slideLayout7.xml" ContentType="application/vnd.openxmlformats-officedocument.presentationml.slideLayout+xml"/>
  <Override PartName="/ppt/slideLayouts/slideLayout8.xml" ContentType="application/vnd.openxmlformats-officedocument.presentationml.slideLayout+xml"/>
  <Override PartName="/ppt/slideLayouts/slideLayout9.xml" ContentType="application/vnd.openxmlformats-officedocument.presentationml.slideLayout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slides/slide10.xml" ContentType="application/vnd.openxmlformats-officedocument.presentationml.slide+xml"/>
  <Override PartName="/ppt/slides/slide11.xml" ContentType="application/vnd.openxmlformats-officedocument.presentationml.slide+xml"/>
  <Override PartName="/ppt/slides/slide12.xml" ContentType="application/vnd.openxmlformats-officedocument.presentationml.slide+xml"/>
  <Override PartName="/ppt/slides/slide13.xml" ContentType="application/vnd.openxmlformats-officedocument.presentationml.slide+xml"/>
  <Override PartName="/ppt/slides/slide14.xml" ContentType="application/vnd.openxmlformats-officedocument.presentationml.slide+xml"/>
  <Override PartName="/ppt/slides/slide15.xml" ContentType="application/vnd.openxmlformats-officedocument.presentationml.slide+xml"/>
  <Override PartName="/ppt/slides/slide16.xml" ContentType="application/vnd.openxmlformats-officedocument.presentationml.slide+xml"/>
  <Override PartName="/ppt/slides/slide17.xml" ContentType="application/vnd.openxmlformats-officedocument.presentationml.slide+xml"/>
  <Override PartName="/ppt/slides/slide18.xml" ContentType="application/vnd.openxmlformats-officedocument.presentationml.slide+xml"/>
  <Override PartName="/ppt/slides/slide19.xml" ContentType="application/vnd.openxmlformats-officedocument.presentationml.slide+xml"/>
  <Override PartName="/ppt/slides/slide2.xml" ContentType="application/vnd.openxmlformats-officedocument.presentationml.slide+xml"/>
  <Override PartName="/ppt/slides/slide20.xml" ContentType="application/vnd.openxmlformats-officedocument.presentationml.slide+xml"/>
  <Override PartName="/ppt/slides/slide21.xml" ContentType="application/vnd.openxmlformats-officedocument.presentationml.slide+xml"/>
  <Override PartName="/ppt/slides/slide22.xml" ContentType="application/vnd.openxmlformats-officedocument.presentationml.slide+xml"/>
  <Override PartName="/ppt/slides/slide23.xml" ContentType="application/vnd.openxmlformats-officedocument.presentationml.slide+xml"/>
  <Override PartName="/ppt/slides/slide24.xml" ContentType="application/vnd.openxmlformats-officedocument.presentationml.slide+xml"/>
  <Override PartName="/ppt/slides/slide25.xml" ContentType="application/vnd.openxmlformats-officedocument.presentationml.slide+xml"/>
  <Override PartName="/ppt/slides/slide26.xml" ContentType="application/vnd.openxmlformats-officedocument.presentationml.slide+xml"/>
  <Override PartName="/ppt/slides/slide27.xml" ContentType="application/vnd.openxmlformats-officedocument.presentationml.slide+xml"/>
  <Override PartName="/ppt/slides/slide28.xml" ContentType="application/vnd.openxmlformats-officedocument.presentationml.slide+xml"/>
  <Override PartName="/ppt/slides/slide29.xml" ContentType="application/vnd.openxmlformats-officedocument.presentationml.slide+xml"/>
  <Override PartName="/ppt/slides/slide3.xml" ContentType="application/vnd.openxmlformats-officedocument.presentationml.slide+xml"/>
  <Override PartName="/ppt/slides/slide30.xml" ContentType="application/vnd.openxmlformats-officedocument.presentationml.slide+xml"/>
  <Override PartName="/ppt/slides/slide31.xml" ContentType="application/vnd.openxmlformats-officedocument.presentationml.slide+xml"/>
  <Override PartName="/ppt/slides/slide32.xml" ContentType="application/vnd.openxmlformats-officedocument.presentationml.slide+xml"/>
  <Override PartName="/ppt/slides/slide33.xml" ContentType="application/vnd.openxmlformats-officedocument.presentationml.slide+xml"/>
  <Override PartName="/ppt/slides/slide34.xml" ContentType="application/vnd.openxmlformats-officedocument.presentationml.slide+xml"/>
  <Override PartName="/ppt/slides/slide35.xml" ContentType="application/vnd.openxmlformats-officedocument.presentationml.slide+xml"/>
  <Override PartName="/ppt/slides/slide36.xml" ContentType="application/vnd.openxmlformats-officedocument.presentationml.slide+xml"/>
  <Override PartName="/ppt/slides/slide37.xml" ContentType="application/vnd.openxmlformats-officedocument.presentationml.slide+xml"/>
  <Override PartName="/ppt/slides/slide38.xml" ContentType="application/vnd.openxmlformats-officedocument.presentationml.slide+xml"/>
  <Override PartName="/ppt/slides/slide39.xml" ContentType="application/vnd.openxmlformats-officedocument.presentationml.slide+xml"/>
  <Override PartName="/ppt/slides/slide4.xml" ContentType="application/vnd.openxmlformats-officedocument.presentationml.slide+xml"/>
  <Override PartName="/ppt/slides/slide40.xml" ContentType="application/vnd.openxmlformats-officedocument.presentationml.slide+xml"/>
  <Override PartName="/ppt/slides/slide41.xml" ContentType="application/vnd.openxmlformats-officedocument.presentationml.slide+xml"/>
  <Override PartName="/ppt/slides/slide42.xml" ContentType="application/vnd.openxmlformats-officedocument.presentationml.slide+xml"/>
  <Override PartName="/ppt/slides/slide43.xml" ContentType="application/vnd.openxmlformats-officedocument.presentationml.slide+xml"/>
  <Override PartName="/ppt/slides/slide44.xml" ContentType="application/vnd.openxmlformats-officedocument.presentationml.slide+xml"/>
  <Override PartName="/ppt/slides/slide45.xml" ContentType="application/vnd.openxmlformats-officedocument.presentationml.slide+xml"/>
  <Override PartName="/ppt/slides/slide46.xml" ContentType="application/vnd.openxmlformats-officedocument.presentationml.slide+xml"/>
  <Override PartName="/ppt/slides/slide47.xml" ContentType="application/vnd.openxmlformats-officedocument.presentationml.slide+xml"/>
  <Override PartName="/ppt/slides/slide48.xml" ContentType="application/vnd.openxmlformats-officedocument.presentationml.slide+xml"/>
  <Override PartName="/ppt/slides/slide49.xml" ContentType="application/vnd.openxmlformats-officedocument.presentationml.slide+xml"/>
  <Override PartName="/ppt/slides/slide5.xml" ContentType="application/vnd.openxmlformats-officedocument.presentationml.slide+xml"/>
  <Override PartName="/ppt/slides/slide50.xml" ContentType="application/vnd.openxmlformats-officedocument.presentationml.slide+xml"/>
  <Override PartName="/ppt/slides/slide51.xml" ContentType="application/vnd.openxmlformats-officedocument.presentationml.slide+xml"/>
  <Override PartName="/ppt/slides/slide52.xml" ContentType="application/vnd.openxmlformats-officedocument.presentationml.slide+xml"/>
  <Override PartName="/ppt/slides/slide53.xml" ContentType="application/vnd.openxmlformats-officedocument.presentationml.slide+xml"/>
  <Override PartName="/ppt/slides/slide54.xml" ContentType="application/vnd.openxmlformats-officedocument.presentationml.slide+xml"/>
  <Override PartName="/ppt/slides/slide6.xml" ContentType="application/vnd.openxmlformats-officedocument.presentationml.slide+xml"/>
  <Override PartName="/ppt/slides/slide7.xml" ContentType="application/vnd.openxmlformats-officedocument.presentationml.slide+xml"/>
  <Override PartName="/ppt/slides/slide8.xml" ContentType="application/vnd.openxmlformats-officedocument.presentationml.slide+xml"/>
  <Override PartName="/ppt/slides/slide9.xml" ContentType="application/vnd.openxmlformats-officedocument.presentationml.slide+xml"/>
  <Override PartName="/ppt/tableStyles.xml" ContentType="application/vnd.openxmlformats-officedocument.presentationml.tableStyles+xml"/>
  <Override PartName="/ppt/theme/theme1.xml" ContentType="application/vnd.openxmlformats-officedocument.theme+xml"/>
  <Override PartName="/ppt/theme/theme2.xml" ContentType="application/vnd.openxmlformats-officedocument.theme+xml"/>
  <Override PartName="/ppt/viewProps.xml" ContentType="application/vnd.openxmlformats-officedocument.presentationml.viewProps+xml"/>
</Types>
</file>

<file path=_rels/.rels><?xml version='1.0' encoding='UTF-8' standalone='yes'?>
<Relationships xmlns="http://schemas.openxmlformats.org/package/2006/relationships"><Relationship Id="rId1" Type="http://schemas.openxmlformats.org/officeDocument/2006/relationships/officeDocument" Target="ppt/presentation.xml"/><Relationship Id="rId2" Type="http://schemas.openxmlformats.org/package/2006/relationships/metadata/thumbnail" Target="docProps/thumbnail.jpeg"/><Relationship Id="rId3" Type="http://schemas.openxmlformats.org/package/2006/relationships/metadata/core-properties" Target="docProps/core.xml"/><Relationship Id="rId4" Type="http://schemas.openxmlformats.org/officeDocument/2006/relationships/extended-properties" Target="docProps/app.xml"/>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 autoCompressPictures="0">
  <p:sldMasterIdLst>
    <p:sldMasterId id="2147483648" r:id="rId1"/>
  </p:sldMasterIdLst>
  <p:sldIdLst>
    <p:sldId id="256" r:id="rId7"/>
    <p:sldId id="257" r:id="rId9"/>
    <p:sldId id="258" r:id="rId10"/>
    <p:sldId id="259" r:id="rId11"/>
    <p:sldId id="260" r:id="rId12"/>
    <p:sldId id="261" r:id="rId13"/>
    <p:sldId id="262" r:id="rId14"/>
    <p:sldId id="263" r:id="rId15"/>
    <p:sldId id="264" r:id="rId16"/>
    <p:sldId id="265" r:id="rId17"/>
    <p:sldId id="266" r:id="rId18"/>
    <p:sldId id="267" r:id="rId19"/>
    <p:sldId id="268" r:id="rId20"/>
    <p:sldId id="269" r:id="rId21"/>
    <p:sldId id="270" r:id="rId22"/>
    <p:sldId id="271" r:id="rId23"/>
    <p:sldId id="272" r:id="rId24"/>
    <p:sldId id="273" r:id="rId25"/>
    <p:sldId id="274" r:id="rId26"/>
    <p:sldId id="275" r:id="rId27"/>
    <p:sldId id="276" r:id="rId28"/>
    <p:sldId id="277" r:id="rId29"/>
    <p:sldId id="278" r:id="rId30"/>
    <p:sldId id="279" r:id="rId31"/>
    <p:sldId id="280" r:id="rId32"/>
    <p:sldId id="281" r:id="rId33"/>
    <p:sldId id="282" r:id="rId34"/>
    <p:sldId id="283" r:id="rId35"/>
    <p:sldId id="284" r:id="rId36"/>
    <p:sldId id="285" r:id="rId37"/>
    <p:sldId id="286" r:id="rId38"/>
    <p:sldId id="287" r:id="rId39"/>
    <p:sldId id="288" r:id="rId40"/>
    <p:sldId id="289" r:id="rId41"/>
    <p:sldId id="290" r:id="rId42"/>
    <p:sldId id="291" r:id="rId43"/>
    <p:sldId id="292" r:id="rId44"/>
    <p:sldId id="293" r:id="rId45"/>
    <p:sldId id="294" r:id="rId46"/>
    <p:sldId id="295" r:id="rId47"/>
    <p:sldId id="296" r:id="rId48"/>
    <p:sldId id="297" r:id="rId49"/>
    <p:sldId id="298" r:id="rId50"/>
    <p:sldId id="299" r:id="rId51"/>
    <p:sldId id="300" r:id="rId52"/>
    <p:sldId id="301" r:id="rId53"/>
    <p:sldId id="302" r:id="rId54"/>
    <p:sldId id="303" r:id="rId55"/>
    <p:sldId id="304" r:id="rId56"/>
    <p:sldId id="305" r:id="rId57"/>
    <p:sldId id="306" r:id="rId58"/>
    <p:sldId id="307" r:id="rId59"/>
    <p:sldId id="308" r:id="rId60"/>
    <p:sldId id="309" r:id="rId61"/>
  </p:sldIdLst>
  <p:sldSz cx="12191695" cy="6858000" type="screen4x3"/>
  <p:notesSz cx="6858000" cy="9144000"/>
  <p:defaultTextStyle>
    <a:defPPr>
      <a:defRPr lang="en-US"/>
    </a:defPPr>
    <a:lvl1pPr marL="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>
  <p:extLst>
    <p:ext uri="{E76CE94A-603C-4142-B9EB-6D1370010A27}">
      <p14:discardImageEditData xmlns:p14="http://schemas.microsoft.com/office/powerpoint/2010/main" val="0"/>
    </p:ext>
    <p:ext uri="{D31A062A-798A-4329-ABDD-BBA856620510}">
      <p14:defaultImageDpi xmlns:p14="http://schemas.microsoft.com/office/powerpoint/2010/main" val="0"/>
    </p:ext>
  </p:extLst>
</p:presentationPr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 lastView="sldThumbnailView">
  <p:normalViewPr>
    <p:restoredLeft sz="15620"/>
    <p:restoredTop sz="94660"/>
  </p:normalViewPr>
  <p:slideViewPr>
    <p:cSldViewPr snapToGrid="0" snapToObjects="1">
      <p:cViewPr varScale="1">
        <p:scale>
          <a:sx n="124" d="100"/>
          <a:sy n="124" d="100"/>
        </p:scale>
        <p:origin x="-1512" y="-112"/>
      </p:cViewPr>
      <p:guideLst>
        <p:guide orient="horz" pos="2160"/>
        <p:guide pos="2880"/>
      </p:guideLst>
    </p:cSldViewPr>
  </p:slideViewPr>
  <p:notesTextViewPr>
    <p:cViewPr>
      <p:scale>
        <a:sx n="100" d="100"/>
        <a:sy n="100" d="100"/>
      </p:scale>
      <p:origin x="0" y="0"/>
    </p:cViewPr>
  </p:notesTextViewPr>
  <p:gridSpacing cx="76200" cy="76200"/>
</p:viewPr>
</file>

<file path=ppt/_rels/presentation.xml.rels><?xml version='1.0' encoding='UTF-8' standalone='yes'?>
<Relationships xmlns="http://schemas.openxmlformats.org/package/2006/relationships"><Relationship Id="rId1" Type="http://schemas.openxmlformats.org/officeDocument/2006/relationships/slideMaster" Target="slideMasters/slideMaster1.xml"/><Relationship Id="rId2" Type="http://schemas.openxmlformats.org/officeDocument/2006/relationships/printerSettings" Target="printerSettings/printerSettings1.bin"/><Relationship Id="rId3" Type="http://schemas.openxmlformats.org/officeDocument/2006/relationships/presProps" Target="presProps.xml"/><Relationship Id="rId4" Type="http://schemas.openxmlformats.org/officeDocument/2006/relationships/viewProps" Target="viewProps.xml"/><Relationship Id="rId5" Type="http://schemas.openxmlformats.org/officeDocument/2006/relationships/theme" Target="theme/theme1.xml"/><Relationship Id="rId6" Type="http://schemas.openxmlformats.org/officeDocument/2006/relationships/tableStyles" Target="tableStyles.xml"/><Relationship Id="rId7" Type="http://schemas.openxmlformats.org/officeDocument/2006/relationships/slide" Target="slides/slide1.xml"/><Relationship Id="rId8" Type="http://schemas.openxmlformats.org/officeDocument/2006/relationships/notesMaster" Target="notesMasters/notesMaster1.xml"/><Relationship Id="rId9" Type="http://schemas.openxmlformats.org/officeDocument/2006/relationships/slide" Target="slides/slide2.xml"/><Relationship Id="rId10" Type="http://schemas.openxmlformats.org/officeDocument/2006/relationships/slide" Target="slides/slide3.xml"/><Relationship Id="rId11" Type="http://schemas.openxmlformats.org/officeDocument/2006/relationships/slide" Target="slides/slide4.xml"/><Relationship Id="rId12" Type="http://schemas.openxmlformats.org/officeDocument/2006/relationships/slide" Target="slides/slide5.xml"/><Relationship Id="rId13" Type="http://schemas.openxmlformats.org/officeDocument/2006/relationships/slide" Target="slides/slide6.xml"/><Relationship Id="rId14" Type="http://schemas.openxmlformats.org/officeDocument/2006/relationships/slide" Target="slides/slide7.xml"/><Relationship Id="rId15" Type="http://schemas.openxmlformats.org/officeDocument/2006/relationships/slide" Target="slides/slide8.xml"/><Relationship Id="rId16" Type="http://schemas.openxmlformats.org/officeDocument/2006/relationships/slide" Target="slides/slide9.xml"/><Relationship Id="rId17" Type="http://schemas.openxmlformats.org/officeDocument/2006/relationships/slide" Target="slides/slide10.xml"/><Relationship Id="rId18" Type="http://schemas.openxmlformats.org/officeDocument/2006/relationships/slide" Target="slides/slide11.xml"/><Relationship Id="rId19" Type="http://schemas.openxmlformats.org/officeDocument/2006/relationships/slide" Target="slides/slide12.xml"/><Relationship Id="rId20" Type="http://schemas.openxmlformats.org/officeDocument/2006/relationships/slide" Target="slides/slide13.xml"/><Relationship Id="rId21" Type="http://schemas.openxmlformats.org/officeDocument/2006/relationships/slide" Target="slides/slide14.xml"/><Relationship Id="rId22" Type="http://schemas.openxmlformats.org/officeDocument/2006/relationships/slide" Target="slides/slide15.xml"/><Relationship Id="rId23" Type="http://schemas.openxmlformats.org/officeDocument/2006/relationships/slide" Target="slides/slide16.xml"/><Relationship Id="rId24" Type="http://schemas.openxmlformats.org/officeDocument/2006/relationships/slide" Target="slides/slide17.xml"/><Relationship Id="rId25" Type="http://schemas.openxmlformats.org/officeDocument/2006/relationships/slide" Target="slides/slide18.xml"/><Relationship Id="rId26" Type="http://schemas.openxmlformats.org/officeDocument/2006/relationships/slide" Target="slides/slide19.xml"/><Relationship Id="rId27" Type="http://schemas.openxmlformats.org/officeDocument/2006/relationships/slide" Target="slides/slide20.xml"/><Relationship Id="rId28" Type="http://schemas.openxmlformats.org/officeDocument/2006/relationships/slide" Target="slides/slide21.xml"/><Relationship Id="rId29" Type="http://schemas.openxmlformats.org/officeDocument/2006/relationships/slide" Target="slides/slide22.xml"/><Relationship Id="rId30" Type="http://schemas.openxmlformats.org/officeDocument/2006/relationships/slide" Target="slides/slide23.xml"/><Relationship Id="rId31" Type="http://schemas.openxmlformats.org/officeDocument/2006/relationships/slide" Target="slides/slide24.xml"/><Relationship Id="rId32" Type="http://schemas.openxmlformats.org/officeDocument/2006/relationships/slide" Target="slides/slide25.xml"/><Relationship Id="rId33" Type="http://schemas.openxmlformats.org/officeDocument/2006/relationships/slide" Target="slides/slide26.xml"/><Relationship Id="rId34" Type="http://schemas.openxmlformats.org/officeDocument/2006/relationships/slide" Target="slides/slide27.xml"/><Relationship Id="rId35" Type="http://schemas.openxmlformats.org/officeDocument/2006/relationships/slide" Target="slides/slide28.xml"/><Relationship Id="rId36" Type="http://schemas.openxmlformats.org/officeDocument/2006/relationships/slide" Target="slides/slide29.xml"/><Relationship Id="rId37" Type="http://schemas.openxmlformats.org/officeDocument/2006/relationships/slide" Target="slides/slide30.xml"/><Relationship Id="rId38" Type="http://schemas.openxmlformats.org/officeDocument/2006/relationships/slide" Target="slides/slide31.xml"/><Relationship Id="rId39" Type="http://schemas.openxmlformats.org/officeDocument/2006/relationships/slide" Target="slides/slide32.xml"/><Relationship Id="rId40" Type="http://schemas.openxmlformats.org/officeDocument/2006/relationships/slide" Target="slides/slide33.xml"/><Relationship Id="rId41" Type="http://schemas.openxmlformats.org/officeDocument/2006/relationships/slide" Target="slides/slide34.xml"/><Relationship Id="rId42" Type="http://schemas.openxmlformats.org/officeDocument/2006/relationships/slide" Target="slides/slide35.xml"/><Relationship Id="rId43" Type="http://schemas.openxmlformats.org/officeDocument/2006/relationships/slide" Target="slides/slide36.xml"/><Relationship Id="rId44" Type="http://schemas.openxmlformats.org/officeDocument/2006/relationships/slide" Target="slides/slide37.xml"/><Relationship Id="rId45" Type="http://schemas.openxmlformats.org/officeDocument/2006/relationships/slide" Target="slides/slide38.xml"/><Relationship Id="rId46" Type="http://schemas.openxmlformats.org/officeDocument/2006/relationships/slide" Target="slides/slide39.xml"/><Relationship Id="rId47" Type="http://schemas.openxmlformats.org/officeDocument/2006/relationships/slide" Target="slides/slide40.xml"/><Relationship Id="rId48" Type="http://schemas.openxmlformats.org/officeDocument/2006/relationships/slide" Target="slides/slide41.xml"/><Relationship Id="rId49" Type="http://schemas.openxmlformats.org/officeDocument/2006/relationships/slide" Target="slides/slide42.xml"/><Relationship Id="rId50" Type="http://schemas.openxmlformats.org/officeDocument/2006/relationships/slide" Target="slides/slide43.xml"/><Relationship Id="rId51" Type="http://schemas.openxmlformats.org/officeDocument/2006/relationships/slide" Target="slides/slide44.xml"/><Relationship Id="rId52" Type="http://schemas.openxmlformats.org/officeDocument/2006/relationships/slide" Target="slides/slide45.xml"/><Relationship Id="rId53" Type="http://schemas.openxmlformats.org/officeDocument/2006/relationships/slide" Target="slides/slide46.xml"/><Relationship Id="rId54" Type="http://schemas.openxmlformats.org/officeDocument/2006/relationships/slide" Target="slides/slide47.xml"/><Relationship Id="rId55" Type="http://schemas.openxmlformats.org/officeDocument/2006/relationships/slide" Target="slides/slide48.xml"/><Relationship Id="rId56" Type="http://schemas.openxmlformats.org/officeDocument/2006/relationships/slide" Target="slides/slide49.xml"/><Relationship Id="rId57" Type="http://schemas.openxmlformats.org/officeDocument/2006/relationships/slide" Target="slides/slide50.xml"/><Relationship Id="rId58" Type="http://schemas.openxmlformats.org/officeDocument/2006/relationships/slide" Target="slides/slide51.xml"/><Relationship Id="rId59" Type="http://schemas.openxmlformats.org/officeDocument/2006/relationships/slide" Target="slides/slide52.xml"/><Relationship Id="rId60" Type="http://schemas.openxmlformats.org/officeDocument/2006/relationships/slide" Target="slides/slide53.xml"/><Relationship Id="rId61" Type="http://schemas.openxmlformats.org/officeDocument/2006/relationships/slide" Target="slides/slide54.xml"/></Relationships>
</file>

<file path=ppt/notesMasters/_rels/notesMaster1.xml.rels><?xml version='1.0' encoding='UTF-8' standalone='yes'?>
<Relationships xmlns="http://schemas.openxmlformats.org/package/2006/relationships"><Relationship Id="rId1" Type="http://schemas.openxmlformats.org/officeDocument/2006/relationships/theme" Target="../theme/theme2.xml"/></Relationships>
</file>

<file path=ppt/notesMasters/notesMaster1.xml><?xml version="1.0" encoding="utf-8"?>
<p:notesMaster xmlns:a="http://schemas.openxmlformats.org/drawingml/2006/main" xmlns:p="http://schemas.openxmlformats.org/presentationml/2006/main" xmlns:r="http://schemas.openxmlformats.org/officeDocument/2006/relationships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Header Placeholder 1"/>
          <p:cNvSpPr>
            <a:spLocks noGrp="1"/>
          </p:cNvSpPr>
          <p:nvPr>
            <p:ph type="hdr" sz="quarter"/>
          </p:nvPr>
        </p:nvSpPr>
        <p:spPr>
          <a:xfrm>
            <a:off x="0" y="0"/>
            <a:ext cx="2971800" cy="457200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l">
              <a:defRPr sz="1200"/>
            </a:lvl1pPr>
          </a:lstStyle>
          <a:p>
            <a:endParaRPr lang="en-US"/>
          </a:p>
        </p:txBody>
      </p:sp>
      <p:sp>
        <p:nvSpPr>
          <p:cNvPr id="3" name="Date Placeholder 2"/>
          <p:cNvSpPr>
            <a:spLocks noGrp="1"/>
          </p:cNvSpPr>
          <p:nvPr>
            <p:ph type="dt" idx="1"/>
          </p:nvPr>
        </p:nvSpPr>
        <p:spPr>
          <a:xfrm>
            <a:off x="3884613" y="0"/>
            <a:ext cx="2971800" cy="457200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r">
              <a:defRPr sz="1200"/>
            </a:lvl1pPr>
          </a:lstStyle>
          <a:p>
            <a:fld id="{0F89C1C7-3DCD-1040-A9CF-14679D8B5DDD}" type="datetimeFigureOut">
              <a:rPr lang="en-US" smtClean="0"/>
              <a:t>10/17/16</a:t>
            </a:fld>
            <a:endParaRPr lang="en-US"/>
          </a:p>
        </p:txBody>
      </p:sp>
      <p:sp>
        <p:nvSpPr>
          <p:cNvPr id="4" name="Slide Image Placeholder 3"/>
          <p:cNvSpPr>
            <a:spLocks noGrp="1" noRot="1" noChangeAspect="1"/>
          </p:cNvSpPr>
          <p:nvPr>
            <p:ph type="sldImg" idx="2"/>
          </p:nvPr>
        </p:nvSpPr>
        <p:spPr>
          <a:xfrm>
            <a:off x="1143000" y="685800"/>
            <a:ext cx="4572000" cy="3429000"/>
          </a:xfrm>
          <a:prstGeom prst="rect">
            <a:avLst/>
          </a:prstGeom>
          <a:noFill/>
          <a:ln w="12700">
            <a:solidFill>
              <a:prstClr val="black"/>
            </a:solidFill>
          </a:ln>
        </p:spPr>
        <p:txBody>
          <a:bodyPr vert="horz" lIns="91440" tIns="45720" rIns="91440" bIns="45720" rtlCol="0" anchor="ctr"/>
          <a:lstStyle/>
          <a:p>
            <a:endParaRPr lang="en-US"/>
          </a:p>
        </p:txBody>
      </p:sp>
      <p:sp>
        <p:nvSpPr>
          <p:cNvPr id="5" name="Notes Placeholder 4"/>
          <p:cNvSpPr>
            <a:spLocks noGrp="1"/>
          </p:cNvSpPr>
          <p:nvPr>
            <p:ph type="body" sz="quarter" idx="3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</p:spPr>
        <p:txBody>
          <a:bodyPr vert="horz" lIns="91440" tIns="45720" rIns="91440" bIns="45720" rtlCol="0"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4"/>
          </p:nvPr>
        </p:nvSpPr>
        <p:spPr>
          <a:xfrm>
            <a:off x="0" y="8685213"/>
            <a:ext cx="2971800" cy="457200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l">
              <a:defRPr sz="1200"/>
            </a:lvl1pPr>
          </a:lstStyle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5"/>
          </p:nvPr>
        </p:nvSpPr>
        <p:spPr>
          <a:xfrm>
            <a:off x="3884613" y="8685213"/>
            <a:ext cx="2971800" cy="457200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r">
              <a:defRPr sz="1200"/>
            </a:lvl1pPr>
          </a:lstStyle>
          <a:p>
            <a:fld id="{BB5E49A5-4136-284D-997B-48E1D791AD67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623252185"/>
      </p:ext>
    </p:extLst>
  </p:cSld>
  <p:clrMap bg1="lt1" tx1="dk1" bg2="lt2" tx2="dk2" accent1="accent1" accent2="accent2" accent3="accent3" accent4="accent4" accent5="accent5" accent6="accent6" hlink="hlink" folHlink="folHlink"/>
  <p:notesStyle>
    <a:lvl1pPr marL="0" algn="l" defTabSz="4572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4572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4572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4572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4572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4572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4572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4572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4572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9pPr>
  </p:notesStyle>
</p:notesMaster>
</file>

<file path=ppt/notesSlides/_rels/notesSlide1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1.xml"/></Relationships>
</file>

<file path=ppt/notesSlides/_rels/notesSlide2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2.xml"/></Relationships>
</file>

<file path=ppt/notesSlides/_rels/notesSlide3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3.xml"/></Relationships>
</file>

<file path=ppt/notesSlides/_rels/notesSlide4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4.xml"/></Relationships>
</file>

<file path=ppt/notesSlides/_rels/notesSlide5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5.xml"/></Relationships>
</file>

<file path=ppt/notesSlides/_rels/notesSlide6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6.xml"/></Relationships>
</file>

<file path=ppt/notesSlides/_rels/notesSlide7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7.xml"/></Relationships>
</file>

<file path=ppt/notesSlides/_rels/notesSlide8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8.xml"/></Relationships>
</file>

<file path=ppt/notesSlides/_rels/notesSlide9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9.xml"/></Relationships>
</file>

<file path=ppt/notesSlides/_rels/notesSlide10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10.xml"/></Relationships>
</file>

<file path=ppt/notesSlides/_rels/notesSlide11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11.xml"/></Relationships>
</file>

<file path=ppt/notesSlides/_rels/notesSlide12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12.xml"/></Relationships>
</file>

<file path=ppt/notesSlides/_rels/notesSlide13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13.xml"/></Relationships>
</file>

<file path=ppt/notesSlides/_rels/notesSlide14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14.xml"/></Relationships>
</file>

<file path=ppt/notesSlides/_rels/notesSlide15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15.xml"/></Relationships>
</file>

<file path=ppt/notesSlides/_rels/notesSlide16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16.xml"/></Relationships>
</file>

<file path=ppt/notesSlides/_rels/notesSlide17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17.xml"/></Relationships>
</file>

<file path=ppt/notesSlides/_rels/notesSlide18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18.xml"/></Relationships>
</file>

<file path=ppt/notesSlides/_rels/notesSlide19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19.xml"/></Relationships>
</file>

<file path=ppt/notesSlides/_rels/notesSlide20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20.xml"/></Relationships>
</file>

<file path=ppt/notesSlides/_rels/notesSlide21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21.xml"/></Relationships>
</file>

<file path=ppt/notesSlides/_rels/notesSlide22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22.xml"/></Relationships>
</file>

<file path=ppt/notesSlides/_rels/notesSlide23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23.xml"/></Relationships>
</file>

<file path=ppt/notesSlides/_rels/notesSlide24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24.xml"/></Relationships>
</file>

<file path=ppt/notesSlides/_rels/notesSlide25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25.xml"/></Relationships>
</file>

<file path=ppt/notesSlides/_rels/notesSlide26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26.xml"/></Relationships>
</file>

<file path=ppt/notesSlides/_rels/notesSlide27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27.xml"/></Relationships>
</file>

<file path=ppt/notesSlides/_rels/notesSlide28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28.xml"/></Relationships>
</file>

<file path=ppt/notesSlides/_rels/notesSlide29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29.xml"/></Relationships>
</file>

<file path=ppt/notesSlides/_rels/notesSlide30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30.xml"/></Relationships>
</file>

<file path=ppt/notesSlides/_rels/notesSlide31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31.xml"/></Relationships>
</file>

<file path=ppt/notesSlides/_rels/notesSlide32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32.xml"/></Relationships>
</file>

<file path=ppt/notesSlides/_rels/notesSlide33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33.xml"/></Relationships>
</file>

<file path=ppt/notesSlides/_rels/notesSlide34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34.xml"/></Relationships>
</file>

<file path=ppt/notesSlides/_rels/notesSlide35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35.xml"/></Relationships>
</file>

<file path=ppt/notesSlides/_rels/notesSlide36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36.xml"/></Relationships>
</file>

<file path=ppt/notesSlides/_rels/notesSlide37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37.xml"/></Relationships>
</file>

<file path=ppt/notesSlides/_rels/notesSlide38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38.xml"/></Relationships>
</file>

<file path=ppt/notesSlides/_rels/notesSlide39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39.xml"/></Relationships>
</file>

<file path=ppt/notesSlides/_rels/notesSlide40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40.xml"/></Relationships>
</file>

<file path=ppt/notesSlides/_rels/notesSlide41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41.xml"/></Relationships>
</file>

<file path=ppt/notesSlides/_rels/notesSlide42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42.xml"/></Relationships>
</file>

<file path=ppt/notesSlides/_rels/notesSlide43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43.xml"/></Relationships>
</file>

<file path=ppt/notesSlides/_rels/notesSlide44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44.xml"/></Relationships>
</file>

<file path=ppt/notesSlides/_rels/notesSlide45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45.xml"/></Relationships>
</file>

<file path=ppt/notesSlides/_rels/notesSlide46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46.xml"/></Relationships>
</file>

<file path=ppt/notesSlides/_rels/notesSlide47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47.xml"/></Relationships>
</file>

<file path=ppt/notesSlides/_rels/notesSlide48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48.xml"/></Relationships>
</file>

<file path=ppt/notesSlides/_rels/notesSlide49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49.xml"/></Relationships>
</file>

<file path=ppt/notesSlides/_rels/notesSlide50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50.xml"/></Relationships>
</file>

<file path=ppt/notesSlides/_rels/notesSlide51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51.xml"/></Relationships>
</file>

<file path=ppt/notesSlides/_rels/notesSlide52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52.xml"/></Relationships>
</file>

<file path=ppt/notesSlides/_rels/notesSlide53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53.xml"/></Relationships>
</file>

<file path=ppt/notesSlides/_rels/notesSlide54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54.xml"/></Relationships>
</file>

<file path=ppt/notesSlides/notesSlide1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Abertura. Não comece pelo código: comece pelo domínio e pela escolha do</a:t>
            </a:r>
          </a:p>
          <a:p>
            <a:r>
              <a:t>método. Os três trabalhos partilham um único domínio, e isso é proposital —</a:t>
            </a:r>
          </a:p>
          <a:p>
            <a:r>
              <a:t>permite mostrar que os sistemas se integram, em vez de apenas coexistirem.</a:t>
            </a:r>
          </a:p>
          <a:p/>
          <a:p>
            <a:r>
              <a:t>Antes de começar, deixe rodando "python -m pytest": 108 testes verdes na tela</a:t>
            </a:r>
          </a:p>
          <a:p>
            <a:r>
              <a:t>são um bom cartão de visita.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2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Diga o roteiro: 30 minutos por tema, com demonstração ao vivo em cada um.</a:t>
            </a:r>
          </a:p>
          <a:p/>
          <a:p>
            <a:r>
              <a:t>O ponto a plantar já aqui: os três não são exercícios separados. O diagnóstico</a:t>
            </a:r>
          </a:p>
          <a:p>
            <a:r>
              <a:t>produzido pelo trabalho 1 é a entrada do trabalho 2, e o trabalho 2 chama a</a:t>
            </a:r>
          </a:p>
          <a:p>
            <a:r>
              <a:t>função do trabalho 3. Ao final voltaremos a isso com um comando só.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3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Descreva o domínio em uma frase: a rede que liga ativos distribuídos de um</a:t>
            </a:r>
          </a:p>
          <a:p>
            <a:r>
              <a:t>sistema elétrico ao centro de operação — núcleo em fibra, setores de rádio de</a:t>
            </a:r>
          </a:p>
          <a:p>
            <a:r>
              <a:t>900 MHz, uma cadeia de repetidores armazena-e-encaminha e uma sobreposição LTE.</a:t>
            </a:r>
          </a:p>
          <a:p/>
          <a:p>
            <a:r>
              <a:t>Diga explicitamente que a topologia é SINTÉTICA: um modelo didático da classe de</a:t>
            </a:r>
          </a:p>
          <a:p>
            <a:r>
              <a:t>cenários estudada em laboratórios de backhaul sem fio. Não há inventário real,</a:t>
            </a:r>
          </a:p>
          <a:p>
            <a:r>
              <a:t>endereçamento nem identificação de equipamento. Dizer isso antes que perguntem</a:t>
            </a:r>
          </a:p>
          <a:p>
            <a:r>
              <a:t>vale mais do que responder depois.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4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A pergunta de pesquisa. Enuncie-a e deixe-a no ar por um instante antes de</a:t>
            </a:r>
          </a:p>
          <a:p>
            <a:r>
              <a:t>seguir.</a:t>
            </a:r>
          </a:p>
          <a:p/>
          <a:p>
            <a:r>
              <a:t>Ela tem três qualificadores, e cada um é uma restrição real, não retórica:</a:t>
            </a:r>
          </a:p>
          <a:p/>
          <a:p>
            <a:r>
              <a:t>"sem dados rotulados de falha" — não há conjunto rotulado neste domínio, e não há</a:t>
            </a:r>
          </a:p>
          <a:p>
            <a:r>
              <a:t>como produzi-lo sem instrumento de degradação controlada. Isso elimina a via</a:t>
            </a:r>
          </a:p>
          <a:p>
            <a:r>
              <a:t>indutiva para o diagnóstico.</a:t>
            </a:r>
          </a:p>
          <a:p/>
          <a:p>
            <a:r>
              <a:t>"de forma auditável" — em operação crítica, uma recomendação que não pode ser</a:t>
            </a:r>
          </a:p>
          <a:p>
            <a:r>
              <a:t>justificada não é utilizável. Toda conclusão precisa apontar para a regra e o</a:t>
            </a:r>
          </a:p>
          <a:p>
            <a:r>
              <a:t>fato que a sustentam.</a:t>
            </a:r>
          </a:p>
          <a:p/>
          <a:p>
            <a:r>
              <a:t>"sob restrições explícitas de autorização" — nada pode alcançar a planta sem</a:t>
            </a:r>
          </a:p>
          <a:p>
            <a:r>
              <a:t>janela, autorização e operador responsável.</a:t>
            </a:r>
          </a:p>
          <a:p/>
          <a:p>
            <a:r>
              <a:t>A pergunta decompõe-se em três, uma por trabalho:</a:t>
            </a:r>
          </a:p>
          <a:p>
            <a:r>
              <a:t>  1. Por que o enlace degradou, e com que confiança?      -&gt; sistema especialista</a:t>
            </a:r>
          </a:p>
          <a:p>
            <a:r>
              <a:t>  2. Em que sequência agir, respeitando as restrições?    -&gt; planejamento STRIPS/GPS</a:t>
            </a:r>
          </a:p>
          <a:p>
            <a:r>
              <a:t>  3. Existe caminho alternativo, e qual o de menor custo? -&gt; busca A*</a:t>
            </a:r>
          </a:p>
          <a:p/>
          <a:p>
            <a:r>
              <a:t>Diga isso: os três trabalhos não foram escolhidos por serem os temas da</a:t>
            </a:r>
          </a:p>
          <a:p>
            <a:r>
              <a:t>disciplina — eles são as três partes de uma pergunta só.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5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Distinga os dois níveis com clareza — eles respondem a perguntas diferentes.</a:t>
            </a:r>
          </a:p>
          <a:p/>
          <a:p>
            <a:r>
              <a:t>Os KPIs do DOMÍNIO são as grandezas que um operador de rede realmente observa, e</a:t>
            </a:r>
          </a:p>
          <a:p>
            <a:r>
              <a:t>são a entrada dos sistemas: alimentam as regras do sistema especialista e, no</a:t>
            </a:r>
          </a:p>
          <a:p>
            <a:r>
              <a:t>caso do custo de transporte, a função de custo da busca.</a:t>
            </a:r>
          </a:p>
          <a:p/>
          <a:p>
            <a:r>
              <a:t>Os KPIs de AVALIAÇÃO são como julgamos se os sistemas funcionam. Note que cada</a:t>
            </a:r>
          </a:p>
          <a:p>
            <a:r>
              <a:t>trabalho tem um critério próprio e verificável: o fator de certeza diz quanta</a:t>
            </a:r>
          </a:p>
          <a:p>
            <a:r>
              <a:t>confiança há na conclusão; a validade do plano é reexecutada desde o estado</a:t>
            </a:r>
          </a:p>
          <a:p>
            <a:r>
              <a:t>inicial; a otimalidade da busca é comparada contra custo uniforme, que não usa</a:t>
            </a:r>
          </a:p>
          <a:p>
            <a:r>
              <a:t>heurística e serve de verdade de referência.</a:t>
            </a:r>
          </a:p>
          <a:p/>
          <a:p>
            <a:r>
              <a:t>O aviso da coluna esquerda é o que mantém a apresentação honesta: os limiares do</a:t>
            </a:r>
          </a:p>
          <a:p>
            <a:r>
              <a:t>domínio vieram de faixas de folha de dados e de prática comum de telecom. São</a:t>
            </a:r>
          </a:p>
          <a:p>
            <a:r>
              <a:t>ponto de partida para calibração, não valores medidos numa instalação. Por isso</a:t>
            </a:r>
          </a:p>
          <a:p>
            <a:r>
              <a:t>estão reunidos num único bloco, prontos para serem ajustados quando existir linha</a:t>
            </a:r>
          </a:p>
          <a:p>
            <a:r>
              <a:t>de base medida.</a:t>
            </a:r>
          </a:p>
          <a:p/>
          <a:p>
            <a:r>
              <a:t>Em resumo: os KPIs de avaliação estão verificados; os do domínio estão</a:t>
            </a:r>
          </a:p>
          <a:p>
            <a:r>
              <a:t>declarados, e declarados como não calibrados.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6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Este é o argumento mais forte da apresentação — mas repare no escopo do</a:t>
            </a:r>
          </a:p>
          <a:p>
            <a:r>
              <a:t>título: DIAGNÓSTICO. Não diga "não usamos aprendizado de máquina" como se valesse</a:t>
            </a:r>
          </a:p>
          <a:p>
            <a:r>
              <a:t>para os três sistemas; a afirmação é sobre a tarefa de classificar a causa de uma</a:t>
            </a:r>
          </a:p>
          <a:p>
            <a:r>
              <a:t>falha, e só sobre ela.</a:t>
            </a:r>
          </a:p>
          <a:p/>
          <a:p>
            <a:r>
              <a:t>Para rotular um enlace como "degradado" ou "em falha" seriam precisas duas</a:t>
            </a:r>
          </a:p>
          <a:p>
            <a:r>
              <a:t>coisas: um instrumento de degradação controlada, capaz de produzir a falha de</a:t>
            </a:r>
          </a:p>
          <a:p>
            <a:r>
              <a:t>forma reprodutível, e uma linha de base de observabilidade autenticada contra a</a:t>
            </a:r>
          </a:p>
          <a:p>
            <a:r>
              <a:t>qual comparar. Sem as duas, nenhum rótulo vem de medição. E um modelo treinado</a:t>
            </a:r>
          </a:p>
          <a:p>
            <a:r>
              <a:t>apenas em estado normal não infere degradação de modo confiável — ele nunca viu</a:t>
            </a:r>
          </a:p>
          <a:p>
            <a:r>
              <a:t>a classe que deveria reconhecer.</a:t>
            </a:r>
          </a:p>
          <a:p/>
          <a:p>
            <a:r>
              <a:t>Se alguém perguntar "e aprender a heurística da busca?", a resposta é que essa é</a:t>
            </a:r>
          </a:p>
          <a:p>
            <a:r>
              <a:t>uma tarefa DIFERENTE, com supervisão gratuita — e temos um slide sobre ela no</a:t>
            </a:r>
          </a:p>
          <a:p>
            <a:r>
              <a:t>tema 3.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7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Nenhuma das colunas é superior em abstrato. A escolha depende do que se tem.</a:t>
            </a:r>
          </a:p>
          <a:p/>
          <a:p>
            <a:r>
              <a:t>Onde não há dados rotulados, o caminho honesto é codificar conhecimento de</a:t>
            </a:r>
          </a:p>
          <a:p>
            <a:r>
              <a:t>engenharia em regras explícitas. A vantagem não é só de disponibilidade: um</a:t>
            </a:r>
          </a:p>
          <a:p>
            <a:r>
              <a:t>especialista pode discordar da regra R14 e mudar apenas ela. Não se discute</a:t>
            </a:r>
          </a:p>
          <a:p>
            <a:r>
              <a:t>assim com um peso de rede neural.</a:t>
            </a:r>
          </a:p>
          <a:p/>
          <a:p>
            <a:r>
              <a:t>Se perguntarem "e quando houver dados?", a resposta está na próxima decisão de</a:t>
            </a:r>
          </a:p>
          <a:p>
            <a:r>
              <a:t>projeto: os limiares estão num único bloco, prontos para calibração.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8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Transição: sabemos por que é simbólico. Agora, como se constrói.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9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Enquadre como um problema de classificação com evidência incerta. Sensores</a:t>
            </a:r>
          </a:p>
          <a:p>
            <a:r>
              <a:t>são imperfeitos, dados são incompletos, fenômenos variam.</a:t>
            </a:r>
          </a:p>
          <a:p/>
          <a:p>
            <a:r>
              <a:t>Guarde a última linha: "recomenda, não atua". Voltaremos a ela no tema 2, onde</a:t>
            </a:r>
          </a:p>
          <a:p>
            <a:r>
              <a:t>ela deixa de ser um princípio e vira uma precondição.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10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Insista na separação entre base de conhecimento e motor de inferência: é ela</a:t>
            </a:r>
          </a:p>
          <a:p>
            <a:r>
              <a:t>que permite trocar o conhecimento sem reescrever o raciocínio.</a:t>
            </a:r>
          </a:p>
          <a:p/>
          <a:p>
            <a:r>
              <a:t>No repositório essa separação é real, não nominal: o motor não sabe nada sobre</a:t>
            </a:r>
          </a:p>
          <a:p>
            <a:r>
              <a:t>redes. Se ele funciona aqui, funciona em qualquer domínio que se escreva em</a:t>
            </a:r>
          </a:p>
          <a:p>
            <a:r>
              <a:t>regras — e essa é a condição para reutilizá-lo como fonte de conhecimento no</a:t>
            </a:r>
          </a:p>
          <a:p>
            <a:r>
              <a:t>trabalho multiespecialista de 25/09.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11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Treze variáveis perguntáveis. Não leia a tabela inteira — aponte três ou</a:t>
            </a:r>
          </a:p>
          <a:p>
            <a:r>
              <a:t>quatro e diga que são grandezas que um operador de rede realmente observa.</a:t>
            </a:r>
          </a:p>
          <a:p/>
          <a:p>
            <a:r>
              <a:t>Note que há dois tipos: medições numéricas com faixa declarada, e categóricas</a:t>
            </a:r>
          </a:p>
          <a:p>
            <a:r>
              <a:t>com domínio fechado. A validação recusa valor fora da faixa e rótulo não</a:t>
            </a:r>
          </a:p>
          <a:p>
            <a:r>
              <a:t>declarado, antes de qualquer inferência.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12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Percorra as camadas de baixo para cima: medição vira qualidade de sinal,</a:t>
            </a:r>
          </a:p>
          <a:p>
            <a:r>
              <a:t>estado e desempenho viram sintoma, evidência vira diagnóstico, diagnóstico vira</a:t>
            </a:r>
          </a:p>
          <a:p>
            <a:r>
              <a:t>ação, ação vira exigência de autorização.</a:t>
            </a:r>
          </a:p>
          <a:p/>
          <a:p>
            <a:r>
              <a:t>A pergunta a fazer em voz alta: por que estratificar? Porque as regras de</a:t>
            </a:r>
          </a:p>
          <a:p>
            <a:r>
              <a:t>diagnóstico nunca leem rssi_dbm diretamente — leem signal_quality. Trocar o</a:t>
            </a:r>
          </a:p>
          <a:p>
            <a:r>
              <a:t>sensor de RF muda a camada 1 e nada mais. Isso é modularidade do conhecimento, e</a:t>
            </a:r>
          </a:p>
          <a:p>
            <a:r>
              <a:t>é uma vantagem prática de regras sobre código procedural.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13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R10 é uma regra de diagnóstico comum: duas condições, uma conclusão, uma</a:t>
            </a:r>
          </a:p>
          <a:p>
            <a:r>
              <a:t>confiança.</a:t>
            </a:r>
          </a:p>
          <a:p/>
          <a:p>
            <a:r>
              <a:t>R25 é a mais interessante. O fator de certeza negativo diz "tempo limpo é</a:t>
            </a:r>
          </a:p>
          <a:p>
            <a:r>
              <a:t>evidência CONTRA atenuação por chuva". Regras booleanas obrigariam a escolher</a:t>
            </a:r>
          </a:p>
          <a:p>
            <a:r>
              <a:t>entre ignorar essa evidência e afirmar demais. E o especialista real raciocina</a:t>
            </a:r>
          </a:p>
          <a:p>
            <a:r>
              <a:t>assim: certas observações reduzem a suspeita sem eliminá-la.</a:t>
            </a:r>
          </a:p>
          <a:p/>
          <a:p>
            <a:r>
              <a:t>R36 é a porta de governança, e prepara o tema 2.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14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Faça a aritmética no quadro, não só no slide.</a:t>
            </a:r>
          </a:p>
          <a:p/>
          <a:p>
            <a:r>
              <a:t>Duas evidências de 0,8 dão 0,96: mais forte que qualquer uma isolada, e ainda</a:t>
            </a:r>
          </a:p>
          <a:p>
            <a:r>
              <a:t>assim longe da certeza. Evidências contraditórias de +0,8 e -0,8 cancelam-se</a:t>
            </a:r>
          </a:p>
          <a:p>
            <a:r>
              <a:t>exatamente em zero.</a:t>
            </a:r>
          </a:p>
          <a:p/>
          <a:p>
            <a:r>
              <a:t>Se perguntarem por que não probabilidade bayesiana: fatores de certeza não</a:t>
            </a:r>
          </a:p>
          <a:p>
            <a:r>
              <a:t>exigem probabilidades a priori nem independência condicional — que, sem dados,</a:t>
            </a:r>
          </a:p>
          <a:p>
            <a:r>
              <a:t>não há como estimar. O preço é que a álgebra é heurística, não</a:t>
            </a:r>
          </a:p>
          <a:p>
            <a:r>
              <a:t>probabilisticamente fundamentada. É o mesmo compromisso do MYCIN, e a mesma</a:t>
            </a:r>
          </a:p>
          <a:p>
            <a:r>
              <a:t>limitação. Diga a limitação; ela fortalece a apresentação, não a enfraquece.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15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Explique por que disparar uma regra por ciclo e não todas de uma vez: se o</a:t>
            </a:r>
          </a:p>
          <a:p>
            <a:r>
              <a:t>motor disparasse tudo simultaneamente, a resolução de conflito não teria efeito</a:t>
            </a:r>
          </a:p>
          <a:p>
            <a:r>
              <a:t>observável e o trace não contaria uma história.</a:t>
            </a:r>
          </a:p>
          <a:p/>
          <a:p>
            <a:r>
              <a:t>Este é o modo em que o sistema seria acoplado a um sistema de monitoramento</a:t>
            </a:r>
          </a:p>
          <a:p>
            <a:r>
              <a:t>real: a telemetria chega, o motor conclui sozinho.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16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Rode ao vivo. Percorra o trace regra a regra com o dedo na tela: a cadeia</a:t>
            </a:r>
          </a:p>
          <a:p>
            <a:r>
              <a:t>inteira é legível, da medição até a exigência de autorização.</a:t>
            </a:r>
          </a:p>
          <a:p/>
          <a:p>
            <a:r>
              <a:t>Aponte a última linha: rain_fade aparece com CF NEGATIVO. O sistema não apenas</a:t>
            </a:r>
          </a:p>
          <a:p>
            <a:r>
              <a:t>escolheu uma hipótese — ele registrou evidência contra outra. Isso é o que</a:t>
            </a:r>
          </a:p>
          <a:p>
            <a:r>
              <a:t>distingue um sistema com incerteza de um classificador que só devolve um rótulo.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17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O curto-circuito é o ponto técnico que vale explicar. Sem ele, o modo</a:t>
            </a:r>
          </a:p>
          <a:p>
            <a:r>
              <a:t>regressivo pergunta quase tanto quanto o progressivo — e perde a razão de</a:t>
            </a:r>
          </a:p>
          <a:p>
            <a:r>
              <a:t>existir. Foi, aliás, um defeito real: um teste apanhou o motor perguntando todas</a:t>
            </a:r>
          </a:p>
          <a:p>
            <a:r>
              <a:t>as 13 variáveis, e a correção foi abandonar a regra assim que uma condição se</a:t>
            </a:r>
          </a:p>
          <a:p>
            <a:r>
              <a:t>mostra falsa.</a:t>
            </a:r>
          </a:p>
          <a:p/>
          <a:p>
            <a:r>
              <a:t>Mencione que o teste</a:t>
            </a:r>
          </a:p>
          <a:p>
            <a:r>
              <a:t>test_backward_chaining_matches_forward_chaining_on_the_same_evidence</a:t>
            </a:r>
          </a:p>
          <a:p>
            <a:r>
              <a:t>verifica que os dois sentidos, com a mesma evidência, concluem o mesmo.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18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Este é o único momento não roteirizado da apresentação. Ensaie antes.</a:t>
            </a:r>
          </a:p>
          <a:p/>
          <a:p>
            <a:r>
              <a:t>Digite "?" numa das perguntas para mostrar o "por quê": o motor exibe a cadeia</a:t>
            </a:r>
          </a:p>
          <a:p>
            <a:r>
              <a:t>de regras que o levou até ali. Um sistema que só responde não é utilizável em</a:t>
            </a:r>
          </a:p>
          <a:p>
            <a:r>
              <a:t>operação crítica; um que mostra o caminho pode ser auditado e contestado.</a:t>
            </a:r>
          </a:p>
          <a:p/>
          <a:p>
            <a:r>
              <a:t>Aceita também uma certeza junto da resposta: "rain 0.6" informa chuva com</a:t>
            </a:r>
          </a:p>
          <a:p>
            <a:r>
              <a:t>confiança 0,6.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19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Quando várias regras estão prontas, é preciso escolher. As três políticas são</a:t>
            </a:r>
          </a:p>
          <a:p>
            <a:r>
              <a:t>selecionáveis em tempo de execução — mostre com --strategy recency que a ordem</a:t>
            </a:r>
          </a:p>
          <a:p>
            <a:r>
              <a:t>de disparo muda.</a:t>
            </a:r>
          </a:p>
          <a:p/>
          <a:p>
            <a:r>
              <a:t>A afirmação a fazer, e que é verificada em teste: com regras monotônicas, a</a:t>
            </a:r>
          </a:p>
          <a:p>
            <a:r>
              <a:t>política muda a ORDEM do raciocínio, não o ponto fixo. Há teste para as duas</a:t>
            </a:r>
          </a:p>
          <a:p>
            <a:r>
              <a:t>metades: que as ordens diferem entre políticas, e que o diagnóstico final é o</a:t>
            </a:r>
          </a:p>
          <a:p>
            <a:r>
              <a:t>mesmo.</a:t>
            </a:r>
          </a:p>
          <a:p/>
          <a:p>
            <a:r>
              <a:t>Este é o diferencial barato da apresentação: a maioria dos trabalhos não trata</a:t>
            </a:r>
          </a:p>
          <a:p>
            <a:r>
              <a:t>resolução de conflito.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20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O "como" desce recursivamente das conclusões até os fatos informados pelo</a:t>
            </a:r>
          </a:p>
          <a:p>
            <a:r>
              <a:t>usuário, citando em cada nível a regra e a justificativa em linguagem natural</a:t>
            </a:r>
          </a:p>
          <a:p>
            <a:r>
              <a:t>que ela carrega.</a:t>
            </a:r>
          </a:p>
          <a:p/>
          <a:p>
            <a:r>
              <a:t>Contraste com ELIZA, que abrimos na primeira aula: ELIZA produzia respostas</a:t>
            </a:r>
          </a:p>
          <a:p>
            <a:r>
              <a:t>convincentes sem modelo do domínio. Aqui, toda conclusão é rastreável até a</a:t>
            </a:r>
          </a:p>
          <a:p>
            <a:r>
              <a:t>regra e o fato que a sustentam. É a diferença entre parecer e poder mostrar.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21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Oito casos, oito diagnósticos corretos. Mas o número a apontar é o de</a:t>
            </a:r>
          </a:p>
          <a:p>
            <a:r>
              <a:t>rain_fade: CF +0,56, nitidamente mais baixo que os demais.</a:t>
            </a:r>
          </a:p>
          <a:p/>
          <a:p>
            <a:r>
              <a:t>Isso não é um defeito — é o sistema admitindo que a evidência é fraca. Chuva com</a:t>
            </a:r>
          </a:p>
          <a:p>
            <a:r>
              <a:t>margem estreita é mesmo evidência fraca. Um sistema que devolvesse +0,95 nesse</a:t>
            </a:r>
          </a:p>
          <a:p>
            <a:r>
              <a:t>caso estaria mentindo.</a:t>
            </a:r>
          </a:p>
          <a:p/>
          <a:p>
            <a:r>
              <a:t>Note também as duas linhas que não exigem autorização: observar, e não agir.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22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Feche o tema 1 pelos limites, e não pelos resultados.</a:t>
            </a:r>
          </a:p>
          <a:p/>
          <a:p>
            <a:r>
              <a:t>Os limiares vieram de faixas de folha de dados de rádio sub-GHz e de prática</a:t>
            </a:r>
          </a:p>
          <a:p>
            <a:r>
              <a:t>comum de telecom — são ponto de partida para calibração, não valores medidos.</a:t>
            </a:r>
          </a:p>
          <a:p/>
          <a:p>
            <a:r>
              <a:t>A decisão de projeto que importa: eles estão todos num único dicionário</a:t>
            </a:r>
          </a:p>
          <a:p>
            <a:r>
              <a:t>THRESHOLDS. Quando existir linha de base medida, ajustam-se os valores e as</a:t>
            </a:r>
          </a:p>
          <a:p>
            <a:r>
              <a:t>regras não mudam. É por isso que o bloco está declarado num lugar só.</a:t>
            </a:r>
          </a:p>
          <a:p/>
          <a:p>
            <a:r>
              <a:t>O sistema diz isso na própria saída, ao fim de cada consulta.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23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Transição: o sistema especialista disse o que fazer. Agora, em que ordem.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24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Chame a atenção para o objetivo duplo: o serviço restaurado E o registro</a:t>
            </a:r>
          </a:p>
          <a:p>
            <a:r>
              <a:t>feito. Fechar a ordem de serviço sem registrar não satisfaz o objetivo.</a:t>
            </a:r>
          </a:p>
          <a:p/>
          <a:p>
            <a:r>
              <a:t>Isso é disciplina de evidência expressa como objetivo de planejamento — a mesma</a:t>
            </a:r>
          </a:p>
          <a:p>
            <a:r>
              <a:t>lógica de um laboratório que só aceita um resultado se ele estiver registrado.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25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À esquerda, a anatomia de um operador: precondições, lista de adição, lista</a:t>
            </a:r>
          </a:p>
          <a:p>
            <a:r>
              <a:t>de remoção. À direita, a recursão do GPS.</a:t>
            </a:r>
          </a:p>
          <a:p/>
          <a:p>
            <a:r>
              <a:t>Deixe claro que STRIPS e GPS não competem: STRIPS diz COMO DESCREVER uma ação,</a:t>
            </a:r>
          </a:p>
          <a:p>
            <a:r>
              <a:t>GPS diz COMO ESCOLHER a próxima. A mesma representação STRIPS pode ser resolvida</a:t>
            </a:r>
          </a:p>
          <a:p>
            <a:r>
              <a:t>por meios-fins, por busca progressiva ou por um planejador de ordem parcial — e</a:t>
            </a:r>
          </a:p>
          <a:p>
            <a:r>
              <a:t>neste trabalho ela é resolvida de duas maneiras.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26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Leia os três conjuntos. Depois explique a hipótese do mundo fechado: o estado</a:t>
            </a:r>
          </a:p>
          <a:p>
            <a:r>
              <a:t>é o conjunto dos literais VERDADEIROS, e tudo o que não está lá é considerado</a:t>
            </a:r>
          </a:p>
          <a:p>
            <a:r>
              <a:t>falso. Não precisamos dizer que a antena não está desalinhada — basta não dizer</a:t>
            </a:r>
          </a:p>
          <a:p>
            <a:r>
              <a:t>que está.</a:t>
            </a:r>
          </a:p>
          <a:p/>
          <a:p>
            <a:r>
              <a:t>Isso é o que torna o estado finito e a busca tratável.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27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Não leia a tabela inteira. Aponte três coisas:</a:t>
            </a:r>
          </a:p>
          <a:p/>
          <a:p>
            <a:r>
              <a:t>Primeiro, dispatch_crew custa 4 e replace_power_unit custa 5. Se toda ação</a:t>
            </a:r>
          </a:p>
          <a:p>
            <a:r>
              <a:t>custasse 1, planejar seria contar passos — com custos diferentes, o planejador</a:t>
            </a:r>
          </a:p>
          <a:p>
            <a:r>
              <a:t>precisa realmente pesar, e uma correção remota barata pode vencer uma correção</a:t>
            </a:r>
          </a:p>
          <a:p>
            <a:r>
              <a:t>local aparentemente mais simples.</a:t>
            </a:r>
          </a:p>
          <a:p/>
          <a:p>
            <a:r>
              <a:t>Segundo, quase toda linha exige autorização.</a:t>
            </a:r>
          </a:p>
          <a:p/>
          <a:p>
            <a:r>
              <a:t>Terceiro, monitor_and_wait é a única exceção — e isso é deliberado.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28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Este é o ponto de projeto mais forte do tema 2.</a:t>
            </a:r>
          </a:p>
          <a:p/>
          <a:p>
            <a:r>
              <a:t>Poderíamos ter escrito na documentação "não aja sem autorização". Em vez disso,</a:t>
            </a:r>
          </a:p>
          <a:p>
            <a:r>
              <a:t>authorized(?n) é precondição de todo operador que alcança a planta. O planejador</a:t>
            </a:r>
          </a:p>
          <a:p>
            <a:r>
              <a:t>não pode produzir um plano que aja sem autorização — não porque foi instruído a</a:t>
            </a:r>
          </a:p>
          <a:p>
            <a:r>
              <a:t>não fazê-lo, mas porque esse plano não existe no espaço de estados.</a:t>
            </a:r>
          </a:p>
          <a:p/>
          <a:p>
            <a:r>
              <a:t>Há um teste que verifica essa invariante em todos os oito diagnósticos.</a:t>
            </a:r>
          </a:p>
          <a:p/>
          <a:p>
            <a:r>
              <a:t>A única exceção é monitor_and_wait, porque observar não altera a planta.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29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Newell e Simon, 1959. A contribuição conceitual é dupla.</a:t>
            </a:r>
          </a:p>
          <a:p/>
          <a:p>
            <a:r>
              <a:t>Primeiro, o vocabulário: estados, operadores, objetivos, subobjetivos — que o</a:t>
            </a:r>
          </a:p>
          <a:p>
            <a:r>
              <a:t>planejamento usa até hoje.</a:t>
            </a:r>
          </a:p>
          <a:p/>
          <a:p>
            <a:r>
              <a:t>Segundo, e mais importante para nós: o porquê de cada ação fica explícito. Cada</a:t>
            </a:r>
          </a:p>
          <a:p>
            <a:r>
              <a:t>ação existe para eliminar uma diferença concreta. Compare com a saída de um</a:t>
            </a:r>
          </a:p>
          <a:p>
            <a:r>
              <a:t>solver moderno, que devolve um plano ótimo sem dizer por que cada passo está</a:t>
            </a:r>
          </a:p>
          <a:p>
            <a:r>
              <a:t>ali.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30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Percorra o trace com o dedo. Cada linha "DIFERENÇA a reduzir" é uma pergunta;</a:t>
            </a:r>
          </a:p>
          <a:p>
            <a:r>
              <a:t>cada "operador candidato" é uma tentativa de resposta; e a recursão termina</a:t>
            </a:r>
          </a:p>
          <a:p>
            <a:r>
              <a:t>quando a diferença desaparece — aqui, quando descobrimos que a equipe já está na</a:t>
            </a:r>
          </a:p>
          <a:p>
            <a:r>
              <a:t>base.</a:t>
            </a:r>
          </a:p>
          <a:p/>
          <a:p>
            <a:r>
              <a:t>O plano final é a pilha desfeita na ordem inversa.</a:t>
            </a:r>
          </a:p>
          <a:p/>
          <a:p>
            <a:r>
              <a:t>$ aisg plan --diagnosis node_power_failure --node RM_A5 --solver gps --trace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31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Diga as limitações você mesmo. Um trabalho que apresenta só os acertos convida</a:t>
            </a:r>
          </a:p>
          <a:p>
            <a:r>
              <a:t>a pergunta; um que apresenta os limites demonstra domínio.</a:t>
            </a:r>
          </a:p>
          <a:p/>
          <a:p>
            <a:r>
              <a:t>A anomalia de Sussman merece a explicação: alcançar o objetivo A e depois o</a:t>
            </a:r>
          </a:p>
          <a:p>
            <a:r>
              <a:t>objetivo B pode destruir A. Nossa implementação não resolve o problema — adota a</a:t>
            </a:r>
          </a:p>
          <a:p>
            <a:r>
              <a:t>defesa mínima de reverificar ao final e falhar explicitamente. Falhar de forma</a:t>
            </a:r>
          </a:p>
          <a:p>
            <a:r>
              <a:t>visível é melhor que devolver um plano que não funciona.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32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Este caso está num teste do repositório, não é hipotético:</a:t>
            </a:r>
          </a:p>
          <a:p>
            <a:r>
              <a:t>test_gps_can_be_suboptimal_when_a_cheap_action_has_expensive_preconditions.</a:t>
            </a:r>
          </a:p>
          <a:p/>
          <a:p>
            <a:r>
              <a:t>O GPS vê um operador de custo 1 e escolhe-o. Não vê que ele exige um</a:t>
            </a:r>
          </a:p>
          <a:p>
            <a:r>
              <a:t>deslocamento de custo 10. O A*, que raciocina sobre o custo acumulado do caminho</a:t>
            </a:r>
          </a:p>
          <a:p>
            <a:r>
              <a:t>inteiro, encontra o plano de custo 3.</a:t>
            </a:r>
          </a:p>
          <a:p/>
          <a:p>
            <a:r>
              <a:t>É exatamente por isso que os dois planejadores convivem no mesmo repositório: um</a:t>
            </a:r>
          </a:p>
          <a:p>
            <a:r>
              <a:t>explica, o outro garante.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33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Feito esse mapeamento, QUALQUER algoritmo de busca resolve o planejamento.</a:t>
            </a:r>
          </a:p>
          <a:p/>
          <a:p>
            <a:r>
              <a:t>E aqui está o ponto que liga os temas 2 e 3: a mesma função astar do terceiro</a:t>
            </a:r>
          </a:p>
          <a:p>
            <a:r>
              <a:t>trabalho resolve o planejamento. Não é uma cópia adaptada — é a mesma função,</a:t>
            </a:r>
          </a:p>
          <a:p>
            <a:r>
              <a:t>importada de aisg.search.algorithms. Uma implementação, dois espaços de estados.</a:t>
            </a:r>
          </a:p>
          <a:p/>
          <a:p>
            <a:r>
              <a:t>Se houver uma única coisa a lembrar deste tema, é esta.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34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Este slide é sobre honestidade técnica.</a:t>
            </a:r>
          </a:p>
          <a:p/>
          <a:p>
            <a:r>
              <a:t>Seria fácil escrever "usamos a heurística de contagem de objetivos" e seguir em</a:t>
            </a:r>
          </a:p>
          <a:p>
            <a:r>
              <a:t>frente. Mas ela só é admissível sob duas condições, e essas condições precisam</a:t>
            </a:r>
          </a:p>
          <a:p>
            <a:r>
              <a:t>ser verificadas no domínio — o que fizemos.</a:t>
            </a:r>
          </a:p>
          <a:p/>
          <a:p>
            <a:r>
              <a:t>A frase final é a que importa: uma heurística inadmissível não quebra o A*. Ele</a:t>
            </a:r>
          </a:p>
          <a:p>
            <a:r>
              <a:t>continua rodando e passa a devolver soluções subótimas SEM AVISAR. Por isso a</a:t>
            </a:r>
          </a:p>
          <a:p>
            <a:r>
              <a:t>admissibilidade se demonstra, não se presume.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35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Rode ao vivo. Note a ordem: autorização primeiro, deslocamento depois, reparo,</a:t>
            </a:r>
          </a:p>
          <a:p>
            <a:r>
              <a:t>verificação, registro, encerramento.</a:t>
            </a:r>
          </a:p>
          <a:p/>
          <a:p>
            <a:r>
              <a:t>Sobre validação: um plano só vale se for executável passo a passo E atingir o</a:t>
            </a:r>
          </a:p>
          <a:p>
            <a:r>
              <a:t>objetivo. Plan.validate() reexecuta o plano desde o estado inicial e aponta o</a:t>
            </a:r>
          </a:p>
          <a:p>
            <a:r>
              <a:t>primeiro passo inaplicável com a precondição que faltou.</a:t>
            </a:r>
          </a:p>
          <a:p/>
          <a:p>
            <a:r>
              <a:t>Dois testes corrompem planos de propósito — um remove a autorização, outro</a:t>
            </a:r>
          </a:p>
          <a:p>
            <a:r>
              <a:t>remove o encerramento — para provar que a validação apanha os dois defeitos.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36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Rode: aisg plan --diagnosis rain_fade --solver astar</a:t>
            </a:r>
          </a:p>
          <a:p/>
          <a:p>
            <a:r>
              <a:t>O plano tem quatro ações e nenhuma delas alcança a planta: monitorar, verificar,</a:t>
            </a:r>
          </a:p>
          <a:p>
            <a:r>
              <a:t>registrar, encerrar. Não há deslocamento de equipe e não há autorização, porque</a:t>
            </a:r>
          </a:p>
          <a:p>
            <a:r>
              <a:t>observar não altera nada.</a:t>
            </a:r>
          </a:p>
          <a:p/>
          <a:p>
            <a:r>
              <a:t>A causa é transitória. Intervir seria tratar o clima.</a:t>
            </a:r>
          </a:p>
          <a:p/>
          <a:p>
            <a:r>
              <a:t>Saber quando não agir é tão importante quanto saber agir — e num sistema de</a:t>
            </a:r>
          </a:p>
          <a:p>
            <a:r>
              <a:t>recomendação operacional, é a diferença entre útil e perigoso.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37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Este é o segundo ponto de contato entre os trabalhos, e o mais concreto.</a:t>
            </a:r>
          </a:p>
          <a:p/>
          <a:p>
            <a:r>
              <a:t>O planejador poderia simplesmente assumir que existe rota alternativa. Em vez</a:t>
            </a:r>
          </a:p>
          <a:p>
            <a:r>
              <a:t>disso, ele pergunta ao A*: existe caminho de NOC até o dispositivo de campo que</a:t>
            </a:r>
          </a:p>
          <a:p>
            <a:r>
              <a:t>não passe pelo nó congestionado? Se a resposta é não, o literal não entra no</a:t>
            </a:r>
          </a:p>
          <a:p>
            <a:r>
              <a:t>estado inicial e o desvio deixa de ser uma opção.</a:t>
            </a:r>
          </a:p>
          <a:p/>
          <a:p>
            <a:r>
              <a:t>Há teste para os dois lados: com rota e sem rota.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38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Transição: já usamos o A* duas vezes sem explicá-lo. Agora explicamos.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39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Explique o modelo de custo antes do algoritmo, porque a prova depende dele.</a:t>
            </a:r>
          </a:p>
          <a:p/>
          <a:p>
            <a:r>
              <a:t>A velocidade é uma velocidade EFETIVA de transporte, não uma velocidade física</a:t>
            </a:r>
          </a:p>
          <a:p>
            <a:r>
              <a:t>de propagação: é uma abstração que reúne serialização, enfileiramento e o fato</a:t>
            </a:r>
          </a:p>
          <a:p>
            <a:r>
              <a:t>de que saltos de rádio mais longos operam com modulação mais robusta — e</a:t>
            </a:r>
          </a:p>
          <a:p>
            <a:r>
              <a:t>portanto mais lenta.</a:t>
            </a:r>
          </a:p>
          <a:p/>
          <a:p>
            <a:r>
              <a:t>Diga que é uma abstração. Um revisor que perceba isso sozinho vai desconfiar do</a:t>
            </a:r>
          </a:p>
          <a:p>
            <a:r>
              <a:t>resto.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40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À esquerda, o caminho ótimo com os custos salto a salto. À direita, a</a:t>
            </a:r>
          </a:p>
          <a:p>
            <a:r>
              <a:t>heurística, as duas provas, e a tabela comparativa.</a:t>
            </a:r>
          </a:p>
          <a:p/>
          <a:p>
            <a:r>
              <a:t>As duas metades de f importam: só g dá o custo uniforme, que é ótimo mas cego; só</a:t>
            </a:r>
          </a:p>
          <a:p>
            <a:r>
              <a:t>h dá a busca gulosa, que é rápida mas sem garantia. O A* é a combinação — e a</a:t>
            </a:r>
          </a:p>
          <a:p>
            <a:r>
              <a:t>tabela mostra exatamente isso.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41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Estes três pontos costumam faltar em implementações de sala de aula.</a:t>
            </a:r>
          </a:p>
          <a:p/>
          <a:p>
            <a:r>
              <a:t>O desempate importa para a reprodutibilidade: sem ele, duas execuções podem</a:t>
            </a:r>
          </a:p>
          <a:p>
            <a:r>
              <a:t>devolver caminhos diferentes de mesmo custo, e a demonstração fica instável.</a:t>
            </a:r>
          </a:p>
          <a:p/>
          <a:p>
            <a:r>
              <a:t>A reabertura é o caso geral: nossa heurística é consistente, então nunca</a:t>
            </a:r>
          </a:p>
          <a:p>
            <a:r>
              <a:t>acontece — mas tratamos, em vez de SUPOR a consistência. Supor é como se</a:t>
            </a:r>
          </a:p>
          <a:p>
            <a:r>
              <a:t>introduzem defeitos silenciosos.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42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Este é o momento de nível de doutorado da apresentação. Vá devagar.</a:t>
            </a:r>
          </a:p>
          <a:p/>
          <a:p>
            <a:r>
              <a:t>A chave é dividir pela velocidade MÁXIMA do sistema — a da fibra. Como nenhum</a:t>
            </a:r>
          </a:p>
          <a:p>
            <a:r>
              <a:t>enlace pode ser mais rápido que o mais rápido de todos, e como a sobrecarga</a:t>
            </a:r>
          </a:p>
          <a:p>
            <a:r>
              <a:t>nunca é negativa, cada salto custa pelo menos a distância percorrida dividida</a:t>
            </a:r>
          </a:p>
          <a:p>
            <a:r>
              <a:t>por esse máximo. A desigualdade triangular fecha o argumento.</a:t>
            </a:r>
          </a:p>
          <a:p/>
          <a:p>
            <a:r>
              <a:t>E não é acidente: o modelo de custo foi PROJETADO para que a prova se sustente.</a:t>
            </a:r>
          </a:p>
          <a:p>
            <a:r>
              <a:t>As distâncias são derivadas das coordenadas, nunca armazenadas em separado, de</a:t>
            </a:r>
          </a:p>
          <a:p>
            <a:r>
              <a:t>modo que geometria e heurística não podem divergir.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43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Termine a matemática e passe imediatamente à verificação. Não paramos no</a:t>
            </a:r>
          </a:p>
          <a:p>
            <a:r>
              <a:t>argumento: dois testes checam as duas propriedades exaustivamente, comparando</a:t>
            </a:r>
          </a:p>
          <a:p>
            <a:r>
              <a:t>contra o custo ótimo obtido por busca de custo uniforme — que não usa heurística</a:t>
            </a:r>
          </a:p>
          <a:p>
            <a:r>
              <a:t>nenhuma e serve de verdade de referência.</a:t>
            </a:r>
          </a:p>
          <a:p/>
          <a:p>
            <a:r>
              <a:t>Se alguém perguntar "como você sabe que a prova está certa?", a resposta é que a</a:t>
            </a:r>
          </a:p>
          <a:p>
            <a:r>
              <a:t>prova e o teste concordam em mais de mil pares.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44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Esta tabela é o centro do tema 3. Leia as três lições:</a:t>
            </a:r>
          </a:p>
          <a:p/>
          <a:p>
            <a:r>
              <a:t>Primeira: a busca em largura minimiza SALTOS, não custo. Quatro saltos por 357</a:t>
            </a:r>
          </a:p>
          <a:p>
            <a:r>
              <a:t>ms, quase quatro vezes o ótimo — porque conta um salto de fibra e um salto de</a:t>
            </a:r>
          </a:p>
          <a:p>
            <a:r>
              <a:t>rádio armazena-e-encaminha como iguais.</a:t>
            </a:r>
          </a:p>
          <a:p/>
          <a:p>
            <a:r>
              <a:t>Segunda: a gulosa é a mais rápida E ESTÁ ERRADA. Cinco expansões contra onze do</a:t>
            </a:r>
          </a:p>
          <a:p>
            <a:r>
              <a:t>A*, e um caminho 3,9 vezes mais caro. É o argumento mais direto a favor do termo</a:t>
            </a:r>
          </a:p>
          <a:p>
            <a:r>
              <a:t>g(n).</a:t>
            </a:r>
          </a:p>
          <a:p/>
          <a:p>
            <a:r>
              <a:t>Terceira: o A* alcança o mesmo ótimo do custo uniforme expandindo menos nós. A</a:t>
            </a:r>
          </a:p>
          <a:p>
            <a:r>
              <a:t>heurística não muda a resposta; muda o trabalho necessário para chegar a ela.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45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O caminho ótimo evita inteiramente a cadeia armazena-e-encaminha e desce pela</a:t>
            </a:r>
          </a:p>
          <a:p>
            <a:r>
              <a:t>sobreposição LTE.</a:t>
            </a:r>
          </a:p>
          <a:p/>
          <a:p>
            <a:r>
              <a:t>Repare que o salto LTE domina o custo — 70 dos 92 ms. Ainda assim, é mais barato</a:t>
            </a:r>
          </a:p>
          <a:p>
            <a:r>
              <a:t>que três saltos de repetidor, cada um pagando 25 ms só de sobrecarga por</a:t>
            </a:r>
          </a:p>
          <a:p>
            <a:r>
              <a:t>terminar e retransmitir o quadro.</a:t>
            </a:r>
          </a:p>
          <a:p/>
          <a:p>
            <a:r>
              <a:t>Este é o tipo de conclusão que um operador de rede tiraria de um estudo de</a:t>
            </a:r>
          </a:p>
          <a:p>
            <a:r>
              <a:t>planejamento — e o algoritmo chegou a ela sozinho.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46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Um único par pode ser sorte. Estes números somam TODOS os pares</a:t>
            </a:r>
          </a:p>
          <a:p>
            <a:r>
              <a:t>origem-objetivo de cada cenário.</a:t>
            </a:r>
          </a:p>
          <a:p/>
          <a:p>
            <a:r>
              <a:t>A economia agregada triplica ao passar de 17 para 30 nós. É o argumento prático</a:t>
            </a:r>
          </a:p>
          <a:p>
            <a:r>
              <a:t>a favor do A* quando a rede cresce: num grafo pequeno, a busca cega é barata;</a:t>
            </a:r>
          </a:p>
          <a:p>
            <a:r>
              <a:t>num grande, deixa de ser.</a:t>
            </a:r>
          </a:p>
          <a:p/>
          <a:p>
            <a:r>
              <a:t>O teste test_the_heuristic_saves_more_work_as_the_graph_grows verifica essa</a:t>
            </a:r>
          </a:p>
          <a:p>
            <a:r>
              <a:t>RELAÇÃO — que a economia cresce — e não os números específicos, que mudariam a</a:t>
            </a:r>
          </a:p>
          <a:p>
            <a:r>
              <a:t>cada ajuste na topologia.</a:t>
            </a:r>
          </a:p>
          <a:p/>
          <a:p>
            <a:r>
              <a:t>$ aisg --topology scale route --compare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47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Demonstre a injeção de falha ao vivo. É assim que a integração com o</a:t>
            </a:r>
          </a:p>
          <a:p>
            <a:r>
              <a:t>planejador funciona: quando o plano inclui desviar tráfego, a rota é recalculada</a:t>
            </a:r>
          </a:p>
          <a:p>
            <a:r>
              <a:t>evitando o nó afetado.</a:t>
            </a:r>
          </a:p>
          <a:p/>
          <a:p>
            <a:r>
              <a:t>O teste test_disabling_a_link_changes_the_optimal_route verifica exatamente</a:t>
            </a:r>
          </a:p>
          <a:p>
            <a:r>
              <a:t>isso: que o custo sobe e que o caminho muda.</a:t>
            </a:r>
          </a:p>
          <a:p/>
          <a:p>
            <a:r>
              <a:t>Este slide também responde a uma pergunta provável: o sistema lida com mudança?</a:t>
            </a:r>
          </a:p>
          <a:p>
            <a:r>
              <a:t>Lida — recalculando, não consultando uma tabela fixa.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48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Este slide existe porque a pergunta é boa e vai ser feita.</a:t>
            </a:r>
          </a:p>
          <a:p/>
          <a:p>
            <a:r>
              <a:t>Aprender a heurística NÃO esbarra no obstáculo do diagnóstico. O alvo de</a:t>
            </a:r>
          </a:p>
          <a:p>
            <a:r>
              <a:t>regressão é o custo real restante, e esse custo é calculável exatamente rodando</a:t>
            </a:r>
          </a:p>
          <a:p>
            <a:r>
              <a:t>Dijkstra a partir do objetivo. A supervisão é gratuita, exata e ilimitada — nada</a:t>
            </a:r>
          </a:p>
          <a:p>
            <a:r>
              <a:t>a ver com rotular falhas em campo.</a:t>
            </a:r>
          </a:p>
          <a:p/>
          <a:p>
            <a:r>
              <a:t>O ponto onde isso realmente pagaria não é o roteamento: ali a distância em linha</a:t>
            </a:r>
          </a:p>
          <a:p>
            <a:r>
              <a:t>reta já é quase perfeita e custa nada. É o PLANEJADOR, onde goal_count vale no</a:t>
            </a:r>
          </a:p>
          <a:p>
            <a:r>
              <a:t>máximo 2 e o espaço de estados não tem geometria para explorar. É exatamente o</a:t>
            </a:r>
          </a:p>
          <a:p>
            <a:r>
              <a:t>caso em que a literatura usa heurísticas aprendidas.</a:t>
            </a:r>
          </a:p>
          <a:p/>
          <a:p>
            <a:r>
              <a:t>O preço é a admissibilidade. Uma rede treinada por regressão pode superestimar, e</a:t>
            </a:r>
          </a:p>
          <a:p>
            <a:r>
              <a:t>aí o A* continua rodando e devolve planos subótimos SEM AVISAR — o mesmo risco</a:t>
            </a:r>
          </a:p>
          <a:p>
            <a:r>
              <a:t>que discutimos no slide da heurística goal_count.</a:t>
            </a:r>
          </a:p>
          <a:p/>
          <a:p>
            <a:r>
              <a:t>E aqui está o que torna este repositório bem posicionado para o experimento: já</a:t>
            </a:r>
          </a:p>
          <a:p>
            <a:r>
              <a:t>temos testes que verificam admissibilidade exaustivamente. Eles nao seriam</a:t>
            </a:r>
          </a:p>
          <a:p>
            <a:r>
              <a:t>apenas uma proteção — seriam o instrumento para MEDIR quantas vezes a heurística</a:t>
            </a:r>
          </a:p>
          <a:p>
            <a:r>
              <a:t>aprendida viola a admissibilidade, e em quanto. Isso é um resultado publicável,</a:t>
            </a:r>
          </a:p>
          <a:p>
            <a:r>
              <a:t>não um detalhe de implementação.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49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Feche o tema 3 amarrando-o ao tema 2.</a:t>
            </a:r>
          </a:p>
          <a:p/>
          <a:p>
            <a:r>
              <a:t>A busca está definida sobre um PROBLEMA ABSTRATO: estado inicial, teste de</a:t>
            </a:r>
          </a:p>
          <a:p>
            <a:r>
              <a:t>objetivo, função sucessora. Nada nela sabe o que é um nó de rede.</a:t>
            </a:r>
          </a:p>
          <a:p/>
          <a:p>
            <a:r>
              <a:t>Por isso a mesma função serve para achar um caminho num grafo de comunicação e</a:t>
            </a:r>
          </a:p>
          <a:p>
            <a:r>
              <a:t>para achar uma sequência de ações num espaço de estados de planejamento. Não há</a:t>
            </a:r>
          </a:p>
          <a:p>
            <a:r>
              <a:t>duas implementações de A* neste repositório — há uma, usada duas vezes.</a:t>
            </a:r>
          </a:p>
          <a:p/>
          <a:p>
            <a:r>
              <a:t>É o tipo de reuso que só aparece quando a abstração está certa.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50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Último bloco, e o único em que os três trabalhos aparecem juntos.</a:t>
            </a:r>
          </a:p>
          <a:p/>
          <a:p>
            <a:r>
              <a:t>Até aqui cada tema foi apresentado isoladamente. Agora mostre que eles formam um</a:t>
            </a:r>
          </a:p>
          <a:p>
            <a:r>
              <a:t>sistema: um incidente atravessa os três, e o que sai de um é a entrada do</a:t>
            </a:r>
          </a:p>
          <a:p>
            <a:r>
              <a:t>seguinte.</a:t>
            </a:r>
          </a:p>
          <a:p/>
          <a:p>
            <a:r>
              <a:t>Reserve tempo para as perguntas — com três temas de trinta minutos, elas tendem</a:t>
            </a:r>
          </a:p>
          <a:p>
            <a:r>
              <a:t>a concentrar-se no fim.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51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A demonstração final. Um comando só.</a:t>
            </a:r>
          </a:p>
          <a:p/>
          <a:p>
            <a:r>
              <a:t>O sistema especialista diagnostica congestionamento. O diagnóstico vira o estado</a:t>
            </a:r>
          </a:p>
          <a:p>
            <a:r>
              <a:t>inicial do planejador. O planejador só pode propor desvio porque a busca A*</a:t>
            </a:r>
          </a:p>
          <a:p>
            <a:r>
              <a:t>CONFIRMOU que existe rota alternativa evitando o nó. E o plano sai com</a:t>
            </a:r>
          </a:p>
          <a:p>
            <a:r>
              <a:t>autorização, verificação e registro.</a:t>
            </a:r>
          </a:p>
          <a:p/>
          <a:p>
            <a:r>
              <a:t>Os três trabalhos não são três exercícios: são um sistema.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52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Feche pelos limites, e não pelos resultados. É o que separa um trabalho de</a:t>
            </a:r>
          </a:p>
          <a:p>
            <a:r>
              <a:t>engenharia de uma demonstração.</a:t>
            </a:r>
          </a:p>
          <a:p/>
          <a:p>
            <a:r>
              <a:t>Cada uma destas linhas é uma afirmação que o sistema faz sobre si mesmo — a</a:t>
            </a:r>
          </a:p>
          <a:p>
            <a:r>
              <a:t>última aparece impressa ao fim de cada consulta.</a:t>
            </a:r>
          </a:p>
          <a:p/>
          <a:p>
            <a:r>
              <a:t>Se houver tempo, mencione o que vem a seguir: o sistema multiespecialista e a</a:t>
            </a:r>
          </a:p>
          <a:p>
            <a:r>
              <a:t>eco-resolução em 25/09, e a análise do artigo sobre encadeamento em 02/10.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53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Não mostre este slide na apresentação — ele é a sua cola. Deixe-o oculto ou</a:t>
            </a:r>
          </a:p>
          <a:p>
            <a:r>
              <a:t>pule-o rapidamente.</a:t>
            </a:r>
          </a:p>
          <a:p/>
          <a:p>
            <a:r>
              <a:t>Se uma pergunta não estiver aqui e você não souber, a melhor resposta é a</a:t>
            </a:r>
          </a:p>
          <a:p>
            <a:r>
              <a:t>honesta: dizer o que sabe, dizer o que não verificou, e oferecer verificar.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54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Encerramento.</a:t>
            </a:r>
          </a:p>
          <a:p/>
          <a:p>
            <a:r>
              <a:t>O repositório é público, tem 108 testes verdes em integração contínua para</a:t>
            </a:r>
          </a:p>
          <a:p>
            <a:r>
              <a:t>Python 3.10 a 3.13, documentação bilíngue, e uma wiki que liga cada conceito da</a:t>
            </a:r>
          </a:p>
          <a:p>
            <a:r>
              <a:t>disciplina ao ponto do código que o implementa.</a:t>
            </a:r>
          </a:p>
          <a:p/>
          <a:p>
            <a:r>
              <a:t>Convide perguntas.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slideLayouts/_rels/slideLayout1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2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4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5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6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7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8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9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0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1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type="title" preserve="1">
  <p:cSld name="Title Slide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ctrTitle"/>
          </p:nvPr>
        </p:nvSpPr>
        <p:spPr>
          <a:xfrm>
            <a:off x="685800" y="2130425"/>
            <a:ext cx="7772400" cy="1470025"/>
          </a:xfrm>
        </p:spPr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Subtitle 2"/>
          <p:cNvSpPr>
            <a:spLocks noGrp="1"/>
          </p:cNvSpPr>
          <p:nvPr>
            <p:ph type="subTitle" idx="1"/>
          </p:nvPr>
        </p:nvSpPr>
        <p:spPr>
          <a:xfrm>
            <a:off x="1371600" y="3886200"/>
            <a:ext cx="6400800" cy="1752600"/>
          </a:xfrm>
        </p:spPr>
        <p:txBody>
          <a:bodyPr/>
          <a:lstStyle>
            <a:lvl1pPr marL="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1pPr>
            <a:lvl2pPr marL="457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2pPr>
            <a:lvl3pPr marL="914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3pPr>
            <a:lvl4pPr marL="1371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4pPr>
            <a:lvl5pPr marL="18288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5pPr>
            <a:lvl6pPr marL="22860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6pPr>
            <a:lvl7pPr marL="2743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7pPr>
            <a:lvl8pPr marL="3200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8pPr>
            <a:lvl9pPr marL="3657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r>
              <a:rPr lang="en-US" smtClean="0"/>
              <a:t>Click to edit Master subtitle style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168075583"/>
      </p:ext>
    </p:extLst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p="http://schemas.openxmlformats.org/presentationml/2006/main" type="obj" preserve="1">
  <p:cSld name="Title and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614314258"/>
      </p:ext>
    </p:extLst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p="http://schemas.openxmlformats.org/presentationml/2006/main" type="secHead" preserve="1">
  <p:cSld name="Section Header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722313" y="4406900"/>
            <a:ext cx="7772400" cy="1362075"/>
          </a:xfrm>
        </p:spPr>
        <p:txBody>
          <a:bodyPr anchor="t"/>
          <a:lstStyle>
            <a:lvl1pPr algn="l">
              <a:defRPr sz="4000" b="1" cap="all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722313" y="2906713"/>
            <a:ext cx="7772400" cy="1500187"/>
          </a:xfrm>
        </p:spPr>
        <p:txBody>
          <a:bodyPr anchor="b"/>
          <a:lstStyle>
            <a:lvl1pPr marL="0" indent="0">
              <a:buNone/>
              <a:defRPr sz="2000">
                <a:solidFill>
                  <a:schemeClr val="tx1">
                    <a:tint val="75000"/>
                  </a:schemeClr>
                </a:solidFill>
              </a:defRPr>
            </a:lvl1pPr>
            <a:lvl2pPr marL="457200" indent="0">
              <a:buNone/>
              <a:defRPr sz="1800">
                <a:solidFill>
                  <a:schemeClr val="tx1">
                    <a:tint val="75000"/>
                  </a:schemeClr>
                </a:solidFill>
              </a:defRPr>
            </a:lvl2pPr>
            <a:lvl3pPr marL="9144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3pPr>
            <a:lvl4pPr marL="1371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4pPr>
            <a:lvl5pPr marL="18288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5pPr>
            <a:lvl6pPr marL="22860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6pPr>
            <a:lvl7pPr marL="27432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7pPr>
            <a:lvl8pPr marL="32004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8pPr>
            <a:lvl9pPr marL="3657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960648375"/>
      </p:ext>
    </p:extLst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p="http://schemas.openxmlformats.org/presentationml/2006/main" type="twoObj" preserve="1">
  <p:cSld name="Two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sz="half" idx="1"/>
          </p:nvPr>
        </p:nvSpPr>
        <p:spPr>
          <a:xfrm>
            <a:off x="457200" y="1600200"/>
            <a:ext cx="4038600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648200" y="1600200"/>
            <a:ext cx="4038600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782244947"/>
      </p:ext>
    </p:extLst>
  </p:cSld>
  <p:clrMapOvr>
    <a:masterClrMapping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p="http://schemas.openxmlformats.org/presentationml/2006/main" type="twoTxTwoObj" preserve="1">
  <p:cSld name="Comparis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>
            <a:lvl1pPr>
              <a:defRPr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535113"/>
            <a:ext cx="4040188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57200" y="2174875"/>
            <a:ext cx="4040188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5" name="Text Placeholder 4"/>
          <p:cNvSpPr>
            <a:spLocks noGrp="1"/>
          </p:cNvSpPr>
          <p:nvPr>
            <p:ph type="body" sz="quarter" idx="3"/>
          </p:nvPr>
        </p:nvSpPr>
        <p:spPr>
          <a:xfrm>
            <a:off x="4645025" y="1535113"/>
            <a:ext cx="4041775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6" name="Content Placeholder 5"/>
          <p:cNvSpPr>
            <a:spLocks noGrp="1"/>
          </p:cNvSpPr>
          <p:nvPr>
            <p:ph sz="quarter" idx="4"/>
          </p:nvPr>
        </p:nvSpPr>
        <p:spPr>
          <a:xfrm>
            <a:off x="4645025" y="2174875"/>
            <a:ext cx="4041775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7" name="Date Placeholder 6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8" name="Footer Placeholder 7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9" name="Slide Number Placeholder 8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990158736"/>
      </p:ext>
    </p:extLst>
  </p:cSld>
  <p:clrMapOvr>
    <a:masterClrMapping/>
  </p:clrMapOvr>
</p:sldLayout>
</file>

<file path=ppt/slideLayouts/slideLayout6.xml><?xml version="1.0" encoding="utf-8"?>
<p:sldLayout xmlns:a="http://schemas.openxmlformats.org/drawingml/2006/main" xmlns:r="http://schemas.openxmlformats.org/officeDocument/2006/relationships" xmlns:p="http://schemas.openxmlformats.org/presentationml/2006/main" type="titleOnly" preserve="1">
  <p:cSld name="Title Only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Date Placeholder 2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4" name="Footer Placeholder 3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5" name="Slide Number Placeholder 4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727027711"/>
      </p:ext>
    </p:extLst>
  </p:cSld>
  <p:clrMapOvr>
    <a:masterClrMapping/>
  </p:clrMapOvr>
</p:sldLayout>
</file>

<file path=ppt/slideLayouts/slideLayout7.xml><?xml version="1.0" encoding="utf-8"?>
<p:sldLayout xmlns:a="http://schemas.openxmlformats.org/drawingml/2006/main" xmlns:r="http://schemas.openxmlformats.org/officeDocument/2006/relationships" xmlns:p="http://schemas.openxmlformats.org/presentationml/2006/main" type="blank" preserve="1">
  <p:cSld name="Blank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ate Placeholder 1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3" name="Footer Placeholder 2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212999818"/>
      </p:ext>
    </p:extLst>
  </p:cSld>
  <p:clrMapOvr>
    <a:masterClrMapping/>
  </p:clrMapOvr>
</p:sldLayout>
</file>

<file path=ppt/slideLayouts/slideLayout8.xml><?xml version="1.0" encoding="utf-8"?>
<p:sldLayout xmlns:a="http://schemas.openxmlformats.org/drawingml/2006/main" xmlns:r="http://schemas.openxmlformats.org/officeDocument/2006/relationships" xmlns:p="http://schemas.openxmlformats.org/presentationml/2006/main" type="objTx" preserve="1">
  <p:cSld name="Content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457200" y="273050"/>
            <a:ext cx="3008313" cy="1162050"/>
          </a:xfrm>
        </p:spPr>
        <p:txBody>
          <a:bodyPr anchor="b"/>
          <a:lstStyle>
            <a:lvl1pPr algn="l">
              <a:defRPr sz="2000" b="1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>
          <a:xfrm>
            <a:off x="3575050" y="273050"/>
            <a:ext cx="5111750" cy="5853113"/>
          </a:xfrm>
        </p:spPr>
        <p:txBody>
          <a:bodyPr/>
          <a:lstStyle>
            <a:lvl1pPr>
              <a:defRPr sz="3200"/>
            </a:lvl1pPr>
            <a:lvl2pPr>
              <a:defRPr sz="2800"/>
            </a:lvl2pPr>
            <a:lvl3pPr>
              <a:defRPr sz="2400"/>
            </a:lvl3pPr>
            <a:lvl4pPr>
              <a:defRPr sz="2000"/>
            </a:lvl4pPr>
            <a:lvl5pPr>
              <a:defRPr sz="2000"/>
            </a:lvl5pPr>
            <a:lvl6pPr>
              <a:defRPr sz="2000"/>
            </a:lvl6pPr>
            <a:lvl7pPr>
              <a:defRPr sz="2000"/>
            </a:lvl7pPr>
            <a:lvl8pPr>
              <a:defRPr sz="2000"/>
            </a:lvl8pPr>
            <a:lvl9pPr>
              <a:defRPr sz="20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457200" y="1435100"/>
            <a:ext cx="3008313" cy="4691063"/>
          </a:xfrm>
        </p:spPr>
        <p:txBody>
          <a:bodyPr/>
          <a:lstStyle>
            <a:lvl1pPr marL="0" indent="0">
              <a:buNone/>
              <a:defRPr sz="1400"/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840726560"/>
      </p:ext>
    </p:extLst>
  </p:cSld>
  <p:clrMapOvr>
    <a:masterClrMapping/>
  </p:clrMapOvr>
</p:sldLayout>
</file>

<file path=ppt/slideLayouts/slideLayout9.xml><?xml version="1.0" encoding="utf-8"?>
<p:sldLayout xmlns:a="http://schemas.openxmlformats.org/drawingml/2006/main" xmlns:r="http://schemas.openxmlformats.org/officeDocument/2006/relationships" xmlns:p="http://schemas.openxmlformats.org/presentationml/2006/main" type="picTx" preserve="1">
  <p:cSld name="Picture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1792288" y="4800600"/>
            <a:ext cx="5486400" cy="566738"/>
          </a:xfrm>
        </p:spPr>
        <p:txBody>
          <a:bodyPr anchor="b"/>
          <a:lstStyle>
            <a:lvl1pPr algn="l">
              <a:defRPr sz="2000" b="1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Picture Placeholder 2"/>
          <p:cNvSpPr>
            <a:spLocks noGrp="1"/>
          </p:cNvSpPr>
          <p:nvPr>
            <p:ph type="pic" idx="1"/>
          </p:nvPr>
        </p:nvSpPr>
        <p:spPr>
          <a:xfrm>
            <a:off x="1792288" y="612775"/>
            <a:ext cx="5486400" cy="4114800"/>
          </a:xfrm>
        </p:spPr>
        <p:txBody>
          <a:bodyPr/>
          <a:lstStyle>
            <a:lvl1pPr marL="0" indent="0">
              <a:buNone/>
              <a:defRPr sz="3200"/>
            </a:lvl1pPr>
            <a:lvl2pPr marL="457200" indent="0">
              <a:buNone/>
              <a:defRPr sz="2800"/>
            </a:lvl2pPr>
            <a:lvl3pPr marL="914400" indent="0">
              <a:buNone/>
              <a:defRPr sz="2400"/>
            </a:lvl3pPr>
            <a:lvl4pPr marL="1371600" indent="0">
              <a:buNone/>
              <a:defRPr sz="2000"/>
            </a:lvl4pPr>
            <a:lvl5pPr marL="1828800" indent="0">
              <a:buNone/>
              <a:defRPr sz="2000"/>
            </a:lvl5pPr>
            <a:lvl6pPr marL="2286000" indent="0">
              <a:buNone/>
              <a:defRPr sz="2000"/>
            </a:lvl6pPr>
            <a:lvl7pPr marL="2743200" indent="0">
              <a:buNone/>
              <a:defRPr sz="2000"/>
            </a:lvl7pPr>
            <a:lvl8pPr marL="3200400" indent="0">
              <a:buNone/>
              <a:defRPr sz="2000"/>
            </a:lvl8pPr>
            <a:lvl9pPr marL="3657600" indent="0">
              <a:buNone/>
              <a:defRPr sz="2000"/>
            </a:lvl9pPr>
          </a:lstStyle>
          <a:p>
            <a:endParaRPr lang="en-US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1792288" y="5367338"/>
            <a:ext cx="5486400" cy="804862"/>
          </a:xfrm>
        </p:spPr>
        <p:txBody>
          <a:bodyPr/>
          <a:lstStyle>
            <a:lvl1pPr marL="0" indent="0">
              <a:buNone/>
              <a:defRPr sz="1400"/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889236939"/>
      </p:ext>
    </p:extLst>
  </p:cSld>
  <p:clrMapOvr>
    <a:masterClrMapping/>
  </p:clrMapOvr>
</p:sldLayout>
</file>

<file path=ppt/slideLayouts/slideLayout10.xml><?xml version="1.0" encoding="utf-8"?>
<p:sldLayout xmlns:a="http://schemas.openxmlformats.org/drawingml/2006/main" xmlns:r="http://schemas.openxmlformats.org/officeDocument/2006/relationships" xmlns:p="http://schemas.openxmlformats.org/presentationml/2006/main" type="vertTx" preserve="1">
  <p:cSld name="Title and Vertical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/>
        <p:txBody>
          <a:bodyPr vert="eaVert"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910927964"/>
      </p:ext>
    </p:extLst>
  </p:cSld>
  <p:clrMapOvr>
    <a:masterClrMapping/>
  </p:clrMapOvr>
</p:sldLayout>
</file>

<file path=ppt/slideLayouts/slideLayout11.xml><?xml version="1.0" encoding="utf-8"?>
<p:sldLayout xmlns:a="http://schemas.openxmlformats.org/drawingml/2006/main" xmlns:r="http://schemas.openxmlformats.org/officeDocument/2006/relationships" xmlns:p="http://schemas.openxmlformats.org/presentationml/2006/main" type="vertTitleAndTx" preserve="1">
  <p:cSld name="Vertical Title and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Vertical Title 1"/>
          <p:cNvSpPr>
            <a:spLocks noGrp="1"/>
          </p:cNvSpPr>
          <p:nvPr>
            <p:ph type="title" orient="vert"/>
          </p:nvPr>
        </p:nvSpPr>
        <p:spPr>
          <a:xfrm>
            <a:off x="6629400" y="274638"/>
            <a:ext cx="2057400" cy="5851525"/>
          </a:xfrm>
        </p:spPr>
        <p:txBody>
          <a:bodyPr vert="eaVert"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>
          <a:xfrm>
            <a:off x="457200" y="274638"/>
            <a:ext cx="6019800" cy="5851525"/>
          </a:xfrm>
        </p:spPr>
        <p:txBody>
          <a:bodyPr vert="eaVert"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612223792"/>
      </p:ext>
    </p:extLst>
  </p:cSld>
  <p:clrMapOvr>
    <a:masterClrMapping/>
  </p:clrMapOvr>
</p:sldLayout>
</file>

<file path=ppt/slideMasters/_rels/slideMaster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slideLayout" Target="../slideLayouts/slideLayout2.xml"/><Relationship Id="rId3" Type="http://schemas.openxmlformats.org/officeDocument/2006/relationships/slideLayout" Target="../slideLayouts/slideLayout3.xml"/><Relationship Id="rId4" Type="http://schemas.openxmlformats.org/officeDocument/2006/relationships/slideLayout" Target="../slideLayouts/slideLayout4.xml"/><Relationship Id="rId5" Type="http://schemas.openxmlformats.org/officeDocument/2006/relationships/slideLayout" Target="../slideLayouts/slideLayout5.xml"/><Relationship Id="rId6" Type="http://schemas.openxmlformats.org/officeDocument/2006/relationships/slideLayout" Target="../slideLayouts/slideLayout6.xml"/><Relationship Id="rId7" Type="http://schemas.openxmlformats.org/officeDocument/2006/relationships/slideLayout" Target="../slideLayouts/slideLayout7.xml"/><Relationship Id="rId8" Type="http://schemas.openxmlformats.org/officeDocument/2006/relationships/slideLayout" Target="../slideLayouts/slideLayout8.xml"/><Relationship Id="rId9" Type="http://schemas.openxmlformats.org/officeDocument/2006/relationships/slideLayout" Target="../slideLayouts/slideLayout9.xml"/><Relationship Id="rId10" Type="http://schemas.openxmlformats.org/officeDocument/2006/relationships/slideLayout" Target="../slideLayouts/slideLayout10.xml"/><Relationship Id="rId11" Type="http://schemas.openxmlformats.org/officeDocument/2006/relationships/slideLayout" Target="../slideLayouts/slideLayout11.xml"/><Relationship Id="rId12" Type="http://schemas.openxmlformats.org/officeDocument/2006/relationships/theme" Target="../theme/theme1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Placeholder 1"/>
          <p:cNvSpPr>
            <a:spLocks noGrp="1"/>
          </p:cNvSpPr>
          <p:nvPr>
            <p:ph type="title"/>
          </p:nvPr>
        </p:nvSpPr>
        <p:spPr>
          <a:xfrm>
            <a:off x="457200" y="274638"/>
            <a:ext cx="8229600" cy="1143000"/>
          </a:xfrm>
          <a:prstGeom prst="rect">
            <a:avLst/>
          </a:prstGeom>
        </p:spPr>
        <p:txBody>
          <a:bodyPr vert="horz" lIns="91440" tIns="45720" rIns="91440" bIns="45720" rtlCol="0" anchor="ctr">
            <a:normAutofit/>
          </a:bodyPr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600200"/>
            <a:ext cx="8229600" cy="4525963"/>
          </a:xfrm>
          <a:prstGeom prst="rect">
            <a:avLst/>
          </a:prstGeom>
        </p:spPr>
        <p:txBody>
          <a:bodyPr vert="horz" lIns="91440" tIns="45720" rIns="91440" bIns="45720" rtlCol="0">
            <a:normAutofit/>
          </a:bodyPr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2"/>
          </p:nvPr>
        </p:nvSpPr>
        <p:spPr>
          <a:xfrm>
            <a:off x="457200" y="6356350"/>
            <a:ext cx="2133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l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3"/>
          </p:nvPr>
        </p:nvSpPr>
        <p:spPr>
          <a:xfrm>
            <a:off x="3124200" y="6356350"/>
            <a:ext cx="2895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ct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4"/>
          </p:nvPr>
        </p:nvSpPr>
        <p:spPr>
          <a:xfrm>
            <a:off x="6553200" y="6356350"/>
            <a:ext cx="2133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209977519"/>
      </p:ext>
    </p:extLst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  <p:sldLayoutId id="2147483650" r:id="rId2"/>
    <p:sldLayoutId id="2147483651" r:id="rId3"/>
    <p:sldLayoutId id="2147483652" r:id="rId4"/>
    <p:sldLayoutId id="2147483653" r:id="rId5"/>
    <p:sldLayoutId id="2147483654" r:id="rId6"/>
    <p:sldLayoutId id="2147483655" r:id="rId7"/>
    <p:sldLayoutId id="2147483656" r:id="rId8"/>
    <p:sldLayoutId id="2147483657" r:id="rId9"/>
    <p:sldLayoutId id="2147483658" r:id="rId10"/>
    <p:sldLayoutId id="2147483659" r:id="rId11"/>
  </p:sldLayoutIdLst>
  <p:txStyles>
    <p:titleStyle>
      <a:lvl1pPr algn="ctr" defTabSz="457200" rtl="0" eaLnBrk="1" latinLnBrk="0" hangingPunct="1"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342900" indent="-342900" algn="l" defTabSz="457200" rtl="0" eaLnBrk="1" latinLnBrk="0" hangingPunct="1">
        <a:spcBef>
          <a:spcPct val="20000"/>
        </a:spcBef>
        <a:buFont typeface="Arial"/>
        <a:buChar char="•"/>
        <a:defRPr sz="3200" kern="1200">
          <a:solidFill>
            <a:schemeClr val="tx1"/>
          </a:solidFill>
          <a:latin typeface="+mn-lt"/>
          <a:ea typeface="+mn-ea"/>
          <a:cs typeface="+mn-cs"/>
        </a:defRPr>
      </a:lvl1pPr>
      <a:lvl2pPr marL="742950" indent="-285750" algn="l" defTabSz="457200" rtl="0" eaLnBrk="1" latinLnBrk="0" hangingPunct="1">
        <a:spcBef>
          <a:spcPct val="20000"/>
        </a:spcBef>
        <a:buFont typeface="Arial"/>
        <a:buChar char="–"/>
        <a:defRPr sz="28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457200" rtl="0" eaLnBrk="1" latinLnBrk="0" hangingPunct="1">
        <a:spcBef>
          <a:spcPct val="20000"/>
        </a:spcBef>
        <a:buFont typeface="Arial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457200" rtl="0" eaLnBrk="1" latinLnBrk="0" hangingPunct="1">
        <a:spcBef>
          <a:spcPct val="20000"/>
        </a:spcBef>
        <a:buFont typeface="Arial"/>
        <a:buChar char="–"/>
        <a:defRPr sz="20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457200" rtl="0" eaLnBrk="1" latinLnBrk="0" hangingPunct="1">
        <a:spcBef>
          <a:spcPct val="20000"/>
        </a:spcBef>
        <a:buFont typeface="Arial"/>
        <a:buChar char="»"/>
        <a:defRPr sz="20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1.png"/><Relationship Id="rId3" Type="http://schemas.openxmlformats.org/officeDocument/2006/relationships/notesSlide" Target="../notesSlides/notesSlide1.xml"/></Relationships>
</file>

<file path=ppt/slides/_rels/slide2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2.xml"/></Relationships>
</file>

<file path=ppt/slides/_rels/slide3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2.png"/><Relationship Id="rId3" Type="http://schemas.openxmlformats.org/officeDocument/2006/relationships/notesSlide" Target="../notesSlides/notesSlide3.xml"/></Relationships>
</file>

<file path=ppt/slides/_rels/slide4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4.xml"/></Relationships>
</file>

<file path=ppt/slides/_rels/slide5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5.xml"/></Relationships>
</file>

<file path=ppt/slides/_rels/slide6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6.xml"/></Relationships>
</file>

<file path=ppt/slides/_rels/slide7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7.xml"/></Relationships>
</file>

<file path=ppt/slides/_rels/slide8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8.xml"/></Relationships>
</file>

<file path=ppt/slides/_rels/slide9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9.xml"/></Relationships>
</file>

<file path=ppt/slides/_rels/slide10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10.xml"/></Relationships>
</file>

<file path=ppt/slides/_rels/slide1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11.xml"/></Relationships>
</file>

<file path=ppt/slides/_rels/slide12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3.png"/><Relationship Id="rId3" Type="http://schemas.openxmlformats.org/officeDocument/2006/relationships/notesSlide" Target="../notesSlides/notesSlide12.xml"/></Relationships>
</file>

<file path=ppt/slides/_rels/slide13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13.xml"/></Relationships>
</file>

<file path=ppt/slides/_rels/slide14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14.xml"/></Relationships>
</file>

<file path=ppt/slides/_rels/slide15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15.xml"/></Relationships>
</file>

<file path=ppt/slides/_rels/slide16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16.xml"/></Relationships>
</file>

<file path=ppt/slides/_rels/slide17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17.xml"/></Relationships>
</file>

<file path=ppt/slides/_rels/slide18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18.xml"/></Relationships>
</file>

<file path=ppt/slides/_rels/slide19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19.xml"/></Relationships>
</file>

<file path=ppt/slides/_rels/slide20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20.xml"/></Relationships>
</file>

<file path=ppt/slides/_rels/slide2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21.xml"/></Relationships>
</file>

<file path=ppt/slides/_rels/slide22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22.xml"/></Relationships>
</file>

<file path=ppt/slides/_rels/slide23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23.xml"/></Relationships>
</file>

<file path=ppt/slides/_rels/slide24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24.xml"/></Relationships>
</file>

<file path=ppt/slides/_rels/slide25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4.png"/><Relationship Id="rId3" Type="http://schemas.openxmlformats.org/officeDocument/2006/relationships/notesSlide" Target="../notesSlides/notesSlide25.xml"/></Relationships>
</file>

<file path=ppt/slides/_rels/slide26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26.xml"/></Relationships>
</file>

<file path=ppt/slides/_rels/slide27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27.xml"/></Relationships>
</file>

<file path=ppt/slides/_rels/slide28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28.xml"/></Relationships>
</file>

<file path=ppt/slides/_rels/slide29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29.xml"/></Relationships>
</file>

<file path=ppt/slides/_rels/slide30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30.xml"/></Relationships>
</file>

<file path=ppt/slides/_rels/slide3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31.xml"/></Relationships>
</file>

<file path=ppt/slides/_rels/slide32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32.xml"/></Relationships>
</file>

<file path=ppt/slides/_rels/slide33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33.xml"/></Relationships>
</file>

<file path=ppt/slides/_rels/slide34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34.xml"/></Relationships>
</file>

<file path=ppt/slides/_rels/slide35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35.xml"/></Relationships>
</file>

<file path=ppt/slides/_rels/slide36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36.xml"/></Relationships>
</file>

<file path=ppt/slides/_rels/slide37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37.xml"/></Relationships>
</file>

<file path=ppt/slides/_rels/slide38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38.xml"/></Relationships>
</file>

<file path=ppt/slides/_rels/slide39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39.xml"/></Relationships>
</file>

<file path=ppt/slides/_rels/slide40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5.png"/><Relationship Id="rId3" Type="http://schemas.openxmlformats.org/officeDocument/2006/relationships/notesSlide" Target="../notesSlides/notesSlide40.xml"/></Relationships>
</file>

<file path=ppt/slides/_rels/slide4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41.xml"/></Relationships>
</file>

<file path=ppt/slides/_rels/slide42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42.xml"/></Relationships>
</file>

<file path=ppt/slides/_rels/slide43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43.xml"/></Relationships>
</file>

<file path=ppt/slides/_rels/slide44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44.xml"/></Relationships>
</file>

<file path=ppt/slides/_rels/slide45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45.xml"/></Relationships>
</file>

<file path=ppt/slides/_rels/slide46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46.xml"/></Relationships>
</file>

<file path=ppt/slides/_rels/slide47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47.xml"/></Relationships>
</file>

<file path=ppt/slides/_rels/slide48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48.xml"/></Relationships>
</file>

<file path=ppt/slides/_rels/slide49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49.xml"/></Relationships>
</file>

<file path=ppt/slides/_rels/slide50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50.xml"/></Relationships>
</file>

<file path=ppt/slides/_rels/slide5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51.xml"/></Relationships>
</file>

<file path=ppt/slides/_rels/slide52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52.xml"/></Relationships>
</file>

<file path=ppt/slides/_rels/slide53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53.xml"/></Relationships>
</file>

<file path=ppt/slides/_rels/slide54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54.xml"/></Relationships>
</file>

<file path=ppt/slides/slide1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061219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pic>
        <p:nvPicPr>
          <p:cNvPr id="3" name="Picture 2" descr="banner-dark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0" y="502920"/>
            <a:ext cx="12191695" cy="3428486"/>
          </a:xfrm>
          <a:prstGeom prst="rect">
            <a:avLst/>
          </a:prstGeom>
        </p:spPr>
      </p:pic>
      <p:sp>
        <p:nvSpPr>
          <p:cNvPr id="4" name="TextBox 3"/>
          <p:cNvSpPr txBox="1"/>
          <p:nvPr/>
        </p:nvSpPr>
        <p:spPr>
          <a:xfrm>
            <a:off x="822960" y="4846320"/>
            <a:ext cx="10515600" cy="6400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lnSpc>
                <a:spcPct val="100000"/>
              </a:lnSpc>
            </a:pPr>
            <a:r>
              <a:rPr sz="2200" b="0">
                <a:solidFill>
                  <a:srgbClr val="FFFFFF"/>
                </a:solidFill>
                <a:latin typeface="Segoe UI"/>
              </a:rPr>
              <a:t>Sistema especialista · Planejamento automático · Busca A*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822960" y="5577840"/>
            <a:ext cx="10515600" cy="4572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lnSpc>
                <a:spcPct val="100000"/>
              </a:lnSpc>
            </a:pPr>
            <a:r>
              <a:rPr sz="1500" b="0">
                <a:solidFill>
                  <a:srgbClr val="9FC6D8"/>
                </a:solidFill>
                <a:latin typeface="Segoe UI"/>
              </a:rPr>
              <a:t>Fernando Sabino Dantas  ·  Introdução à Inteligência Artificial  ·  2026</a:t>
            </a:r>
          </a:p>
        </p:txBody>
      </p:sp>
    </p:spTree>
  </p:cSld>
  <p:clrMapOvr>
    <a:masterClrMapping/>
  </p:clrMapOvr>
</p:sld>
</file>

<file path=ppt/slides/slide2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FBFAF7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0"/>
            <a:ext cx="12191695" cy="146304"/>
          </a:xfrm>
          <a:prstGeom prst="rect">
            <a:avLst/>
          </a:prstGeom>
          <a:solidFill>
            <a:srgbClr val="0072B2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685800" y="457200"/>
            <a:ext cx="10789920" cy="8229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lnSpc>
                <a:spcPct val="100000"/>
              </a:lnSpc>
            </a:pPr>
            <a:r>
              <a:rPr sz="3200" b="1">
                <a:solidFill>
                  <a:srgbClr val="1F2933"/>
                </a:solidFill>
                <a:latin typeface="Segoe UI"/>
              </a:rPr>
              <a:t>Os três trabalhos, um único domínio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685800" y="1371600"/>
            <a:ext cx="10789920" cy="493776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>
              <a:spcAft>
                <a:spcPts val="1600"/>
              </a:spcAft>
            </a:pPr>
            <a:r>
              <a:rPr sz="2300" b="1">
                <a:solidFill>
                  <a:srgbClr val="1F2933"/>
                </a:solidFill>
                <a:latin typeface="Segoe UI"/>
              </a:rPr>
              <a:t>• Sistema especialista: 43 regras, encadeamento nos dois sentidos, fatores de certeza</a:t>
            </a:r>
          </a:p>
          <a:p>
            <a:pPr>
              <a:spcAft>
                <a:spcPts val="1600"/>
              </a:spcAft>
            </a:pPr>
            <a:r>
              <a:rPr sz="2300" b="1">
                <a:solidFill>
                  <a:srgbClr val="1F2933"/>
                </a:solidFill>
                <a:latin typeface="Segoe UI"/>
              </a:rPr>
              <a:t>• Geração automática de planos: STRIPS, resolvido por GPS e por A* progressivo</a:t>
            </a:r>
          </a:p>
          <a:p>
            <a:pPr>
              <a:spcAft>
                <a:spcPts val="1600"/>
              </a:spcAft>
            </a:pPr>
            <a:r>
              <a:rPr sz="2300" b="1">
                <a:solidFill>
                  <a:srgbClr val="1F2933"/>
                </a:solidFill>
                <a:latin typeface="Segoe UI"/>
              </a:rPr>
              <a:t>• Busca A*: caminho exato, com prova de admissibilidade</a:t>
            </a:r>
          </a:p>
          <a:p>
            <a:pPr>
              <a:spcAft>
                <a:spcPts val="1600"/>
              </a:spcAft>
            </a:pPr>
            <a:r>
              <a:rPr sz="2300" b="1">
                <a:solidFill>
                  <a:srgbClr val="1F2933"/>
                </a:solidFill>
                <a:latin typeface="Segoe UI"/>
              </a:rPr>
              <a:t>• Domínio comum: a rede de comunicação de um sistema elétrico inteligente</a:t>
            </a:r>
          </a:p>
          <a:p>
            <a:pPr lvl="1">
              <a:spcAft>
                <a:spcPts val="1000"/>
              </a:spcAft>
            </a:pPr>
            <a:r>
              <a:rPr sz="1900" b="0">
                <a:solidFill>
                  <a:srgbClr val="52606D"/>
                </a:solidFill>
                <a:latin typeface="Segoe UI"/>
              </a:rPr>
              <a:t>Os três se integram: o diagnóstico vira o estado inicial do plano, e o plano consulta a busca</a:t>
            </a:r>
          </a:p>
        </p:txBody>
      </p:sp>
    </p:spTree>
  </p:cSld>
  <p:clrMapOvr>
    <a:masterClrMapping/>
  </p:clrMapOvr>
</p:sld>
</file>

<file path=ppt/slides/slide3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FBFAF7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0"/>
            <a:ext cx="12191695" cy="146304"/>
          </a:xfrm>
          <a:prstGeom prst="rect">
            <a:avLst/>
          </a:prstGeom>
          <a:solidFill>
            <a:srgbClr val="0072B2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685800" y="384048"/>
            <a:ext cx="10789920" cy="7315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lnSpc>
                <a:spcPct val="100000"/>
              </a:lnSpc>
            </a:pPr>
            <a:r>
              <a:rPr sz="2800" b="1">
                <a:solidFill>
                  <a:srgbClr val="1F2933"/>
                </a:solidFill>
                <a:latin typeface="Segoe UI"/>
              </a:rPr>
              <a:t>O domínio: backhaul de comunicação</a:t>
            </a:r>
          </a:p>
        </p:txBody>
      </p:sp>
      <p:pic>
        <p:nvPicPr>
          <p:cNvPr id="5" name="Picture 4" descr="01-integration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1711941" y="1234440"/>
            <a:ext cx="8767813" cy="4754880"/>
          </a:xfrm>
          <a:prstGeom prst="rect">
            <a:avLst/>
          </a:prstGeom>
        </p:spPr>
      </p:pic>
      <p:sp>
        <p:nvSpPr>
          <p:cNvPr id="6" name="TextBox 5"/>
          <p:cNvSpPr txBox="1"/>
          <p:nvPr/>
        </p:nvSpPr>
        <p:spPr>
          <a:xfrm>
            <a:off x="685800" y="6172200"/>
            <a:ext cx="10789920" cy="4572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lnSpc>
                <a:spcPct val="100000"/>
              </a:lnSpc>
            </a:pPr>
            <a:r>
              <a:rPr sz="1300" b="0">
                <a:solidFill>
                  <a:srgbClr val="52606D"/>
                </a:solidFill>
                <a:latin typeface="Segoe UI"/>
              </a:rPr>
              <a:t>17 nós no cenário base, 30 no cenário de escala. Topologia sintética.</a:t>
            </a:r>
          </a:p>
        </p:txBody>
      </p:sp>
    </p:spTree>
  </p:cSld>
  <p:clrMapOvr>
    <a:masterClrMapping/>
  </p:clrMapOvr>
</p:sld>
</file>

<file path=ppt/slides/slide4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061219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2286000"/>
            <a:ext cx="12191695" cy="54864"/>
          </a:xfrm>
          <a:prstGeom prst="rect">
            <a:avLst/>
          </a:prstGeom>
          <a:solidFill>
            <a:srgbClr val="0072B2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1005840" y="1828800"/>
            <a:ext cx="10149840" cy="4572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lnSpc>
                <a:spcPct val="100000"/>
              </a:lnSpc>
            </a:pPr>
            <a:r>
              <a:rPr sz="1700" b="1">
                <a:solidFill>
                  <a:srgbClr val="0072B2"/>
                </a:solidFill>
                <a:latin typeface="Segoe UI"/>
              </a:rPr>
              <a:t>PERGUNTA DE PESQUISA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1005840" y="2606040"/>
            <a:ext cx="10149840" cy="18288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lnSpc>
                <a:spcPct val="115000"/>
              </a:lnSpc>
            </a:pPr>
            <a:r>
              <a:rPr sz="3600" b="1">
                <a:solidFill>
                  <a:srgbClr val="FFFFFF"/>
                </a:solidFill>
                <a:latin typeface="Segoe UI"/>
              </a:rPr>
              <a:t>Como recomendar diagnóstico e ação sem dados rotulados de falha?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1005840" y="4572000"/>
            <a:ext cx="10149840" cy="12801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lnSpc>
                <a:spcPct val="120000"/>
              </a:lnSpc>
            </a:pPr>
            <a:r>
              <a:rPr sz="1800" b="0">
                <a:solidFill>
                  <a:srgbClr val="9FC6D8"/>
                </a:solidFill>
                <a:latin typeface="Segoe UI"/>
              </a:rPr>
              <a:t>De forma auditável, e sob restrições explícitas de autorização — numa rede de comunicação de sistema elétrico.</a:t>
            </a:r>
          </a:p>
        </p:txBody>
      </p:sp>
    </p:spTree>
  </p:cSld>
  <p:clrMapOvr>
    <a:masterClrMapping/>
  </p:clrMapOvr>
</p:sld>
</file>

<file path=ppt/slides/slide5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FBFAF7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0"/>
            <a:ext cx="12191695" cy="146304"/>
          </a:xfrm>
          <a:prstGeom prst="rect">
            <a:avLst/>
          </a:prstGeom>
          <a:solidFill>
            <a:srgbClr val="0072B2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685800" y="384048"/>
            <a:ext cx="10789920" cy="7315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lnSpc>
                <a:spcPct val="100000"/>
              </a:lnSpc>
            </a:pPr>
            <a:r>
              <a:rPr sz="3000" b="1">
                <a:solidFill>
                  <a:srgbClr val="1F2933"/>
                </a:solidFill>
                <a:latin typeface="Segoe UI"/>
              </a:rPr>
              <a:t>Como isto é medido: dois níveis de KPI</a:t>
            </a:r>
          </a:p>
        </p:txBody>
      </p:sp>
      <p:sp>
        <p:nvSpPr>
          <p:cNvPr id="5" name="Rectangle 4"/>
          <p:cNvSpPr/>
          <p:nvPr/>
        </p:nvSpPr>
        <p:spPr>
          <a:xfrm>
            <a:off x="685800" y="1325880"/>
            <a:ext cx="5120640" cy="4572000"/>
          </a:xfrm>
          <a:prstGeom prst="rect">
            <a:avLst/>
          </a:prstGeom>
          <a:solidFill>
            <a:srgbClr val="FFFFFF"/>
          </a:solidFill>
          <a:ln w="22225">
            <a:solidFill>
              <a:srgbClr val="E69F00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6" name="TextBox 5"/>
          <p:cNvSpPr txBox="1"/>
          <p:nvPr/>
        </p:nvSpPr>
        <p:spPr>
          <a:xfrm>
            <a:off x="960120" y="1554480"/>
            <a:ext cx="4617720" cy="8229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lnSpc>
                <a:spcPct val="100000"/>
              </a:lnSpc>
            </a:pPr>
            <a:r>
              <a:rPr sz="1900" b="1">
                <a:solidFill>
                  <a:srgbClr val="E69F00"/>
                </a:solidFill>
                <a:latin typeface="Segoe UI"/>
              </a:rPr>
              <a:t>KPIs do domínio — a entrada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960120" y="2286000"/>
            <a:ext cx="4572000" cy="34747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1000"/>
              </a:spcAft>
            </a:pPr>
            <a:r>
              <a:rPr sz="1600">
                <a:solidFill>
                  <a:srgbClr val="52606D"/>
                </a:solidFill>
                <a:latin typeface="Segoe UI"/>
              </a:rPr>
              <a:t>RSSI (dBm) e SNR (dB) — qualidade do enlace</a:t>
            </a:r>
          </a:p>
          <a:p>
            <a:pPr>
              <a:spcAft>
                <a:spcPts val="1000"/>
              </a:spcAft>
            </a:pPr>
            <a:r>
              <a:rPr sz="1600">
                <a:solidFill>
                  <a:srgbClr val="52606D"/>
                </a:solidFill>
                <a:latin typeface="Segoe UI"/>
              </a:rPr>
              <a:t>Perda de pacotes (%) e RTT (ms) — sintoma</a:t>
            </a:r>
          </a:p>
          <a:p>
            <a:pPr>
              <a:spcAft>
                <a:spcPts val="1000"/>
              </a:spcAft>
            </a:pPr>
            <a:r>
              <a:rPr sz="1600">
                <a:solidFill>
                  <a:srgbClr val="52606D"/>
                </a:solidFill>
                <a:latin typeface="Segoe UI"/>
              </a:rPr>
              <a:t>Utilização do enlace (%) — congestionamento</a:t>
            </a:r>
          </a:p>
          <a:p>
            <a:pPr>
              <a:spcAft>
                <a:spcPts val="1000"/>
              </a:spcAft>
            </a:pPr>
            <a:r>
              <a:rPr sz="1600">
                <a:solidFill>
                  <a:srgbClr val="52606D"/>
                </a:solidFill>
                <a:latin typeface="Segoe UI"/>
              </a:rPr>
              <a:t>Custo de transporte (ms) — derivado, alimenta a busca</a:t>
            </a:r>
          </a:p>
          <a:p>
            <a:pPr>
              <a:spcAft>
                <a:spcPts val="1000"/>
              </a:spcAft>
            </a:pPr>
            <a:r>
              <a:rPr sz="1600">
                <a:solidFill>
                  <a:srgbClr val="52606D"/>
                </a:solidFill>
                <a:latin typeface="Segoe UI"/>
              </a:rPr>
              <a:t>⚠ Limiares NOMINAIS e NÃO calibrados</a:t>
            </a:r>
          </a:p>
        </p:txBody>
      </p:sp>
      <p:sp>
        <p:nvSpPr>
          <p:cNvPr id="8" name="Rectangle 7"/>
          <p:cNvSpPr/>
          <p:nvPr/>
        </p:nvSpPr>
        <p:spPr>
          <a:xfrm>
            <a:off x="6355080" y="1325880"/>
            <a:ext cx="5120640" cy="4572000"/>
          </a:xfrm>
          <a:prstGeom prst="rect">
            <a:avLst/>
          </a:prstGeom>
          <a:solidFill>
            <a:srgbClr val="FFFFFF"/>
          </a:solidFill>
          <a:ln w="22225">
            <a:solidFill>
              <a:srgbClr val="009E73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9" name="TextBox 8"/>
          <p:cNvSpPr txBox="1"/>
          <p:nvPr/>
        </p:nvSpPr>
        <p:spPr>
          <a:xfrm>
            <a:off x="6629400" y="1554480"/>
            <a:ext cx="4617720" cy="8229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lnSpc>
                <a:spcPct val="100000"/>
              </a:lnSpc>
            </a:pPr>
            <a:r>
              <a:rPr sz="1900" b="1">
                <a:solidFill>
                  <a:srgbClr val="009E73"/>
                </a:solidFill>
                <a:latin typeface="Segoe UI"/>
              </a:rPr>
              <a:t>KPIs de avaliação — o veredito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6629400" y="2286000"/>
            <a:ext cx="4572000" cy="34747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1000"/>
              </a:spcAft>
            </a:pPr>
            <a:r>
              <a:rPr sz="1600">
                <a:solidFill>
                  <a:srgbClr val="52606D"/>
                </a:solidFill>
                <a:latin typeface="Segoe UI"/>
              </a:rPr>
              <a:t>Diagnóstico: fator de certeza (CF) da conclusão</a:t>
            </a:r>
          </a:p>
          <a:p>
            <a:pPr>
              <a:spcAft>
                <a:spcPts val="1000"/>
              </a:spcAft>
            </a:pPr>
            <a:r>
              <a:rPr sz="1600">
                <a:solidFill>
                  <a:srgbClr val="52606D"/>
                </a:solidFill>
                <a:latin typeface="Segoe UI"/>
              </a:rPr>
              <a:t>Plano: custo total, e validade (executável + atinge o objetivo)</a:t>
            </a:r>
          </a:p>
          <a:p>
            <a:pPr>
              <a:spcAft>
                <a:spcPts val="1000"/>
              </a:spcAft>
            </a:pPr>
            <a:r>
              <a:rPr sz="1600">
                <a:solidFill>
                  <a:srgbClr val="52606D"/>
                </a:solidFill>
                <a:latin typeface="Segoe UI"/>
              </a:rPr>
              <a:t>Busca: nós expandidos, custo do caminho, otimalidade</a:t>
            </a:r>
          </a:p>
          <a:p>
            <a:pPr>
              <a:spcAft>
                <a:spcPts val="1000"/>
              </a:spcAft>
            </a:pPr>
            <a:r>
              <a:rPr sz="1600">
                <a:solidFill>
                  <a:srgbClr val="52606D"/>
                </a:solidFill>
                <a:latin typeface="Segoe UI"/>
              </a:rPr>
              <a:t>Transversal: 108 testes; admissibilidade verificada em todos os pares</a:t>
            </a:r>
          </a:p>
        </p:txBody>
      </p:sp>
    </p:spTree>
  </p:cSld>
  <p:clrMapOvr>
    <a:masterClrMapping/>
  </p:clrMapOvr>
</p:sld>
</file>

<file path=ppt/slides/slide6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061219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2286000"/>
            <a:ext cx="12191695" cy="54864"/>
          </a:xfrm>
          <a:prstGeom prst="rect">
            <a:avLst/>
          </a:prstGeom>
          <a:solidFill>
            <a:srgbClr val="D55E0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1005840" y="2606040"/>
            <a:ext cx="10149840" cy="18288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lnSpc>
                <a:spcPct val="115000"/>
              </a:lnSpc>
            </a:pPr>
            <a:r>
              <a:rPr sz="3600" b="1">
                <a:solidFill>
                  <a:srgbClr val="FFFFFF"/>
                </a:solidFill>
                <a:latin typeface="Segoe UI"/>
              </a:rPr>
              <a:t>Por que o DIAGNÓSTICO não é aprendido?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1005840" y="4572000"/>
            <a:ext cx="10149840" cy="12801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lnSpc>
                <a:spcPct val="120000"/>
              </a:lnSpc>
            </a:pPr>
            <a:r>
              <a:rPr sz="1800" b="0">
                <a:solidFill>
                  <a:srgbClr val="9FC6D8"/>
                </a:solidFill>
                <a:latin typeface="Segoe UI"/>
              </a:rPr>
              <a:t>Não existe, para este domínio, conjunto de dados rotulado de falhas.</a:t>
            </a:r>
          </a:p>
        </p:txBody>
      </p:sp>
    </p:spTree>
  </p:cSld>
  <p:clrMapOvr>
    <a:masterClrMapping/>
  </p:clrMapOvr>
</p:sld>
</file>

<file path=ppt/slides/slide7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FBFAF7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0"/>
            <a:ext cx="12191695" cy="146304"/>
          </a:xfrm>
          <a:prstGeom prst="rect">
            <a:avLst/>
          </a:prstGeom>
          <a:solidFill>
            <a:srgbClr val="D55E0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685800" y="384048"/>
            <a:ext cx="10789920" cy="7315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lnSpc>
                <a:spcPct val="100000"/>
              </a:lnSpc>
            </a:pPr>
            <a:r>
              <a:rPr sz="3000" b="1">
                <a:solidFill>
                  <a:srgbClr val="1F2933"/>
                </a:solidFill>
                <a:latin typeface="Segoe UI"/>
              </a:rPr>
              <a:t>Dedutivo × indutivo: a escolha depende do que existe</a:t>
            </a:r>
          </a:p>
        </p:txBody>
      </p:sp>
      <p:sp>
        <p:nvSpPr>
          <p:cNvPr id="5" name="Rectangle 4"/>
          <p:cNvSpPr/>
          <p:nvPr/>
        </p:nvSpPr>
        <p:spPr>
          <a:xfrm>
            <a:off x="685800" y="1325880"/>
            <a:ext cx="5120640" cy="4572000"/>
          </a:xfrm>
          <a:prstGeom prst="rect">
            <a:avLst/>
          </a:prstGeom>
          <a:solidFill>
            <a:srgbClr val="FFFFFF"/>
          </a:solidFill>
          <a:ln w="22225">
            <a:solidFill>
              <a:srgbClr val="0072B2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6" name="TextBox 5"/>
          <p:cNvSpPr txBox="1"/>
          <p:nvPr/>
        </p:nvSpPr>
        <p:spPr>
          <a:xfrm>
            <a:off x="960120" y="1554480"/>
            <a:ext cx="4617720" cy="8229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lnSpc>
                <a:spcPct val="100000"/>
              </a:lnSpc>
            </a:pPr>
            <a:r>
              <a:rPr sz="1900" b="1">
                <a:solidFill>
                  <a:srgbClr val="0072B2"/>
                </a:solidFill>
                <a:latin typeface="Segoe UI"/>
              </a:rPr>
              <a:t>Dedutivo (regras)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960120" y="2286000"/>
            <a:ext cx="4572000" cy="34747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1000"/>
              </a:spcAft>
            </a:pPr>
            <a:r>
              <a:rPr sz="1600">
                <a:solidFill>
                  <a:srgbClr val="52606D"/>
                </a:solidFill>
                <a:latin typeface="Segoe UI"/>
              </a:rPr>
              <a:t>Conhecimento vem do especialista</a:t>
            </a:r>
          </a:p>
          <a:p>
            <a:pPr>
              <a:spcAft>
                <a:spcPts val="1000"/>
              </a:spcAft>
            </a:pPr>
            <a:r>
              <a:rPr sz="1600">
                <a:solidFill>
                  <a:srgbClr val="52606D"/>
                </a:solidFill>
                <a:latin typeface="Segoe UI"/>
              </a:rPr>
              <a:t>Não exige dados históricos</a:t>
            </a:r>
          </a:p>
          <a:p>
            <a:pPr>
              <a:spcAft>
                <a:spcPts val="1000"/>
              </a:spcAft>
            </a:pPr>
            <a:r>
              <a:rPr sz="1600">
                <a:solidFill>
                  <a:srgbClr val="52606D"/>
                </a:solidFill>
                <a:latin typeface="Segoe UI"/>
              </a:rPr>
              <a:t>Auditável regra a regra</a:t>
            </a:r>
          </a:p>
          <a:p>
            <a:pPr>
              <a:spcAft>
                <a:spcPts val="1000"/>
              </a:spcAft>
            </a:pPr>
            <a:r>
              <a:rPr sz="1600">
                <a:solidFill>
                  <a:srgbClr val="52606D"/>
                </a:solidFill>
                <a:latin typeface="Segoe UI"/>
              </a:rPr>
              <a:t>Contestável: discute-se uma regra</a:t>
            </a:r>
          </a:p>
          <a:p>
            <a:pPr>
              <a:spcAft>
                <a:spcPts val="1000"/>
              </a:spcAft>
            </a:pPr>
            <a:r>
              <a:rPr sz="1600">
                <a:solidFill>
                  <a:srgbClr val="52606D"/>
                </a:solidFill>
                <a:latin typeface="Segoe UI"/>
              </a:rPr>
              <a:t>Falha por omissão — sem conclusão</a:t>
            </a:r>
          </a:p>
        </p:txBody>
      </p:sp>
      <p:sp>
        <p:nvSpPr>
          <p:cNvPr id="8" name="Rectangle 7"/>
          <p:cNvSpPr/>
          <p:nvPr/>
        </p:nvSpPr>
        <p:spPr>
          <a:xfrm>
            <a:off x="6355080" y="1325880"/>
            <a:ext cx="5120640" cy="4572000"/>
          </a:xfrm>
          <a:prstGeom prst="rect">
            <a:avLst/>
          </a:prstGeom>
          <a:solidFill>
            <a:srgbClr val="FFFFFF"/>
          </a:solidFill>
          <a:ln w="22225">
            <a:solidFill>
              <a:srgbClr val="E69F00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9" name="TextBox 8"/>
          <p:cNvSpPr txBox="1"/>
          <p:nvPr/>
        </p:nvSpPr>
        <p:spPr>
          <a:xfrm>
            <a:off x="6629400" y="1554480"/>
            <a:ext cx="4617720" cy="8229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lnSpc>
                <a:spcPct val="100000"/>
              </a:lnSpc>
            </a:pPr>
            <a:r>
              <a:rPr sz="1900" b="1">
                <a:solidFill>
                  <a:srgbClr val="E69F00"/>
                </a:solidFill>
                <a:latin typeface="Segoe UI"/>
              </a:rPr>
              <a:t>Indutivo (aprendizagem)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6629400" y="2286000"/>
            <a:ext cx="4572000" cy="34747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1000"/>
              </a:spcAft>
            </a:pPr>
            <a:r>
              <a:rPr sz="1600">
                <a:solidFill>
                  <a:srgbClr val="52606D"/>
                </a:solidFill>
                <a:latin typeface="Segoe UI"/>
              </a:rPr>
              <a:t>Conhecimento vem de exemplos rotulados</a:t>
            </a:r>
          </a:p>
          <a:p>
            <a:pPr>
              <a:spcAft>
                <a:spcPts val="1000"/>
              </a:spcAft>
            </a:pPr>
            <a:r>
              <a:rPr sz="1600">
                <a:solidFill>
                  <a:srgbClr val="52606D"/>
                </a:solidFill>
                <a:latin typeface="Segoe UI"/>
              </a:rPr>
              <a:t>Exige dados históricos</a:t>
            </a:r>
          </a:p>
          <a:p>
            <a:pPr>
              <a:spcAft>
                <a:spcPts val="1000"/>
              </a:spcAft>
            </a:pPr>
            <a:r>
              <a:rPr sz="1600">
                <a:solidFill>
                  <a:srgbClr val="52606D"/>
                </a:solidFill>
                <a:latin typeface="Segoe UI"/>
              </a:rPr>
              <a:t>Auditabilidade variável</a:t>
            </a:r>
          </a:p>
          <a:p>
            <a:pPr>
              <a:spcAft>
                <a:spcPts val="1000"/>
              </a:spcAft>
            </a:pPr>
            <a:r>
              <a:rPr sz="1600">
                <a:solidFill>
                  <a:srgbClr val="52606D"/>
                </a:solidFill>
                <a:latin typeface="Segoe UI"/>
              </a:rPr>
              <a:t>Difícil discutir um peso</a:t>
            </a:r>
          </a:p>
          <a:p>
            <a:pPr>
              <a:spcAft>
                <a:spcPts val="1000"/>
              </a:spcAft>
            </a:pPr>
            <a:r>
              <a:rPr sz="1600">
                <a:solidFill>
                  <a:srgbClr val="52606D"/>
                </a:solidFill>
                <a:latin typeface="Segoe UI"/>
              </a:rPr>
              <a:t>Falha em silêncio — conclusão errada e confiante</a:t>
            </a:r>
          </a:p>
        </p:txBody>
      </p:sp>
    </p:spTree>
  </p:cSld>
  <p:clrMapOvr>
    <a:masterClrMapping/>
  </p:clrMapOvr>
</p:sld>
</file>

<file path=ppt/slides/slide8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061219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2788920"/>
            <a:ext cx="12191695" cy="54864"/>
          </a:xfrm>
          <a:prstGeom prst="rect">
            <a:avLst/>
          </a:prstGeom>
          <a:solidFill>
            <a:srgbClr val="0072B2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914400" y="1920240"/>
            <a:ext cx="10332720" cy="8229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lnSpc>
                <a:spcPct val="100000"/>
              </a:lnSpc>
            </a:pPr>
            <a:r>
              <a:rPr sz="2000" b="1">
                <a:solidFill>
                  <a:srgbClr val="0072B2"/>
                </a:solidFill>
                <a:latin typeface="Segoe UI"/>
              </a:rPr>
              <a:t>TEMA 1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914400" y="2971800"/>
            <a:ext cx="10332720" cy="10972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lnSpc>
                <a:spcPct val="100000"/>
              </a:lnSpc>
            </a:pPr>
            <a:r>
              <a:rPr sz="4400" b="1">
                <a:solidFill>
                  <a:srgbClr val="FFFFFF"/>
                </a:solidFill>
                <a:latin typeface="Segoe UI"/>
              </a:rPr>
              <a:t>Sistema especialista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914400" y="4206240"/>
            <a:ext cx="10332720" cy="7315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lnSpc>
                <a:spcPct val="100000"/>
              </a:lnSpc>
            </a:pPr>
            <a:r>
              <a:rPr sz="1900" b="0">
                <a:solidFill>
                  <a:srgbClr val="9FC6D8"/>
                </a:solidFill>
                <a:latin typeface="Segoe UI"/>
              </a:rPr>
              <a:t>Regras de produção, encadeamento progressivo e regressivo, fatores de certeza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914400" y="5120640"/>
            <a:ext cx="10332720" cy="4572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lnSpc>
                <a:spcPct val="100000"/>
              </a:lnSpc>
            </a:pPr>
            <a:r>
              <a:rPr sz="1400" b="0">
                <a:solidFill>
                  <a:srgbClr val="8A94A0"/>
                </a:solidFill>
                <a:latin typeface="Segoe UI"/>
              </a:rPr>
              <a:t>30 minutos</a:t>
            </a:r>
          </a:p>
        </p:txBody>
      </p:sp>
    </p:spTree>
  </p:cSld>
  <p:clrMapOvr>
    <a:masterClrMapping/>
  </p:clrMapOvr>
</p:sld>
</file>

<file path=ppt/slides/slide9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FBFAF7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0"/>
            <a:ext cx="12191695" cy="146304"/>
          </a:xfrm>
          <a:prstGeom prst="rect">
            <a:avLst/>
          </a:prstGeom>
          <a:solidFill>
            <a:srgbClr val="0072B2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685800" y="457200"/>
            <a:ext cx="10789920" cy="8229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lnSpc>
                <a:spcPct val="100000"/>
              </a:lnSpc>
            </a:pPr>
            <a:r>
              <a:rPr sz="3200" b="1">
                <a:solidFill>
                  <a:srgbClr val="1F2933"/>
                </a:solidFill>
                <a:latin typeface="Segoe UI"/>
              </a:rPr>
              <a:t>O problema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685800" y="1371600"/>
            <a:ext cx="10789920" cy="493776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>
              <a:spcAft>
                <a:spcPts val="1600"/>
              </a:spcAft>
            </a:pPr>
            <a:r>
              <a:rPr sz="2300" b="1">
                <a:solidFill>
                  <a:srgbClr val="1F2933"/>
                </a:solidFill>
                <a:latin typeface="Segoe UI"/>
              </a:rPr>
              <a:t>• Um enlace do backhaul degradou ou caiu</a:t>
            </a:r>
          </a:p>
          <a:p>
            <a:pPr>
              <a:spcAft>
                <a:spcPts val="1600"/>
              </a:spcAft>
            </a:pPr>
            <a:r>
              <a:rPr sz="2300" b="1">
                <a:solidFill>
                  <a:srgbClr val="1F2933"/>
                </a:solidFill>
                <a:latin typeface="Segoe UI"/>
              </a:rPr>
              <a:t>• Duas perguntas: por quê? e o que fazer?</a:t>
            </a:r>
          </a:p>
          <a:p>
            <a:pPr>
              <a:spcAft>
                <a:spcPts val="1600"/>
              </a:spcAft>
            </a:pPr>
            <a:r>
              <a:rPr sz="2300" b="1">
                <a:solidFill>
                  <a:srgbClr val="1F2933"/>
                </a:solidFill>
                <a:latin typeface="Segoe UI"/>
              </a:rPr>
              <a:t>• Oito hipóteses concorrentes de diagnóstico</a:t>
            </a:r>
          </a:p>
          <a:p>
            <a:pPr>
              <a:spcAft>
                <a:spcPts val="1600"/>
              </a:spcAft>
            </a:pPr>
            <a:r>
              <a:rPr sz="2300" b="1">
                <a:solidFill>
                  <a:srgbClr val="1F2933"/>
                </a:solidFill>
                <a:latin typeface="Segoe UI"/>
              </a:rPr>
              <a:t>• A resposta precisa vir com um grau de confiança, não como certeza absoluta</a:t>
            </a:r>
          </a:p>
          <a:p>
            <a:pPr lvl="1">
              <a:spcAft>
                <a:spcPts val="1000"/>
              </a:spcAft>
            </a:pPr>
            <a:r>
              <a:rPr sz="1900" b="0">
                <a:solidFill>
                  <a:srgbClr val="52606D"/>
                </a:solidFill>
                <a:latin typeface="Segoe UI"/>
              </a:rPr>
              <a:t>O sistema recomenda — não atua</a:t>
            </a:r>
          </a:p>
        </p:txBody>
      </p:sp>
    </p:spTree>
  </p:cSld>
  <p:clrMapOvr>
    <a:masterClrMapping/>
  </p:clrMapOvr>
</p:sld>
</file>

<file path=ppt/slides/slide10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FBFAF7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0"/>
            <a:ext cx="12191695" cy="146304"/>
          </a:xfrm>
          <a:prstGeom prst="rect">
            <a:avLst/>
          </a:prstGeom>
          <a:solidFill>
            <a:srgbClr val="0072B2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685800" y="457200"/>
            <a:ext cx="10789920" cy="8229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lnSpc>
                <a:spcPct val="100000"/>
              </a:lnSpc>
            </a:pPr>
            <a:r>
              <a:rPr sz="3200" b="1">
                <a:solidFill>
                  <a:srgbClr val="1F2933"/>
                </a:solidFill>
                <a:latin typeface="Segoe UI"/>
              </a:rPr>
              <a:t>Arquitetura de um sistema especialista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685800" y="1371600"/>
            <a:ext cx="10789920" cy="493776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>
              <a:spcAft>
                <a:spcPts val="1600"/>
              </a:spcAft>
            </a:pPr>
            <a:r>
              <a:rPr sz="2300" b="1">
                <a:solidFill>
                  <a:srgbClr val="1F2933"/>
                </a:solidFill>
                <a:latin typeface="Segoe UI"/>
              </a:rPr>
              <a:t>• Base de conhecimento — fatos, regras, heurísticas do domínio</a:t>
            </a:r>
          </a:p>
          <a:p>
            <a:pPr>
              <a:spcAft>
                <a:spcPts val="1600"/>
              </a:spcAft>
            </a:pPr>
            <a:r>
              <a:rPr sz="2300" b="1">
                <a:solidFill>
                  <a:srgbClr val="1F2933"/>
                </a:solidFill>
                <a:latin typeface="Segoe UI"/>
              </a:rPr>
              <a:t>• Memória de trabalho — fatos do problema em curso</a:t>
            </a:r>
          </a:p>
          <a:p>
            <a:pPr>
              <a:spcAft>
                <a:spcPts val="1600"/>
              </a:spcAft>
            </a:pPr>
            <a:r>
              <a:rPr sz="2300" b="1">
                <a:solidFill>
                  <a:srgbClr val="1F2933"/>
                </a:solidFill>
                <a:latin typeface="Segoe UI"/>
              </a:rPr>
              <a:t>• Motor de inferência — aplica as regras e conclui</a:t>
            </a:r>
          </a:p>
          <a:p>
            <a:pPr>
              <a:spcAft>
                <a:spcPts val="1600"/>
              </a:spcAft>
            </a:pPr>
            <a:r>
              <a:rPr sz="2300" b="1">
                <a:solidFill>
                  <a:srgbClr val="1F2933"/>
                </a:solidFill>
                <a:latin typeface="Segoe UI"/>
              </a:rPr>
              <a:t>• Módulo de explicação — justifica as conclusões</a:t>
            </a:r>
          </a:p>
          <a:p>
            <a:pPr>
              <a:spcAft>
                <a:spcPts val="1600"/>
              </a:spcAft>
            </a:pPr>
            <a:r>
              <a:rPr sz="2300" b="1">
                <a:solidFill>
                  <a:srgbClr val="1F2933"/>
                </a:solidFill>
                <a:latin typeface="Segoe UI"/>
              </a:rPr>
              <a:t>• Interface — entrada de dados e consulta</a:t>
            </a:r>
          </a:p>
          <a:p>
            <a:pPr lvl="1">
              <a:spcAft>
                <a:spcPts val="1000"/>
              </a:spcAft>
            </a:pPr>
            <a:r>
              <a:rPr sz="1900" b="0">
                <a:solidFill>
                  <a:srgbClr val="52606D"/>
                </a:solidFill>
                <a:latin typeface="Segoe UI"/>
              </a:rPr>
              <a:t>A separação entre conhecimento e inferência é a característica definidora</a:t>
            </a:r>
          </a:p>
        </p:txBody>
      </p:sp>
    </p:spTree>
  </p:cSld>
  <p:clrMapOvr>
    <a:masterClrMapping/>
  </p:clrMapOvr>
</p:sld>
</file>

<file path=ppt/slides/slide11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FBFAF7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0"/>
            <a:ext cx="12191695" cy="146304"/>
          </a:xfrm>
          <a:prstGeom prst="rect">
            <a:avLst/>
          </a:prstGeom>
          <a:solidFill>
            <a:srgbClr val="0072B2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685800" y="384048"/>
            <a:ext cx="10789920" cy="7315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lnSpc>
                <a:spcPct val="100000"/>
              </a:lnSpc>
            </a:pPr>
            <a:r>
              <a:rPr sz="3000" b="1">
                <a:solidFill>
                  <a:srgbClr val="1F2933"/>
                </a:solidFill>
                <a:latin typeface="Segoe UI"/>
              </a:rPr>
              <a:t>As variáveis observáveis</a:t>
            </a:r>
          </a:p>
        </p:txBody>
      </p:sp>
      <p:graphicFrame>
        <p:nvGraphicFramePr>
          <p:cNvPr id="5" name="Table 4"/>
          <p:cNvGraphicFramePr>
            <a:graphicFrameLocks noGrp="1"/>
          </p:cNvGraphicFramePr>
          <p:nvPr/>
        </p:nvGraphicFramePr>
        <p:xfrm>
          <a:off x="685800" y="1325880"/>
          <a:ext cx="10789920" cy="5074920"/>
        </p:xfrm>
        <a:graphic>
          <a:graphicData uri="http://schemas.openxmlformats.org/drawingml/2006/table">
            <a:tbl>
              <a:tblPr firstRow="1" bandRow="1">
                <a:tableStyleId>{5C22544A-7EE6-4342-B048-85BDC9FD1C3A}</a:tableStyleId>
              </a:tblPr>
              <a:tblGrid>
                <a:gridCol w="4315968"/>
                <a:gridCol w="2157984"/>
                <a:gridCol w="4315968"/>
              </a:tblGrid>
              <a:tr h="390378">
                <a:tc>
                  <a:txBody>
                    <a:bodyPr/>
                    <a:lstStyle/>
                    <a:p>
                      <a:r>
                        <a:rPr sz="1500" b="1">
                          <a:solidFill>
                            <a:srgbClr val="FFFFFF"/>
                          </a:solidFill>
                          <a:latin typeface="Segoe UI"/>
                        </a:rPr>
                        <a:t>Variável</a:t>
                      </a:r>
                    </a:p>
                  </a:txBody>
                  <a:tcPr anchor="ctr">
                    <a:solidFill>
                      <a:srgbClr val="0072B2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500" b="1">
                          <a:solidFill>
                            <a:srgbClr val="FFFFFF"/>
                          </a:solidFill>
                          <a:latin typeface="Segoe UI"/>
                        </a:rPr>
                        <a:t>Tipo</a:t>
                      </a:r>
                    </a:p>
                  </a:txBody>
                  <a:tcPr anchor="ctr">
                    <a:solidFill>
                      <a:srgbClr val="0072B2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500" b="1">
                          <a:solidFill>
                            <a:srgbClr val="FFFFFF"/>
                          </a:solidFill>
                          <a:latin typeface="Segoe UI"/>
                        </a:rPr>
                        <a:t>Domínio</a:t>
                      </a:r>
                    </a:p>
                  </a:txBody>
                  <a:tcPr anchor="ctr">
                    <a:solidFill>
                      <a:srgbClr val="0072B2"/>
                    </a:solidFill>
                  </a:tcPr>
                </a:tc>
              </a:tr>
              <a:tr h="390378">
                <a:tc>
                  <a:txBody>
                    <a:bodyPr/>
                    <a:lstStyle/>
                    <a:p>
                      <a:r>
                        <a:rPr sz="1400" b="0">
                          <a:solidFill>
                            <a:srgbClr val="52606D"/>
                          </a:solidFill>
                          <a:latin typeface="Segoe UI"/>
                        </a:rPr>
                        <a:t>rssi_dbm</a:t>
                      </a:r>
                    </a:p>
                  </a:txBody>
                  <a:tcPr anchor="ctr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400" b="0">
                          <a:solidFill>
                            <a:srgbClr val="52606D"/>
                          </a:solidFill>
                          <a:latin typeface="Segoe UI"/>
                        </a:rPr>
                        <a:t>numérica</a:t>
                      </a:r>
                    </a:p>
                  </a:txBody>
                  <a:tcPr anchor="ctr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400" b="0">
                          <a:solidFill>
                            <a:srgbClr val="52606D"/>
                          </a:solidFill>
                          <a:latin typeface="Segoe UI"/>
                        </a:rPr>
                        <a:t>[-120, -30] dBm</a:t>
                      </a:r>
                    </a:p>
                  </a:txBody>
                  <a:tcPr anchor="ctr">
                    <a:solidFill>
                      <a:srgbClr val="FFFFFF"/>
                    </a:solidFill>
                  </a:tcPr>
                </a:tc>
              </a:tr>
              <a:tr h="390378">
                <a:tc>
                  <a:txBody>
                    <a:bodyPr/>
                    <a:lstStyle/>
                    <a:p>
                      <a:r>
                        <a:rPr sz="1400" b="0">
                          <a:solidFill>
                            <a:srgbClr val="52606D"/>
                          </a:solidFill>
                          <a:latin typeface="Segoe UI"/>
                        </a:rPr>
                        <a:t>snr_db</a:t>
                      </a:r>
                    </a:p>
                  </a:txBody>
                  <a:tcPr anchor="ctr">
                    <a:solidFill>
                      <a:srgbClr val="F4F2EE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400" b="0">
                          <a:solidFill>
                            <a:srgbClr val="52606D"/>
                          </a:solidFill>
                          <a:latin typeface="Segoe UI"/>
                        </a:rPr>
                        <a:t>numérica</a:t>
                      </a:r>
                    </a:p>
                  </a:txBody>
                  <a:tcPr anchor="ctr">
                    <a:solidFill>
                      <a:srgbClr val="F4F2EE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400" b="0">
                          <a:solidFill>
                            <a:srgbClr val="52606D"/>
                          </a:solidFill>
                          <a:latin typeface="Segoe UI"/>
                        </a:rPr>
                        <a:t>[-5, 40] dB</a:t>
                      </a:r>
                    </a:p>
                  </a:txBody>
                  <a:tcPr anchor="ctr">
                    <a:solidFill>
                      <a:srgbClr val="F4F2EE"/>
                    </a:solidFill>
                  </a:tcPr>
                </a:tc>
              </a:tr>
              <a:tr h="390378">
                <a:tc>
                  <a:txBody>
                    <a:bodyPr/>
                    <a:lstStyle/>
                    <a:p>
                      <a:r>
                        <a:rPr sz="1400" b="0">
                          <a:solidFill>
                            <a:srgbClr val="52606D"/>
                          </a:solidFill>
                          <a:latin typeface="Segoe UI"/>
                        </a:rPr>
                        <a:t>packet_loss_pct</a:t>
                      </a:r>
                    </a:p>
                  </a:txBody>
                  <a:tcPr anchor="ctr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400" b="0">
                          <a:solidFill>
                            <a:srgbClr val="52606D"/>
                          </a:solidFill>
                          <a:latin typeface="Segoe UI"/>
                        </a:rPr>
                        <a:t>numérica</a:t>
                      </a:r>
                    </a:p>
                  </a:txBody>
                  <a:tcPr anchor="ctr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400" b="0">
                          <a:solidFill>
                            <a:srgbClr val="52606D"/>
                          </a:solidFill>
                          <a:latin typeface="Segoe UI"/>
                        </a:rPr>
                        <a:t>[0, 100] %</a:t>
                      </a:r>
                    </a:p>
                  </a:txBody>
                  <a:tcPr anchor="ctr">
                    <a:solidFill>
                      <a:srgbClr val="FFFFFF"/>
                    </a:solidFill>
                  </a:tcPr>
                </a:tc>
              </a:tr>
              <a:tr h="390378">
                <a:tc>
                  <a:txBody>
                    <a:bodyPr/>
                    <a:lstStyle/>
                    <a:p>
                      <a:r>
                        <a:rPr sz="1400" b="0">
                          <a:solidFill>
                            <a:srgbClr val="52606D"/>
                          </a:solidFill>
                          <a:latin typeface="Segoe UI"/>
                        </a:rPr>
                        <a:t>rtt_ms</a:t>
                      </a:r>
                    </a:p>
                  </a:txBody>
                  <a:tcPr anchor="ctr">
                    <a:solidFill>
                      <a:srgbClr val="F4F2EE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400" b="0">
                          <a:solidFill>
                            <a:srgbClr val="52606D"/>
                          </a:solidFill>
                          <a:latin typeface="Segoe UI"/>
                        </a:rPr>
                        <a:t>numérica</a:t>
                      </a:r>
                    </a:p>
                  </a:txBody>
                  <a:tcPr anchor="ctr">
                    <a:solidFill>
                      <a:srgbClr val="F4F2EE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400" b="0">
                          <a:solidFill>
                            <a:srgbClr val="52606D"/>
                          </a:solidFill>
                          <a:latin typeface="Segoe UI"/>
                        </a:rPr>
                        <a:t>[0, 5000] ms</a:t>
                      </a:r>
                    </a:p>
                  </a:txBody>
                  <a:tcPr anchor="ctr">
                    <a:solidFill>
                      <a:srgbClr val="F4F2EE"/>
                    </a:solidFill>
                  </a:tcPr>
                </a:tc>
              </a:tr>
              <a:tr h="390378">
                <a:tc>
                  <a:txBody>
                    <a:bodyPr/>
                    <a:lstStyle/>
                    <a:p>
                      <a:r>
                        <a:rPr sz="1400" b="0">
                          <a:solidFill>
                            <a:srgbClr val="52606D"/>
                          </a:solidFill>
                          <a:latin typeface="Segoe UI"/>
                        </a:rPr>
                        <a:t>traffic_load_pct</a:t>
                      </a:r>
                    </a:p>
                  </a:txBody>
                  <a:tcPr anchor="ctr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400" b="0">
                          <a:solidFill>
                            <a:srgbClr val="52606D"/>
                          </a:solidFill>
                          <a:latin typeface="Segoe UI"/>
                        </a:rPr>
                        <a:t>numérica</a:t>
                      </a:r>
                    </a:p>
                  </a:txBody>
                  <a:tcPr anchor="ctr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400" b="0">
                          <a:solidFill>
                            <a:srgbClr val="52606D"/>
                          </a:solidFill>
                          <a:latin typeface="Segoe UI"/>
                        </a:rPr>
                        <a:t>[0, 100] %</a:t>
                      </a:r>
                    </a:p>
                  </a:txBody>
                  <a:tcPr anchor="ctr">
                    <a:solidFill>
                      <a:srgbClr val="FFFFFF"/>
                    </a:solidFill>
                  </a:tcPr>
                </a:tc>
              </a:tr>
              <a:tr h="390378">
                <a:tc>
                  <a:txBody>
                    <a:bodyPr/>
                    <a:lstStyle/>
                    <a:p>
                      <a:r>
                        <a:rPr sz="1400" b="0">
                          <a:solidFill>
                            <a:srgbClr val="52606D"/>
                          </a:solidFill>
                          <a:latin typeface="Segoe UI"/>
                        </a:rPr>
                        <a:t>link_state</a:t>
                      </a:r>
                    </a:p>
                  </a:txBody>
                  <a:tcPr anchor="ctr">
                    <a:solidFill>
                      <a:srgbClr val="F4F2EE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400" b="0">
                          <a:solidFill>
                            <a:srgbClr val="52606D"/>
                          </a:solidFill>
                          <a:latin typeface="Segoe UI"/>
                        </a:rPr>
                        <a:t>categórica</a:t>
                      </a:r>
                    </a:p>
                  </a:txBody>
                  <a:tcPr anchor="ctr">
                    <a:solidFill>
                      <a:srgbClr val="F4F2EE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400" b="0">
                          <a:solidFill>
                            <a:srgbClr val="52606D"/>
                          </a:solidFill>
                          <a:latin typeface="Segoe UI"/>
                        </a:rPr>
                        <a:t>up | down | flapping</a:t>
                      </a:r>
                    </a:p>
                  </a:txBody>
                  <a:tcPr anchor="ctr">
                    <a:solidFill>
                      <a:srgbClr val="F4F2EE"/>
                    </a:solidFill>
                  </a:tcPr>
                </a:tc>
              </a:tr>
              <a:tr h="390378">
                <a:tc>
                  <a:txBody>
                    <a:bodyPr/>
                    <a:lstStyle/>
                    <a:p>
                      <a:r>
                        <a:rPr sz="1400" b="0">
                          <a:solidFill>
                            <a:srgbClr val="52606D"/>
                          </a:solidFill>
                          <a:latin typeface="Segoe UI"/>
                        </a:rPr>
                        <a:t>node_power</a:t>
                      </a:r>
                    </a:p>
                  </a:txBody>
                  <a:tcPr anchor="ctr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400" b="0">
                          <a:solidFill>
                            <a:srgbClr val="52606D"/>
                          </a:solidFill>
                          <a:latin typeface="Segoe UI"/>
                        </a:rPr>
                        <a:t>categórica</a:t>
                      </a:r>
                    </a:p>
                  </a:txBody>
                  <a:tcPr anchor="ctr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400" b="0">
                          <a:solidFill>
                            <a:srgbClr val="52606D"/>
                          </a:solidFill>
                          <a:latin typeface="Segoe UI"/>
                        </a:rPr>
                        <a:t>ok | on-battery | failed</a:t>
                      </a:r>
                    </a:p>
                  </a:txBody>
                  <a:tcPr anchor="ctr">
                    <a:solidFill>
                      <a:srgbClr val="FFFFFF"/>
                    </a:solidFill>
                  </a:tcPr>
                </a:tc>
              </a:tr>
              <a:tr h="390378">
                <a:tc>
                  <a:txBody>
                    <a:bodyPr/>
                    <a:lstStyle/>
                    <a:p>
                      <a:r>
                        <a:rPr sz="1400" b="0">
                          <a:solidFill>
                            <a:srgbClr val="52606D"/>
                          </a:solidFill>
                          <a:latin typeface="Segoe UI"/>
                        </a:rPr>
                        <a:t>weather</a:t>
                      </a:r>
                    </a:p>
                  </a:txBody>
                  <a:tcPr anchor="ctr">
                    <a:solidFill>
                      <a:srgbClr val="F4F2EE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400" b="0">
                          <a:solidFill>
                            <a:srgbClr val="52606D"/>
                          </a:solidFill>
                          <a:latin typeface="Segoe UI"/>
                        </a:rPr>
                        <a:t>categórica</a:t>
                      </a:r>
                    </a:p>
                  </a:txBody>
                  <a:tcPr anchor="ctr">
                    <a:solidFill>
                      <a:srgbClr val="F4F2EE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400" b="0">
                          <a:solidFill>
                            <a:srgbClr val="52606D"/>
                          </a:solidFill>
                          <a:latin typeface="Segoe UI"/>
                        </a:rPr>
                        <a:t>clear | rain | storm</a:t>
                      </a:r>
                    </a:p>
                  </a:txBody>
                  <a:tcPr anchor="ctr">
                    <a:solidFill>
                      <a:srgbClr val="F4F2EE"/>
                    </a:solidFill>
                  </a:tcPr>
                </a:tc>
              </a:tr>
              <a:tr h="390378">
                <a:tc>
                  <a:txBody>
                    <a:bodyPr/>
                    <a:lstStyle/>
                    <a:p>
                      <a:r>
                        <a:rPr sz="1400" b="0">
                          <a:solidFill>
                            <a:srgbClr val="52606D"/>
                          </a:solidFill>
                          <a:latin typeface="Segoe UI"/>
                        </a:rPr>
                        <a:t>spectrum_scan</a:t>
                      </a:r>
                    </a:p>
                  </a:txBody>
                  <a:tcPr anchor="ctr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400" b="0">
                          <a:solidFill>
                            <a:srgbClr val="52606D"/>
                          </a:solidFill>
                          <a:latin typeface="Segoe UI"/>
                        </a:rPr>
                        <a:t>categórica</a:t>
                      </a:r>
                    </a:p>
                  </a:txBody>
                  <a:tcPr anchor="ctr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400" b="0">
                          <a:solidFill>
                            <a:srgbClr val="52606D"/>
                          </a:solidFill>
                          <a:latin typeface="Segoe UI"/>
                        </a:rPr>
                        <a:t>clean | occupied</a:t>
                      </a:r>
                    </a:p>
                  </a:txBody>
                  <a:tcPr anchor="ctr">
                    <a:solidFill>
                      <a:srgbClr val="FFFFFF"/>
                    </a:solidFill>
                  </a:tcPr>
                </a:tc>
              </a:tr>
              <a:tr h="390378">
                <a:tc>
                  <a:txBody>
                    <a:bodyPr/>
                    <a:lstStyle/>
                    <a:p>
                      <a:r>
                        <a:rPr sz="1400" b="0">
                          <a:solidFill>
                            <a:srgbClr val="52606D"/>
                          </a:solidFill>
                          <a:latin typeface="Segoe UI"/>
                        </a:rPr>
                        <a:t>neighbours_affected</a:t>
                      </a:r>
                    </a:p>
                  </a:txBody>
                  <a:tcPr anchor="ctr">
                    <a:solidFill>
                      <a:srgbClr val="F4F2EE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400" b="0">
                          <a:solidFill>
                            <a:srgbClr val="52606D"/>
                          </a:solidFill>
                          <a:latin typeface="Segoe UI"/>
                        </a:rPr>
                        <a:t>categórica</a:t>
                      </a:r>
                    </a:p>
                  </a:txBody>
                  <a:tcPr anchor="ctr">
                    <a:solidFill>
                      <a:srgbClr val="F4F2EE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400" b="0">
                          <a:solidFill>
                            <a:srgbClr val="52606D"/>
                          </a:solidFill>
                          <a:latin typeface="Segoe UI"/>
                        </a:rPr>
                        <a:t>none | one | many</a:t>
                      </a:r>
                    </a:p>
                  </a:txBody>
                  <a:tcPr anchor="ctr">
                    <a:solidFill>
                      <a:srgbClr val="F4F2EE"/>
                    </a:solidFill>
                  </a:tcPr>
                </a:tc>
              </a:tr>
              <a:tr h="390378">
                <a:tc>
                  <a:txBody>
                    <a:bodyPr/>
                    <a:lstStyle/>
                    <a:p>
                      <a:r>
                        <a:rPr sz="1400" b="0">
                          <a:solidFill>
                            <a:srgbClr val="52606D"/>
                          </a:solidFill>
                          <a:latin typeface="Segoe UI"/>
                        </a:rPr>
                        <a:t>recent_change</a:t>
                      </a:r>
                    </a:p>
                  </a:txBody>
                  <a:tcPr anchor="ctr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400" b="0">
                          <a:solidFill>
                            <a:srgbClr val="52606D"/>
                          </a:solidFill>
                          <a:latin typeface="Segoe UI"/>
                        </a:rPr>
                        <a:t>categórica</a:t>
                      </a:r>
                    </a:p>
                  </a:txBody>
                  <a:tcPr anchor="ctr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400" b="0">
                          <a:solidFill>
                            <a:srgbClr val="52606D"/>
                          </a:solidFill>
                          <a:latin typeface="Segoe UI"/>
                        </a:rPr>
                        <a:t>none | config | firmware | antenna</a:t>
                      </a:r>
                    </a:p>
                  </a:txBody>
                  <a:tcPr anchor="ctr">
                    <a:solidFill>
                      <a:srgbClr val="FFFFFF"/>
                    </a:solidFill>
                  </a:tcPr>
                </a:tc>
              </a:tr>
              <a:tr h="390384">
                <a:tc>
                  <a:txBody>
                    <a:bodyPr/>
                    <a:lstStyle/>
                    <a:p>
                      <a:r>
                        <a:rPr sz="1400" b="0">
                          <a:solidFill>
                            <a:srgbClr val="52606D"/>
                          </a:solidFill>
                          <a:latin typeface="Segoe UI"/>
                        </a:rPr>
                        <a:t>vlan_trunk_ok / upstream_relay_reachable</a:t>
                      </a:r>
                    </a:p>
                  </a:txBody>
                  <a:tcPr anchor="ctr">
                    <a:solidFill>
                      <a:srgbClr val="F4F2EE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400" b="0">
                          <a:solidFill>
                            <a:srgbClr val="52606D"/>
                          </a:solidFill>
                          <a:latin typeface="Segoe UI"/>
                        </a:rPr>
                        <a:t>booleana</a:t>
                      </a:r>
                    </a:p>
                  </a:txBody>
                  <a:tcPr anchor="ctr">
                    <a:solidFill>
                      <a:srgbClr val="F4F2EE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400" b="0">
                          <a:solidFill>
                            <a:srgbClr val="52606D"/>
                          </a:solidFill>
                          <a:latin typeface="Segoe UI"/>
                        </a:rPr>
                        <a:t>yes | no</a:t>
                      </a:r>
                    </a:p>
                  </a:txBody>
                  <a:tcPr anchor="ctr">
                    <a:solidFill>
                      <a:srgbClr val="F4F2EE"/>
                    </a:solidFill>
                  </a:tcPr>
                </a:tc>
              </a:tr>
            </a:tbl>
          </a:graphicData>
        </a:graphic>
      </p:graphicFrame>
    </p:spTree>
  </p:cSld>
  <p:clrMapOvr>
    <a:masterClrMapping/>
  </p:clrMapOvr>
</p:sld>
</file>

<file path=ppt/slides/slide12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FBFAF7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0"/>
            <a:ext cx="12191695" cy="146304"/>
          </a:xfrm>
          <a:prstGeom prst="rect">
            <a:avLst/>
          </a:prstGeom>
          <a:solidFill>
            <a:srgbClr val="0072B2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685800" y="384048"/>
            <a:ext cx="10789920" cy="7315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lnSpc>
                <a:spcPct val="100000"/>
              </a:lnSpc>
            </a:pPr>
            <a:r>
              <a:rPr sz="2800" b="1">
                <a:solidFill>
                  <a:srgbClr val="1F2933"/>
                </a:solidFill>
                <a:latin typeface="Segoe UI"/>
              </a:rPr>
              <a:t>As 43 regras em cinco camadas</a:t>
            </a:r>
          </a:p>
        </p:txBody>
      </p:sp>
      <p:pic>
        <p:nvPicPr>
          <p:cNvPr id="5" name="Picture 4" descr="02-expert-system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2291617" y="1234440"/>
            <a:ext cx="7608460" cy="4754880"/>
          </a:xfrm>
          <a:prstGeom prst="rect">
            <a:avLst/>
          </a:prstGeom>
        </p:spPr>
      </p:pic>
      <p:sp>
        <p:nvSpPr>
          <p:cNvPr id="6" name="TextBox 5"/>
          <p:cNvSpPr txBox="1"/>
          <p:nvPr/>
        </p:nvSpPr>
        <p:spPr>
          <a:xfrm>
            <a:off x="685800" y="6172200"/>
            <a:ext cx="10789920" cy="4572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lnSpc>
                <a:spcPct val="100000"/>
              </a:lnSpc>
            </a:pPr>
            <a:r>
              <a:rPr sz="1300" b="0">
                <a:solidFill>
                  <a:srgbClr val="52606D"/>
                </a:solidFill>
                <a:latin typeface="Segoe UI"/>
              </a:rPr>
              <a:t>A camada 3b traz contra-evidência: regras com fator de certeza negativo.</a:t>
            </a:r>
          </a:p>
        </p:txBody>
      </p:sp>
    </p:spTree>
  </p:cSld>
  <p:clrMapOvr>
    <a:masterClrMapping/>
  </p:clrMapOvr>
</p:sld>
</file>

<file path=ppt/slides/slide13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FBFAF7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0"/>
            <a:ext cx="12191695" cy="146304"/>
          </a:xfrm>
          <a:prstGeom prst="rect">
            <a:avLst/>
          </a:prstGeom>
          <a:solidFill>
            <a:srgbClr val="0072B2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685800" y="384048"/>
            <a:ext cx="10789920" cy="7315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lnSpc>
                <a:spcPct val="100000"/>
              </a:lnSpc>
            </a:pPr>
            <a:r>
              <a:rPr sz="3000" b="1">
                <a:solidFill>
                  <a:srgbClr val="1F2933"/>
                </a:solidFill>
                <a:latin typeface="Segoe UI"/>
              </a:rPr>
              <a:t>Três regras, três papéis</a:t>
            </a:r>
          </a:p>
        </p:txBody>
      </p:sp>
      <p:sp>
        <p:nvSpPr>
          <p:cNvPr id="5" name="Rectangle 4"/>
          <p:cNvSpPr/>
          <p:nvPr/>
        </p:nvSpPr>
        <p:spPr>
          <a:xfrm>
            <a:off x="685800" y="1280160"/>
            <a:ext cx="10789920" cy="4297680"/>
          </a:xfrm>
          <a:prstGeom prst="rect">
            <a:avLst/>
          </a:prstGeom>
          <a:solidFill>
            <a:srgbClr val="061219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none" lIns="320040" tIns="256032"/>
          <a:lstStyle/>
          <a:p>
            <a:pPr algn="ctr">
              <a:lnSpc>
                <a:spcPct val="115000"/>
              </a:lnSpc>
            </a:pPr>
            <a:r>
              <a:rPr sz="1500">
                <a:solidFill>
                  <a:srgbClr val="E6EDF3"/>
                </a:solidFill>
                <a:latin typeface="Consolas"/>
              </a:rPr>
              <a:t>R10:  SE  qualidade_do_sinal = poor</a:t>
            </a:r>
          </a:p>
          <a:p>
            <a:pPr>
              <a:lnSpc>
                <a:spcPct val="115000"/>
              </a:lnSpc>
            </a:pPr>
            <a:r>
              <a:rPr sz="1500">
                <a:solidFill>
                  <a:srgbClr val="E6EDF3"/>
                </a:solidFill>
                <a:latin typeface="Consolas"/>
              </a:rPr>
              <a:t>      E   varredura_de_espectro = occupied</a:t>
            </a:r>
          </a:p>
          <a:p>
            <a:pPr>
              <a:lnSpc>
                <a:spcPct val="115000"/>
              </a:lnSpc>
            </a:pPr>
            <a:r>
              <a:rPr sz="1500">
                <a:solidFill>
                  <a:srgbClr val="E6EDF3"/>
                </a:solidFill>
                <a:latin typeface="Consolas"/>
              </a:rPr>
              <a:t>      ENTÃO diagnóstico = rf_interference          (CF +0,85)</a:t>
            </a:r>
          </a:p>
          <a:p>
            <a:pPr>
              <a:lnSpc>
                <a:spcPct val="115000"/>
              </a:lnSpc>
            </a:pPr>
            <a:r>
              <a:rPr sz="1500">
                <a:solidFill>
                  <a:srgbClr val="E6EDF3"/>
                </a:solidFill>
                <a:latin typeface="Consolas"/>
              </a:rPr>
              <a:t/>
            </a:r>
          </a:p>
          <a:p>
            <a:pPr>
              <a:lnSpc>
                <a:spcPct val="115000"/>
              </a:lnSpc>
            </a:pPr>
            <a:r>
              <a:rPr sz="1500">
                <a:solidFill>
                  <a:srgbClr val="E6EDF3"/>
                </a:solidFill>
                <a:latin typeface="Consolas"/>
              </a:rPr>
              <a:t>R25:  SE  clima = clear</a:t>
            </a:r>
          </a:p>
          <a:p>
            <a:pPr>
              <a:lnSpc>
                <a:spcPct val="115000"/>
              </a:lnSpc>
            </a:pPr>
            <a:r>
              <a:rPr sz="1500">
                <a:solidFill>
                  <a:srgbClr val="E6EDF3"/>
                </a:solidFill>
                <a:latin typeface="Consolas"/>
              </a:rPr>
              <a:t>      ENTÃO diagnóstico = rain_fade                (CF -0,80)</a:t>
            </a:r>
          </a:p>
          <a:p>
            <a:pPr>
              <a:lnSpc>
                <a:spcPct val="115000"/>
              </a:lnSpc>
            </a:pPr>
            <a:r>
              <a:rPr sz="1500">
                <a:solidFill>
                  <a:srgbClr val="E6EDF3"/>
                </a:solidFill>
                <a:latin typeface="Consolas"/>
              </a:rPr>
              <a:t>      &lt;- contra-evidência: torna a hipótese MENOS provável</a:t>
            </a:r>
          </a:p>
          <a:p>
            <a:pPr>
              <a:lnSpc>
                <a:spcPct val="115000"/>
              </a:lnSpc>
            </a:pPr>
            <a:r>
              <a:rPr sz="1500">
                <a:solidFill>
                  <a:srgbClr val="E6EDF3"/>
                </a:solidFill>
                <a:latin typeface="Consolas"/>
              </a:rPr>
              <a:t/>
            </a:r>
          </a:p>
          <a:p>
            <a:pPr>
              <a:lnSpc>
                <a:spcPct val="115000"/>
              </a:lnSpc>
            </a:pPr>
            <a:r>
              <a:rPr sz="1500">
                <a:solidFill>
                  <a:srgbClr val="E6EDF3"/>
                </a:solidFill>
                <a:latin typeface="Consolas"/>
              </a:rPr>
              <a:t>R36:  SE  ação_recomendada = change_channel</a:t>
            </a:r>
          </a:p>
          <a:p>
            <a:pPr>
              <a:lnSpc>
                <a:spcPct val="115000"/>
              </a:lnSpc>
            </a:pPr>
            <a:r>
              <a:rPr sz="1500">
                <a:solidFill>
                  <a:srgbClr val="E6EDF3"/>
                </a:solidFill>
                <a:latin typeface="Consolas"/>
              </a:rPr>
              <a:t>      ENTÃO exige_autorização = yes                (CF +1,00)</a:t>
            </a:r>
          </a:p>
        </p:txBody>
      </p:sp>
    </p:spTree>
  </p:cSld>
  <p:clrMapOvr>
    <a:masterClrMapping/>
  </p:clrMapOvr>
</p:sld>
</file>

<file path=ppt/slides/slide14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FBFAF7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0"/>
            <a:ext cx="12191695" cy="146304"/>
          </a:xfrm>
          <a:prstGeom prst="rect">
            <a:avLst/>
          </a:prstGeom>
          <a:solidFill>
            <a:srgbClr val="0072B2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685800" y="384048"/>
            <a:ext cx="10789920" cy="7315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lnSpc>
                <a:spcPct val="100000"/>
              </a:lnSpc>
            </a:pPr>
            <a:r>
              <a:rPr sz="3000" b="1">
                <a:solidFill>
                  <a:srgbClr val="1F2933"/>
                </a:solidFill>
                <a:latin typeface="Segoe UI"/>
              </a:rPr>
              <a:t>Fatores de certeza: a álgebra do MYCIN</a:t>
            </a:r>
          </a:p>
        </p:txBody>
      </p:sp>
      <p:sp>
        <p:nvSpPr>
          <p:cNvPr id="5" name="Rectangle 4"/>
          <p:cNvSpPr/>
          <p:nvPr/>
        </p:nvSpPr>
        <p:spPr>
          <a:xfrm>
            <a:off x="685800" y="1280160"/>
            <a:ext cx="10789920" cy="4297680"/>
          </a:xfrm>
          <a:prstGeom prst="rect">
            <a:avLst/>
          </a:prstGeom>
          <a:solidFill>
            <a:srgbClr val="061219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none" lIns="320040" tIns="256032"/>
          <a:lstStyle/>
          <a:p>
            <a:pPr algn="ctr">
              <a:lnSpc>
                <a:spcPct val="115000"/>
              </a:lnSpc>
            </a:pPr>
            <a:r>
              <a:rPr sz="1500">
                <a:solidFill>
                  <a:srgbClr val="E6EDF3"/>
                </a:solidFill>
                <a:latin typeface="Consolas"/>
              </a:rPr>
              <a:t>CF está em [-1, +1]:  +1 confirmado   -1 refutado   0 sem evidência</a:t>
            </a:r>
          </a:p>
          <a:p>
            <a:pPr>
              <a:lnSpc>
                <a:spcPct val="115000"/>
              </a:lnSpc>
            </a:pPr>
            <a:r>
              <a:rPr sz="1500">
                <a:solidFill>
                  <a:srgbClr val="E6EDF3"/>
                </a:solidFill>
                <a:latin typeface="Consolas"/>
              </a:rPr>
              <a:t/>
            </a:r>
          </a:p>
          <a:p>
            <a:pPr>
              <a:lnSpc>
                <a:spcPct val="115000"/>
              </a:lnSpc>
            </a:pPr>
            <a:r>
              <a:rPr sz="1500">
                <a:solidFill>
                  <a:srgbClr val="E6EDF3"/>
                </a:solidFill>
                <a:latin typeface="Consolas"/>
              </a:rPr>
              <a:t>CF da premissa    = MÍNIMO entre as condições      (o elo mais fraco)</a:t>
            </a:r>
          </a:p>
          <a:p>
            <a:pPr>
              <a:lnSpc>
                <a:spcPct val="115000"/>
              </a:lnSpc>
            </a:pPr>
            <a:r>
              <a:rPr sz="1500">
                <a:solidFill>
                  <a:srgbClr val="E6EDF3"/>
                </a:solidFill>
                <a:latin typeface="Consolas"/>
              </a:rPr>
              <a:t>CF da conclusão   = CF da premissa  ×  CF da regra</a:t>
            </a:r>
          </a:p>
          <a:p>
            <a:pPr>
              <a:lnSpc>
                <a:spcPct val="115000"/>
              </a:lnSpc>
            </a:pPr>
            <a:r>
              <a:rPr sz="1500">
                <a:solidFill>
                  <a:srgbClr val="E6EDF3"/>
                </a:solidFill>
                <a:latin typeface="Consolas"/>
              </a:rPr>
              <a:t>disparo           = só acima do limiar 0,2</a:t>
            </a:r>
          </a:p>
          <a:p>
            <a:pPr>
              <a:lnSpc>
                <a:spcPct val="115000"/>
              </a:lnSpc>
            </a:pPr>
            <a:r>
              <a:rPr sz="1500">
                <a:solidFill>
                  <a:srgbClr val="E6EDF3"/>
                </a:solidFill>
                <a:latin typeface="Consolas"/>
              </a:rPr>
              <a:t/>
            </a:r>
          </a:p>
          <a:p>
            <a:pPr>
              <a:lnSpc>
                <a:spcPct val="115000"/>
              </a:lnSpc>
            </a:pPr>
            <a:r>
              <a:rPr sz="1500">
                <a:solidFill>
                  <a:srgbClr val="E6EDF3"/>
                </a:solidFill>
                <a:latin typeface="Consolas"/>
              </a:rPr>
              <a:t>combinação de duas conclusões independentes:</a:t>
            </a:r>
          </a:p>
          <a:p>
            <a:pPr>
              <a:lnSpc>
                <a:spcPct val="115000"/>
              </a:lnSpc>
            </a:pPr>
            <a:r>
              <a:rPr sz="1500">
                <a:solidFill>
                  <a:srgbClr val="E6EDF3"/>
                </a:solidFill>
                <a:latin typeface="Consolas"/>
              </a:rPr>
              <a:t>   ambos &gt;= 0        cf1 + cf2 × (1 - cf1)</a:t>
            </a:r>
          </a:p>
          <a:p>
            <a:pPr>
              <a:lnSpc>
                <a:spcPct val="115000"/>
              </a:lnSpc>
            </a:pPr>
            <a:r>
              <a:rPr sz="1500">
                <a:solidFill>
                  <a:srgbClr val="E6EDF3"/>
                </a:solidFill>
                <a:latin typeface="Consolas"/>
              </a:rPr>
              <a:t>   ambos &lt;= 0        cf1 + cf2 × (1 + cf1)</a:t>
            </a:r>
          </a:p>
          <a:p>
            <a:pPr>
              <a:lnSpc>
                <a:spcPct val="115000"/>
              </a:lnSpc>
            </a:pPr>
            <a:r>
              <a:rPr sz="1500">
                <a:solidFill>
                  <a:srgbClr val="E6EDF3"/>
                </a:solidFill>
                <a:latin typeface="Consolas"/>
              </a:rPr>
              <a:t>   sinais opostos    (cf1 + cf2) / (1 - min(|cf1|, |cf2|))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685800" y="5806440"/>
            <a:ext cx="10789920" cy="5486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lnSpc>
                <a:spcPct val="100000"/>
              </a:lnSpc>
            </a:pPr>
            <a:r>
              <a:rPr sz="1500" b="0">
                <a:solidFill>
                  <a:srgbClr val="52606D"/>
                </a:solidFill>
                <a:latin typeface="Segoe UI"/>
              </a:rPr>
              <a:t>O mínimo modela o elo mais fraco: uma premissa não é mais forte que sua condição mais fraca.</a:t>
            </a:r>
          </a:p>
        </p:txBody>
      </p:sp>
    </p:spTree>
  </p:cSld>
  <p:clrMapOvr>
    <a:masterClrMapping/>
  </p:clrMapOvr>
</p:sld>
</file>

<file path=ppt/slides/slide15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FBFAF7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0"/>
            <a:ext cx="12191695" cy="146304"/>
          </a:xfrm>
          <a:prstGeom prst="rect">
            <a:avLst/>
          </a:prstGeom>
          <a:solidFill>
            <a:srgbClr val="0072B2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685800" y="457200"/>
            <a:ext cx="10789920" cy="8229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lnSpc>
                <a:spcPct val="100000"/>
              </a:lnSpc>
            </a:pPr>
            <a:r>
              <a:rPr sz="3200" b="1">
                <a:solidFill>
                  <a:srgbClr val="1F2933"/>
                </a:solidFill>
                <a:latin typeface="Segoe UI"/>
              </a:rPr>
              <a:t>Encadeamento progressivo — dirigido por dados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685800" y="1371600"/>
            <a:ext cx="10789920" cy="493776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>
              <a:spcAft>
                <a:spcPts val="1600"/>
              </a:spcAft>
            </a:pPr>
            <a:r>
              <a:rPr sz="2300" b="1">
                <a:solidFill>
                  <a:srgbClr val="1F2933"/>
                </a:solidFill>
                <a:latin typeface="Segoe UI"/>
              </a:rPr>
              <a:t>• Parte dos fatos e deriva tudo o que puder</a:t>
            </a:r>
          </a:p>
          <a:p>
            <a:pPr>
              <a:spcAft>
                <a:spcPts val="1600"/>
              </a:spcAft>
            </a:pPr>
            <a:r>
              <a:rPr sz="2300" b="1">
                <a:solidFill>
                  <a:srgbClr val="1F2933"/>
                </a:solidFill>
                <a:latin typeface="Segoe UI"/>
              </a:rPr>
              <a:t>• Ciclo reconhecer-agir: monta o conjunto de conflito, resolve, dispara</a:t>
            </a:r>
          </a:p>
          <a:p>
            <a:pPr>
              <a:spcAft>
                <a:spcPts val="1600"/>
              </a:spcAft>
            </a:pPr>
            <a:r>
              <a:rPr sz="2300" b="1">
                <a:solidFill>
                  <a:srgbClr val="1F2933"/>
                </a:solidFill>
                <a:latin typeface="Segoe UI"/>
              </a:rPr>
              <a:t>• Uma regra por ciclo — e não todas</a:t>
            </a:r>
          </a:p>
          <a:p>
            <a:pPr lvl="1">
              <a:spcAft>
                <a:spcPts val="1000"/>
              </a:spcAft>
            </a:pPr>
            <a:r>
              <a:rPr sz="1900" b="0">
                <a:solidFill>
                  <a:srgbClr val="52606D"/>
                </a:solidFill>
                <a:latin typeface="Segoe UI"/>
              </a:rPr>
              <a:t>assim a ordem do raciocínio fica visível no trace, e a resolução de conflito tem efeito observável</a:t>
            </a:r>
          </a:p>
          <a:p>
            <a:pPr>
              <a:spcAft>
                <a:spcPts val="1600"/>
              </a:spcAft>
            </a:pPr>
            <a:r>
              <a:rPr sz="2300" b="1">
                <a:solidFill>
                  <a:srgbClr val="1F2933"/>
                </a:solidFill>
                <a:latin typeface="Segoe UI"/>
              </a:rPr>
              <a:t>• É o modo alarme de monitoramento: chega telemetria, o sistema conclui</a:t>
            </a:r>
          </a:p>
        </p:txBody>
      </p:sp>
    </p:spTree>
  </p:cSld>
  <p:clrMapOvr>
    <a:masterClrMapping/>
  </p:clrMapOvr>
</p:sld>
</file>

<file path=ppt/slides/slide16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FBFAF7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0"/>
            <a:ext cx="12191695" cy="146304"/>
          </a:xfrm>
          <a:prstGeom prst="rect">
            <a:avLst/>
          </a:prstGeom>
          <a:solidFill>
            <a:srgbClr val="0072B2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685800" y="384048"/>
            <a:ext cx="10789920" cy="7315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lnSpc>
                <a:spcPct val="100000"/>
              </a:lnSpc>
            </a:pPr>
            <a:r>
              <a:rPr sz="3000" b="1">
                <a:solidFill>
                  <a:srgbClr val="1F2933"/>
                </a:solidFill>
                <a:latin typeface="Segoe UI"/>
              </a:rPr>
              <a:t>Demonstração: encadeamento progressivo</a:t>
            </a:r>
          </a:p>
        </p:txBody>
      </p:sp>
      <p:sp>
        <p:nvSpPr>
          <p:cNvPr id="5" name="Rectangle 4"/>
          <p:cNvSpPr/>
          <p:nvPr/>
        </p:nvSpPr>
        <p:spPr>
          <a:xfrm>
            <a:off x="685800" y="1280160"/>
            <a:ext cx="10789920" cy="4297680"/>
          </a:xfrm>
          <a:prstGeom prst="rect">
            <a:avLst/>
          </a:prstGeom>
          <a:solidFill>
            <a:srgbClr val="061219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none" lIns="320040" tIns="256032"/>
          <a:lstStyle/>
          <a:p>
            <a:pPr algn="ctr">
              <a:lnSpc>
                <a:spcPct val="115000"/>
              </a:lnSpc>
            </a:pPr>
            <a:r>
              <a:rPr sz="1500">
                <a:solidFill>
                  <a:srgbClr val="7FE0C0"/>
                </a:solidFill>
                <a:latin typeface="Consolas"/>
              </a:rPr>
              <a:t>$ aisg diagnose --case interference --trace --explain</a:t>
            </a:r>
          </a:p>
          <a:p>
            <a:pPr>
              <a:lnSpc>
                <a:spcPct val="115000"/>
              </a:lnSpc>
            </a:pPr>
            <a:r>
              <a:rPr sz="1500">
                <a:solidFill>
                  <a:srgbClr val="E6EDF3"/>
                </a:solidFill>
                <a:latin typeface="Consolas"/>
              </a:rPr>
              <a:t/>
            </a:r>
          </a:p>
          <a:p>
            <a:pPr>
              <a:lnSpc>
                <a:spcPct val="115000"/>
              </a:lnSpc>
            </a:pPr>
            <a:r>
              <a:rPr sz="1500">
                <a:solidFill>
                  <a:srgbClr val="E6EDF3"/>
                </a:solidFill>
                <a:latin typeface="Consolas"/>
              </a:rPr>
              <a:t>* R01: premissa CF +1,00 × regra CF +0,90 =&gt; signal_quality = poor</a:t>
            </a:r>
          </a:p>
          <a:p>
            <a:pPr>
              <a:lnSpc>
                <a:spcPct val="115000"/>
              </a:lnSpc>
            </a:pPr>
            <a:r>
              <a:rPr sz="1500">
                <a:solidFill>
                  <a:srgbClr val="E6EDF3"/>
                </a:solidFill>
                <a:latin typeface="Consolas"/>
              </a:rPr>
              <a:t>* R10: premissa CF +0,90 × regra CF +0,85 =&gt; diagnosis = rf_interference</a:t>
            </a:r>
          </a:p>
          <a:p>
            <a:pPr>
              <a:lnSpc>
                <a:spcPct val="115000"/>
              </a:lnSpc>
            </a:pPr>
            <a:r>
              <a:rPr sz="1500">
                <a:solidFill>
                  <a:srgbClr val="E6EDF3"/>
                </a:solidFill>
                <a:latin typeface="Consolas"/>
              </a:rPr>
              <a:t>* R28: premissa CF +0,93 × regra CF +0,90 =&gt; ação = change_channel</a:t>
            </a:r>
          </a:p>
          <a:p>
            <a:pPr>
              <a:lnSpc>
                <a:spcPct val="115000"/>
              </a:lnSpc>
            </a:pPr>
            <a:r>
              <a:rPr sz="1500">
                <a:solidFill>
                  <a:srgbClr val="E6EDF3"/>
                </a:solidFill>
                <a:latin typeface="Consolas"/>
              </a:rPr>
              <a:t>* R36: premissa CF +0,84 × regra CF +1,00 =&gt; autorização = yes</a:t>
            </a:r>
          </a:p>
          <a:p>
            <a:pPr>
              <a:lnSpc>
                <a:spcPct val="115000"/>
              </a:lnSpc>
            </a:pPr>
            <a:r>
              <a:rPr sz="1500">
                <a:solidFill>
                  <a:srgbClr val="E6EDF3"/>
                </a:solidFill>
                <a:latin typeface="Consolas"/>
              </a:rPr>
              <a:t/>
            </a:r>
          </a:p>
          <a:p>
            <a:pPr>
              <a:lnSpc>
                <a:spcPct val="115000"/>
              </a:lnSpc>
            </a:pPr>
            <a:r>
              <a:rPr sz="1500">
                <a:solidFill>
                  <a:srgbClr val="E6EDF3"/>
                </a:solidFill>
                <a:latin typeface="Consolas"/>
              </a:rPr>
              <a:t>diagnóstico:</a:t>
            </a:r>
          </a:p>
          <a:p>
            <a:pPr>
              <a:lnSpc>
                <a:spcPct val="115000"/>
              </a:lnSpc>
            </a:pPr>
            <a:r>
              <a:rPr sz="1500">
                <a:solidFill>
                  <a:srgbClr val="E6EDF3"/>
                </a:solidFill>
                <a:latin typeface="Consolas"/>
              </a:rPr>
              <a:t>  rf_interference        CF +0,93  ###################</a:t>
            </a:r>
          </a:p>
          <a:p>
            <a:pPr>
              <a:lnSpc>
                <a:spcPct val="115000"/>
              </a:lnSpc>
            </a:pPr>
            <a:r>
              <a:rPr sz="1500">
                <a:solidFill>
                  <a:srgbClr val="E6EDF3"/>
                </a:solidFill>
                <a:latin typeface="Consolas"/>
              </a:rPr>
              <a:t>  rain_fade              CF -0,80  -################</a:t>
            </a:r>
          </a:p>
        </p:txBody>
      </p:sp>
    </p:spTree>
  </p:cSld>
  <p:clrMapOvr>
    <a:masterClrMapping/>
  </p:clrMapOvr>
</p:sld>
</file>

<file path=ppt/slides/slide17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FBFAF7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0"/>
            <a:ext cx="12191695" cy="146304"/>
          </a:xfrm>
          <a:prstGeom prst="rect">
            <a:avLst/>
          </a:prstGeom>
          <a:solidFill>
            <a:srgbClr val="0072B2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685800" y="457200"/>
            <a:ext cx="10789920" cy="8229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lnSpc>
                <a:spcPct val="100000"/>
              </a:lnSpc>
            </a:pPr>
            <a:r>
              <a:rPr sz="3200" b="1">
                <a:solidFill>
                  <a:srgbClr val="1F2933"/>
                </a:solidFill>
                <a:latin typeface="Segoe UI"/>
              </a:rPr>
              <a:t>Encadeamento regressivo — dirigido por objetivo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685800" y="1371600"/>
            <a:ext cx="10789920" cy="493776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>
              <a:spcAft>
                <a:spcPts val="1600"/>
              </a:spcAft>
            </a:pPr>
            <a:r>
              <a:rPr sz="2300" b="1">
                <a:solidFill>
                  <a:srgbClr val="1F2933"/>
                </a:solidFill>
                <a:latin typeface="Segoe UI"/>
              </a:rPr>
              <a:t>• Parte da pergunta “o diagnóstico é X?” e busca só a evidência que a sustenta</a:t>
            </a:r>
          </a:p>
          <a:p>
            <a:pPr>
              <a:spcAft>
                <a:spcPts val="1600"/>
              </a:spcAft>
            </a:pPr>
            <a:r>
              <a:rPr sz="2300" b="1">
                <a:solidFill>
                  <a:srgbClr val="1F2933"/>
                </a:solidFill>
                <a:latin typeface="Segoe UI"/>
              </a:rPr>
              <a:t>• É o modo do Expert SINTA — e o modo do engenheiro às duas da manhã</a:t>
            </a:r>
          </a:p>
          <a:p>
            <a:pPr>
              <a:spcAft>
                <a:spcPts val="1600"/>
              </a:spcAft>
            </a:pPr>
            <a:r>
              <a:rPr sz="2300" b="1">
                <a:solidFill>
                  <a:srgbClr val="1F2933"/>
                </a:solidFill>
                <a:latin typeface="Segoe UI"/>
              </a:rPr>
              <a:t>• Curto-circuito: condição falsa abandona a regra — as demais NÃO são perguntadas</a:t>
            </a:r>
          </a:p>
          <a:p>
            <a:pPr>
              <a:spcAft>
                <a:spcPts val="1600"/>
              </a:spcAft>
            </a:pPr>
            <a:r>
              <a:rPr sz="2300" b="1">
                <a:solidFill>
                  <a:srgbClr val="1F2933"/>
                </a:solidFill>
                <a:latin typeface="Segoe UI"/>
              </a:rPr>
              <a:t>• Corte por suficiência: objetivo com CF ≥ 0,9 encerra a busca</a:t>
            </a:r>
          </a:p>
          <a:p>
            <a:pPr lvl="1">
              <a:spcAft>
                <a:spcPts val="1000"/>
              </a:spcAft>
            </a:pPr>
            <a:r>
              <a:rPr sz="1900" b="0">
                <a:solidFill>
                  <a:srgbClr val="52606D"/>
                </a:solidFill>
                <a:latin typeface="Segoe UI"/>
              </a:rPr>
              <a:t>Resultado: o caso de falha de energia conclui com 6 de 13 perguntas</a:t>
            </a:r>
          </a:p>
        </p:txBody>
      </p:sp>
    </p:spTree>
  </p:cSld>
  <p:clrMapOvr>
    <a:masterClrMapping/>
  </p:clrMapOvr>
</p:sld>
</file>

<file path=ppt/slides/slide18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FBFAF7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0"/>
            <a:ext cx="12191695" cy="146304"/>
          </a:xfrm>
          <a:prstGeom prst="rect">
            <a:avLst/>
          </a:prstGeom>
          <a:solidFill>
            <a:srgbClr val="0072B2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685800" y="384048"/>
            <a:ext cx="10789920" cy="7315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lnSpc>
                <a:spcPct val="100000"/>
              </a:lnSpc>
            </a:pPr>
            <a:r>
              <a:rPr sz="3000" b="1">
                <a:solidFill>
                  <a:srgbClr val="1F2933"/>
                </a:solidFill>
                <a:latin typeface="Segoe UI"/>
              </a:rPr>
              <a:t>Demonstração: consulta guiada por objetivo</a:t>
            </a:r>
          </a:p>
        </p:txBody>
      </p:sp>
      <p:sp>
        <p:nvSpPr>
          <p:cNvPr id="5" name="Rectangle 4"/>
          <p:cNvSpPr/>
          <p:nvPr/>
        </p:nvSpPr>
        <p:spPr>
          <a:xfrm>
            <a:off x="685800" y="1280160"/>
            <a:ext cx="10789920" cy="4297680"/>
          </a:xfrm>
          <a:prstGeom prst="rect">
            <a:avLst/>
          </a:prstGeom>
          <a:solidFill>
            <a:srgbClr val="061219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none" lIns="320040" tIns="256032"/>
          <a:lstStyle/>
          <a:p>
            <a:pPr algn="ctr">
              <a:lnSpc>
                <a:spcPct val="115000"/>
              </a:lnSpc>
            </a:pPr>
            <a:r>
              <a:rPr sz="1500">
                <a:solidFill>
                  <a:srgbClr val="7FE0C0"/>
                </a:solidFill>
                <a:latin typeface="Consolas"/>
              </a:rPr>
              <a:t>$ aisg diagnose --interactive --mode backward</a:t>
            </a:r>
          </a:p>
          <a:p>
            <a:pPr>
              <a:lnSpc>
                <a:spcPct val="115000"/>
              </a:lnSpc>
            </a:pPr>
            <a:r>
              <a:rPr sz="1500">
                <a:solidFill>
                  <a:srgbClr val="E6EDF3"/>
                </a:solidFill>
                <a:latin typeface="Consolas"/>
              </a:rPr>
              <a:t/>
            </a:r>
          </a:p>
          <a:p>
            <a:pPr>
              <a:lnSpc>
                <a:spcPct val="115000"/>
              </a:lnSpc>
            </a:pPr>
            <a:r>
              <a:rPr sz="1500">
                <a:solidFill>
                  <a:srgbClr val="E6EDF3"/>
                </a:solidFill>
                <a:latin typeface="Consolas"/>
              </a:rPr>
              <a:t>Qual o estado do enlace [up, down, flapping]?</a:t>
            </a:r>
          </a:p>
          <a:p>
            <a:pPr>
              <a:lnSpc>
                <a:spcPct val="115000"/>
              </a:lnSpc>
            </a:pPr>
            <a:r>
              <a:rPr sz="1500">
                <a:solidFill>
                  <a:srgbClr val="E6EDF3"/>
                </a:solidFill>
                <a:latin typeface="Consolas"/>
              </a:rPr>
              <a:t>  (Enter = não sei)   ('?' = por quê)</a:t>
            </a:r>
          </a:p>
          <a:p>
            <a:pPr>
              <a:lnSpc>
                <a:spcPct val="115000"/>
              </a:lnSpc>
            </a:pPr>
            <a:r>
              <a:rPr sz="1500">
                <a:solidFill>
                  <a:srgbClr val="E6EDF3"/>
                </a:solidFill>
                <a:latin typeface="Consolas"/>
              </a:rPr>
              <a:t>&gt; down</a:t>
            </a:r>
          </a:p>
          <a:p>
            <a:pPr>
              <a:lnSpc>
                <a:spcPct val="115000"/>
              </a:lnSpc>
            </a:pPr>
            <a:r>
              <a:rPr sz="1500">
                <a:solidFill>
                  <a:srgbClr val="E6EDF3"/>
                </a:solidFill>
                <a:latin typeface="Consolas"/>
              </a:rPr>
              <a:t/>
            </a:r>
          </a:p>
          <a:p>
            <a:pPr>
              <a:lnSpc>
                <a:spcPct val="115000"/>
              </a:lnSpc>
            </a:pPr>
            <a:r>
              <a:rPr sz="1500">
                <a:solidFill>
                  <a:srgbClr val="E6EDF3"/>
                </a:solidFill>
                <a:latin typeface="Consolas"/>
              </a:rPr>
              <a:t>Qual a situação de alimentação do nó [ok, on-battery, failed]?</a:t>
            </a:r>
          </a:p>
          <a:p>
            <a:pPr>
              <a:lnSpc>
                <a:spcPct val="115000"/>
              </a:lnSpc>
            </a:pPr>
            <a:r>
              <a:rPr sz="1500">
                <a:solidFill>
                  <a:srgbClr val="E6EDF3"/>
                </a:solidFill>
                <a:latin typeface="Consolas"/>
              </a:rPr>
              <a:t>&gt; ?</a:t>
            </a:r>
          </a:p>
          <a:p>
            <a:pPr>
              <a:lnSpc>
                <a:spcPct val="115000"/>
              </a:lnSpc>
            </a:pPr>
            <a:r>
              <a:rPr sz="1500">
                <a:solidFill>
                  <a:srgbClr val="E6EDF3"/>
                </a:solidFill>
                <a:latin typeface="Consolas"/>
              </a:rPr>
              <a:t/>
            </a:r>
          </a:p>
          <a:p>
            <a:pPr>
              <a:lnSpc>
                <a:spcPct val="115000"/>
              </a:lnSpc>
            </a:pPr>
            <a:r>
              <a:rPr sz="1500">
                <a:solidFill>
                  <a:srgbClr val="E6EDF3"/>
                </a:solidFill>
                <a:latin typeface="Consolas"/>
              </a:rPr>
              <a:t>Por que esta pergunta está sendo feita:</a:t>
            </a:r>
          </a:p>
          <a:p>
            <a:pPr>
              <a:lnSpc>
                <a:spcPct val="115000"/>
              </a:lnSpc>
            </a:pPr>
            <a:r>
              <a:rPr sz="1500">
                <a:solidFill>
                  <a:srgbClr val="E6EDF3"/>
                </a:solidFill>
                <a:latin typeface="Consolas"/>
              </a:rPr>
              <a:t>  R16: SE alimentação_do_nó = failed ENTÃO node_power_failure (CF +0,95)</a:t>
            </a:r>
          </a:p>
          <a:p>
            <a:pPr>
              <a:lnSpc>
                <a:spcPct val="115000"/>
              </a:lnSpc>
            </a:pPr>
            <a:r>
              <a:rPr sz="1500">
                <a:solidFill>
                  <a:srgbClr val="E6EDF3"/>
                </a:solidFill>
                <a:latin typeface="Consolas"/>
              </a:rPr>
              <a:t>&gt; failed</a:t>
            </a:r>
          </a:p>
          <a:p>
            <a:pPr>
              <a:lnSpc>
                <a:spcPct val="115000"/>
              </a:lnSpc>
            </a:pPr>
            <a:r>
              <a:rPr sz="1500">
                <a:solidFill>
                  <a:srgbClr val="E6EDF3"/>
                </a:solidFill>
                <a:latin typeface="Consolas"/>
              </a:rPr>
              <a:t/>
            </a:r>
          </a:p>
          <a:p>
            <a:pPr>
              <a:lnSpc>
                <a:spcPct val="115000"/>
              </a:lnSpc>
            </a:pPr>
            <a:r>
              <a:rPr sz="1500">
                <a:solidFill>
                  <a:srgbClr val="E6EDF3"/>
                </a:solidFill>
                <a:latin typeface="Consolas"/>
              </a:rPr>
              <a:t>diagnóstico: node_power_failure (CF +0,95)  —  6 de 13 perguntas</a:t>
            </a:r>
          </a:p>
        </p:txBody>
      </p:sp>
    </p:spTree>
  </p:cSld>
  <p:clrMapOvr>
    <a:masterClrMapping/>
  </p:clrMapOvr>
</p:sld>
</file>

<file path=ppt/slides/slide19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FBFAF7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0"/>
            <a:ext cx="12191695" cy="146304"/>
          </a:xfrm>
          <a:prstGeom prst="rect">
            <a:avLst/>
          </a:prstGeom>
          <a:solidFill>
            <a:srgbClr val="0072B2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685800" y="384048"/>
            <a:ext cx="10789920" cy="7315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lnSpc>
                <a:spcPct val="100000"/>
              </a:lnSpc>
            </a:pPr>
            <a:r>
              <a:rPr sz="3000" b="1">
                <a:solidFill>
                  <a:srgbClr val="1F2933"/>
                </a:solidFill>
                <a:latin typeface="Segoe UI"/>
              </a:rPr>
              <a:t>Resolução de conflito: qual regra dispara primeiro?</a:t>
            </a:r>
          </a:p>
        </p:txBody>
      </p:sp>
      <p:graphicFrame>
        <p:nvGraphicFramePr>
          <p:cNvPr id="5" name="Table 4"/>
          <p:cNvGraphicFramePr>
            <a:graphicFrameLocks noGrp="1"/>
          </p:cNvGraphicFramePr>
          <p:nvPr/>
        </p:nvGraphicFramePr>
        <p:xfrm>
          <a:off x="685800" y="1325880"/>
          <a:ext cx="10789919" cy="1682496"/>
        </p:xfrm>
        <a:graphic>
          <a:graphicData uri="http://schemas.openxmlformats.org/drawingml/2006/table">
            <a:tbl>
              <a:tblPr firstRow="1" bandRow="1">
                <a:tableStyleId>{5C22544A-7EE6-4342-B048-85BDC9FD1C3A}</a:tableStyleId>
              </a:tblPr>
              <a:tblGrid>
                <a:gridCol w="2447198"/>
                <a:gridCol w="4449451"/>
                <a:gridCol w="3893270"/>
              </a:tblGrid>
              <a:tr h="420624">
                <a:tc>
                  <a:txBody>
                    <a:bodyPr/>
                    <a:lstStyle/>
                    <a:p>
                      <a:r>
                        <a:rPr sz="1500" b="1">
                          <a:solidFill>
                            <a:srgbClr val="FFFFFF"/>
                          </a:solidFill>
                          <a:latin typeface="Segoe UI"/>
                        </a:rPr>
                        <a:t>Política</a:t>
                      </a:r>
                    </a:p>
                  </a:txBody>
                  <a:tcPr anchor="ctr">
                    <a:solidFill>
                      <a:srgbClr val="0072B2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500" b="1">
                          <a:solidFill>
                            <a:srgbClr val="FFFFFF"/>
                          </a:solidFill>
                          <a:latin typeface="Segoe UI"/>
                        </a:rPr>
                        <a:t>Critério</a:t>
                      </a:r>
                    </a:p>
                  </a:txBody>
                  <a:tcPr anchor="ctr">
                    <a:solidFill>
                      <a:srgbClr val="0072B2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500" b="1">
                          <a:solidFill>
                            <a:srgbClr val="FFFFFF"/>
                          </a:solidFill>
                          <a:latin typeface="Segoe UI"/>
                        </a:rPr>
                        <a:t>Efeito</a:t>
                      </a:r>
                    </a:p>
                  </a:txBody>
                  <a:tcPr anchor="ctr">
                    <a:solidFill>
                      <a:srgbClr val="0072B2"/>
                    </a:solidFill>
                  </a:tcPr>
                </a:tc>
              </a:tr>
              <a:tr h="420624">
                <a:tc>
                  <a:txBody>
                    <a:bodyPr/>
                    <a:lstStyle/>
                    <a:p>
                      <a:r>
                        <a:rPr sz="1400" b="0">
                          <a:solidFill>
                            <a:srgbClr val="52606D"/>
                          </a:solidFill>
                          <a:latin typeface="Segoe UI"/>
                        </a:rPr>
                        <a:t>first-match</a:t>
                      </a:r>
                    </a:p>
                  </a:txBody>
                  <a:tcPr anchor="ctr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400" b="0">
                          <a:solidFill>
                            <a:srgbClr val="52606D"/>
                          </a:solidFill>
                          <a:latin typeface="Segoe UI"/>
                        </a:rPr>
                        <a:t>Ordem de declaração na base</a:t>
                      </a:r>
                    </a:p>
                  </a:txBody>
                  <a:tcPr anchor="ctr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400" b="0">
                          <a:solidFill>
                            <a:srgbClr val="52606D"/>
                          </a:solidFill>
                          <a:latin typeface="Segoe UI"/>
                        </a:rPr>
                        <a:t>Previsível, ingênua</a:t>
                      </a:r>
                    </a:p>
                  </a:txBody>
                  <a:tcPr anchor="ctr">
                    <a:solidFill>
                      <a:srgbClr val="FFFFFF"/>
                    </a:solidFill>
                  </a:tcPr>
                </a:tc>
              </a:tr>
              <a:tr h="420624">
                <a:tc>
                  <a:txBody>
                    <a:bodyPr/>
                    <a:lstStyle/>
                    <a:p>
                      <a:r>
                        <a:rPr sz="1400" b="1">
                          <a:solidFill>
                            <a:srgbClr val="1F2933"/>
                          </a:solidFill>
                          <a:latin typeface="Segoe UI"/>
                        </a:rPr>
                        <a:t>specificity</a:t>
                      </a:r>
                    </a:p>
                  </a:txBody>
                  <a:tcPr anchor="ctr">
                    <a:solidFill>
                      <a:srgbClr val="FDF1DC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400" b="1">
                          <a:solidFill>
                            <a:srgbClr val="1F2933"/>
                          </a:solidFill>
                          <a:latin typeface="Segoe UI"/>
                        </a:rPr>
                        <a:t>Mais condições primeiro (padrão)</a:t>
                      </a:r>
                    </a:p>
                  </a:txBody>
                  <a:tcPr anchor="ctr">
                    <a:solidFill>
                      <a:srgbClr val="FDF1DC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400" b="1">
                          <a:solidFill>
                            <a:srgbClr val="1F2933"/>
                          </a:solidFill>
                          <a:latin typeface="Segoe UI"/>
                        </a:rPr>
                        <a:t>Prefere a regra mais informada</a:t>
                      </a:r>
                    </a:p>
                  </a:txBody>
                  <a:tcPr anchor="ctr">
                    <a:solidFill>
                      <a:srgbClr val="FDF1DC"/>
                    </a:solidFill>
                  </a:tcPr>
                </a:tc>
              </a:tr>
              <a:tr h="420624">
                <a:tc>
                  <a:txBody>
                    <a:bodyPr/>
                    <a:lstStyle/>
                    <a:p>
                      <a:r>
                        <a:rPr sz="1400" b="0">
                          <a:solidFill>
                            <a:srgbClr val="52606D"/>
                          </a:solidFill>
                          <a:latin typeface="Segoe UI"/>
                        </a:rPr>
                        <a:t>recency</a:t>
                      </a:r>
                    </a:p>
                  </a:txBody>
                  <a:tcPr anchor="ctr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400" b="0">
                          <a:solidFill>
                            <a:srgbClr val="52606D"/>
                          </a:solidFill>
                          <a:latin typeface="Segoe UI"/>
                        </a:rPr>
                        <a:t>Fatos mais recentes primeiro</a:t>
                      </a:r>
                    </a:p>
                  </a:txBody>
                  <a:tcPr anchor="ctr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400" b="0">
                          <a:solidFill>
                            <a:srgbClr val="52606D"/>
                          </a:solidFill>
                          <a:latin typeface="Segoe UI"/>
                        </a:rPr>
                        <a:t>Segue a evidência nova</a:t>
                      </a:r>
                    </a:p>
                  </a:txBody>
                  <a:tcPr anchor="ctr">
                    <a:solidFill>
                      <a:srgbClr val="FFFFFF"/>
                    </a:solidFill>
                  </a:tcPr>
                </a:tc>
              </a:tr>
            </a:tbl>
          </a:graphicData>
        </a:graphic>
      </p:graphicFrame>
    </p:spTree>
  </p:cSld>
  <p:clrMapOvr>
    <a:masterClrMapping/>
  </p:clrMapOvr>
</p:sld>
</file>

<file path=ppt/slides/slide20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FBFAF7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0"/>
            <a:ext cx="12191695" cy="146304"/>
          </a:xfrm>
          <a:prstGeom prst="rect">
            <a:avLst/>
          </a:prstGeom>
          <a:solidFill>
            <a:srgbClr val="0072B2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685800" y="384048"/>
            <a:ext cx="10789920" cy="7315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lnSpc>
                <a:spcPct val="100000"/>
              </a:lnSpc>
            </a:pPr>
            <a:r>
              <a:rPr sz="3000" b="1">
                <a:solidFill>
                  <a:srgbClr val="1F2933"/>
                </a:solidFill>
                <a:latin typeface="Segoe UI"/>
              </a:rPr>
              <a:t>Explicação: como a conclusão foi obtida</a:t>
            </a:r>
          </a:p>
        </p:txBody>
      </p:sp>
      <p:sp>
        <p:nvSpPr>
          <p:cNvPr id="5" name="Rectangle 4"/>
          <p:cNvSpPr/>
          <p:nvPr/>
        </p:nvSpPr>
        <p:spPr>
          <a:xfrm>
            <a:off x="685800" y="1280160"/>
            <a:ext cx="10789920" cy="4297680"/>
          </a:xfrm>
          <a:prstGeom prst="rect">
            <a:avLst/>
          </a:prstGeom>
          <a:solidFill>
            <a:srgbClr val="061219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none" lIns="320040" tIns="256032"/>
          <a:lstStyle/>
          <a:p>
            <a:pPr algn="ctr">
              <a:lnSpc>
                <a:spcPct val="115000"/>
              </a:lnSpc>
            </a:pPr>
            <a:r>
              <a:rPr sz="1500">
                <a:solidFill>
                  <a:srgbClr val="E6EDF3"/>
                </a:solidFill>
                <a:latin typeface="Consolas"/>
              </a:rPr>
              <a:t>diagnóstico = node_power_failure (CF +0,95, R16)</a:t>
            </a:r>
          </a:p>
          <a:p>
            <a:pPr>
              <a:lnSpc>
                <a:spcPct val="115000"/>
              </a:lnSpc>
            </a:pPr>
            <a:r>
              <a:rPr sz="1500">
                <a:solidFill>
                  <a:srgbClr val="E6EDF3"/>
                </a:solidFill>
                <a:latin typeface="Consolas"/>
              </a:rPr>
              <a:t>  &lt;= R16: SE alimentação_do_nó = failed</a:t>
            </a:r>
          </a:p>
          <a:p>
            <a:pPr>
              <a:lnSpc>
                <a:spcPct val="115000"/>
              </a:lnSpc>
            </a:pPr>
            <a:r>
              <a:rPr sz="1500">
                <a:solidFill>
                  <a:srgbClr val="E6EDF3"/>
                </a:solidFill>
                <a:latin typeface="Consolas"/>
              </a:rPr>
              <a:t>          ENTÃO diagnóstico = node_power_failure (CF +0,95)</a:t>
            </a:r>
          </a:p>
          <a:p>
            <a:pPr>
              <a:lnSpc>
                <a:spcPct val="115000"/>
              </a:lnSpc>
            </a:pPr>
            <a:r>
              <a:rPr sz="1500">
                <a:solidFill>
                  <a:srgbClr val="E6EDF3"/>
                </a:solidFill>
                <a:latin typeface="Consolas"/>
              </a:rPr>
              <a:t>     Falha de alimentação explica a perda do nó independentemente do rádio.</a:t>
            </a:r>
          </a:p>
          <a:p>
            <a:pPr>
              <a:lnSpc>
                <a:spcPct val="115000"/>
              </a:lnSpc>
            </a:pPr>
            <a:r>
              <a:rPr sz="1500">
                <a:solidFill>
                  <a:srgbClr val="E6EDF3"/>
                </a:solidFill>
                <a:latin typeface="Consolas"/>
              </a:rPr>
              <a:t>      alimentação_do_nó = failed (CF +1,00, fato inicial)</a:t>
            </a:r>
          </a:p>
        </p:txBody>
      </p:sp>
    </p:spTree>
  </p:cSld>
  <p:clrMapOvr>
    <a:masterClrMapping/>
  </p:clrMapOvr>
</p:sld>
</file>

<file path=ppt/slides/slide21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FBFAF7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0"/>
            <a:ext cx="12191695" cy="146304"/>
          </a:xfrm>
          <a:prstGeom prst="rect">
            <a:avLst/>
          </a:prstGeom>
          <a:solidFill>
            <a:srgbClr val="0072B2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685800" y="384048"/>
            <a:ext cx="10789920" cy="7315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lnSpc>
                <a:spcPct val="100000"/>
              </a:lnSpc>
            </a:pPr>
            <a:r>
              <a:rPr sz="3000" b="1">
                <a:solidFill>
                  <a:srgbClr val="1F2933"/>
                </a:solidFill>
                <a:latin typeface="Segoe UI"/>
              </a:rPr>
              <a:t>Os oito casos de demonstração</a:t>
            </a:r>
          </a:p>
        </p:txBody>
      </p:sp>
      <p:graphicFrame>
        <p:nvGraphicFramePr>
          <p:cNvPr id="5" name="Table 4"/>
          <p:cNvGraphicFramePr>
            <a:graphicFrameLocks noGrp="1"/>
          </p:cNvGraphicFramePr>
          <p:nvPr/>
        </p:nvGraphicFramePr>
        <p:xfrm>
          <a:off x="685800" y="1325880"/>
          <a:ext cx="10789918" cy="3785616"/>
        </p:xfrm>
        <a:graphic>
          <a:graphicData uri="http://schemas.openxmlformats.org/drawingml/2006/table">
            <a:tbl>
              <a:tblPr firstRow="1" bandRow="1">
                <a:tableStyleId>{5C22544A-7EE6-4342-B048-85BDC9FD1C3A}</a:tableStyleId>
              </a:tblPr>
              <a:tblGrid>
                <a:gridCol w="2100692"/>
                <a:gridCol w="3055552"/>
                <a:gridCol w="1050346"/>
                <a:gridCol w="3151038"/>
                <a:gridCol w="1432290"/>
              </a:tblGrid>
              <a:tr h="420624">
                <a:tc>
                  <a:txBody>
                    <a:bodyPr/>
                    <a:lstStyle/>
                    <a:p>
                      <a:r>
                        <a:rPr sz="1500" b="1">
                          <a:solidFill>
                            <a:srgbClr val="FFFFFF"/>
                          </a:solidFill>
                          <a:latin typeface="Segoe UI"/>
                        </a:rPr>
                        <a:t>Caso</a:t>
                      </a:r>
                    </a:p>
                  </a:txBody>
                  <a:tcPr anchor="ctr">
                    <a:solidFill>
                      <a:srgbClr val="0072B2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500" b="1">
                          <a:solidFill>
                            <a:srgbClr val="FFFFFF"/>
                          </a:solidFill>
                          <a:latin typeface="Segoe UI"/>
                        </a:rPr>
                        <a:t>Diagnóstico</a:t>
                      </a:r>
                    </a:p>
                  </a:txBody>
                  <a:tcPr anchor="ctr">
                    <a:solidFill>
                      <a:srgbClr val="0072B2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500" b="1">
                          <a:solidFill>
                            <a:srgbClr val="FFFFFF"/>
                          </a:solidFill>
                          <a:latin typeface="Segoe UI"/>
                        </a:rPr>
                        <a:t>CF</a:t>
                      </a:r>
                    </a:p>
                  </a:txBody>
                  <a:tcPr anchor="ctr">
                    <a:solidFill>
                      <a:srgbClr val="0072B2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500" b="1">
                          <a:solidFill>
                            <a:srgbClr val="FFFFFF"/>
                          </a:solidFill>
                          <a:latin typeface="Segoe UI"/>
                        </a:rPr>
                        <a:t>Ação recomendada</a:t>
                      </a:r>
                    </a:p>
                  </a:txBody>
                  <a:tcPr anchor="ctr">
                    <a:solidFill>
                      <a:srgbClr val="0072B2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500" b="1">
                          <a:solidFill>
                            <a:srgbClr val="FFFFFF"/>
                          </a:solidFill>
                          <a:latin typeface="Segoe UI"/>
                        </a:rPr>
                        <a:t>Autoriza?</a:t>
                      </a:r>
                    </a:p>
                  </a:txBody>
                  <a:tcPr anchor="ctr">
                    <a:solidFill>
                      <a:srgbClr val="0072B2"/>
                    </a:solidFill>
                  </a:tcPr>
                </a:tc>
              </a:tr>
              <a:tr h="420624">
                <a:tc>
                  <a:txBody>
                    <a:bodyPr/>
                    <a:lstStyle/>
                    <a:p>
                      <a:r>
                        <a:rPr sz="1400" b="0">
                          <a:solidFill>
                            <a:srgbClr val="52606D"/>
                          </a:solidFill>
                          <a:latin typeface="Segoe UI"/>
                        </a:rPr>
                        <a:t>interference</a:t>
                      </a:r>
                    </a:p>
                  </a:txBody>
                  <a:tcPr anchor="ctr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400" b="0">
                          <a:solidFill>
                            <a:srgbClr val="52606D"/>
                          </a:solidFill>
                          <a:latin typeface="Segoe UI"/>
                        </a:rPr>
                        <a:t>rf_interference</a:t>
                      </a:r>
                    </a:p>
                  </a:txBody>
                  <a:tcPr anchor="ctr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400" b="0">
                          <a:solidFill>
                            <a:srgbClr val="52606D"/>
                          </a:solidFill>
                          <a:latin typeface="Segoe UI"/>
                        </a:rPr>
                        <a:t>+0,93</a:t>
                      </a:r>
                    </a:p>
                  </a:txBody>
                  <a:tcPr anchor="ctr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400" b="0">
                          <a:solidFill>
                            <a:srgbClr val="52606D"/>
                          </a:solidFill>
                          <a:latin typeface="Segoe UI"/>
                        </a:rPr>
                        <a:t>change_channel</a:t>
                      </a:r>
                    </a:p>
                  </a:txBody>
                  <a:tcPr anchor="ctr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400" b="0">
                          <a:solidFill>
                            <a:srgbClr val="52606D"/>
                          </a:solidFill>
                          <a:latin typeface="Segoe UI"/>
                        </a:rPr>
                        <a:t>sim</a:t>
                      </a:r>
                    </a:p>
                  </a:txBody>
                  <a:tcPr anchor="ctr">
                    <a:solidFill>
                      <a:srgbClr val="FFFFFF"/>
                    </a:solidFill>
                  </a:tcPr>
                </a:tc>
              </a:tr>
              <a:tr h="420624">
                <a:tc>
                  <a:txBody>
                    <a:bodyPr/>
                    <a:lstStyle/>
                    <a:p>
                      <a:r>
                        <a:rPr sz="1400" b="0">
                          <a:solidFill>
                            <a:srgbClr val="52606D"/>
                          </a:solidFill>
                          <a:latin typeface="Segoe UI"/>
                        </a:rPr>
                        <a:t>obstruction</a:t>
                      </a:r>
                    </a:p>
                  </a:txBody>
                  <a:tcPr anchor="ctr">
                    <a:solidFill>
                      <a:srgbClr val="F4F2EE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400" b="0">
                          <a:solidFill>
                            <a:srgbClr val="52606D"/>
                          </a:solidFill>
                          <a:latin typeface="Segoe UI"/>
                        </a:rPr>
                        <a:t>path_obstruction</a:t>
                      </a:r>
                    </a:p>
                  </a:txBody>
                  <a:tcPr anchor="ctr">
                    <a:solidFill>
                      <a:srgbClr val="F4F2EE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400" b="0">
                          <a:solidFill>
                            <a:srgbClr val="52606D"/>
                          </a:solidFill>
                          <a:latin typeface="Segoe UI"/>
                        </a:rPr>
                        <a:t>+0,91</a:t>
                      </a:r>
                    </a:p>
                  </a:txBody>
                  <a:tcPr anchor="ctr">
                    <a:solidFill>
                      <a:srgbClr val="F4F2EE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400" b="0">
                          <a:solidFill>
                            <a:srgbClr val="52606D"/>
                          </a:solidFill>
                          <a:latin typeface="Segoe UI"/>
                        </a:rPr>
                        <a:t>realign_antenna</a:t>
                      </a:r>
                    </a:p>
                  </a:txBody>
                  <a:tcPr anchor="ctr">
                    <a:solidFill>
                      <a:srgbClr val="F4F2EE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400" b="0">
                          <a:solidFill>
                            <a:srgbClr val="52606D"/>
                          </a:solidFill>
                          <a:latin typeface="Segoe UI"/>
                        </a:rPr>
                        <a:t>sim</a:t>
                      </a:r>
                    </a:p>
                  </a:txBody>
                  <a:tcPr anchor="ctr">
                    <a:solidFill>
                      <a:srgbClr val="F4F2EE"/>
                    </a:solidFill>
                  </a:tcPr>
                </a:tc>
              </a:tr>
              <a:tr h="420624">
                <a:tc>
                  <a:txBody>
                    <a:bodyPr/>
                    <a:lstStyle/>
                    <a:p>
                      <a:r>
                        <a:rPr sz="1400" b="1">
                          <a:solidFill>
                            <a:srgbClr val="1F2933"/>
                          </a:solidFill>
                          <a:latin typeface="Segoe UI"/>
                        </a:rPr>
                        <a:t>rain_fade</a:t>
                      </a:r>
                    </a:p>
                  </a:txBody>
                  <a:tcPr anchor="ctr">
                    <a:solidFill>
                      <a:srgbClr val="FDF1DC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400" b="1">
                          <a:solidFill>
                            <a:srgbClr val="1F2933"/>
                          </a:solidFill>
                          <a:latin typeface="Segoe UI"/>
                        </a:rPr>
                        <a:t>rain_fade</a:t>
                      </a:r>
                    </a:p>
                  </a:txBody>
                  <a:tcPr anchor="ctr">
                    <a:solidFill>
                      <a:srgbClr val="FDF1DC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400" b="1">
                          <a:solidFill>
                            <a:srgbClr val="1F2933"/>
                          </a:solidFill>
                          <a:latin typeface="Segoe UI"/>
                        </a:rPr>
                        <a:t>+0,56</a:t>
                      </a:r>
                    </a:p>
                  </a:txBody>
                  <a:tcPr anchor="ctr">
                    <a:solidFill>
                      <a:srgbClr val="FDF1DC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400" b="1">
                          <a:solidFill>
                            <a:srgbClr val="1F2933"/>
                          </a:solidFill>
                          <a:latin typeface="Segoe UI"/>
                        </a:rPr>
                        <a:t>wait_and_monitor</a:t>
                      </a:r>
                    </a:p>
                  </a:txBody>
                  <a:tcPr anchor="ctr">
                    <a:solidFill>
                      <a:srgbClr val="FDF1DC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400" b="1">
                          <a:solidFill>
                            <a:srgbClr val="1F2933"/>
                          </a:solidFill>
                          <a:latin typeface="Segoe UI"/>
                        </a:rPr>
                        <a:t>não</a:t>
                      </a:r>
                    </a:p>
                  </a:txBody>
                  <a:tcPr anchor="ctr">
                    <a:solidFill>
                      <a:srgbClr val="FDF1DC"/>
                    </a:solidFill>
                  </a:tcPr>
                </a:tc>
              </a:tr>
              <a:tr h="420624">
                <a:tc>
                  <a:txBody>
                    <a:bodyPr/>
                    <a:lstStyle/>
                    <a:p>
                      <a:r>
                        <a:rPr sz="1400" b="0">
                          <a:solidFill>
                            <a:srgbClr val="52606D"/>
                          </a:solidFill>
                          <a:latin typeface="Segoe UI"/>
                        </a:rPr>
                        <a:t>power_failure</a:t>
                      </a:r>
                    </a:p>
                  </a:txBody>
                  <a:tcPr anchor="ctr">
                    <a:solidFill>
                      <a:srgbClr val="F4F2EE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400" b="0">
                          <a:solidFill>
                            <a:srgbClr val="52606D"/>
                          </a:solidFill>
                          <a:latin typeface="Segoe UI"/>
                        </a:rPr>
                        <a:t>node_power_failure</a:t>
                      </a:r>
                    </a:p>
                  </a:txBody>
                  <a:tcPr anchor="ctr">
                    <a:solidFill>
                      <a:srgbClr val="F4F2EE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400" b="0">
                          <a:solidFill>
                            <a:srgbClr val="52606D"/>
                          </a:solidFill>
                          <a:latin typeface="Segoe UI"/>
                        </a:rPr>
                        <a:t>+0,95</a:t>
                      </a:r>
                    </a:p>
                  </a:txBody>
                  <a:tcPr anchor="ctr">
                    <a:solidFill>
                      <a:srgbClr val="F4F2EE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400" b="0">
                          <a:solidFill>
                            <a:srgbClr val="52606D"/>
                          </a:solidFill>
                          <a:latin typeface="Segoe UI"/>
                        </a:rPr>
                        <a:t>dispatch_power_team</a:t>
                      </a:r>
                    </a:p>
                  </a:txBody>
                  <a:tcPr anchor="ctr">
                    <a:solidFill>
                      <a:srgbClr val="F4F2EE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400" b="0">
                          <a:solidFill>
                            <a:srgbClr val="52606D"/>
                          </a:solidFill>
                          <a:latin typeface="Segoe UI"/>
                        </a:rPr>
                        <a:t>sim</a:t>
                      </a:r>
                    </a:p>
                  </a:txBody>
                  <a:tcPr anchor="ctr">
                    <a:solidFill>
                      <a:srgbClr val="F4F2EE"/>
                    </a:solidFill>
                  </a:tcPr>
                </a:tc>
              </a:tr>
              <a:tr h="420624">
                <a:tc>
                  <a:txBody>
                    <a:bodyPr/>
                    <a:lstStyle/>
                    <a:p>
                      <a:r>
                        <a:rPr sz="1400" b="0">
                          <a:solidFill>
                            <a:srgbClr val="52606D"/>
                          </a:solidFill>
                          <a:latin typeface="Segoe UI"/>
                        </a:rPr>
                        <a:t>relay_failure</a:t>
                      </a:r>
                    </a:p>
                  </a:txBody>
                  <a:tcPr anchor="ctr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400" b="0">
                          <a:solidFill>
                            <a:srgbClr val="52606D"/>
                          </a:solidFill>
                          <a:latin typeface="Segoe UI"/>
                        </a:rPr>
                        <a:t>upstream_relay_failure</a:t>
                      </a:r>
                    </a:p>
                  </a:txBody>
                  <a:tcPr anchor="ctr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400" b="0">
                          <a:solidFill>
                            <a:srgbClr val="52606D"/>
                          </a:solidFill>
                          <a:latin typeface="Segoe UI"/>
                        </a:rPr>
                        <a:t>+0,95</a:t>
                      </a:r>
                    </a:p>
                  </a:txBody>
                  <a:tcPr anchor="ctr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400" b="0">
                          <a:solidFill>
                            <a:srgbClr val="52606D"/>
                          </a:solidFill>
                          <a:latin typeface="Segoe UI"/>
                        </a:rPr>
                        <a:t>restore_upstream_relay</a:t>
                      </a:r>
                    </a:p>
                  </a:txBody>
                  <a:tcPr anchor="ctr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400" b="0">
                          <a:solidFill>
                            <a:srgbClr val="52606D"/>
                          </a:solidFill>
                          <a:latin typeface="Segoe UI"/>
                        </a:rPr>
                        <a:t>sim</a:t>
                      </a:r>
                    </a:p>
                  </a:txBody>
                  <a:tcPr anchor="ctr">
                    <a:solidFill>
                      <a:srgbClr val="FFFFFF"/>
                    </a:solidFill>
                  </a:tcPr>
                </a:tc>
              </a:tr>
              <a:tr h="420624">
                <a:tc>
                  <a:txBody>
                    <a:bodyPr/>
                    <a:lstStyle/>
                    <a:p>
                      <a:r>
                        <a:rPr sz="1400" b="0">
                          <a:solidFill>
                            <a:srgbClr val="52606D"/>
                          </a:solidFill>
                          <a:latin typeface="Segoe UI"/>
                        </a:rPr>
                        <a:t>vlan</a:t>
                      </a:r>
                    </a:p>
                  </a:txBody>
                  <a:tcPr anchor="ctr">
                    <a:solidFill>
                      <a:srgbClr val="F4F2EE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400" b="0">
                          <a:solidFill>
                            <a:srgbClr val="52606D"/>
                          </a:solidFill>
                          <a:latin typeface="Segoe UI"/>
                        </a:rPr>
                        <a:t>vlan_misconfiguration</a:t>
                      </a:r>
                    </a:p>
                  </a:txBody>
                  <a:tcPr anchor="ctr">
                    <a:solidFill>
                      <a:srgbClr val="F4F2EE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400" b="0">
                          <a:solidFill>
                            <a:srgbClr val="52606D"/>
                          </a:solidFill>
                          <a:latin typeface="Segoe UI"/>
                        </a:rPr>
                        <a:t>+0,96</a:t>
                      </a:r>
                    </a:p>
                  </a:txBody>
                  <a:tcPr anchor="ctr">
                    <a:solidFill>
                      <a:srgbClr val="F4F2EE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400" b="0">
                          <a:solidFill>
                            <a:srgbClr val="52606D"/>
                          </a:solidFill>
                          <a:latin typeface="Segoe UI"/>
                        </a:rPr>
                        <a:t>fix_vlan_allowlist</a:t>
                      </a:r>
                    </a:p>
                  </a:txBody>
                  <a:tcPr anchor="ctr">
                    <a:solidFill>
                      <a:srgbClr val="F4F2EE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400" b="0">
                          <a:solidFill>
                            <a:srgbClr val="52606D"/>
                          </a:solidFill>
                          <a:latin typeface="Segoe UI"/>
                        </a:rPr>
                        <a:t>sim</a:t>
                      </a:r>
                    </a:p>
                  </a:txBody>
                  <a:tcPr anchor="ctr">
                    <a:solidFill>
                      <a:srgbClr val="F4F2EE"/>
                    </a:solidFill>
                  </a:tcPr>
                </a:tc>
              </a:tr>
              <a:tr h="420624">
                <a:tc>
                  <a:txBody>
                    <a:bodyPr/>
                    <a:lstStyle/>
                    <a:p>
                      <a:r>
                        <a:rPr sz="1400" b="0">
                          <a:solidFill>
                            <a:srgbClr val="52606D"/>
                          </a:solidFill>
                          <a:latin typeface="Segoe UI"/>
                        </a:rPr>
                        <a:t>congestion</a:t>
                      </a:r>
                    </a:p>
                  </a:txBody>
                  <a:tcPr anchor="ctr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400" b="0">
                          <a:solidFill>
                            <a:srgbClr val="52606D"/>
                          </a:solidFill>
                          <a:latin typeface="Segoe UI"/>
                        </a:rPr>
                        <a:t>congestion</a:t>
                      </a:r>
                    </a:p>
                  </a:txBody>
                  <a:tcPr anchor="ctr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400" b="0">
                          <a:solidFill>
                            <a:srgbClr val="52606D"/>
                          </a:solidFill>
                          <a:latin typeface="Segoe UI"/>
                        </a:rPr>
                        <a:t>+0,89</a:t>
                      </a:r>
                    </a:p>
                  </a:txBody>
                  <a:tcPr anchor="ctr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400" b="0">
                          <a:solidFill>
                            <a:srgbClr val="52606D"/>
                          </a:solidFill>
                          <a:latin typeface="Segoe UI"/>
                        </a:rPr>
                        <a:t>reroute_traffic</a:t>
                      </a:r>
                    </a:p>
                  </a:txBody>
                  <a:tcPr anchor="ctr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400" b="0">
                          <a:solidFill>
                            <a:srgbClr val="52606D"/>
                          </a:solidFill>
                          <a:latin typeface="Segoe UI"/>
                        </a:rPr>
                        <a:t>sim</a:t>
                      </a:r>
                    </a:p>
                  </a:txBody>
                  <a:tcPr anchor="ctr">
                    <a:solidFill>
                      <a:srgbClr val="FFFFFF"/>
                    </a:solidFill>
                  </a:tcPr>
                </a:tc>
              </a:tr>
              <a:tr h="420624">
                <a:tc>
                  <a:txBody>
                    <a:bodyPr/>
                    <a:lstStyle/>
                    <a:p>
                      <a:r>
                        <a:rPr sz="1400" b="0">
                          <a:solidFill>
                            <a:srgbClr val="52606D"/>
                          </a:solidFill>
                          <a:latin typeface="Segoe UI"/>
                        </a:rPr>
                        <a:t>healthy</a:t>
                      </a:r>
                    </a:p>
                  </a:txBody>
                  <a:tcPr anchor="ctr">
                    <a:solidFill>
                      <a:srgbClr val="F4F2EE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400" b="0">
                          <a:solidFill>
                            <a:srgbClr val="52606D"/>
                          </a:solidFill>
                          <a:latin typeface="Segoe UI"/>
                        </a:rPr>
                        <a:t>healthy</a:t>
                      </a:r>
                    </a:p>
                  </a:txBody>
                  <a:tcPr anchor="ctr">
                    <a:solidFill>
                      <a:srgbClr val="F4F2EE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400" b="0">
                          <a:solidFill>
                            <a:srgbClr val="52606D"/>
                          </a:solidFill>
                          <a:latin typeface="Segoe UI"/>
                        </a:rPr>
                        <a:t>+0,81</a:t>
                      </a:r>
                    </a:p>
                  </a:txBody>
                  <a:tcPr anchor="ctr">
                    <a:solidFill>
                      <a:srgbClr val="F4F2EE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400" b="0">
                          <a:solidFill>
                            <a:srgbClr val="52606D"/>
                          </a:solidFill>
                          <a:latin typeface="Segoe UI"/>
                        </a:rPr>
                        <a:t>no_action</a:t>
                      </a:r>
                    </a:p>
                  </a:txBody>
                  <a:tcPr anchor="ctr">
                    <a:solidFill>
                      <a:srgbClr val="F4F2EE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400" b="0">
                          <a:solidFill>
                            <a:srgbClr val="52606D"/>
                          </a:solidFill>
                          <a:latin typeface="Segoe UI"/>
                        </a:rPr>
                        <a:t>não</a:t>
                      </a:r>
                    </a:p>
                  </a:txBody>
                  <a:tcPr anchor="ctr">
                    <a:solidFill>
                      <a:srgbClr val="F4F2EE"/>
                    </a:solidFill>
                  </a:tcPr>
                </a:tc>
              </a:tr>
            </a:tbl>
          </a:graphicData>
        </a:graphic>
      </p:graphicFrame>
    </p:spTree>
  </p:cSld>
  <p:clrMapOvr>
    <a:masterClrMapping/>
  </p:clrMapOvr>
</p:sld>
</file>

<file path=ppt/slides/slide22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061219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2286000"/>
            <a:ext cx="12191695" cy="54864"/>
          </a:xfrm>
          <a:prstGeom prst="rect">
            <a:avLst/>
          </a:prstGeom>
          <a:solidFill>
            <a:srgbClr val="D55E0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1005840" y="2606040"/>
            <a:ext cx="10149840" cy="18288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lnSpc>
                <a:spcPct val="115000"/>
              </a:lnSpc>
            </a:pPr>
            <a:r>
              <a:rPr sz="3600" b="1">
                <a:solidFill>
                  <a:srgbClr val="FFFFFF"/>
                </a:solidFill>
                <a:latin typeface="Segoe UI"/>
              </a:rPr>
              <a:t>Os limiares são nominais e não calibrados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1005840" y="4572000"/>
            <a:ext cx="10149840" cy="12801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lnSpc>
                <a:spcPct val="120000"/>
              </a:lnSpc>
            </a:pPr>
            <a:r>
              <a:rPr sz="1800" b="0">
                <a:solidFill>
                  <a:srgbClr val="9FC6D8"/>
                </a:solidFill>
                <a:latin typeface="Segoe UI"/>
              </a:rPr>
              <a:t>Reunidos num único bloco, para que a calibração futura ajuste valores sem reescrever regras.</a:t>
            </a:r>
          </a:p>
        </p:txBody>
      </p:sp>
    </p:spTree>
  </p:cSld>
  <p:clrMapOvr>
    <a:masterClrMapping/>
  </p:clrMapOvr>
</p:sld>
</file>

<file path=ppt/slides/slide23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061219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2788920"/>
            <a:ext cx="12191695" cy="54864"/>
          </a:xfrm>
          <a:prstGeom prst="rect">
            <a:avLst/>
          </a:prstGeom>
          <a:solidFill>
            <a:srgbClr val="009E73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914400" y="1920240"/>
            <a:ext cx="10332720" cy="8229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lnSpc>
                <a:spcPct val="100000"/>
              </a:lnSpc>
            </a:pPr>
            <a:r>
              <a:rPr sz="2000" b="1">
                <a:solidFill>
                  <a:srgbClr val="009E73"/>
                </a:solidFill>
                <a:latin typeface="Segoe UI"/>
              </a:rPr>
              <a:t>TEMA 2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914400" y="2971800"/>
            <a:ext cx="10332720" cy="10972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lnSpc>
                <a:spcPct val="100000"/>
              </a:lnSpc>
            </a:pPr>
            <a:r>
              <a:rPr sz="4400" b="1">
                <a:solidFill>
                  <a:srgbClr val="FFFFFF"/>
                </a:solidFill>
                <a:latin typeface="Segoe UI"/>
              </a:rPr>
              <a:t>Geração automática de planos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914400" y="4206240"/>
            <a:ext cx="10332720" cy="7315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lnSpc>
                <a:spcPct val="100000"/>
              </a:lnSpc>
            </a:pPr>
            <a:r>
              <a:rPr sz="1900" b="0">
                <a:solidFill>
                  <a:srgbClr val="9FC6D8"/>
                </a:solidFill>
                <a:latin typeface="Segoe UI"/>
              </a:rPr>
              <a:t>STRIPS, GPS por análise meios-fins, e planejamento como busca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914400" y="5120640"/>
            <a:ext cx="10332720" cy="4572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lnSpc>
                <a:spcPct val="100000"/>
              </a:lnSpc>
            </a:pPr>
            <a:r>
              <a:rPr sz="1400" b="0">
                <a:solidFill>
                  <a:srgbClr val="8A94A0"/>
                </a:solidFill>
                <a:latin typeface="Segoe UI"/>
              </a:rPr>
              <a:t>30 minutos</a:t>
            </a:r>
          </a:p>
        </p:txBody>
      </p:sp>
    </p:spTree>
  </p:cSld>
  <p:clrMapOvr>
    <a:masterClrMapping/>
  </p:clrMapOvr>
</p:sld>
</file>

<file path=ppt/slides/slide24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FBFAF7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0"/>
            <a:ext cx="12191695" cy="146304"/>
          </a:xfrm>
          <a:prstGeom prst="rect">
            <a:avLst/>
          </a:prstGeom>
          <a:solidFill>
            <a:srgbClr val="009E73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685800" y="457200"/>
            <a:ext cx="10789920" cy="8229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lnSpc>
                <a:spcPct val="100000"/>
              </a:lnSpc>
            </a:pPr>
            <a:r>
              <a:rPr sz="3200" b="1">
                <a:solidFill>
                  <a:srgbClr val="1F2933"/>
                </a:solidFill>
                <a:latin typeface="Segoe UI"/>
              </a:rPr>
              <a:t>O problema: sequenciamento sob restrições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685800" y="1371600"/>
            <a:ext cx="10789920" cy="493776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>
              <a:spcAft>
                <a:spcPts val="1600"/>
              </a:spcAft>
            </a:pPr>
            <a:r>
              <a:rPr sz="2300" b="1">
                <a:solidFill>
                  <a:srgbClr val="1F2933"/>
                </a:solidFill>
                <a:latin typeface="Segoe UI"/>
              </a:rPr>
              <a:t>• O diagnóstico já foi feito e a ação já foi recomendada</a:t>
            </a:r>
          </a:p>
          <a:p>
            <a:pPr>
              <a:spcAft>
                <a:spcPts val="1600"/>
              </a:spcAft>
            </a:pPr>
            <a:r>
              <a:rPr sz="2300" b="1">
                <a:solidFill>
                  <a:srgbClr val="1F2933"/>
                </a:solidFill>
                <a:latin typeface="Segoe UI"/>
              </a:rPr>
              <a:t>• Falta decidir em que sequência executá-la</a:t>
            </a:r>
          </a:p>
          <a:p>
            <a:pPr>
              <a:spcAft>
                <a:spcPts val="1600"/>
              </a:spcAft>
            </a:pPr>
            <a:r>
              <a:rPr sz="2300" b="1">
                <a:solidFill>
                  <a:srgbClr val="1F2933"/>
                </a:solidFill>
                <a:latin typeface="Segoe UI"/>
              </a:rPr>
              <a:t>• Uma equipe não realinha uma antena antes de chegar ao local</a:t>
            </a:r>
          </a:p>
          <a:p>
            <a:pPr>
              <a:spcAft>
                <a:spcPts val="1600"/>
              </a:spcAft>
            </a:pPr>
            <a:r>
              <a:rPr sz="2300" b="1">
                <a:solidFill>
                  <a:srgbClr val="1F2933"/>
                </a:solidFill>
                <a:latin typeface="Segoe UI"/>
              </a:rPr>
              <a:t>• Nada toca a planta antes da autorização</a:t>
            </a:r>
          </a:p>
          <a:p>
            <a:pPr>
              <a:spcAft>
                <a:spcPts val="1600"/>
              </a:spcAft>
            </a:pPr>
            <a:r>
              <a:rPr sz="2300" b="1">
                <a:solidFill>
                  <a:srgbClr val="1F2933"/>
                </a:solidFill>
                <a:latin typeface="Segoe UI"/>
              </a:rPr>
              <a:t>• Objetivo: service-restored(N) E logged(N)</a:t>
            </a:r>
          </a:p>
          <a:p>
            <a:pPr lvl="1">
              <a:spcAft>
                <a:spcPts val="1000"/>
              </a:spcAft>
            </a:pPr>
            <a:r>
              <a:rPr sz="1900" b="0">
                <a:solidFill>
                  <a:srgbClr val="52606D"/>
                </a:solidFill>
                <a:latin typeface="Segoe UI"/>
              </a:rPr>
              <a:t>a evidência faz parte do objetivo — não é um extra</a:t>
            </a:r>
          </a:p>
        </p:txBody>
      </p:sp>
    </p:spTree>
  </p:cSld>
  <p:clrMapOvr>
    <a:masterClrMapping/>
  </p:clrMapOvr>
</p:sld>
</file>

<file path=ppt/slides/slide25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FBFAF7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0"/>
            <a:ext cx="12191695" cy="146304"/>
          </a:xfrm>
          <a:prstGeom prst="rect">
            <a:avLst/>
          </a:prstGeom>
          <a:solidFill>
            <a:srgbClr val="009E73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685800" y="384048"/>
            <a:ext cx="10789920" cy="7315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lnSpc>
                <a:spcPct val="100000"/>
              </a:lnSpc>
            </a:pPr>
            <a:r>
              <a:rPr sz="2800" b="1">
                <a:solidFill>
                  <a:srgbClr val="1F2933"/>
                </a:solidFill>
                <a:latin typeface="Segoe UI"/>
              </a:rPr>
              <a:t>STRIPS: a representação, e GPS: a estratégia</a:t>
            </a:r>
          </a:p>
        </p:txBody>
      </p:sp>
      <p:pic>
        <p:nvPicPr>
          <p:cNvPr id="5" name="Picture 4" descr="03-planning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2398136" y="1234440"/>
            <a:ext cx="7395423" cy="4754880"/>
          </a:xfrm>
          <a:prstGeom prst="rect">
            <a:avLst/>
          </a:prstGeom>
        </p:spPr>
      </p:pic>
      <p:sp>
        <p:nvSpPr>
          <p:cNvPr id="6" name="TextBox 5"/>
          <p:cNvSpPr txBox="1"/>
          <p:nvPr/>
        </p:nvSpPr>
        <p:spPr>
          <a:xfrm>
            <a:off x="685800" y="6172200"/>
            <a:ext cx="10789920" cy="4572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lnSpc>
                <a:spcPct val="100000"/>
              </a:lnSpc>
            </a:pPr>
            <a:r>
              <a:rPr sz="1300" b="0">
                <a:solidFill>
                  <a:srgbClr val="52606D"/>
                </a:solidFill>
                <a:latin typeface="Segoe UI"/>
              </a:rPr>
              <a:t>Três conjuntos definem uma ação. O estado é o conjunto dos literais verdadeiros.</a:t>
            </a:r>
          </a:p>
        </p:txBody>
      </p:sp>
    </p:spTree>
  </p:cSld>
  <p:clrMapOvr>
    <a:masterClrMapping/>
  </p:clrMapOvr>
</p:sld>
</file>

<file path=ppt/slides/slide26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FBFAF7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0"/>
            <a:ext cx="12191695" cy="146304"/>
          </a:xfrm>
          <a:prstGeom prst="rect">
            <a:avLst/>
          </a:prstGeom>
          <a:solidFill>
            <a:srgbClr val="009E73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685800" y="384048"/>
            <a:ext cx="10789920" cy="7315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lnSpc>
                <a:spcPct val="100000"/>
              </a:lnSpc>
            </a:pPr>
            <a:r>
              <a:rPr sz="3000" b="1">
                <a:solidFill>
                  <a:srgbClr val="1F2933"/>
                </a:solidFill>
                <a:latin typeface="Segoe UI"/>
              </a:rPr>
              <a:t>Um operador STRIPS</a:t>
            </a:r>
          </a:p>
        </p:txBody>
      </p:sp>
      <p:sp>
        <p:nvSpPr>
          <p:cNvPr id="5" name="Rectangle 4"/>
          <p:cNvSpPr/>
          <p:nvPr/>
        </p:nvSpPr>
        <p:spPr>
          <a:xfrm>
            <a:off x="685800" y="1280160"/>
            <a:ext cx="10789920" cy="4297680"/>
          </a:xfrm>
          <a:prstGeom prst="rect">
            <a:avLst/>
          </a:prstGeom>
          <a:solidFill>
            <a:srgbClr val="061219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none" lIns="320040" tIns="256032"/>
          <a:lstStyle/>
          <a:p>
            <a:pPr algn="ctr">
              <a:lnSpc>
                <a:spcPct val="115000"/>
              </a:lnSpc>
            </a:pPr>
            <a:r>
              <a:rPr sz="1500">
                <a:solidFill>
                  <a:srgbClr val="E6EDF3"/>
                </a:solidFill>
                <a:latin typeface="Consolas"/>
              </a:rPr>
              <a:t>realign_antenna(?n)                                custo 3</a:t>
            </a:r>
          </a:p>
          <a:p>
            <a:pPr>
              <a:lnSpc>
                <a:spcPct val="115000"/>
              </a:lnSpc>
            </a:pPr>
            <a:r>
              <a:rPr sz="1500">
                <a:solidFill>
                  <a:srgbClr val="E6EDF3"/>
                </a:solidFill>
                <a:latin typeface="Consolas"/>
              </a:rPr>
              <a:t/>
            </a:r>
          </a:p>
          <a:p>
            <a:pPr>
              <a:lnSpc>
                <a:spcPct val="115000"/>
              </a:lnSpc>
            </a:pPr>
            <a:r>
              <a:rPr sz="1500">
                <a:solidFill>
                  <a:srgbClr val="E6EDF3"/>
                </a:solidFill>
                <a:latin typeface="Consolas"/>
              </a:rPr>
              <a:t>  precondições:   authorized(?n)</a:t>
            </a:r>
          </a:p>
          <a:p>
            <a:pPr>
              <a:lnSpc>
                <a:spcPct val="115000"/>
              </a:lnSpc>
            </a:pPr>
            <a:r>
              <a:rPr sz="1500">
                <a:solidFill>
                  <a:srgbClr val="E6EDF3"/>
                </a:solidFill>
                <a:latin typeface="Consolas"/>
              </a:rPr>
              <a:t>                  crew-at(?n)</a:t>
            </a:r>
          </a:p>
          <a:p>
            <a:pPr>
              <a:lnSpc>
                <a:spcPct val="115000"/>
              </a:lnSpc>
            </a:pPr>
            <a:r>
              <a:rPr sz="1500">
                <a:solidFill>
                  <a:srgbClr val="E6EDF3"/>
                </a:solidFill>
                <a:latin typeface="Consolas"/>
              </a:rPr>
              <a:t>                  misaligned(?n)</a:t>
            </a:r>
          </a:p>
          <a:p>
            <a:pPr>
              <a:lnSpc>
                <a:spcPct val="115000"/>
              </a:lnSpc>
            </a:pPr>
            <a:r>
              <a:rPr sz="1500">
                <a:solidFill>
                  <a:srgbClr val="E6EDF3"/>
                </a:solidFill>
                <a:latin typeface="Consolas"/>
              </a:rPr>
              <a:t/>
            </a:r>
          </a:p>
          <a:p>
            <a:pPr>
              <a:lnSpc>
                <a:spcPct val="115000"/>
              </a:lnSpc>
            </a:pPr>
            <a:r>
              <a:rPr sz="1500">
                <a:solidFill>
                  <a:srgbClr val="E6EDF3"/>
                </a:solidFill>
                <a:latin typeface="Consolas"/>
              </a:rPr>
              <a:t>  adiciona:     + fault-cleared(?n)</a:t>
            </a:r>
          </a:p>
          <a:p>
            <a:pPr>
              <a:lnSpc>
                <a:spcPct val="115000"/>
              </a:lnSpc>
            </a:pPr>
            <a:r>
              <a:rPr sz="1500">
                <a:solidFill>
                  <a:srgbClr val="E6EDF3"/>
                </a:solidFill>
                <a:latin typeface="Consolas"/>
              </a:rPr>
              <a:t/>
            </a:r>
          </a:p>
          <a:p>
            <a:pPr>
              <a:lnSpc>
                <a:spcPct val="115000"/>
              </a:lnSpc>
            </a:pPr>
            <a:r>
              <a:rPr sz="1500">
                <a:solidFill>
                  <a:srgbClr val="E6EDF3"/>
                </a:solidFill>
                <a:latin typeface="Consolas"/>
              </a:rPr>
              <a:t>  remove:       - misaligned(?n)</a:t>
            </a:r>
          </a:p>
          <a:p>
            <a:pPr>
              <a:lnSpc>
                <a:spcPct val="115000"/>
              </a:lnSpc>
            </a:pPr>
            <a:r>
              <a:rPr sz="1500">
                <a:solidFill>
                  <a:srgbClr val="E6EDF3"/>
                </a:solidFill>
                <a:latin typeface="Consolas"/>
              </a:rPr>
              <a:t/>
            </a:r>
          </a:p>
          <a:p>
            <a:pPr>
              <a:lnSpc>
                <a:spcPct val="115000"/>
              </a:lnSpc>
            </a:pPr>
            <a:r>
              <a:rPr sz="1500">
                <a:solidFill>
                  <a:srgbClr val="E6EDF3"/>
                </a:solidFill>
                <a:latin typeface="Consolas"/>
              </a:rPr>
              <a:t>  estado = { diagnosed(N), crew-at(BASE), misaligned(N) }</a:t>
            </a:r>
          </a:p>
          <a:p>
            <a:pPr>
              <a:lnSpc>
                <a:spcPct val="115000"/>
              </a:lnSpc>
            </a:pPr>
            <a:r>
              <a:rPr sz="1500">
                <a:solidFill>
                  <a:srgbClr val="E6EDF3"/>
                </a:solidFill>
                <a:latin typeface="Consolas"/>
              </a:rPr>
              <a:t>  hipótese do mundo fechado: o que não está no conjunto é falso</a:t>
            </a:r>
          </a:p>
        </p:txBody>
      </p:sp>
    </p:spTree>
  </p:cSld>
  <p:clrMapOvr>
    <a:masterClrMapping/>
  </p:clrMapOvr>
</p:sld>
</file>

<file path=ppt/slides/slide27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FBFAF7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0"/>
            <a:ext cx="12191695" cy="146304"/>
          </a:xfrm>
          <a:prstGeom prst="rect">
            <a:avLst/>
          </a:prstGeom>
          <a:solidFill>
            <a:srgbClr val="009E73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685800" y="384048"/>
            <a:ext cx="10789920" cy="7315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lnSpc>
                <a:spcPct val="100000"/>
              </a:lnSpc>
            </a:pPr>
            <a:r>
              <a:rPr sz="3000" b="1">
                <a:solidFill>
                  <a:srgbClr val="1F2933"/>
                </a:solidFill>
                <a:latin typeface="Segoe UI"/>
              </a:rPr>
              <a:t>Os doze operadores</a:t>
            </a:r>
          </a:p>
        </p:txBody>
      </p:sp>
      <p:graphicFrame>
        <p:nvGraphicFramePr>
          <p:cNvPr id="5" name="Table 4"/>
          <p:cNvGraphicFramePr>
            <a:graphicFrameLocks noGrp="1"/>
          </p:cNvGraphicFramePr>
          <p:nvPr/>
        </p:nvGraphicFramePr>
        <p:xfrm>
          <a:off x="685800" y="1325880"/>
          <a:ext cx="10789918" cy="4626864"/>
        </p:xfrm>
        <a:graphic>
          <a:graphicData uri="http://schemas.openxmlformats.org/drawingml/2006/table">
            <a:tbl>
              <a:tblPr firstRow="1" bandRow="1">
                <a:tableStyleId>{5C22544A-7EE6-4342-B048-85BDC9FD1C3A}</a:tableStyleId>
              </a:tblPr>
              <a:tblGrid>
                <a:gridCol w="4836860"/>
                <a:gridCol w="1116198"/>
                <a:gridCol w="2046364"/>
                <a:gridCol w="2790496"/>
              </a:tblGrid>
              <a:tr h="420624">
                <a:tc>
                  <a:txBody>
                    <a:bodyPr/>
                    <a:lstStyle/>
                    <a:p>
                      <a:r>
                        <a:rPr sz="1500" b="1">
                          <a:solidFill>
                            <a:srgbClr val="FFFFFF"/>
                          </a:solidFill>
                          <a:latin typeface="Segoe UI"/>
                        </a:rPr>
                        <a:t>Operador</a:t>
                      </a:r>
                    </a:p>
                  </a:txBody>
                  <a:tcPr anchor="ctr">
                    <a:solidFill>
                      <a:srgbClr val="009E73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500" b="1">
                          <a:solidFill>
                            <a:srgbClr val="FFFFFF"/>
                          </a:solidFill>
                          <a:latin typeface="Segoe UI"/>
                        </a:rPr>
                        <a:t>Custo</a:t>
                      </a:r>
                    </a:p>
                  </a:txBody>
                  <a:tcPr anchor="ctr">
                    <a:solidFill>
                      <a:srgbClr val="009E73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500" b="1">
                          <a:solidFill>
                            <a:srgbClr val="FFFFFF"/>
                          </a:solidFill>
                          <a:latin typeface="Segoe UI"/>
                        </a:rPr>
                        <a:t>Equipe no local?</a:t>
                      </a:r>
                    </a:p>
                  </a:txBody>
                  <a:tcPr anchor="ctr">
                    <a:solidFill>
                      <a:srgbClr val="009E73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500" b="1">
                          <a:solidFill>
                            <a:srgbClr val="FFFFFF"/>
                          </a:solidFill>
                          <a:latin typeface="Segoe UI"/>
                        </a:rPr>
                        <a:t>Autorização?</a:t>
                      </a:r>
                    </a:p>
                  </a:txBody>
                  <a:tcPr anchor="ctr">
                    <a:solidFill>
                      <a:srgbClr val="009E73"/>
                    </a:solidFill>
                  </a:tcPr>
                </a:tc>
              </a:tr>
              <a:tr h="420624">
                <a:tc>
                  <a:txBody>
                    <a:bodyPr/>
                    <a:lstStyle/>
                    <a:p>
                      <a:r>
                        <a:rPr sz="1400" b="0">
                          <a:solidFill>
                            <a:srgbClr val="52606D"/>
                          </a:solidFill>
                          <a:latin typeface="Segoe UI"/>
                        </a:rPr>
                        <a:t>request_authorization(?n)</a:t>
                      </a:r>
                    </a:p>
                  </a:txBody>
                  <a:tcPr anchor="ctr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400" b="0">
                          <a:solidFill>
                            <a:srgbClr val="52606D"/>
                          </a:solidFill>
                          <a:latin typeface="Segoe UI"/>
                        </a:rPr>
                        <a:t>1</a:t>
                      </a:r>
                    </a:p>
                  </a:txBody>
                  <a:tcPr anchor="ctr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400" b="0">
                          <a:solidFill>
                            <a:srgbClr val="52606D"/>
                          </a:solidFill>
                          <a:latin typeface="Segoe UI"/>
                        </a:rPr>
                        <a:t>não</a:t>
                      </a:r>
                    </a:p>
                  </a:txBody>
                  <a:tcPr anchor="ctr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400" b="0">
                          <a:solidFill>
                            <a:srgbClr val="52606D"/>
                          </a:solidFill>
                          <a:latin typeface="Segoe UI"/>
                        </a:rPr>
                        <a:t>—</a:t>
                      </a:r>
                    </a:p>
                  </a:txBody>
                  <a:tcPr anchor="ctr">
                    <a:solidFill>
                      <a:srgbClr val="FFFFFF"/>
                    </a:solidFill>
                  </a:tcPr>
                </a:tc>
              </a:tr>
              <a:tr h="420624">
                <a:tc>
                  <a:txBody>
                    <a:bodyPr/>
                    <a:lstStyle/>
                    <a:p>
                      <a:r>
                        <a:rPr sz="1400" b="0">
                          <a:solidFill>
                            <a:srgbClr val="52606D"/>
                          </a:solidFill>
                          <a:latin typeface="Segoe UI"/>
                        </a:rPr>
                        <a:t>dispatch_crew(?from, ?to)</a:t>
                      </a:r>
                    </a:p>
                  </a:txBody>
                  <a:tcPr anchor="ctr">
                    <a:solidFill>
                      <a:srgbClr val="F4F2EE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400" b="0">
                          <a:solidFill>
                            <a:srgbClr val="52606D"/>
                          </a:solidFill>
                          <a:latin typeface="Segoe UI"/>
                        </a:rPr>
                        <a:t>4</a:t>
                      </a:r>
                    </a:p>
                  </a:txBody>
                  <a:tcPr anchor="ctr">
                    <a:solidFill>
                      <a:srgbClr val="F4F2EE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400" b="0">
                          <a:solidFill>
                            <a:srgbClr val="52606D"/>
                          </a:solidFill>
                          <a:latin typeface="Segoe UI"/>
                        </a:rPr>
                        <a:t>—</a:t>
                      </a:r>
                    </a:p>
                  </a:txBody>
                  <a:tcPr anchor="ctr">
                    <a:solidFill>
                      <a:srgbClr val="F4F2EE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400" b="0">
                          <a:solidFill>
                            <a:srgbClr val="52606D"/>
                          </a:solidFill>
                          <a:latin typeface="Segoe UI"/>
                        </a:rPr>
                        <a:t>sim</a:t>
                      </a:r>
                    </a:p>
                  </a:txBody>
                  <a:tcPr anchor="ctr">
                    <a:solidFill>
                      <a:srgbClr val="F4F2EE"/>
                    </a:solidFill>
                  </a:tcPr>
                </a:tc>
              </a:tr>
              <a:tr h="420624">
                <a:tc>
                  <a:txBody>
                    <a:bodyPr/>
                    <a:lstStyle/>
                    <a:p>
                      <a:r>
                        <a:rPr sz="1400" b="0">
                          <a:solidFill>
                            <a:srgbClr val="52606D"/>
                          </a:solidFill>
                          <a:latin typeface="Segoe UI"/>
                        </a:rPr>
                        <a:t>change_channel(?n)</a:t>
                      </a:r>
                    </a:p>
                  </a:txBody>
                  <a:tcPr anchor="ctr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400" b="0">
                          <a:solidFill>
                            <a:srgbClr val="52606D"/>
                          </a:solidFill>
                          <a:latin typeface="Segoe UI"/>
                        </a:rPr>
                        <a:t>2</a:t>
                      </a:r>
                    </a:p>
                  </a:txBody>
                  <a:tcPr anchor="ctr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400" b="0">
                          <a:solidFill>
                            <a:srgbClr val="52606D"/>
                          </a:solidFill>
                          <a:latin typeface="Segoe UI"/>
                        </a:rPr>
                        <a:t>não</a:t>
                      </a:r>
                    </a:p>
                  </a:txBody>
                  <a:tcPr anchor="ctr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400" b="0">
                          <a:solidFill>
                            <a:srgbClr val="52606D"/>
                          </a:solidFill>
                          <a:latin typeface="Segoe UI"/>
                        </a:rPr>
                        <a:t>sim</a:t>
                      </a:r>
                    </a:p>
                  </a:txBody>
                  <a:tcPr anchor="ctr">
                    <a:solidFill>
                      <a:srgbClr val="FFFFFF"/>
                    </a:solidFill>
                  </a:tcPr>
                </a:tc>
              </a:tr>
              <a:tr h="420624">
                <a:tc>
                  <a:txBody>
                    <a:bodyPr/>
                    <a:lstStyle/>
                    <a:p>
                      <a:r>
                        <a:rPr sz="1400" b="0">
                          <a:solidFill>
                            <a:srgbClr val="52606D"/>
                          </a:solidFill>
                          <a:latin typeface="Segoe UI"/>
                        </a:rPr>
                        <a:t>realign_antenna(?n)</a:t>
                      </a:r>
                    </a:p>
                  </a:txBody>
                  <a:tcPr anchor="ctr">
                    <a:solidFill>
                      <a:srgbClr val="F4F2EE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400" b="0">
                          <a:solidFill>
                            <a:srgbClr val="52606D"/>
                          </a:solidFill>
                          <a:latin typeface="Segoe UI"/>
                        </a:rPr>
                        <a:t>3</a:t>
                      </a:r>
                    </a:p>
                  </a:txBody>
                  <a:tcPr anchor="ctr">
                    <a:solidFill>
                      <a:srgbClr val="F4F2EE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400" b="0">
                          <a:solidFill>
                            <a:srgbClr val="52606D"/>
                          </a:solidFill>
                          <a:latin typeface="Segoe UI"/>
                        </a:rPr>
                        <a:t>SIM</a:t>
                      </a:r>
                    </a:p>
                  </a:txBody>
                  <a:tcPr anchor="ctr">
                    <a:solidFill>
                      <a:srgbClr val="F4F2EE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400" b="0">
                          <a:solidFill>
                            <a:srgbClr val="52606D"/>
                          </a:solidFill>
                          <a:latin typeface="Segoe UI"/>
                        </a:rPr>
                        <a:t>sim</a:t>
                      </a:r>
                    </a:p>
                  </a:txBody>
                  <a:tcPr anchor="ctr">
                    <a:solidFill>
                      <a:srgbClr val="F4F2EE"/>
                    </a:solidFill>
                  </a:tcPr>
                </a:tc>
              </a:tr>
              <a:tr h="420624">
                <a:tc>
                  <a:txBody>
                    <a:bodyPr/>
                    <a:lstStyle/>
                    <a:p>
                      <a:r>
                        <a:rPr sz="1400" b="0">
                          <a:solidFill>
                            <a:srgbClr val="52606D"/>
                          </a:solidFill>
                          <a:latin typeface="Segoe UI"/>
                        </a:rPr>
                        <a:t>replace_power_unit(?n)</a:t>
                      </a:r>
                    </a:p>
                  </a:txBody>
                  <a:tcPr anchor="ctr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400" b="0">
                          <a:solidFill>
                            <a:srgbClr val="52606D"/>
                          </a:solidFill>
                          <a:latin typeface="Segoe UI"/>
                        </a:rPr>
                        <a:t>5</a:t>
                      </a:r>
                    </a:p>
                  </a:txBody>
                  <a:tcPr anchor="ctr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400" b="0">
                          <a:solidFill>
                            <a:srgbClr val="52606D"/>
                          </a:solidFill>
                          <a:latin typeface="Segoe UI"/>
                        </a:rPr>
                        <a:t>SIM</a:t>
                      </a:r>
                    </a:p>
                  </a:txBody>
                  <a:tcPr anchor="ctr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400" b="0">
                          <a:solidFill>
                            <a:srgbClr val="52606D"/>
                          </a:solidFill>
                          <a:latin typeface="Segoe UI"/>
                        </a:rPr>
                        <a:t>sim</a:t>
                      </a:r>
                    </a:p>
                  </a:txBody>
                  <a:tcPr anchor="ctr">
                    <a:solidFill>
                      <a:srgbClr val="FFFFFF"/>
                    </a:solidFill>
                  </a:tcPr>
                </a:tc>
              </a:tr>
              <a:tr h="420624">
                <a:tc>
                  <a:txBody>
                    <a:bodyPr/>
                    <a:lstStyle/>
                    <a:p>
                      <a:r>
                        <a:rPr sz="1400" b="0">
                          <a:solidFill>
                            <a:srgbClr val="52606D"/>
                          </a:solidFill>
                          <a:latin typeface="Segoe UI"/>
                        </a:rPr>
                        <a:t>restore_relay(?n)</a:t>
                      </a:r>
                    </a:p>
                  </a:txBody>
                  <a:tcPr anchor="ctr">
                    <a:solidFill>
                      <a:srgbClr val="F4F2EE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400" b="0">
                          <a:solidFill>
                            <a:srgbClr val="52606D"/>
                          </a:solidFill>
                          <a:latin typeface="Segoe UI"/>
                        </a:rPr>
                        <a:t>2</a:t>
                      </a:r>
                    </a:p>
                  </a:txBody>
                  <a:tcPr anchor="ctr">
                    <a:solidFill>
                      <a:srgbClr val="F4F2EE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400" b="0">
                          <a:solidFill>
                            <a:srgbClr val="52606D"/>
                          </a:solidFill>
                          <a:latin typeface="Segoe UI"/>
                        </a:rPr>
                        <a:t>não</a:t>
                      </a:r>
                    </a:p>
                  </a:txBody>
                  <a:tcPr anchor="ctr">
                    <a:solidFill>
                      <a:srgbClr val="F4F2EE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400" b="0">
                          <a:solidFill>
                            <a:srgbClr val="52606D"/>
                          </a:solidFill>
                          <a:latin typeface="Segoe UI"/>
                        </a:rPr>
                        <a:t>sim</a:t>
                      </a:r>
                    </a:p>
                  </a:txBody>
                  <a:tcPr anchor="ctr">
                    <a:solidFill>
                      <a:srgbClr val="F4F2EE"/>
                    </a:solidFill>
                  </a:tcPr>
                </a:tc>
              </a:tr>
              <a:tr h="420624">
                <a:tc>
                  <a:txBody>
                    <a:bodyPr/>
                    <a:lstStyle/>
                    <a:p>
                      <a:r>
                        <a:rPr sz="1400" b="0">
                          <a:solidFill>
                            <a:srgbClr val="52606D"/>
                          </a:solidFill>
                          <a:latin typeface="Segoe UI"/>
                        </a:rPr>
                        <a:t>fix_vlan(?n)</a:t>
                      </a:r>
                    </a:p>
                  </a:txBody>
                  <a:tcPr anchor="ctr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400" b="0">
                          <a:solidFill>
                            <a:srgbClr val="52606D"/>
                          </a:solidFill>
                          <a:latin typeface="Segoe UI"/>
                        </a:rPr>
                        <a:t>1</a:t>
                      </a:r>
                    </a:p>
                  </a:txBody>
                  <a:tcPr anchor="ctr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400" b="0">
                          <a:solidFill>
                            <a:srgbClr val="52606D"/>
                          </a:solidFill>
                          <a:latin typeface="Segoe UI"/>
                        </a:rPr>
                        <a:t>não</a:t>
                      </a:r>
                    </a:p>
                  </a:txBody>
                  <a:tcPr anchor="ctr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400" b="0">
                          <a:solidFill>
                            <a:srgbClr val="52606D"/>
                          </a:solidFill>
                          <a:latin typeface="Segoe UI"/>
                        </a:rPr>
                        <a:t>sim</a:t>
                      </a:r>
                    </a:p>
                  </a:txBody>
                  <a:tcPr anchor="ctr">
                    <a:solidFill>
                      <a:srgbClr val="FFFFFF"/>
                    </a:solidFill>
                  </a:tcPr>
                </a:tc>
              </a:tr>
              <a:tr h="420624">
                <a:tc>
                  <a:txBody>
                    <a:bodyPr/>
                    <a:lstStyle/>
                    <a:p>
                      <a:r>
                        <a:rPr sz="1400" b="0">
                          <a:solidFill>
                            <a:srgbClr val="52606D"/>
                          </a:solidFill>
                          <a:latin typeface="Segoe UI"/>
                        </a:rPr>
                        <a:t>reroute_traffic(?n)</a:t>
                      </a:r>
                    </a:p>
                  </a:txBody>
                  <a:tcPr anchor="ctr">
                    <a:solidFill>
                      <a:srgbClr val="F4F2EE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400" b="0">
                          <a:solidFill>
                            <a:srgbClr val="52606D"/>
                          </a:solidFill>
                          <a:latin typeface="Segoe UI"/>
                        </a:rPr>
                        <a:t>2</a:t>
                      </a:r>
                    </a:p>
                  </a:txBody>
                  <a:tcPr anchor="ctr">
                    <a:solidFill>
                      <a:srgbClr val="F4F2EE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400" b="0">
                          <a:solidFill>
                            <a:srgbClr val="52606D"/>
                          </a:solidFill>
                          <a:latin typeface="Segoe UI"/>
                        </a:rPr>
                        <a:t>não</a:t>
                      </a:r>
                    </a:p>
                  </a:txBody>
                  <a:tcPr anchor="ctr">
                    <a:solidFill>
                      <a:srgbClr val="F4F2EE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400" b="0">
                          <a:solidFill>
                            <a:srgbClr val="52606D"/>
                          </a:solidFill>
                          <a:latin typeface="Segoe UI"/>
                        </a:rPr>
                        <a:t>sim + rota alternativa</a:t>
                      </a:r>
                    </a:p>
                  </a:txBody>
                  <a:tcPr anchor="ctr">
                    <a:solidFill>
                      <a:srgbClr val="F4F2EE"/>
                    </a:solidFill>
                  </a:tcPr>
                </a:tc>
              </a:tr>
              <a:tr h="420624">
                <a:tc>
                  <a:txBody>
                    <a:bodyPr/>
                    <a:lstStyle/>
                    <a:p>
                      <a:r>
                        <a:rPr sz="1400" b="1">
                          <a:solidFill>
                            <a:srgbClr val="1F2933"/>
                          </a:solidFill>
                          <a:latin typeface="Segoe UI"/>
                        </a:rPr>
                        <a:t>monitor_and_wait(?n)</a:t>
                      </a:r>
                    </a:p>
                  </a:txBody>
                  <a:tcPr anchor="ctr">
                    <a:solidFill>
                      <a:srgbClr val="FDF1DC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400" b="1">
                          <a:solidFill>
                            <a:srgbClr val="1F2933"/>
                          </a:solidFill>
                          <a:latin typeface="Segoe UI"/>
                        </a:rPr>
                        <a:t>1</a:t>
                      </a:r>
                    </a:p>
                  </a:txBody>
                  <a:tcPr anchor="ctr">
                    <a:solidFill>
                      <a:srgbClr val="FDF1DC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400" b="1">
                          <a:solidFill>
                            <a:srgbClr val="1F2933"/>
                          </a:solidFill>
                          <a:latin typeface="Segoe UI"/>
                        </a:rPr>
                        <a:t>não</a:t>
                      </a:r>
                    </a:p>
                  </a:txBody>
                  <a:tcPr anchor="ctr">
                    <a:solidFill>
                      <a:srgbClr val="FDF1DC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400" b="1">
                          <a:solidFill>
                            <a:srgbClr val="1F2933"/>
                          </a:solidFill>
                          <a:latin typeface="Segoe UI"/>
                        </a:rPr>
                        <a:t>NÃO</a:t>
                      </a:r>
                    </a:p>
                  </a:txBody>
                  <a:tcPr anchor="ctr">
                    <a:solidFill>
                      <a:srgbClr val="FDF1DC"/>
                    </a:solidFill>
                  </a:tcPr>
                </a:tc>
              </a:tr>
              <a:tr h="420624">
                <a:tc>
                  <a:txBody>
                    <a:bodyPr/>
                    <a:lstStyle/>
                    <a:p>
                      <a:r>
                        <a:rPr sz="1400" b="0">
                          <a:solidFill>
                            <a:srgbClr val="52606D"/>
                          </a:solidFill>
                          <a:latin typeface="Segoe UI"/>
                        </a:rPr>
                        <a:t>verify_link / record_logbook / close_work_order</a:t>
                      </a:r>
                    </a:p>
                  </a:txBody>
                  <a:tcPr anchor="ctr">
                    <a:solidFill>
                      <a:srgbClr val="F4F2EE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400" b="0">
                          <a:solidFill>
                            <a:srgbClr val="52606D"/>
                          </a:solidFill>
                          <a:latin typeface="Segoe UI"/>
                        </a:rPr>
                        <a:t>1</a:t>
                      </a:r>
                    </a:p>
                  </a:txBody>
                  <a:tcPr anchor="ctr">
                    <a:solidFill>
                      <a:srgbClr val="F4F2EE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400" b="0">
                          <a:solidFill>
                            <a:srgbClr val="52606D"/>
                          </a:solidFill>
                          <a:latin typeface="Segoe UI"/>
                        </a:rPr>
                        <a:t>não</a:t>
                      </a:r>
                    </a:p>
                  </a:txBody>
                  <a:tcPr anchor="ctr">
                    <a:solidFill>
                      <a:srgbClr val="F4F2EE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400" b="0">
                          <a:solidFill>
                            <a:srgbClr val="52606D"/>
                          </a:solidFill>
                          <a:latin typeface="Segoe UI"/>
                        </a:rPr>
                        <a:t>—</a:t>
                      </a:r>
                    </a:p>
                  </a:txBody>
                  <a:tcPr anchor="ctr">
                    <a:solidFill>
                      <a:srgbClr val="F4F2EE"/>
                    </a:solidFill>
                  </a:tcPr>
                </a:tc>
              </a:tr>
            </a:tbl>
          </a:graphicData>
        </a:graphic>
      </p:graphicFrame>
    </p:spTree>
  </p:cSld>
  <p:clrMapOvr>
    <a:masterClrMapping/>
  </p:clrMapOvr>
</p:sld>
</file>

<file path=ppt/slides/slide28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061219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2286000"/>
            <a:ext cx="12191695" cy="54864"/>
          </a:xfrm>
          <a:prstGeom prst="rect">
            <a:avLst/>
          </a:prstGeom>
          <a:solidFill>
            <a:srgbClr val="009E73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1005840" y="2606040"/>
            <a:ext cx="10149840" cy="18288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lnSpc>
                <a:spcPct val="115000"/>
              </a:lnSpc>
            </a:pPr>
            <a:r>
              <a:rPr sz="3600" b="1">
                <a:solidFill>
                  <a:srgbClr val="FFFFFF"/>
                </a:solidFill>
                <a:latin typeface="Segoe UI"/>
              </a:rPr>
              <a:t>Governança como precondição, não como recomendação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1005840" y="4572000"/>
            <a:ext cx="10149840" cy="12801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lnSpc>
                <a:spcPct val="120000"/>
              </a:lnSpc>
            </a:pPr>
            <a:r>
              <a:rPr sz="1800" b="0">
                <a:solidFill>
                  <a:srgbClr val="9FC6D8"/>
                </a:solidFill>
                <a:latin typeface="Segoe UI"/>
              </a:rPr>
              <a:t>Agir sem autorização não é desaconselhado: é um estado INALCANÇÁVEL.</a:t>
            </a:r>
          </a:p>
        </p:txBody>
      </p:sp>
    </p:spTree>
  </p:cSld>
  <p:clrMapOvr>
    <a:masterClrMapping/>
  </p:clrMapOvr>
</p:sld>
</file>

<file path=ppt/slides/slide29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FBFAF7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0"/>
            <a:ext cx="12191695" cy="146304"/>
          </a:xfrm>
          <a:prstGeom prst="rect">
            <a:avLst/>
          </a:prstGeom>
          <a:solidFill>
            <a:srgbClr val="009E73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685800" y="457200"/>
            <a:ext cx="10789920" cy="8229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lnSpc>
                <a:spcPct val="100000"/>
              </a:lnSpc>
            </a:pPr>
            <a:r>
              <a:rPr sz="3200" b="1">
                <a:solidFill>
                  <a:srgbClr val="1F2933"/>
                </a:solidFill>
                <a:latin typeface="Segoe UI"/>
              </a:rPr>
              <a:t>GPS: análise meios-fins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685800" y="1371600"/>
            <a:ext cx="10789920" cy="493776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>
              <a:spcAft>
                <a:spcPts val="1600"/>
              </a:spcAft>
            </a:pPr>
            <a:r>
              <a:rPr sz="2300" b="1">
                <a:solidFill>
                  <a:srgbClr val="1F2933"/>
                </a:solidFill>
                <a:latin typeface="Segoe UI"/>
              </a:rPr>
              <a:t>• Olhe a DIFERENÇA entre o estado atual e o objetivo</a:t>
            </a:r>
          </a:p>
          <a:p>
            <a:pPr>
              <a:spcAft>
                <a:spcPts val="1600"/>
              </a:spcAft>
            </a:pPr>
            <a:r>
              <a:rPr sz="2300" b="1">
                <a:solidFill>
                  <a:srgbClr val="1F2933"/>
                </a:solidFill>
                <a:latin typeface="Segoe UI"/>
              </a:rPr>
              <a:t>• Escolha um operador que REDUZA essa diferença</a:t>
            </a:r>
          </a:p>
          <a:p>
            <a:pPr>
              <a:spcAft>
                <a:spcPts val="1600"/>
              </a:spcAft>
            </a:pPr>
            <a:r>
              <a:rPr sz="2300" b="1">
                <a:solidFill>
                  <a:srgbClr val="1F2933"/>
                </a:solidFill>
                <a:latin typeface="Segoe UI"/>
              </a:rPr>
              <a:t>• Recursivamente, satisfaça as precondições desse operador</a:t>
            </a:r>
          </a:p>
          <a:p>
            <a:pPr>
              <a:spcAft>
                <a:spcPts val="1600"/>
              </a:spcAft>
            </a:pPr>
            <a:r>
              <a:rPr sz="2300" b="1">
                <a:solidFill>
                  <a:srgbClr val="1F2933"/>
                </a:solidFill>
                <a:latin typeface="Segoe UI"/>
              </a:rPr>
              <a:t>• Aplique o operador</a:t>
            </a:r>
          </a:p>
          <a:p>
            <a:pPr lvl="1">
              <a:spcAft>
                <a:spcPts val="1000"/>
              </a:spcAft>
            </a:pPr>
            <a:r>
              <a:rPr sz="1900" b="0">
                <a:solidFill>
                  <a:srgbClr val="52606D"/>
                </a:solidFill>
                <a:latin typeface="Segoe UI"/>
              </a:rPr>
              <a:t>Toda ação existe para eliminar uma diferença concreta — por isso o trace se lê como justificativa, não como log de busca</a:t>
            </a:r>
          </a:p>
        </p:txBody>
      </p:sp>
    </p:spTree>
  </p:cSld>
  <p:clrMapOvr>
    <a:masterClrMapping/>
  </p:clrMapOvr>
</p:sld>
</file>

<file path=ppt/slides/slide30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FBFAF7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0"/>
            <a:ext cx="12191695" cy="146304"/>
          </a:xfrm>
          <a:prstGeom prst="rect">
            <a:avLst/>
          </a:prstGeom>
          <a:solidFill>
            <a:srgbClr val="009E73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685800" y="384048"/>
            <a:ext cx="10789920" cy="7315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lnSpc>
                <a:spcPct val="100000"/>
              </a:lnSpc>
            </a:pPr>
            <a:r>
              <a:rPr sz="3000" b="1">
                <a:solidFill>
                  <a:srgbClr val="1F2933"/>
                </a:solidFill>
                <a:latin typeface="Segoe UI"/>
              </a:rPr>
              <a:t>O trace do GPS: uma justificativa</a:t>
            </a:r>
          </a:p>
        </p:txBody>
      </p:sp>
      <p:sp>
        <p:nvSpPr>
          <p:cNvPr id="5" name="Rectangle 4"/>
          <p:cNvSpPr/>
          <p:nvPr/>
        </p:nvSpPr>
        <p:spPr>
          <a:xfrm>
            <a:off x="685800" y="1280160"/>
            <a:ext cx="10789920" cy="4297680"/>
          </a:xfrm>
          <a:prstGeom prst="rect">
            <a:avLst/>
          </a:prstGeom>
          <a:solidFill>
            <a:srgbClr val="061219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none" lIns="320040" tIns="256032"/>
          <a:lstStyle/>
          <a:p>
            <a:pPr algn="ctr">
              <a:lnSpc>
                <a:spcPct val="115000"/>
              </a:lnSpc>
            </a:pPr>
            <a:r>
              <a:rPr sz="1500">
                <a:solidFill>
                  <a:srgbClr val="E6EDF3"/>
                </a:solidFill>
                <a:latin typeface="Consolas"/>
              </a:rPr>
              <a:t>DIFERENÇA a reduzir: service-restored(RM_A5)</a:t>
            </a:r>
          </a:p>
          <a:p>
            <a:pPr>
              <a:lnSpc>
                <a:spcPct val="115000"/>
              </a:lnSpc>
            </a:pPr>
            <a:r>
              <a:rPr sz="1500">
                <a:solidFill>
                  <a:srgbClr val="E6EDF3"/>
                </a:solidFill>
                <a:latin typeface="Consolas"/>
              </a:rPr>
              <a:t>  operador candidato: close_work_order(RM_A5)</a:t>
            </a:r>
          </a:p>
          <a:p>
            <a:pPr>
              <a:lnSpc>
                <a:spcPct val="115000"/>
              </a:lnSpc>
            </a:pPr>
            <a:r>
              <a:rPr sz="1500">
                <a:solidFill>
                  <a:srgbClr val="E6EDF3"/>
                </a:solidFill>
                <a:latin typeface="Consolas"/>
              </a:rPr>
              <a:t>  precondições: link-up(RM_A5), logged(RM_A5)</a:t>
            </a:r>
          </a:p>
          <a:p>
            <a:pPr>
              <a:lnSpc>
                <a:spcPct val="115000"/>
              </a:lnSpc>
            </a:pPr>
            <a:r>
              <a:rPr sz="1500">
                <a:solidFill>
                  <a:srgbClr val="E6EDF3"/>
                </a:solidFill>
                <a:latin typeface="Consolas"/>
              </a:rPr>
              <a:t>    DIFERENÇA a reduzir: link-up(RM_A5)</a:t>
            </a:r>
          </a:p>
          <a:p>
            <a:pPr>
              <a:lnSpc>
                <a:spcPct val="115000"/>
              </a:lnSpc>
            </a:pPr>
            <a:r>
              <a:rPr sz="1500">
                <a:solidFill>
                  <a:srgbClr val="E6EDF3"/>
                </a:solidFill>
                <a:latin typeface="Consolas"/>
              </a:rPr>
              <a:t>      operador candidato: verify_link(RM_A5)</a:t>
            </a:r>
          </a:p>
          <a:p>
            <a:pPr>
              <a:lnSpc>
                <a:spcPct val="115000"/>
              </a:lnSpc>
            </a:pPr>
            <a:r>
              <a:rPr sz="1500">
                <a:solidFill>
                  <a:srgbClr val="E6EDF3"/>
                </a:solidFill>
                <a:latin typeface="Consolas"/>
              </a:rPr>
              <a:t>        DIFERENÇA a reduzir: fault-cleared(RM_A5)</a:t>
            </a:r>
          </a:p>
          <a:p>
            <a:pPr>
              <a:lnSpc>
                <a:spcPct val="115000"/>
              </a:lnSpc>
            </a:pPr>
            <a:r>
              <a:rPr sz="1500">
                <a:solidFill>
                  <a:srgbClr val="E6EDF3"/>
                </a:solidFill>
                <a:latin typeface="Consolas"/>
              </a:rPr>
              <a:t>          operador candidato: replace_power_unit(RM_A5)</a:t>
            </a:r>
          </a:p>
          <a:p>
            <a:pPr>
              <a:lnSpc>
                <a:spcPct val="115000"/>
              </a:lnSpc>
            </a:pPr>
            <a:r>
              <a:rPr sz="1500">
                <a:solidFill>
                  <a:srgbClr val="E6EDF3"/>
                </a:solidFill>
                <a:latin typeface="Consolas"/>
              </a:rPr>
              <a:t>            DIFERENÇA a reduzir: crew-at(RM_A5)</a:t>
            </a:r>
          </a:p>
          <a:p>
            <a:pPr>
              <a:lnSpc>
                <a:spcPct val="115000"/>
              </a:lnSpc>
            </a:pPr>
            <a:r>
              <a:rPr sz="1500">
                <a:solidFill>
                  <a:srgbClr val="E6EDF3"/>
                </a:solidFill>
                <a:latin typeface="Consolas"/>
              </a:rPr>
              <a:t>              APLICA dispatch_crew(BASE, RM_A5)</a:t>
            </a:r>
          </a:p>
          <a:p>
            <a:pPr>
              <a:lnSpc>
                <a:spcPct val="115000"/>
              </a:lnSpc>
            </a:pPr>
            <a:r>
              <a:rPr sz="1500">
                <a:solidFill>
                  <a:srgbClr val="E6EDF3"/>
                </a:solidFill>
                <a:latin typeface="Consolas"/>
              </a:rPr>
              <a:t>            já satisfeito: crew-at(BASE)</a:t>
            </a:r>
          </a:p>
        </p:txBody>
      </p:sp>
    </p:spTree>
  </p:cSld>
  <p:clrMapOvr>
    <a:masterClrMapping/>
  </p:clrMapOvr>
</p:sld>
</file>

<file path=ppt/slides/slide31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FBFAF7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0"/>
            <a:ext cx="12191695" cy="146304"/>
          </a:xfrm>
          <a:prstGeom prst="rect">
            <a:avLst/>
          </a:prstGeom>
          <a:solidFill>
            <a:srgbClr val="009E73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685800" y="457200"/>
            <a:ext cx="10789920" cy="8229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lnSpc>
                <a:spcPct val="100000"/>
              </a:lnSpc>
            </a:pPr>
            <a:r>
              <a:rPr sz="3200" b="1">
                <a:solidFill>
                  <a:srgbClr val="1F2933"/>
                </a:solidFill>
                <a:latin typeface="Segoe UI"/>
              </a:rPr>
              <a:t>As limitações do GPS — ditas antes que perguntem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685800" y="1371600"/>
            <a:ext cx="10789920" cy="493776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>
              <a:spcAft>
                <a:spcPts val="1600"/>
              </a:spcAft>
            </a:pPr>
            <a:r>
              <a:rPr sz="2300" b="1">
                <a:solidFill>
                  <a:srgbClr val="1F2933"/>
                </a:solidFill>
                <a:latin typeface="Segoe UI"/>
              </a:rPr>
              <a:t>• O GPS não é completo nem ótimo</a:t>
            </a:r>
          </a:p>
          <a:p>
            <a:pPr>
              <a:spcAft>
                <a:spcPts val="1600"/>
              </a:spcAft>
            </a:pPr>
            <a:r>
              <a:rPr sz="2300" b="1">
                <a:solidFill>
                  <a:srgbClr val="1F2933"/>
                </a:solidFill>
                <a:latin typeface="Segoe UI"/>
              </a:rPr>
              <a:t>• Adota o primeiro operador que reduz a diferença; só revisa por retrocesso</a:t>
            </a:r>
          </a:p>
          <a:p>
            <a:pPr>
              <a:spcAft>
                <a:spcPts val="1600"/>
              </a:spcAft>
            </a:pPr>
            <a:r>
              <a:rPr sz="2300" b="1">
                <a:solidFill>
                  <a:srgbClr val="1F2933"/>
                </a:solidFill>
                <a:latin typeface="Segoe UI"/>
              </a:rPr>
              <a:t>• Anomalia de Sussman: com subobjetivos que interagem, atingir um pode desfazer outro</a:t>
            </a:r>
          </a:p>
          <a:p>
            <a:pPr lvl="1">
              <a:spcAft>
                <a:spcPts val="1000"/>
              </a:spcAft>
            </a:pPr>
            <a:r>
              <a:rPr sz="1900" b="0">
                <a:solidFill>
                  <a:srgbClr val="52606D"/>
                </a:solidFill>
                <a:latin typeface="Segoe UI"/>
              </a:rPr>
              <a:t>Nossa defesa mínima: reverificar os subobjetivos ao final e falhar explicitamente, em vez de devolver plano inválido</a:t>
            </a:r>
          </a:p>
        </p:txBody>
      </p:sp>
    </p:spTree>
  </p:cSld>
  <p:clrMapOvr>
    <a:masterClrMapping/>
  </p:clrMapOvr>
</p:sld>
</file>

<file path=ppt/slides/slide32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FBFAF7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0"/>
            <a:ext cx="12191695" cy="146304"/>
          </a:xfrm>
          <a:prstGeom prst="rect">
            <a:avLst/>
          </a:prstGeom>
          <a:solidFill>
            <a:srgbClr val="009E73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685800" y="384048"/>
            <a:ext cx="10789920" cy="7315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lnSpc>
                <a:spcPct val="100000"/>
              </a:lnSpc>
            </a:pPr>
            <a:r>
              <a:rPr sz="3000" b="1">
                <a:solidFill>
                  <a:srgbClr val="1F2933"/>
                </a:solidFill>
                <a:latin typeface="Segoe UI"/>
              </a:rPr>
              <a:t>A não-otimalidade do GPS, demonstrada</a:t>
            </a:r>
          </a:p>
        </p:txBody>
      </p:sp>
      <p:sp>
        <p:nvSpPr>
          <p:cNvPr id="5" name="Rectangle 4"/>
          <p:cNvSpPr/>
          <p:nvPr/>
        </p:nvSpPr>
        <p:spPr>
          <a:xfrm>
            <a:off x="685800" y="1280160"/>
            <a:ext cx="10789920" cy="4297680"/>
          </a:xfrm>
          <a:prstGeom prst="rect">
            <a:avLst/>
          </a:prstGeom>
          <a:solidFill>
            <a:srgbClr val="061219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none" lIns="320040" tIns="256032"/>
          <a:lstStyle/>
          <a:p>
            <a:pPr algn="ctr">
              <a:lnSpc>
                <a:spcPct val="115000"/>
              </a:lnSpc>
            </a:pPr>
            <a:r>
              <a:rPr sz="1500">
                <a:solidFill>
                  <a:srgbClr val="E6EDF3"/>
                </a:solidFill>
                <a:latin typeface="Consolas"/>
              </a:rPr>
              <a:t>O GPS ordena os operadores pelo custo PRÓPRIO,</a:t>
            </a:r>
          </a:p>
          <a:p>
            <a:pPr>
              <a:lnSpc>
                <a:spcPct val="115000"/>
              </a:lnSpc>
            </a:pPr>
            <a:r>
              <a:rPr sz="1500">
                <a:solidFill>
                  <a:srgbClr val="E6EDF3"/>
                </a:solidFill>
                <a:latin typeface="Consolas"/>
              </a:rPr>
              <a:t>sem olhar o custo das PRECONDIÇÕES.</a:t>
            </a:r>
          </a:p>
          <a:p>
            <a:pPr>
              <a:lnSpc>
                <a:spcPct val="115000"/>
              </a:lnSpc>
            </a:pPr>
            <a:r>
              <a:rPr sz="1500">
                <a:solidFill>
                  <a:srgbClr val="E6EDF3"/>
                </a:solidFill>
                <a:latin typeface="Consolas"/>
              </a:rPr>
              <a:t/>
            </a:r>
          </a:p>
          <a:p>
            <a:pPr>
              <a:lnSpc>
                <a:spcPct val="115000"/>
              </a:lnSpc>
            </a:pPr>
            <a:r>
              <a:rPr sz="1500">
                <a:solidFill>
                  <a:srgbClr val="E6EDF3"/>
                </a:solidFill>
                <a:latin typeface="Consolas"/>
              </a:rPr>
              <a:t>  conserto_barato_no_local   custo  1   exige: on-site(N)</a:t>
            </a:r>
          </a:p>
          <a:p>
            <a:pPr>
              <a:lnSpc>
                <a:spcPct val="115000"/>
              </a:lnSpc>
            </a:pPr>
            <a:r>
              <a:rPr sz="1500">
                <a:solidFill>
                  <a:srgbClr val="E6EDF3"/>
                </a:solidFill>
                <a:latin typeface="Consolas"/>
              </a:rPr>
              <a:t>  deslocar_equipe            custo 10</a:t>
            </a:r>
          </a:p>
          <a:p>
            <a:pPr>
              <a:lnSpc>
                <a:spcPct val="115000"/>
              </a:lnSpc>
            </a:pPr>
            <a:r>
              <a:rPr sz="1500">
                <a:solidFill>
                  <a:srgbClr val="E6EDF3"/>
                </a:solidFill>
                <a:latin typeface="Consolas"/>
              </a:rPr>
              <a:t>  conserto_remoto            custo  3   exige: nada</a:t>
            </a:r>
          </a:p>
          <a:p>
            <a:pPr>
              <a:lnSpc>
                <a:spcPct val="115000"/>
              </a:lnSpc>
            </a:pPr>
            <a:r>
              <a:rPr sz="1500">
                <a:solidFill>
                  <a:srgbClr val="E6EDF3"/>
                </a:solidFill>
                <a:latin typeface="Consolas"/>
              </a:rPr>
              <a:t/>
            </a:r>
          </a:p>
          <a:p>
            <a:pPr>
              <a:lnSpc>
                <a:spcPct val="115000"/>
              </a:lnSpc>
            </a:pPr>
            <a:r>
              <a:rPr sz="1500">
                <a:solidFill>
                  <a:srgbClr val="E6EDF3"/>
                </a:solidFill>
                <a:latin typeface="Consolas"/>
              </a:rPr>
              <a:t>GPS:  deslocar_equipe (10) + conserto_barato (1)   =  custo 11</a:t>
            </a:r>
          </a:p>
          <a:p>
            <a:pPr>
              <a:lnSpc>
                <a:spcPct val="115000"/>
              </a:lnSpc>
            </a:pPr>
            <a:r>
              <a:rPr sz="1500">
                <a:solidFill>
                  <a:srgbClr val="E6EDF3"/>
                </a:solidFill>
                <a:latin typeface="Consolas"/>
              </a:rPr>
              <a:t>A* :  conserto_remoto (3)                          =  custo  3</a:t>
            </a:r>
          </a:p>
        </p:txBody>
      </p:sp>
    </p:spTree>
  </p:cSld>
  <p:clrMapOvr>
    <a:masterClrMapping/>
  </p:clrMapOvr>
</p:sld>
</file>

<file path=ppt/slides/slide33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FBFAF7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0"/>
            <a:ext cx="12191695" cy="146304"/>
          </a:xfrm>
          <a:prstGeom prst="rect">
            <a:avLst/>
          </a:prstGeom>
          <a:solidFill>
            <a:srgbClr val="009E73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685800" y="384048"/>
            <a:ext cx="10789920" cy="7315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lnSpc>
                <a:spcPct val="100000"/>
              </a:lnSpc>
            </a:pPr>
            <a:r>
              <a:rPr sz="3000" b="1">
                <a:solidFill>
                  <a:srgbClr val="1F2933"/>
                </a:solidFill>
                <a:latin typeface="Segoe UI"/>
              </a:rPr>
              <a:t>Planejamento é busca: o mesmo problema</a:t>
            </a:r>
          </a:p>
        </p:txBody>
      </p:sp>
      <p:graphicFrame>
        <p:nvGraphicFramePr>
          <p:cNvPr id="5" name="Table 4"/>
          <p:cNvGraphicFramePr>
            <a:graphicFrameLocks noGrp="1"/>
          </p:cNvGraphicFramePr>
          <p:nvPr/>
        </p:nvGraphicFramePr>
        <p:xfrm>
          <a:off x="685800" y="1325880"/>
          <a:ext cx="10789920" cy="2103120"/>
        </p:xfrm>
        <a:graphic>
          <a:graphicData uri="http://schemas.openxmlformats.org/drawingml/2006/table">
            <a:tbl>
              <a:tblPr firstRow="1" bandRow="1">
                <a:tableStyleId>{5C22544A-7EE6-4342-B048-85BDC9FD1C3A}</a:tableStyleId>
              </a:tblPr>
              <a:tblGrid>
                <a:gridCol w="4315968"/>
                <a:gridCol w="6473952"/>
              </a:tblGrid>
              <a:tr h="420624">
                <a:tc>
                  <a:txBody>
                    <a:bodyPr/>
                    <a:lstStyle/>
                    <a:p>
                      <a:r>
                        <a:rPr sz="1500" b="1">
                          <a:solidFill>
                            <a:srgbClr val="FFFFFF"/>
                          </a:solidFill>
                          <a:latin typeface="Segoe UI"/>
                        </a:rPr>
                        <a:t>Busca</a:t>
                      </a:r>
                    </a:p>
                  </a:txBody>
                  <a:tcPr anchor="ctr">
                    <a:solidFill>
                      <a:srgbClr val="009E73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500" b="1">
                          <a:solidFill>
                            <a:srgbClr val="FFFFFF"/>
                          </a:solidFill>
                          <a:latin typeface="Segoe UI"/>
                        </a:rPr>
                        <a:t>Planejamento</a:t>
                      </a:r>
                    </a:p>
                  </a:txBody>
                  <a:tcPr anchor="ctr">
                    <a:solidFill>
                      <a:srgbClr val="009E73"/>
                    </a:solidFill>
                  </a:tcPr>
                </a:tc>
              </a:tr>
              <a:tr h="420624">
                <a:tc>
                  <a:txBody>
                    <a:bodyPr/>
                    <a:lstStyle/>
                    <a:p>
                      <a:r>
                        <a:rPr sz="1400" b="0">
                          <a:solidFill>
                            <a:srgbClr val="52606D"/>
                          </a:solidFill>
                          <a:latin typeface="Segoe UI"/>
                        </a:rPr>
                        <a:t>estado</a:t>
                      </a:r>
                    </a:p>
                  </a:txBody>
                  <a:tcPr anchor="ctr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400" b="0">
                          <a:solidFill>
                            <a:srgbClr val="52606D"/>
                          </a:solidFill>
                          <a:latin typeface="Segoe UI"/>
                        </a:rPr>
                        <a:t>conjunto de literais verdadeiros</a:t>
                      </a:r>
                    </a:p>
                  </a:txBody>
                  <a:tcPr anchor="ctr">
                    <a:solidFill>
                      <a:srgbClr val="FFFFFF"/>
                    </a:solidFill>
                  </a:tcPr>
                </a:tc>
              </a:tr>
              <a:tr h="420624">
                <a:tc>
                  <a:txBody>
                    <a:bodyPr/>
                    <a:lstStyle/>
                    <a:p>
                      <a:r>
                        <a:rPr sz="1400" b="0">
                          <a:solidFill>
                            <a:srgbClr val="52606D"/>
                          </a:solidFill>
                          <a:latin typeface="Segoe UI"/>
                        </a:rPr>
                        <a:t>ação sucessora</a:t>
                      </a:r>
                    </a:p>
                  </a:txBody>
                  <a:tcPr anchor="ctr">
                    <a:solidFill>
                      <a:srgbClr val="F4F2EE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400" b="0">
                          <a:solidFill>
                            <a:srgbClr val="52606D"/>
                          </a:solidFill>
                          <a:latin typeface="Segoe UI"/>
                        </a:rPr>
                        <a:t>qualquer ação aplicável</a:t>
                      </a:r>
                    </a:p>
                  </a:txBody>
                  <a:tcPr anchor="ctr">
                    <a:solidFill>
                      <a:srgbClr val="F4F2EE"/>
                    </a:solidFill>
                  </a:tcPr>
                </a:tc>
              </a:tr>
              <a:tr h="420624">
                <a:tc>
                  <a:txBody>
                    <a:bodyPr/>
                    <a:lstStyle/>
                    <a:p>
                      <a:r>
                        <a:rPr sz="1400" b="0">
                          <a:solidFill>
                            <a:srgbClr val="52606D"/>
                          </a:solidFill>
                          <a:latin typeface="Segoe UI"/>
                        </a:rPr>
                        <a:t>custo do passo</a:t>
                      </a:r>
                    </a:p>
                  </a:txBody>
                  <a:tcPr anchor="ctr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400" b="0">
                          <a:solidFill>
                            <a:srgbClr val="52606D"/>
                          </a:solidFill>
                          <a:latin typeface="Segoe UI"/>
                        </a:rPr>
                        <a:t>custo da ação</a:t>
                      </a:r>
                    </a:p>
                  </a:txBody>
                  <a:tcPr anchor="ctr">
                    <a:solidFill>
                      <a:srgbClr val="FFFFFF"/>
                    </a:solidFill>
                  </a:tcPr>
                </a:tc>
              </a:tr>
              <a:tr h="420624">
                <a:tc>
                  <a:txBody>
                    <a:bodyPr/>
                    <a:lstStyle/>
                    <a:p>
                      <a:r>
                        <a:rPr sz="1400" b="0">
                          <a:solidFill>
                            <a:srgbClr val="52606D"/>
                          </a:solidFill>
                          <a:latin typeface="Segoe UI"/>
                        </a:rPr>
                        <a:t>teste de objetivo</a:t>
                      </a:r>
                    </a:p>
                  </a:txBody>
                  <a:tcPr anchor="ctr">
                    <a:solidFill>
                      <a:srgbClr val="F4F2EE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400" b="0">
                          <a:solidFill>
                            <a:srgbClr val="52606D"/>
                          </a:solidFill>
                          <a:latin typeface="Segoe UI"/>
                        </a:rPr>
                        <a:t>o objetivo está contido no estado</a:t>
                      </a:r>
                    </a:p>
                  </a:txBody>
                  <a:tcPr anchor="ctr">
                    <a:solidFill>
                      <a:srgbClr val="F4F2EE"/>
                    </a:solidFill>
                  </a:tcPr>
                </a:tc>
              </a:tr>
            </a:tbl>
          </a:graphicData>
        </a:graphic>
      </p:graphicFrame>
    </p:spTree>
  </p:cSld>
  <p:clrMapOvr>
    <a:masterClrMapping/>
  </p:clrMapOvr>
</p:sld>
</file>

<file path=ppt/slides/slide34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FBFAF7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0"/>
            <a:ext cx="12191695" cy="146304"/>
          </a:xfrm>
          <a:prstGeom prst="rect">
            <a:avLst/>
          </a:prstGeom>
          <a:solidFill>
            <a:srgbClr val="009E73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685800" y="457200"/>
            <a:ext cx="10789920" cy="8229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lnSpc>
                <a:spcPct val="100000"/>
              </a:lnSpc>
            </a:pPr>
            <a:r>
              <a:rPr sz="3200" b="1">
                <a:solidFill>
                  <a:srgbClr val="1F2933"/>
                </a:solidFill>
                <a:latin typeface="Segoe UI"/>
              </a:rPr>
              <a:t>A heurística do planejador, e sua condição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685800" y="1371600"/>
            <a:ext cx="10789920" cy="493776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>
              <a:spcAft>
                <a:spcPts val="1600"/>
              </a:spcAft>
            </a:pPr>
            <a:r>
              <a:rPr sz="2300" b="1">
                <a:solidFill>
                  <a:srgbClr val="1F2933"/>
                </a:solidFill>
                <a:latin typeface="Segoe UI"/>
              </a:rPr>
              <a:t>• goal_count: h(s) = número de literais do objetivo ainda não satisfeitos</a:t>
            </a:r>
          </a:p>
          <a:p>
            <a:pPr>
              <a:spcAft>
                <a:spcPts val="1600"/>
              </a:spcAft>
            </a:pPr>
            <a:r>
              <a:rPr sz="2300" b="1">
                <a:solidFill>
                  <a:srgbClr val="1F2933"/>
                </a:solidFill>
                <a:latin typeface="Segoe UI"/>
              </a:rPr>
              <a:t>• Admissível APENAS SE nenhuma ação satisfaz mais de um literal do objetivo e toda ação custa ao menos 1</a:t>
            </a:r>
          </a:p>
          <a:p>
            <a:pPr>
              <a:spcAft>
                <a:spcPts val="1600"/>
              </a:spcAft>
            </a:pPr>
            <a:r>
              <a:rPr sz="2300" b="1">
                <a:solidFill>
                  <a:srgbClr val="1F2933"/>
                </a:solidFill>
                <a:latin typeface="Segoe UI"/>
              </a:rPr>
              <a:t>• Neste domínio a condição vale: service-restored e logged vêm de operadores diferentes</a:t>
            </a:r>
          </a:p>
          <a:p>
            <a:pPr>
              <a:spcAft>
                <a:spcPts val="1600"/>
              </a:spcAft>
            </a:pPr>
            <a:r>
              <a:rPr sz="2300" b="1">
                <a:solidFill>
                  <a:srgbClr val="1F2933"/>
                </a:solidFill>
                <a:latin typeface="Segoe UI"/>
              </a:rPr>
              <a:t>• Declaramos a condição em vez de supô-la</a:t>
            </a:r>
          </a:p>
          <a:p>
            <a:pPr lvl="1">
              <a:spcAft>
                <a:spcPts val="1000"/>
              </a:spcAft>
            </a:pPr>
            <a:r>
              <a:rPr sz="1900" b="0">
                <a:solidFill>
                  <a:srgbClr val="52606D"/>
                </a:solidFill>
                <a:latin typeface="Segoe UI"/>
              </a:rPr>
              <a:t>uma heurística inadmissível custaria a otimalidade em silêncio</a:t>
            </a:r>
          </a:p>
        </p:txBody>
      </p:sp>
    </p:spTree>
  </p:cSld>
  <p:clrMapOvr>
    <a:masterClrMapping/>
  </p:clrMapOvr>
</p:sld>
</file>

<file path=ppt/slides/slide35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FBFAF7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0"/>
            <a:ext cx="12191695" cy="146304"/>
          </a:xfrm>
          <a:prstGeom prst="rect">
            <a:avLst/>
          </a:prstGeom>
          <a:solidFill>
            <a:srgbClr val="009E73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685800" y="384048"/>
            <a:ext cx="10789920" cy="7315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lnSpc>
                <a:spcPct val="100000"/>
              </a:lnSpc>
            </a:pPr>
            <a:r>
              <a:rPr sz="3000" b="1">
                <a:solidFill>
                  <a:srgbClr val="1F2933"/>
                </a:solidFill>
                <a:latin typeface="Segoe UI"/>
              </a:rPr>
              <a:t>Demonstração: os dois planejadores</a:t>
            </a:r>
          </a:p>
        </p:txBody>
      </p:sp>
      <p:sp>
        <p:nvSpPr>
          <p:cNvPr id="5" name="Rectangle 4"/>
          <p:cNvSpPr/>
          <p:nvPr/>
        </p:nvSpPr>
        <p:spPr>
          <a:xfrm>
            <a:off x="685800" y="1280160"/>
            <a:ext cx="10789920" cy="4297680"/>
          </a:xfrm>
          <a:prstGeom prst="rect">
            <a:avLst/>
          </a:prstGeom>
          <a:solidFill>
            <a:srgbClr val="061219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none" lIns="320040" tIns="256032"/>
          <a:lstStyle/>
          <a:p>
            <a:pPr algn="ctr">
              <a:lnSpc>
                <a:spcPct val="115000"/>
              </a:lnSpc>
            </a:pPr>
            <a:r>
              <a:rPr sz="1500">
                <a:solidFill>
                  <a:srgbClr val="7FE0C0"/>
                </a:solidFill>
                <a:latin typeface="Consolas"/>
              </a:rPr>
              <a:t>$ aisg plan --diagnosis node_power_failure --node RM_A5 --solver both</a:t>
            </a:r>
          </a:p>
          <a:p>
            <a:pPr>
              <a:lnSpc>
                <a:spcPct val="115000"/>
              </a:lnSpc>
            </a:pPr>
            <a:r>
              <a:rPr sz="1500">
                <a:solidFill>
                  <a:srgbClr val="E6EDF3"/>
                </a:solidFill>
                <a:latin typeface="Consolas"/>
              </a:rPr>
              <a:t/>
            </a:r>
          </a:p>
          <a:p>
            <a:pPr>
              <a:lnSpc>
                <a:spcPct val="115000"/>
              </a:lnSpc>
            </a:pPr>
            <a:r>
              <a:rPr sz="1500">
                <a:solidFill>
                  <a:srgbClr val="E6EDF3"/>
                </a:solidFill>
                <a:latin typeface="Consolas"/>
              </a:rPr>
              <a:t> 1. request_authorization(RM_A5)   [1]</a:t>
            </a:r>
          </a:p>
          <a:p>
            <a:pPr>
              <a:lnSpc>
                <a:spcPct val="115000"/>
              </a:lnSpc>
            </a:pPr>
            <a:r>
              <a:rPr sz="1500">
                <a:solidFill>
                  <a:srgbClr val="E6EDF3"/>
                </a:solidFill>
                <a:latin typeface="Consolas"/>
              </a:rPr>
              <a:t> 2. dispatch_crew(BASE, RM_A5)     [4]</a:t>
            </a:r>
          </a:p>
          <a:p>
            <a:pPr>
              <a:lnSpc>
                <a:spcPct val="115000"/>
              </a:lnSpc>
            </a:pPr>
            <a:r>
              <a:rPr sz="1500">
                <a:solidFill>
                  <a:srgbClr val="E6EDF3"/>
                </a:solidFill>
                <a:latin typeface="Consolas"/>
              </a:rPr>
              <a:t> 3. replace_power_unit(RM_A5)      [5]</a:t>
            </a:r>
          </a:p>
          <a:p>
            <a:pPr>
              <a:lnSpc>
                <a:spcPct val="115000"/>
              </a:lnSpc>
            </a:pPr>
            <a:r>
              <a:rPr sz="1500">
                <a:solidFill>
                  <a:srgbClr val="E6EDF3"/>
                </a:solidFill>
                <a:latin typeface="Consolas"/>
              </a:rPr>
              <a:t> 4. verify_link(RM_A5)             [1]</a:t>
            </a:r>
          </a:p>
          <a:p>
            <a:pPr>
              <a:lnSpc>
                <a:spcPct val="115000"/>
              </a:lnSpc>
            </a:pPr>
            <a:r>
              <a:rPr sz="1500">
                <a:solidFill>
                  <a:srgbClr val="E6EDF3"/>
                </a:solidFill>
                <a:latin typeface="Consolas"/>
              </a:rPr>
              <a:t> 5. record_logbook(RM_A5)          [1]</a:t>
            </a:r>
          </a:p>
          <a:p>
            <a:pPr>
              <a:lnSpc>
                <a:spcPct val="115000"/>
              </a:lnSpc>
            </a:pPr>
            <a:r>
              <a:rPr sz="1500">
                <a:solidFill>
                  <a:srgbClr val="E6EDF3"/>
                </a:solidFill>
                <a:latin typeface="Consolas"/>
              </a:rPr>
              <a:t> 6. close_work_order(RM_A5)        [1]</a:t>
            </a:r>
          </a:p>
          <a:p>
            <a:pPr>
              <a:lnSpc>
                <a:spcPct val="115000"/>
              </a:lnSpc>
            </a:pPr>
            <a:r>
              <a:rPr sz="1500">
                <a:solidFill>
                  <a:srgbClr val="E6EDF3"/>
                </a:solidFill>
                <a:latin typeface="Consolas"/>
              </a:rPr>
              <a:t>    custo total: 13</a:t>
            </a:r>
          </a:p>
          <a:p>
            <a:pPr>
              <a:lnSpc>
                <a:spcPct val="115000"/>
              </a:lnSpc>
            </a:pPr>
            <a:r>
              <a:rPr sz="1500">
                <a:solidFill>
                  <a:srgbClr val="E6EDF3"/>
                </a:solidFill>
                <a:latin typeface="Consolas"/>
              </a:rPr>
              <a:t/>
            </a:r>
          </a:p>
          <a:p>
            <a:pPr>
              <a:lnSpc>
                <a:spcPct val="115000"/>
              </a:lnSpc>
            </a:pPr>
            <a:r>
              <a:rPr sz="1500">
                <a:solidFill>
                  <a:srgbClr val="E6EDF3"/>
                </a:solidFill>
                <a:latin typeface="Consolas"/>
              </a:rPr>
              <a:t>Validação: o plano é executável e atinge o objetivo.</a:t>
            </a:r>
          </a:p>
        </p:txBody>
      </p:sp>
    </p:spTree>
  </p:cSld>
  <p:clrMapOvr>
    <a:masterClrMapping/>
  </p:clrMapOvr>
</p:sld>
</file>

<file path=ppt/slides/slide36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061219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2286000"/>
            <a:ext cx="12191695" cy="54864"/>
          </a:xfrm>
          <a:prstGeom prst="rect">
            <a:avLst/>
          </a:prstGeom>
          <a:solidFill>
            <a:srgbClr val="009E73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1005840" y="2606040"/>
            <a:ext cx="10149840" cy="18288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lnSpc>
                <a:spcPct val="115000"/>
              </a:lnSpc>
            </a:pPr>
            <a:r>
              <a:rPr sz="3600" b="1">
                <a:solidFill>
                  <a:srgbClr val="FFFFFF"/>
                </a:solidFill>
                <a:latin typeface="Segoe UI"/>
              </a:rPr>
              <a:t>O sistema também sabe quando NÃO agir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1005840" y="4572000"/>
            <a:ext cx="10149840" cy="12801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lnSpc>
                <a:spcPct val="120000"/>
              </a:lnSpc>
            </a:pPr>
            <a:r>
              <a:rPr sz="1800" b="0">
                <a:solidFill>
                  <a:srgbClr val="9FC6D8"/>
                </a:solidFill>
                <a:latin typeface="Segoe UI"/>
              </a:rPr>
              <a:t>Para atenuação por chuva, o plano correto não toca a planta e não desloca equipe.</a:t>
            </a:r>
          </a:p>
        </p:txBody>
      </p:sp>
    </p:spTree>
  </p:cSld>
  <p:clrMapOvr>
    <a:masterClrMapping/>
  </p:clrMapOvr>
</p:sld>
</file>

<file path=ppt/slides/slide37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FBFAF7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0"/>
            <a:ext cx="12191695" cy="146304"/>
          </a:xfrm>
          <a:prstGeom prst="rect">
            <a:avLst/>
          </a:prstGeom>
          <a:solidFill>
            <a:srgbClr val="009E73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685800" y="457200"/>
            <a:ext cx="10789920" cy="8229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lnSpc>
                <a:spcPct val="100000"/>
              </a:lnSpc>
            </a:pPr>
            <a:r>
              <a:rPr sz="3200" b="1">
                <a:solidFill>
                  <a:srgbClr val="1F2933"/>
                </a:solidFill>
                <a:latin typeface="Segoe UI"/>
              </a:rPr>
              <a:t>Integração com a busca A*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685800" y="1371600"/>
            <a:ext cx="10789920" cy="493776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>
              <a:spcAft>
                <a:spcPts val="1600"/>
              </a:spcAft>
            </a:pPr>
            <a:r>
              <a:rPr sz="2300" b="1">
                <a:solidFill>
                  <a:srgbClr val="1F2933"/>
                </a:solidFill>
                <a:latin typeface="Segoe UI"/>
              </a:rPr>
              <a:t>• reroute_traffic exige o literal alternate-route(?n)</a:t>
            </a:r>
          </a:p>
          <a:p>
            <a:pPr>
              <a:spcAft>
                <a:spcPts val="1600"/>
              </a:spcAft>
            </a:pPr>
            <a:r>
              <a:rPr sz="2300" b="1">
                <a:solidFill>
                  <a:srgbClr val="1F2933"/>
                </a:solidFill>
                <a:latin typeface="Segoe UI"/>
              </a:rPr>
              <a:t>• Esse literal NÃO é inventado</a:t>
            </a:r>
          </a:p>
          <a:p>
            <a:pPr>
              <a:spcAft>
                <a:spcPts val="1600"/>
              </a:spcAft>
            </a:pPr>
            <a:r>
              <a:rPr sz="2300" b="1">
                <a:solidFill>
                  <a:srgbClr val="1F2933"/>
                </a:solidFill>
                <a:latin typeface="Segoe UI"/>
              </a:rPr>
              <a:t>• Quando o diagnóstico é congestionamento, o planejador consulta o A* sobre a topologia, evitando o nó afetado</a:t>
            </a:r>
          </a:p>
          <a:p>
            <a:pPr>
              <a:spcAft>
                <a:spcPts val="1600"/>
              </a:spcAft>
            </a:pPr>
            <a:r>
              <a:rPr sz="2300" b="1">
                <a:solidFill>
                  <a:srgbClr val="1F2933"/>
                </a:solidFill>
                <a:latin typeface="Segoe UI"/>
              </a:rPr>
              <a:t>• Se não houver rota, a ação fica inaplicável</a:t>
            </a:r>
          </a:p>
          <a:p>
            <a:pPr lvl="1">
              <a:spcAft>
                <a:spcPts val="1000"/>
              </a:spcAft>
            </a:pPr>
            <a:r>
              <a:rPr sz="1900" b="0">
                <a:solidFill>
                  <a:srgbClr val="52606D"/>
                </a:solidFill>
                <a:latin typeface="Segoe UI"/>
              </a:rPr>
              <a:t>e o planejador falha honestamente, em vez de propor um desvio impossível</a:t>
            </a:r>
          </a:p>
        </p:txBody>
      </p:sp>
    </p:spTree>
  </p:cSld>
  <p:clrMapOvr>
    <a:masterClrMapping/>
  </p:clrMapOvr>
</p:sld>
</file>

<file path=ppt/slides/slide38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061219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2788920"/>
            <a:ext cx="12191695" cy="54864"/>
          </a:xfrm>
          <a:prstGeom prst="rect">
            <a:avLst/>
          </a:prstGeom>
          <a:solidFill>
            <a:srgbClr val="E69F0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914400" y="1920240"/>
            <a:ext cx="10332720" cy="8229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lnSpc>
                <a:spcPct val="100000"/>
              </a:lnSpc>
            </a:pPr>
            <a:r>
              <a:rPr sz="2000" b="1">
                <a:solidFill>
                  <a:srgbClr val="E69F00"/>
                </a:solidFill>
                <a:latin typeface="Segoe UI"/>
              </a:rPr>
              <a:t>TEMA 3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914400" y="2971800"/>
            <a:ext cx="10332720" cy="10972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lnSpc>
                <a:spcPct val="100000"/>
              </a:lnSpc>
            </a:pPr>
            <a:r>
              <a:rPr sz="4400" b="1">
                <a:solidFill>
                  <a:srgbClr val="FFFFFF"/>
                </a:solidFill>
                <a:latin typeface="Segoe UI"/>
              </a:rPr>
              <a:t>Busca A*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914400" y="4206240"/>
            <a:ext cx="10332720" cy="7315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lnSpc>
                <a:spcPct val="100000"/>
              </a:lnSpc>
            </a:pPr>
            <a:r>
              <a:rPr sz="1900" b="0">
                <a:solidFill>
                  <a:srgbClr val="9FC6D8"/>
                </a:solidFill>
                <a:latin typeface="Segoe UI"/>
              </a:rPr>
              <a:t>f(n) = g(n) + h(n), prova de admissibilidade, e comparação entre estratégias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914400" y="5120640"/>
            <a:ext cx="10332720" cy="4572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lnSpc>
                <a:spcPct val="100000"/>
              </a:lnSpc>
            </a:pPr>
            <a:r>
              <a:rPr sz="1400" b="0">
                <a:solidFill>
                  <a:srgbClr val="8A94A0"/>
                </a:solidFill>
                <a:latin typeface="Segoe UI"/>
              </a:rPr>
              <a:t>30 minutos</a:t>
            </a:r>
          </a:p>
        </p:txBody>
      </p:sp>
    </p:spTree>
  </p:cSld>
  <p:clrMapOvr>
    <a:masterClrMapping/>
  </p:clrMapOvr>
</p:sld>
</file>

<file path=ppt/slides/slide39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FBFAF7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0"/>
            <a:ext cx="12191695" cy="146304"/>
          </a:xfrm>
          <a:prstGeom prst="rect">
            <a:avLst/>
          </a:prstGeom>
          <a:solidFill>
            <a:srgbClr val="E69F0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685800" y="457200"/>
            <a:ext cx="10789920" cy="8229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lnSpc>
                <a:spcPct val="100000"/>
              </a:lnSpc>
            </a:pPr>
            <a:r>
              <a:rPr sz="3200" b="1">
                <a:solidFill>
                  <a:srgbClr val="1F2933"/>
                </a:solidFill>
                <a:latin typeface="Segoe UI"/>
              </a:rPr>
              <a:t>O problema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685800" y="1371600"/>
            <a:ext cx="10789920" cy="493776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>
              <a:spcAft>
                <a:spcPts val="1600"/>
              </a:spcAft>
            </a:pPr>
            <a:r>
              <a:rPr sz="2300" b="1">
                <a:solidFill>
                  <a:srgbClr val="1F2933"/>
                </a:solidFill>
                <a:latin typeface="Segoe UI"/>
              </a:rPr>
              <a:t>• Qual o caminho de menor custo de transporte entre dois nós?</a:t>
            </a:r>
          </a:p>
          <a:p>
            <a:pPr>
              <a:spcAft>
                <a:spcPts val="1600"/>
              </a:spcAft>
            </a:pPr>
            <a:r>
              <a:rPr sz="2300" b="1">
                <a:solidFill>
                  <a:srgbClr val="1F2933"/>
                </a:solidFill>
                <a:latin typeface="Segoe UI"/>
              </a:rPr>
              <a:t>• O requisito da disciplina é explícito: retornar o CAMINHO EXATO entre o estado inicial e o objetivo</a:t>
            </a:r>
          </a:p>
          <a:p>
            <a:pPr>
              <a:spcAft>
                <a:spcPts val="1600"/>
              </a:spcAft>
            </a:pPr>
            <a:r>
              <a:rPr sz="2300" b="1">
                <a:solidFill>
                  <a:srgbClr val="1F2933"/>
                </a:solidFill>
                <a:latin typeface="Segoe UI"/>
              </a:rPr>
              <a:t>• custo(u,v) = sobrecarga(tipo) + distância / (velocidade(tipo) × qualidade)</a:t>
            </a:r>
          </a:p>
          <a:p>
            <a:pPr>
              <a:spcAft>
                <a:spcPts val="1600"/>
              </a:spcAft>
            </a:pPr>
            <a:r>
              <a:rPr sz="2300" b="1">
                <a:solidFill>
                  <a:srgbClr val="1F2933"/>
                </a:solidFill>
                <a:latin typeface="Segoe UI"/>
              </a:rPr>
              <a:t>• Um repetidor armazena-e-encaminha TERMINA e retransmite o quadro</a:t>
            </a:r>
          </a:p>
          <a:p>
            <a:pPr lvl="1">
              <a:spcAft>
                <a:spcPts val="1000"/>
              </a:spcAft>
            </a:pPr>
            <a:r>
              <a:rPr sz="1900" b="0">
                <a:solidFill>
                  <a:srgbClr val="52606D"/>
                </a:solidFill>
                <a:latin typeface="Segoe UI"/>
              </a:rPr>
              <a:t>por isso paga 25 ms de sobrecarga, contra 0,5 ms da fibra</a:t>
            </a:r>
          </a:p>
        </p:txBody>
      </p:sp>
    </p:spTree>
  </p:cSld>
  <p:clrMapOvr>
    <a:masterClrMapping/>
  </p:clrMapOvr>
</p:sld>
</file>

<file path=ppt/slides/slide40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FBFAF7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0"/>
            <a:ext cx="12191695" cy="146304"/>
          </a:xfrm>
          <a:prstGeom prst="rect">
            <a:avLst/>
          </a:prstGeom>
          <a:solidFill>
            <a:srgbClr val="E69F0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685800" y="384048"/>
            <a:ext cx="10789920" cy="7315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lnSpc>
                <a:spcPct val="100000"/>
              </a:lnSpc>
            </a:pPr>
            <a:r>
              <a:rPr sz="2800" b="1">
                <a:solidFill>
                  <a:srgbClr val="1F2933"/>
                </a:solidFill>
                <a:latin typeface="Segoe UI"/>
              </a:rPr>
              <a:t>f(n) = g(n) + h(n)</a:t>
            </a:r>
          </a:p>
        </p:txBody>
      </p:sp>
      <p:pic>
        <p:nvPicPr>
          <p:cNvPr id="5" name="Picture 4" descr="04-astar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2637888" y="1234440"/>
            <a:ext cx="6915919" cy="4754880"/>
          </a:xfrm>
          <a:prstGeom prst="rect">
            <a:avLst/>
          </a:prstGeom>
        </p:spPr>
      </p:pic>
      <p:sp>
        <p:nvSpPr>
          <p:cNvPr id="6" name="TextBox 5"/>
          <p:cNvSpPr txBox="1"/>
          <p:nvPr/>
        </p:nvSpPr>
        <p:spPr>
          <a:xfrm>
            <a:off x="685800" y="6172200"/>
            <a:ext cx="10789920" cy="4572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lnSpc>
                <a:spcPct val="100000"/>
              </a:lnSpc>
            </a:pPr>
            <a:r>
              <a:rPr sz="1300" b="0">
                <a:solidFill>
                  <a:srgbClr val="52606D"/>
                </a:solidFill>
                <a:latin typeface="Segoe UI"/>
              </a:rPr>
              <a:t>O caminho ótimo evita inteiramente a cadeia armazena-e-encaminha.</a:t>
            </a:r>
          </a:p>
        </p:txBody>
      </p:sp>
    </p:spTree>
  </p:cSld>
  <p:clrMapOvr>
    <a:masterClrMapping/>
  </p:clrMapOvr>
</p:sld>
</file>

<file path=ppt/slides/slide41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FBFAF7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0"/>
            <a:ext cx="12191695" cy="146304"/>
          </a:xfrm>
          <a:prstGeom prst="rect">
            <a:avLst/>
          </a:prstGeom>
          <a:solidFill>
            <a:srgbClr val="E69F0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685800" y="457200"/>
            <a:ext cx="10789920" cy="8229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lnSpc>
                <a:spcPct val="100000"/>
              </a:lnSpc>
            </a:pPr>
            <a:r>
              <a:rPr sz="3200" b="1">
                <a:solidFill>
                  <a:srgbClr val="1F2933"/>
                </a:solidFill>
                <a:latin typeface="Segoe UI"/>
              </a:rPr>
              <a:t>Três detalhes que separam um A* correto de um A* de brinquedo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685800" y="1371600"/>
            <a:ext cx="10789920" cy="493776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>
              <a:spcAft>
                <a:spcPts val="1600"/>
              </a:spcAft>
            </a:pPr>
            <a:r>
              <a:rPr sz="2300" b="1">
                <a:solidFill>
                  <a:srgbClr val="1F2933"/>
                </a:solidFill>
                <a:latin typeface="Segoe UI"/>
              </a:rPr>
              <a:t>• Desempate: empates em f resolvem-se preferindo o maior g, depois a ordem de inserção</a:t>
            </a:r>
          </a:p>
          <a:p>
            <a:pPr lvl="1">
              <a:spcAft>
                <a:spcPts val="1000"/>
              </a:spcAft>
            </a:pPr>
            <a:r>
              <a:rPr sz="1900" b="0">
                <a:solidFill>
                  <a:srgbClr val="52606D"/>
                </a:solidFill>
                <a:latin typeface="Segoe UI"/>
              </a:rPr>
              <a:t>as execuções ficam reprodutíveis — importante numa apresentação</a:t>
            </a:r>
          </a:p>
          <a:p>
            <a:pPr>
              <a:spcAft>
                <a:spcPts val="1600"/>
              </a:spcAft>
            </a:pPr>
            <a:r>
              <a:rPr sz="2300" b="1">
                <a:solidFill>
                  <a:srgbClr val="1F2933"/>
                </a:solidFill>
                <a:latin typeface="Segoe UI"/>
              </a:rPr>
              <a:t>• Reabertura: um estado fechado é reaberto se surgir caminho mais barato</a:t>
            </a:r>
          </a:p>
          <a:p>
            <a:pPr lvl="1">
              <a:spcAft>
                <a:spcPts val="1000"/>
              </a:spcAft>
            </a:pPr>
            <a:r>
              <a:rPr sz="1900" b="0">
                <a:solidFill>
                  <a:srgbClr val="52606D"/>
                </a:solidFill>
                <a:latin typeface="Segoe UI"/>
              </a:rPr>
              <a:t>com heurística consistente isso nunca ocorre, mas tratamos o caso geral</a:t>
            </a:r>
          </a:p>
          <a:p>
            <a:pPr>
              <a:spcAft>
                <a:spcPts val="1600"/>
              </a:spcAft>
            </a:pPr>
            <a:r>
              <a:rPr sz="2300" b="1">
                <a:solidFill>
                  <a:srgbClr val="1F2933"/>
                </a:solidFill>
                <a:latin typeface="Segoe UI"/>
              </a:rPr>
              <a:t>• Custos negativos são recusados com erro explícito</a:t>
            </a:r>
          </a:p>
        </p:txBody>
      </p:sp>
    </p:spTree>
  </p:cSld>
  <p:clrMapOvr>
    <a:masterClrMapping/>
  </p:clrMapOvr>
</p:sld>
</file>

<file path=ppt/slides/slide42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FBFAF7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0"/>
            <a:ext cx="12191695" cy="146304"/>
          </a:xfrm>
          <a:prstGeom prst="rect">
            <a:avLst/>
          </a:prstGeom>
          <a:solidFill>
            <a:srgbClr val="E69F0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685800" y="384048"/>
            <a:ext cx="10789920" cy="7315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lnSpc>
                <a:spcPct val="100000"/>
              </a:lnSpc>
            </a:pPr>
            <a:r>
              <a:rPr sz="3000" b="1">
                <a:solidFill>
                  <a:srgbClr val="1F2933"/>
                </a:solidFill>
                <a:latin typeface="Segoe UI"/>
              </a:rPr>
              <a:t>Prova de admissibilidade</a:t>
            </a:r>
          </a:p>
        </p:txBody>
      </p:sp>
      <p:sp>
        <p:nvSpPr>
          <p:cNvPr id="5" name="Rectangle 4"/>
          <p:cNvSpPr/>
          <p:nvPr/>
        </p:nvSpPr>
        <p:spPr>
          <a:xfrm>
            <a:off x="685800" y="1280160"/>
            <a:ext cx="10789920" cy="4297680"/>
          </a:xfrm>
          <a:prstGeom prst="rect">
            <a:avLst/>
          </a:prstGeom>
          <a:solidFill>
            <a:srgbClr val="061219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none" lIns="320040" tIns="256032"/>
          <a:lstStyle/>
          <a:p>
            <a:pPr algn="ctr">
              <a:lnSpc>
                <a:spcPct val="115000"/>
              </a:lnSpc>
            </a:pPr>
            <a:r>
              <a:rPr sz="1500">
                <a:solidFill>
                  <a:srgbClr val="E6EDF3"/>
                </a:solidFill>
                <a:latin typeface="Consolas"/>
              </a:rPr>
              <a:t>h(n) = distância_em_linha_reta(n, objetivo) / VELOCIDADE_MÁXIMA</a:t>
            </a:r>
          </a:p>
          <a:p>
            <a:pPr>
              <a:lnSpc>
                <a:spcPct val="115000"/>
              </a:lnSpc>
            </a:pPr>
            <a:r>
              <a:rPr sz="1500">
                <a:solidFill>
                  <a:srgbClr val="E6EDF3"/>
                </a:solidFill>
                <a:latin typeface="Consolas"/>
              </a:rPr>
              <a:t/>
            </a:r>
          </a:p>
          <a:p>
            <a:pPr>
              <a:lnSpc>
                <a:spcPct val="115000"/>
              </a:lnSpc>
            </a:pPr>
            <a:r>
              <a:rPr sz="1500">
                <a:solidFill>
                  <a:srgbClr val="E6EDF3"/>
                </a:solidFill>
                <a:latin typeface="Consolas"/>
              </a:rPr>
              <a:t>Como  sobrecarga &gt;= 0,  qualidade &lt;= 1,  velocidade(tipo) &lt;= MÁXIMA:</a:t>
            </a:r>
          </a:p>
          <a:p>
            <a:pPr>
              <a:lnSpc>
                <a:spcPct val="115000"/>
              </a:lnSpc>
            </a:pPr>
            <a:r>
              <a:rPr sz="1500">
                <a:solidFill>
                  <a:srgbClr val="E6EDF3"/>
                </a:solidFill>
                <a:latin typeface="Consolas"/>
              </a:rPr>
              <a:t/>
            </a:r>
          </a:p>
          <a:p>
            <a:pPr>
              <a:lnSpc>
                <a:spcPct val="115000"/>
              </a:lnSpc>
            </a:pPr>
            <a:r>
              <a:rPr sz="1500">
                <a:solidFill>
                  <a:srgbClr val="E6EDF3"/>
                </a:solidFill>
                <a:latin typeface="Consolas"/>
              </a:rPr>
              <a:t>    custo(u,v)  &gt;=  d(u,v) / VELOCIDADE_MÁXIMA</a:t>
            </a:r>
          </a:p>
          <a:p>
            <a:pPr>
              <a:lnSpc>
                <a:spcPct val="115000"/>
              </a:lnSpc>
            </a:pPr>
            <a:r>
              <a:rPr sz="1500">
                <a:solidFill>
                  <a:srgbClr val="E6EDF3"/>
                </a:solidFill>
                <a:latin typeface="Consolas"/>
              </a:rPr>
              <a:t/>
            </a:r>
          </a:p>
          <a:p>
            <a:pPr>
              <a:lnSpc>
                <a:spcPct val="115000"/>
              </a:lnSpc>
            </a:pPr>
            <a:r>
              <a:rPr sz="1500">
                <a:solidFill>
                  <a:srgbClr val="E6EDF3"/>
                </a:solidFill>
                <a:latin typeface="Consolas"/>
              </a:rPr>
              <a:t>Somando ao longo de qualquer caminho de n até o objetivo, o custo total</a:t>
            </a:r>
          </a:p>
          <a:p>
            <a:pPr>
              <a:lnSpc>
                <a:spcPct val="115000"/>
              </a:lnSpc>
            </a:pPr>
            <a:r>
              <a:rPr sz="1500">
                <a:solidFill>
                  <a:srgbClr val="E6EDF3"/>
                </a:solidFill>
                <a:latin typeface="Consolas"/>
              </a:rPr>
              <a:t>é ao menos a distância TOTAL PERCORRIDA dividida pela velocidade máxima.</a:t>
            </a:r>
          </a:p>
          <a:p>
            <a:pPr>
              <a:lnSpc>
                <a:spcPct val="115000"/>
              </a:lnSpc>
            </a:pPr>
            <a:r>
              <a:rPr sz="1500">
                <a:solidFill>
                  <a:srgbClr val="E6EDF3"/>
                </a:solidFill>
                <a:latin typeface="Consolas"/>
              </a:rPr>
              <a:t>Pela desigualdade triangular, a distância percorrida é ao menos a linha reta.</a:t>
            </a:r>
          </a:p>
          <a:p>
            <a:pPr>
              <a:lnSpc>
                <a:spcPct val="115000"/>
              </a:lnSpc>
            </a:pPr>
            <a:r>
              <a:rPr sz="1500">
                <a:solidFill>
                  <a:srgbClr val="E6EDF3"/>
                </a:solidFill>
                <a:latin typeface="Consolas"/>
              </a:rPr>
              <a:t/>
            </a:r>
          </a:p>
          <a:p>
            <a:pPr>
              <a:lnSpc>
                <a:spcPct val="115000"/>
              </a:lnSpc>
            </a:pPr>
            <a:r>
              <a:rPr sz="1500">
                <a:solidFill>
                  <a:srgbClr val="E6EDF3"/>
                </a:solidFill>
                <a:latin typeface="Consolas"/>
              </a:rPr>
              <a:t>    custo_ótimo(n)  &gt;=  h(n)          admissível   ∎</a:t>
            </a:r>
          </a:p>
        </p:txBody>
      </p:sp>
    </p:spTree>
  </p:cSld>
  <p:clrMapOvr>
    <a:masterClrMapping/>
  </p:clrMapOvr>
</p:sld>
</file>

<file path=ppt/slides/slide43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FBFAF7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0"/>
            <a:ext cx="12191695" cy="146304"/>
          </a:xfrm>
          <a:prstGeom prst="rect">
            <a:avLst/>
          </a:prstGeom>
          <a:solidFill>
            <a:srgbClr val="E69F0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685800" y="384048"/>
            <a:ext cx="10789920" cy="7315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lnSpc>
                <a:spcPct val="100000"/>
              </a:lnSpc>
            </a:pPr>
            <a:r>
              <a:rPr sz="3000" b="1">
                <a:solidFill>
                  <a:srgbClr val="1F2933"/>
                </a:solidFill>
                <a:latin typeface="Segoe UI"/>
              </a:rPr>
              <a:t>Prova de consistência, e a verificação</a:t>
            </a:r>
          </a:p>
        </p:txBody>
      </p:sp>
      <p:sp>
        <p:nvSpPr>
          <p:cNvPr id="5" name="Rectangle 4"/>
          <p:cNvSpPr/>
          <p:nvPr/>
        </p:nvSpPr>
        <p:spPr>
          <a:xfrm>
            <a:off x="685800" y="1280160"/>
            <a:ext cx="10789920" cy="4297680"/>
          </a:xfrm>
          <a:prstGeom prst="rect">
            <a:avLst/>
          </a:prstGeom>
          <a:solidFill>
            <a:srgbClr val="061219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none" lIns="320040" tIns="256032"/>
          <a:lstStyle/>
          <a:p>
            <a:pPr algn="ctr">
              <a:lnSpc>
                <a:spcPct val="115000"/>
              </a:lnSpc>
            </a:pPr>
            <a:r>
              <a:rPr sz="1500">
                <a:solidFill>
                  <a:srgbClr val="E6EDF3"/>
                </a:solidFill>
                <a:latin typeface="Consolas"/>
              </a:rPr>
              <a:t>Pela desigualdade triangular:</a:t>
            </a:r>
          </a:p>
          <a:p>
            <a:pPr>
              <a:lnSpc>
                <a:spcPct val="115000"/>
              </a:lnSpc>
            </a:pPr>
            <a:r>
              <a:rPr sz="1500">
                <a:solidFill>
                  <a:srgbClr val="E6EDF3"/>
                </a:solidFill>
                <a:latin typeface="Consolas"/>
              </a:rPr>
              <a:t>    d(u, objetivo)  &lt;=  d(u,v) + d(v, objetivo)</a:t>
            </a:r>
          </a:p>
          <a:p>
            <a:pPr>
              <a:lnSpc>
                <a:spcPct val="115000"/>
              </a:lnSpc>
            </a:pPr>
            <a:r>
              <a:rPr sz="1500">
                <a:solidFill>
                  <a:srgbClr val="E6EDF3"/>
                </a:solidFill>
                <a:latin typeface="Consolas"/>
              </a:rPr>
              <a:t/>
            </a:r>
          </a:p>
          <a:p>
            <a:pPr>
              <a:lnSpc>
                <a:spcPct val="115000"/>
              </a:lnSpc>
            </a:pPr>
            <a:r>
              <a:rPr sz="1500">
                <a:solidFill>
                  <a:srgbClr val="E6EDF3"/>
                </a:solidFill>
                <a:latin typeface="Consolas"/>
              </a:rPr>
              <a:t>Dividindo pela velocidade máxima:</a:t>
            </a:r>
          </a:p>
          <a:p>
            <a:pPr>
              <a:lnSpc>
                <a:spcPct val="115000"/>
              </a:lnSpc>
            </a:pPr>
            <a:r>
              <a:rPr sz="1500">
                <a:solidFill>
                  <a:srgbClr val="E6EDF3"/>
                </a:solidFill>
                <a:latin typeface="Consolas"/>
              </a:rPr>
              <a:t>    h(u)  &lt;=  custo(u,v) + h(v)       consistente   ∎</a:t>
            </a:r>
          </a:p>
          <a:p>
            <a:pPr>
              <a:lnSpc>
                <a:spcPct val="115000"/>
              </a:lnSpc>
            </a:pPr>
            <a:r>
              <a:rPr sz="1500">
                <a:solidFill>
                  <a:srgbClr val="E6EDF3"/>
                </a:solidFill>
                <a:latin typeface="Consolas"/>
              </a:rPr>
              <a:t/>
            </a:r>
          </a:p>
          <a:p>
            <a:pPr>
              <a:lnSpc>
                <a:spcPct val="115000"/>
              </a:lnSpc>
            </a:pPr>
            <a:r>
              <a:rPr sz="1500">
                <a:solidFill>
                  <a:srgbClr val="E6EDF3"/>
                </a:solidFill>
                <a:latin typeface="Consolas"/>
              </a:rPr>
              <a:t>A consistência implica a admissibilidade,</a:t>
            </a:r>
          </a:p>
          <a:p>
            <a:pPr>
              <a:lnSpc>
                <a:spcPct val="115000"/>
              </a:lnSpc>
            </a:pPr>
            <a:r>
              <a:rPr sz="1500">
                <a:solidFill>
                  <a:srgbClr val="E6EDF3"/>
                </a:solidFill>
                <a:latin typeface="Consolas"/>
              </a:rPr>
              <a:t>e garante que nenhum nó precise ser reaberto.</a:t>
            </a:r>
          </a:p>
          <a:p>
            <a:pPr>
              <a:lnSpc>
                <a:spcPct val="115000"/>
              </a:lnSpc>
            </a:pPr>
            <a:r>
              <a:rPr sz="1500">
                <a:solidFill>
                  <a:srgbClr val="E6EDF3"/>
                </a:solidFill>
                <a:latin typeface="Consolas"/>
              </a:rPr>
              <a:t/>
            </a:r>
          </a:p>
          <a:p>
            <a:pPr>
              <a:lnSpc>
                <a:spcPct val="115000"/>
              </a:lnSpc>
            </a:pPr>
            <a:r>
              <a:rPr sz="1500">
                <a:solidFill>
                  <a:srgbClr val="E6EDF3"/>
                </a:solidFill>
                <a:latin typeface="Consolas"/>
              </a:rPr>
              <a:t>VERIFICADO, não apenas argumentado:</a:t>
            </a:r>
          </a:p>
          <a:p>
            <a:pPr>
              <a:lnSpc>
                <a:spcPct val="115000"/>
              </a:lnSpc>
            </a:pPr>
            <a:r>
              <a:rPr sz="1500">
                <a:solidFill>
                  <a:srgbClr val="E6EDF3"/>
                </a:solidFill>
                <a:latin typeface="Consolas"/>
              </a:rPr>
              <a:t>  272 pares no cenário base + 870 no de escala</a:t>
            </a:r>
          </a:p>
          <a:p>
            <a:pPr>
              <a:lnSpc>
                <a:spcPct val="115000"/>
              </a:lnSpc>
            </a:pPr>
            <a:r>
              <a:rPr sz="1500">
                <a:solidFill>
                  <a:srgbClr val="E6EDF3"/>
                </a:solidFill>
                <a:latin typeface="Consolas"/>
              </a:rPr>
              <a:t>  todas as arestas, todos os objetivos — zero violações</a:t>
            </a:r>
          </a:p>
        </p:txBody>
      </p:sp>
    </p:spTree>
  </p:cSld>
  <p:clrMapOvr>
    <a:masterClrMapping/>
  </p:clrMapOvr>
</p:sld>
</file>

<file path=ppt/slides/slide44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FBFAF7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0"/>
            <a:ext cx="12191695" cy="146304"/>
          </a:xfrm>
          <a:prstGeom prst="rect">
            <a:avLst/>
          </a:prstGeom>
          <a:solidFill>
            <a:srgbClr val="E69F0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685800" y="384048"/>
            <a:ext cx="10789920" cy="7315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lnSpc>
                <a:spcPct val="100000"/>
              </a:lnSpc>
            </a:pPr>
            <a:r>
              <a:rPr sz="3000" b="1">
                <a:solidFill>
                  <a:srgbClr val="1F2933"/>
                </a:solidFill>
                <a:latin typeface="Segoe UI"/>
              </a:rPr>
              <a:t>Cinco estratégias, o mesmo problema: NOC → RECLOSER_7</a:t>
            </a:r>
          </a:p>
        </p:txBody>
      </p:sp>
      <p:graphicFrame>
        <p:nvGraphicFramePr>
          <p:cNvPr id="5" name="Table 4"/>
          <p:cNvGraphicFramePr>
            <a:graphicFrameLocks noGrp="1"/>
          </p:cNvGraphicFramePr>
          <p:nvPr/>
        </p:nvGraphicFramePr>
        <p:xfrm>
          <a:off x="685800" y="1325880"/>
          <a:ext cx="10789918" cy="2523744"/>
        </p:xfrm>
        <a:graphic>
          <a:graphicData uri="http://schemas.openxmlformats.org/drawingml/2006/table">
            <a:tbl>
              <a:tblPr firstRow="1" bandRow="1">
                <a:tableStyleId>{5C22544A-7EE6-4342-B048-85BDC9FD1C3A}</a:tableStyleId>
              </a:tblPr>
              <a:tblGrid>
                <a:gridCol w="3197013"/>
                <a:gridCol w="1398693"/>
                <a:gridCol w="1998133"/>
                <a:gridCol w="1998133"/>
                <a:gridCol w="2197946"/>
              </a:tblGrid>
              <a:tr h="420624">
                <a:tc>
                  <a:txBody>
                    <a:bodyPr/>
                    <a:lstStyle/>
                    <a:p>
                      <a:r>
                        <a:rPr sz="1500" b="1">
                          <a:solidFill>
                            <a:srgbClr val="FFFFFF"/>
                          </a:solidFill>
                          <a:latin typeface="Segoe UI"/>
                        </a:rPr>
                        <a:t>Estratégia</a:t>
                      </a:r>
                    </a:p>
                  </a:txBody>
                  <a:tcPr anchor="ctr">
                    <a:solidFill>
                      <a:srgbClr val="E69F00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500" b="1">
                          <a:solidFill>
                            <a:srgbClr val="FFFFFF"/>
                          </a:solidFill>
                          <a:latin typeface="Segoe UI"/>
                        </a:rPr>
                        <a:t>Passos</a:t>
                      </a:r>
                    </a:p>
                  </a:txBody>
                  <a:tcPr anchor="ctr">
                    <a:solidFill>
                      <a:srgbClr val="E69F00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500" b="1">
                          <a:solidFill>
                            <a:srgbClr val="FFFFFF"/>
                          </a:solidFill>
                          <a:latin typeface="Segoe UI"/>
                        </a:rPr>
                        <a:t>Custo (ms)</a:t>
                      </a:r>
                    </a:p>
                  </a:txBody>
                  <a:tcPr anchor="ctr">
                    <a:solidFill>
                      <a:srgbClr val="E69F00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500" b="1">
                          <a:solidFill>
                            <a:srgbClr val="FFFFFF"/>
                          </a:solidFill>
                          <a:latin typeface="Segoe UI"/>
                        </a:rPr>
                        <a:t>Expandidos</a:t>
                      </a:r>
                    </a:p>
                  </a:txBody>
                  <a:tcPr anchor="ctr">
                    <a:solidFill>
                      <a:srgbClr val="E69F00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500" b="1">
                          <a:solidFill>
                            <a:srgbClr val="FFFFFF"/>
                          </a:solidFill>
                          <a:latin typeface="Segoe UI"/>
                        </a:rPr>
                        <a:t>Ótimo?</a:t>
                      </a:r>
                    </a:p>
                  </a:txBody>
                  <a:tcPr anchor="ctr">
                    <a:solidFill>
                      <a:srgbClr val="E69F00"/>
                    </a:solidFill>
                  </a:tcPr>
                </a:tc>
              </a:tr>
              <a:tr h="420624">
                <a:tc>
                  <a:txBody>
                    <a:bodyPr/>
                    <a:lstStyle/>
                    <a:p>
                      <a:r>
                        <a:rPr sz="1400" b="0">
                          <a:solidFill>
                            <a:srgbClr val="52606D"/>
                          </a:solidFill>
                          <a:latin typeface="Segoe UI"/>
                        </a:rPr>
                        <a:t>Largura (BFS)</a:t>
                      </a:r>
                    </a:p>
                  </a:txBody>
                  <a:tcPr anchor="ctr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400" b="0">
                          <a:solidFill>
                            <a:srgbClr val="52606D"/>
                          </a:solidFill>
                          <a:latin typeface="Segoe UI"/>
                        </a:rPr>
                        <a:t>4</a:t>
                      </a:r>
                    </a:p>
                  </a:txBody>
                  <a:tcPr anchor="ctr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400" b="0">
                          <a:solidFill>
                            <a:srgbClr val="52606D"/>
                          </a:solidFill>
                          <a:latin typeface="Segoe UI"/>
                        </a:rPr>
                        <a:t>357,35</a:t>
                      </a:r>
                    </a:p>
                  </a:txBody>
                  <a:tcPr anchor="ctr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400" b="0">
                          <a:solidFill>
                            <a:srgbClr val="52606D"/>
                          </a:solidFill>
                          <a:latin typeface="Segoe UI"/>
                        </a:rPr>
                        <a:t>15</a:t>
                      </a:r>
                    </a:p>
                  </a:txBody>
                  <a:tcPr anchor="ctr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400" b="0">
                          <a:solidFill>
                            <a:srgbClr val="52606D"/>
                          </a:solidFill>
                          <a:latin typeface="Segoe UI"/>
                        </a:rPr>
                        <a:t>só em passos</a:t>
                      </a:r>
                    </a:p>
                  </a:txBody>
                  <a:tcPr anchor="ctr">
                    <a:solidFill>
                      <a:srgbClr val="FFFFFF"/>
                    </a:solidFill>
                  </a:tcPr>
                </a:tc>
              </a:tr>
              <a:tr h="420624">
                <a:tc>
                  <a:txBody>
                    <a:bodyPr/>
                    <a:lstStyle/>
                    <a:p>
                      <a:r>
                        <a:rPr sz="1400" b="0">
                          <a:solidFill>
                            <a:srgbClr val="52606D"/>
                          </a:solidFill>
                          <a:latin typeface="Segoe UI"/>
                        </a:rPr>
                        <a:t>Profundidade (DFS)</a:t>
                      </a:r>
                    </a:p>
                  </a:txBody>
                  <a:tcPr anchor="ctr">
                    <a:solidFill>
                      <a:srgbClr val="F4F2EE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400" b="0">
                          <a:solidFill>
                            <a:srgbClr val="52606D"/>
                          </a:solidFill>
                          <a:latin typeface="Segoe UI"/>
                        </a:rPr>
                        <a:t>5</a:t>
                      </a:r>
                    </a:p>
                  </a:txBody>
                  <a:tcPr anchor="ctr">
                    <a:solidFill>
                      <a:srgbClr val="F4F2EE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400" b="0">
                          <a:solidFill>
                            <a:srgbClr val="52606D"/>
                          </a:solidFill>
                          <a:latin typeface="Segoe UI"/>
                        </a:rPr>
                        <a:t>343,06</a:t>
                      </a:r>
                    </a:p>
                  </a:txBody>
                  <a:tcPr anchor="ctr">
                    <a:solidFill>
                      <a:srgbClr val="F4F2EE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400" b="0">
                          <a:solidFill>
                            <a:srgbClr val="52606D"/>
                          </a:solidFill>
                          <a:latin typeface="Segoe UI"/>
                        </a:rPr>
                        <a:t>19</a:t>
                      </a:r>
                    </a:p>
                  </a:txBody>
                  <a:tcPr anchor="ctr">
                    <a:solidFill>
                      <a:srgbClr val="F4F2EE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400" b="0">
                          <a:solidFill>
                            <a:srgbClr val="52606D"/>
                          </a:solidFill>
                          <a:latin typeface="Segoe UI"/>
                        </a:rPr>
                        <a:t>não</a:t>
                      </a:r>
                    </a:p>
                  </a:txBody>
                  <a:tcPr anchor="ctr">
                    <a:solidFill>
                      <a:srgbClr val="F4F2EE"/>
                    </a:solidFill>
                  </a:tcPr>
                </a:tc>
              </a:tr>
              <a:tr h="420624">
                <a:tc>
                  <a:txBody>
                    <a:bodyPr/>
                    <a:lstStyle/>
                    <a:p>
                      <a:r>
                        <a:rPr sz="1400" b="0">
                          <a:solidFill>
                            <a:srgbClr val="52606D"/>
                          </a:solidFill>
                          <a:latin typeface="Segoe UI"/>
                        </a:rPr>
                        <a:t>Custo uniforme</a:t>
                      </a:r>
                    </a:p>
                  </a:txBody>
                  <a:tcPr anchor="ctr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400" b="0">
                          <a:solidFill>
                            <a:srgbClr val="52606D"/>
                          </a:solidFill>
                          <a:latin typeface="Segoe UI"/>
                        </a:rPr>
                        <a:t>4</a:t>
                      </a:r>
                    </a:p>
                  </a:txBody>
                  <a:tcPr anchor="ctr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400" b="0">
                          <a:solidFill>
                            <a:srgbClr val="52606D"/>
                          </a:solidFill>
                          <a:latin typeface="Segoe UI"/>
                        </a:rPr>
                        <a:t>92,22</a:t>
                      </a:r>
                    </a:p>
                  </a:txBody>
                  <a:tcPr anchor="ctr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400" b="0">
                          <a:solidFill>
                            <a:srgbClr val="52606D"/>
                          </a:solidFill>
                          <a:latin typeface="Segoe UI"/>
                        </a:rPr>
                        <a:t>13</a:t>
                      </a:r>
                    </a:p>
                  </a:txBody>
                  <a:tcPr anchor="ctr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400" b="0">
                          <a:solidFill>
                            <a:srgbClr val="52606D"/>
                          </a:solidFill>
                          <a:latin typeface="Segoe UI"/>
                        </a:rPr>
                        <a:t>sim</a:t>
                      </a:r>
                    </a:p>
                  </a:txBody>
                  <a:tcPr anchor="ctr">
                    <a:solidFill>
                      <a:srgbClr val="FFFFFF"/>
                    </a:solidFill>
                  </a:tcPr>
                </a:tc>
              </a:tr>
              <a:tr h="420624">
                <a:tc>
                  <a:txBody>
                    <a:bodyPr/>
                    <a:lstStyle/>
                    <a:p>
                      <a:r>
                        <a:rPr sz="1400" b="0">
                          <a:solidFill>
                            <a:srgbClr val="52606D"/>
                          </a:solidFill>
                          <a:latin typeface="Segoe UI"/>
                        </a:rPr>
                        <a:t>Gulosa</a:t>
                      </a:r>
                    </a:p>
                  </a:txBody>
                  <a:tcPr anchor="ctr">
                    <a:solidFill>
                      <a:srgbClr val="F4F2EE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400" b="0">
                          <a:solidFill>
                            <a:srgbClr val="52606D"/>
                          </a:solidFill>
                          <a:latin typeface="Segoe UI"/>
                        </a:rPr>
                        <a:t>4</a:t>
                      </a:r>
                    </a:p>
                  </a:txBody>
                  <a:tcPr anchor="ctr">
                    <a:solidFill>
                      <a:srgbClr val="F4F2EE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400" b="0">
                          <a:solidFill>
                            <a:srgbClr val="52606D"/>
                          </a:solidFill>
                          <a:latin typeface="Segoe UI"/>
                        </a:rPr>
                        <a:t>357,35</a:t>
                      </a:r>
                    </a:p>
                  </a:txBody>
                  <a:tcPr anchor="ctr">
                    <a:solidFill>
                      <a:srgbClr val="F4F2EE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400" b="0">
                          <a:solidFill>
                            <a:srgbClr val="52606D"/>
                          </a:solidFill>
                          <a:latin typeface="Segoe UI"/>
                        </a:rPr>
                        <a:t>5</a:t>
                      </a:r>
                    </a:p>
                  </a:txBody>
                  <a:tcPr anchor="ctr">
                    <a:solidFill>
                      <a:srgbClr val="F4F2EE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400" b="0">
                          <a:solidFill>
                            <a:srgbClr val="52606D"/>
                          </a:solidFill>
                          <a:latin typeface="Segoe UI"/>
                        </a:rPr>
                        <a:t>não</a:t>
                      </a:r>
                    </a:p>
                  </a:txBody>
                  <a:tcPr anchor="ctr">
                    <a:solidFill>
                      <a:srgbClr val="F4F2EE"/>
                    </a:solidFill>
                  </a:tcPr>
                </a:tc>
              </a:tr>
              <a:tr h="420624">
                <a:tc>
                  <a:txBody>
                    <a:bodyPr/>
                    <a:lstStyle/>
                    <a:p>
                      <a:r>
                        <a:rPr sz="1400" b="1">
                          <a:solidFill>
                            <a:srgbClr val="1F2933"/>
                          </a:solidFill>
                          <a:latin typeface="Segoe UI"/>
                        </a:rPr>
                        <a:t>A*</a:t>
                      </a:r>
                    </a:p>
                  </a:txBody>
                  <a:tcPr anchor="ctr">
                    <a:solidFill>
                      <a:srgbClr val="FDF1DC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400" b="1">
                          <a:solidFill>
                            <a:srgbClr val="1F2933"/>
                          </a:solidFill>
                          <a:latin typeface="Segoe UI"/>
                        </a:rPr>
                        <a:t>4</a:t>
                      </a:r>
                    </a:p>
                  </a:txBody>
                  <a:tcPr anchor="ctr">
                    <a:solidFill>
                      <a:srgbClr val="FDF1DC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400" b="1">
                          <a:solidFill>
                            <a:srgbClr val="1F2933"/>
                          </a:solidFill>
                          <a:latin typeface="Segoe UI"/>
                        </a:rPr>
                        <a:t>92,22</a:t>
                      </a:r>
                    </a:p>
                  </a:txBody>
                  <a:tcPr anchor="ctr">
                    <a:solidFill>
                      <a:srgbClr val="FDF1DC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400" b="1">
                          <a:solidFill>
                            <a:srgbClr val="1F2933"/>
                          </a:solidFill>
                          <a:latin typeface="Segoe UI"/>
                        </a:rPr>
                        <a:t>11</a:t>
                      </a:r>
                    </a:p>
                  </a:txBody>
                  <a:tcPr anchor="ctr">
                    <a:solidFill>
                      <a:srgbClr val="FDF1DC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400" b="1">
                          <a:solidFill>
                            <a:srgbClr val="1F2933"/>
                          </a:solidFill>
                          <a:latin typeface="Segoe UI"/>
                        </a:rPr>
                        <a:t>sim</a:t>
                      </a:r>
                    </a:p>
                  </a:txBody>
                  <a:tcPr anchor="ctr">
                    <a:solidFill>
                      <a:srgbClr val="FDF1DC"/>
                    </a:solidFill>
                  </a:tcPr>
                </a:tc>
              </a:tr>
            </a:tbl>
          </a:graphicData>
        </a:graphic>
      </p:graphicFrame>
    </p:spTree>
  </p:cSld>
  <p:clrMapOvr>
    <a:masterClrMapping/>
  </p:clrMapOvr>
</p:sld>
</file>

<file path=ppt/slides/slide45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FBFAF7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0"/>
            <a:ext cx="12191695" cy="146304"/>
          </a:xfrm>
          <a:prstGeom prst="rect">
            <a:avLst/>
          </a:prstGeom>
          <a:solidFill>
            <a:srgbClr val="E69F0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685800" y="384048"/>
            <a:ext cx="10789920" cy="7315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lnSpc>
                <a:spcPct val="100000"/>
              </a:lnSpc>
            </a:pPr>
            <a:r>
              <a:rPr sz="3000" b="1">
                <a:solidFill>
                  <a:srgbClr val="1F2933"/>
                </a:solidFill>
                <a:latin typeface="Segoe UI"/>
              </a:rPr>
              <a:t>O caminho ótimo, salto a salto</a:t>
            </a:r>
          </a:p>
        </p:txBody>
      </p:sp>
      <p:sp>
        <p:nvSpPr>
          <p:cNvPr id="5" name="Rectangle 4"/>
          <p:cNvSpPr/>
          <p:nvPr/>
        </p:nvSpPr>
        <p:spPr>
          <a:xfrm>
            <a:off x="685800" y="1280160"/>
            <a:ext cx="10789920" cy="4297680"/>
          </a:xfrm>
          <a:prstGeom prst="rect">
            <a:avLst/>
          </a:prstGeom>
          <a:solidFill>
            <a:srgbClr val="061219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none" lIns="320040" tIns="256032"/>
          <a:lstStyle/>
          <a:p>
            <a:pPr algn="ctr">
              <a:lnSpc>
                <a:spcPct val="115000"/>
              </a:lnSpc>
            </a:pPr>
            <a:r>
              <a:rPr sz="1500">
                <a:solidFill>
                  <a:srgbClr val="E6EDF3"/>
                </a:solidFill>
                <a:latin typeface="Consolas"/>
              </a:rPr>
              <a:t>NOC -&gt; LTE_CORE -&gt; LTE_ENB -&gt; RM_A5 -&gt; RECLOSER_7        92,22 ms</a:t>
            </a:r>
          </a:p>
          <a:p>
            <a:pPr>
              <a:lnSpc>
                <a:spcPct val="115000"/>
              </a:lnSpc>
            </a:pPr>
            <a:r>
              <a:rPr sz="1500">
                <a:solidFill>
                  <a:srgbClr val="E6EDF3"/>
                </a:solidFill>
                <a:latin typeface="Consolas"/>
              </a:rPr>
              <a:t/>
            </a:r>
          </a:p>
          <a:p>
            <a:pPr>
              <a:lnSpc>
                <a:spcPct val="115000"/>
              </a:lnSpc>
            </a:pPr>
            <a:r>
              <a:rPr sz="1500">
                <a:solidFill>
                  <a:srgbClr val="E6EDF3"/>
                </a:solidFill>
                <a:latin typeface="Consolas"/>
              </a:rPr>
              <a:t>salto                  meio                 qual.   custo    acum.</a:t>
            </a:r>
          </a:p>
          <a:p>
            <a:pPr>
              <a:lnSpc>
                <a:spcPct val="115000"/>
              </a:lnSpc>
            </a:pPr>
            <a:r>
              <a:rPr sz="1500">
                <a:solidFill>
                  <a:srgbClr val="E6EDF3"/>
                </a:solidFill>
                <a:latin typeface="Consolas"/>
              </a:rPr>
              <a:t>NOC -&gt; LTE_CORE        ethernet local        1,00     5,99     5,99</a:t>
            </a:r>
          </a:p>
          <a:p>
            <a:pPr>
              <a:lnSpc>
                <a:spcPct val="115000"/>
              </a:lnSpc>
            </a:pPr>
            <a:r>
              <a:rPr sz="1500">
                <a:solidFill>
                  <a:srgbClr val="E6EDF3"/>
                </a:solidFill>
                <a:latin typeface="Consolas"/>
              </a:rPr>
              <a:t>LTE_CORE -&gt; LTE_ENB    fibra óptica          0,95    10,55    16,54</a:t>
            </a:r>
          </a:p>
          <a:p>
            <a:pPr>
              <a:lnSpc>
                <a:spcPct val="115000"/>
              </a:lnSpc>
            </a:pPr>
            <a:r>
              <a:rPr sz="1500">
                <a:solidFill>
                  <a:srgbClr val="E6EDF3"/>
                </a:solidFill>
                <a:latin typeface="Consolas"/>
              </a:rPr>
              <a:t>LTE_ENB -&gt; RM_A5       LTE privativo         0,80    69,94    86,48</a:t>
            </a:r>
          </a:p>
          <a:p>
            <a:pPr>
              <a:lnSpc>
                <a:spcPct val="115000"/>
              </a:lnSpc>
            </a:pPr>
            <a:r>
              <a:rPr sz="1500">
                <a:solidFill>
                  <a:srgbClr val="E6EDF3"/>
                </a:solidFill>
                <a:latin typeface="Consolas"/>
              </a:rPr>
              <a:t>RM_A5 -&gt; RECLOSER_7    ethernet local        1,00     5,74    92,22</a:t>
            </a:r>
          </a:p>
        </p:txBody>
      </p:sp>
    </p:spTree>
  </p:cSld>
  <p:clrMapOvr>
    <a:masterClrMapping/>
  </p:clrMapOvr>
</p:sld>
</file>

<file path=ppt/slides/slide46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FBFAF7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0"/>
            <a:ext cx="12191695" cy="146304"/>
          </a:xfrm>
          <a:prstGeom prst="rect">
            <a:avLst/>
          </a:prstGeom>
          <a:solidFill>
            <a:srgbClr val="E69F0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685800" y="384048"/>
            <a:ext cx="10789920" cy="7315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lnSpc>
                <a:spcPct val="100000"/>
              </a:lnSpc>
            </a:pPr>
            <a:r>
              <a:rPr sz="3000" b="1">
                <a:solidFill>
                  <a:srgbClr val="1F2933"/>
                </a:solidFill>
                <a:latin typeface="Segoe UI"/>
              </a:rPr>
              <a:t>A vantagem da heurística cresce com o grafo</a:t>
            </a:r>
          </a:p>
        </p:txBody>
      </p:sp>
      <p:graphicFrame>
        <p:nvGraphicFramePr>
          <p:cNvPr id="5" name="Table 4"/>
          <p:cNvGraphicFramePr>
            <a:graphicFrameLocks noGrp="1"/>
          </p:cNvGraphicFramePr>
          <p:nvPr/>
        </p:nvGraphicFramePr>
        <p:xfrm>
          <a:off x="685800" y="1325880"/>
          <a:ext cx="10789917" cy="1261872"/>
        </p:xfrm>
        <a:graphic>
          <a:graphicData uri="http://schemas.openxmlformats.org/drawingml/2006/table">
            <a:tbl>
              <a:tblPr firstRow="1" bandRow="1">
                <a:tableStyleId>{5C22544A-7EE6-4342-B048-85BDC9FD1C3A}</a:tableStyleId>
              </a:tblPr>
              <a:tblGrid>
                <a:gridCol w="2271562"/>
                <a:gridCol w="1325077"/>
                <a:gridCol w="2650155"/>
                <a:gridCol w="2650155"/>
                <a:gridCol w="1892968"/>
              </a:tblGrid>
              <a:tr h="420624">
                <a:tc>
                  <a:txBody>
                    <a:bodyPr/>
                    <a:lstStyle/>
                    <a:p>
                      <a:r>
                        <a:rPr sz="1500" b="1">
                          <a:solidFill>
                            <a:srgbClr val="FFFFFF"/>
                          </a:solidFill>
                          <a:latin typeface="Segoe UI"/>
                        </a:rPr>
                        <a:t>Cenário</a:t>
                      </a:r>
                    </a:p>
                  </a:txBody>
                  <a:tcPr anchor="ctr">
                    <a:solidFill>
                      <a:srgbClr val="E69F00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500" b="1">
                          <a:solidFill>
                            <a:srgbClr val="FFFFFF"/>
                          </a:solidFill>
                          <a:latin typeface="Segoe UI"/>
                        </a:rPr>
                        <a:t>Nós</a:t>
                      </a:r>
                    </a:p>
                  </a:txBody>
                  <a:tcPr anchor="ctr">
                    <a:solidFill>
                      <a:srgbClr val="E69F00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500" b="1">
                          <a:solidFill>
                            <a:srgbClr val="FFFFFF"/>
                          </a:solidFill>
                          <a:latin typeface="Segoe UI"/>
                        </a:rPr>
                        <a:t>A* expandidos</a:t>
                      </a:r>
                    </a:p>
                  </a:txBody>
                  <a:tcPr anchor="ctr">
                    <a:solidFill>
                      <a:srgbClr val="E69F00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500" b="1">
                          <a:solidFill>
                            <a:srgbClr val="FFFFFF"/>
                          </a:solidFill>
                          <a:latin typeface="Segoe UI"/>
                        </a:rPr>
                        <a:t>Custo uniforme</a:t>
                      </a:r>
                    </a:p>
                  </a:txBody>
                  <a:tcPr anchor="ctr">
                    <a:solidFill>
                      <a:srgbClr val="E69F00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500" b="1">
                          <a:solidFill>
                            <a:srgbClr val="FFFFFF"/>
                          </a:solidFill>
                          <a:latin typeface="Segoe UI"/>
                        </a:rPr>
                        <a:t>Economia</a:t>
                      </a:r>
                    </a:p>
                  </a:txBody>
                  <a:tcPr anchor="ctr">
                    <a:solidFill>
                      <a:srgbClr val="E69F00"/>
                    </a:solidFill>
                  </a:tcPr>
                </a:tc>
              </a:tr>
              <a:tr h="420624">
                <a:tc>
                  <a:txBody>
                    <a:bodyPr/>
                    <a:lstStyle/>
                    <a:p>
                      <a:r>
                        <a:rPr sz="1400" b="0">
                          <a:solidFill>
                            <a:srgbClr val="52606D"/>
                          </a:solidFill>
                          <a:latin typeface="Segoe UI"/>
                        </a:rPr>
                        <a:t>base</a:t>
                      </a:r>
                    </a:p>
                  </a:txBody>
                  <a:tcPr anchor="ctr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400" b="0">
                          <a:solidFill>
                            <a:srgbClr val="52606D"/>
                          </a:solidFill>
                          <a:latin typeface="Segoe UI"/>
                        </a:rPr>
                        <a:t>17</a:t>
                      </a:r>
                    </a:p>
                  </a:txBody>
                  <a:tcPr anchor="ctr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400" b="0">
                          <a:solidFill>
                            <a:srgbClr val="52606D"/>
                          </a:solidFill>
                          <a:latin typeface="Segoe UI"/>
                        </a:rPr>
                        <a:t>1 382</a:t>
                      </a:r>
                    </a:p>
                  </a:txBody>
                  <a:tcPr anchor="ctr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400" b="0">
                          <a:solidFill>
                            <a:srgbClr val="52606D"/>
                          </a:solidFill>
                          <a:latin typeface="Segoe UI"/>
                        </a:rPr>
                        <a:t>1 519</a:t>
                      </a:r>
                    </a:p>
                  </a:txBody>
                  <a:tcPr anchor="ctr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400" b="0">
                          <a:solidFill>
                            <a:srgbClr val="52606D"/>
                          </a:solidFill>
                          <a:latin typeface="Segoe UI"/>
                        </a:rPr>
                        <a:t>9,0 %</a:t>
                      </a:r>
                    </a:p>
                  </a:txBody>
                  <a:tcPr anchor="ctr">
                    <a:solidFill>
                      <a:srgbClr val="FFFFFF"/>
                    </a:solidFill>
                  </a:tcPr>
                </a:tc>
              </a:tr>
              <a:tr h="420624">
                <a:tc>
                  <a:txBody>
                    <a:bodyPr/>
                    <a:lstStyle/>
                    <a:p>
                      <a:r>
                        <a:rPr sz="1400" b="1">
                          <a:solidFill>
                            <a:srgbClr val="1F2933"/>
                          </a:solidFill>
                          <a:latin typeface="Segoe UI"/>
                        </a:rPr>
                        <a:t>escala</a:t>
                      </a:r>
                    </a:p>
                  </a:txBody>
                  <a:tcPr anchor="ctr">
                    <a:solidFill>
                      <a:srgbClr val="FDF1DC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400" b="1">
                          <a:solidFill>
                            <a:srgbClr val="1F2933"/>
                          </a:solidFill>
                          <a:latin typeface="Segoe UI"/>
                        </a:rPr>
                        <a:t>30</a:t>
                      </a:r>
                    </a:p>
                  </a:txBody>
                  <a:tcPr anchor="ctr">
                    <a:solidFill>
                      <a:srgbClr val="FDF1DC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400" b="1">
                          <a:solidFill>
                            <a:srgbClr val="1F2933"/>
                          </a:solidFill>
                          <a:latin typeface="Segoe UI"/>
                        </a:rPr>
                        <a:t>5 571</a:t>
                      </a:r>
                    </a:p>
                  </a:txBody>
                  <a:tcPr anchor="ctr">
                    <a:solidFill>
                      <a:srgbClr val="FDF1DC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400" b="1">
                          <a:solidFill>
                            <a:srgbClr val="1F2933"/>
                          </a:solidFill>
                          <a:latin typeface="Segoe UI"/>
                        </a:rPr>
                        <a:t>7 657</a:t>
                      </a:r>
                    </a:p>
                  </a:txBody>
                  <a:tcPr anchor="ctr">
                    <a:solidFill>
                      <a:srgbClr val="FDF1DC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400" b="1">
                          <a:solidFill>
                            <a:srgbClr val="1F2933"/>
                          </a:solidFill>
                          <a:latin typeface="Segoe UI"/>
                        </a:rPr>
                        <a:t>27,2 %</a:t>
                      </a:r>
                    </a:p>
                  </a:txBody>
                  <a:tcPr anchor="ctr">
                    <a:solidFill>
                      <a:srgbClr val="FDF1DC"/>
                    </a:solidFill>
                  </a:tcPr>
                </a:tc>
              </a:tr>
            </a:tbl>
          </a:graphicData>
        </a:graphic>
      </p:graphicFrame>
    </p:spTree>
  </p:cSld>
  <p:clrMapOvr>
    <a:masterClrMapping/>
  </p:clrMapOvr>
</p:sld>
</file>

<file path=ppt/slides/slide47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FBFAF7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0"/>
            <a:ext cx="12191695" cy="146304"/>
          </a:xfrm>
          <a:prstGeom prst="rect">
            <a:avLst/>
          </a:prstGeom>
          <a:solidFill>
            <a:srgbClr val="E69F0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685800" y="384048"/>
            <a:ext cx="10789920" cy="7315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lnSpc>
                <a:spcPct val="100000"/>
              </a:lnSpc>
            </a:pPr>
            <a:r>
              <a:rPr sz="3000" b="1">
                <a:solidFill>
                  <a:srgbClr val="1F2933"/>
                </a:solidFill>
                <a:latin typeface="Segoe UI"/>
              </a:rPr>
              <a:t>Falha e recálculo de rota</a:t>
            </a:r>
          </a:p>
        </p:txBody>
      </p:sp>
      <p:sp>
        <p:nvSpPr>
          <p:cNvPr id="5" name="Rectangle 4"/>
          <p:cNvSpPr/>
          <p:nvPr/>
        </p:nvSpPr>
        <p:spPr>
          <a:xfrm>
            <a:off x="685800" y="1280160"/>
            <a:ext cx="10789920" cy="4297680"/>
          </a:xfrm>
          <a:prstGeom prst="rect">
            <a:avLst/>
          </a:prstGeom>
          <a:solidFill>
            <a:srgbClr val="061219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none" lIns="320040" tIns="256032"/>
          <a:lstStyle/>
          <a:p>
            <a:pPr algn="ctr">
              <a:lnSpc>
                <a:spcPct val="115000"/>
              </a:lnSpc>
            </a:pPr>
            <a:r>
              <a:rPr sz="1500">
                <a:solidFill>
                  <a:srgbClr val="7FE0C0"/>
                </a:solidFill>
                <a:latin typeface="Consolas"/>
              </a:rPr>
              <a:t>$ aisg route --from NOC --to RECLOSER_7 --disable-link LTE_ENB-RM_A5</a:t>
            </a:r>
          </a:p>
          <a:p>
            <a:pPr>
              <a:lnSpc>
                <a:spcPct val="115000"/>
              </a:lnSpc>
            </a:pPr>
            <a:r>
              <a:rPr sz="1500">
                <a:solidFill>
                  <a:srgbClr val="E6EDF3"/>
                </a:solidFill>
                <a:latin typeface="Consolas"/>
              </a:rPr>
              <a:t/>
            </a:r>
          </a:p>
          <a:p>
            <a:pPr>
              <a:lnSpc>
                <a:spcPct val="115000"/>
              </a:lnSpc>
            </a:pPr>
            <a:r>
              <a:rPr sz="1500">
                <a:solidFill>
                  <a:srgbClr val="E6EDF3"/>
                </a:solidFill>
                <a:latin typeface="Consolas"/>
              </a:rPr>
              <a:t>antes : 92,22 ms   NOC -&gt; LTE_CORE -&gt; LTE_ENB -&gt; RM_A5 -&gt; RECLOSER_7</a:t>
            </a:r>
          </a:p>
          <a:p>
            <a:pPr>
              <a:lnSpc>
                <a:spcPct val="115000"/>
              </a:lnSpc>
            </a:pPr>
            <a:r>
              <a:rPr sz="1500">
                <a:solidFill>
                  <a:srgbClr val="E6EDF3"/>
                </a:solidFill>
                <a:latin typeface="Consolas"/>
              </a:rPr>
              <a:t>depois: ~357 ms    NOC -&gt; AP_B -&gt; RM_B3 -&gt; SAF_A2 -&gt; RECLOSER_7</a:t>
            </a:r>
          </a:p>
          <a:p>
            <a:pPr>
              <a:lnSpc>
                <a:spcPct val="115000"/>
              </a:lnSpc>
            </a:pPr>
            <a:r>
              <a:rPr sz="1500">
                <a:solidFill>
                  <a:srgbClr val="E6EDF3"/>
                </a:solidFill>
                <a:latin typeface="Consolas"/>
              </a:rPr>
              <a:t/>
            </a:r>
          </a:p>
          <a:p>
            <a:pPr>
              <a:lnSpc>
                <a:spcPct val="115000"/>
              </a:lnSpc>
            </a:pPr>
            <a:r>
              <a:rPr sz="1500">
                <a:solidFill>
                  <a:srgbClr val="E6EDF3"/>
                </a:solidFill>
                <a:latin typeface="Consolas"/>
              </a:rPr>
              <a:t>Sem a sobreposição LTE, o caminho passa a usar a cadeia</a:t>
            </a:r>
          </a:p>
          <a:p>
            <a:pPr>
              <a:lnSpc>
                <a:spcPct val="115000"/>
              </a:lnSpc>
            </a:pPr>
            <a:r>
              <a:rPr sz="1500">
                <a:solidFill>
                  <a:srgbClr val="E6EDF3"/>
                </a:solidFill>
                <a:latin typeface="Consolas"/>
              </a:rPr>
              <a:t>armazena-e-encaminha — e o custo quase quadruplica.</a:t>
            </a:r>
          </a:p>
        </p:txBody>
      </p:sp>
    </p:spTree>
  </p:cSld>
  <p:clrMapOvr>
    <a:masterClrMapping/>
  </p:clrMapOvr>
</p:sld>
</file>

<file path=ppt/slides/slide48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FBFAF7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0"/>
            <a:ext cx="12191695" cy="146304"/>
          </a:xfrm>
          <a:prstGeom prst="rect">
            <a:avLst/>
          </a:prstGeom>
          <a:solidFill>
            <a:srgbClr val="E69F0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685800" y="384048"/>
            <a:ext cx="10789920" cy="7315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lnSpc>
                <a:spcPct val="100000"/>
              </a:lnSpc>
            </a:pPr>
            <a:r>
              <a:rPr sz="3000" b="1">
                <a:solidFill>
                  <a:srgbClr val="1F2933"/>
                </a:solidFill>
                <a:latin typeface="Segoe UI"/>
              </a:rPr>
              <a:t>Onde o aprendizado de máquina ENTRARIA: a heurística</a:t>
            </a:r>
          </a:p>
        </p:txBody>
      </p:sp>
      <p:sp>
        <p:nvSpPr>
          <p:cNvPr id="5" name="Rectangle 4"/>
          <p:cNvSpPr/>
          <p:nvPr/>
        </p:nvSpPr>
        <p:spPr>
          <a:xfrm>
            <a:off x="685800" y="1325880"/>
            <a:ext cx="5120640" cy="4572000"/>
          </a:xfrm>
          <a:prstGeom prst="rect">
            <a:avLst/>
          </a:prstGeom>
          <a:solidFill>
            <a:srgbClr val="FFFFFF"/>
          </a:solidFill>
          <a:ln w="22225">
            <a:solidFill>
              <a:srgbClr val="009E73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6" name="TextBox 5"/>
          <p:cNvSpPr txBox="1"/>
          <p:nvPr/>
        </p:nvSpPr>
        <p:spPr>
          <a:xfrm>
            <a:off x="960120" y="1554480"/>
            <a:ext cx="4617720" cy="8229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lnSpc>
                <a:spcPct val="100000"/>
              </a:lnSpc>
            </a:pPr>
            <a:r>
              <a:rPr sz="1900" b="1">
                <a:solidFill>
                  <a:srgbClr val="009E73"/>
                </a:solidFill>
                <a:latin typeface="Segoe UI"/>
              </a:rPr>
              <a:t>Por que é uma tarefa diferente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960120" y="2286000"/>
            <a:ext cx="4572000" cy="34747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1000"/>
              </a:spcAft>
            </a:pPr>
            <a:r>
              <a:rPr sz="1600">
                <a:solidFill>
                  <a:srgbClr val="52606D"/>
                </a:solidFill>
                <a:latin typeface="Segoe UI"/>
              </a:rPr>
              <a:t>O alvo é h*(n), o custo real restante</a:t>
            </a:r>
          </a:p>
          <a:p>
            <a:pPr>
              <a:spcAft>
                <a:spcPts val="1000"/>
              </a:spcAft>
            </a:pPr>
            <a:r>
              <a:rPr sz="1600">
                <a:solidFill>
                  <a:srgbClr val="52606D"/>
                </a:solidFill>
                <a:latin typeface="Segoe UI"/>
              </a:rPr>
              <a:t>Calculável exatamente: Dijkstra a partir do objetivo</a:t>
            </a:r>
          </a:p>
          <a:p>
            <a:pPr>
              <a:spcAft>
                <a:spcPts val="1000"/>
              </a:spcAft>
            </a:pPr>
            <a:r>
              <a:rPr sz="1600">
                <a:solidFill>
                  <a:srgbClr val="52606D"/>
                </a:solidFill>
                <a:latin typeface="Segoe UI"/>
              </a:rPr>
              <a:t>Supervisão gratuita e exata — não é rótulo de falha</a:t>
            </a:r>
          </a:p>
          <a:p>
            <a:pPr>
              <a:spcAft>
                <a:spcPts val="1000"/>
              </a:spcAft>
            </a:pPr>
            <a:r>
              <a:rPr sz="1600">
                <a:solidFill>
                  <a:srgbClr val="52606D"/>
                </a:solidFill>
                <a:latin typeface="Segoe UI"/>
              </a:rPr>
              <a:t>Não exige instrumento de degradação nem campo</a:t>
            </a:r>
          </a:p>
          <a:p>
            <a:pPr>
              <a:spcAft>
                <a:spcPts val="1000"/>
              </a:spcAft>
            </a:pPr>
            <a:r>
              <a:rPr sz="1600">
                <a:solidFill>
                  <a:srgbClr val="52606D"/>
                </a:solidFill>
                <a:latin typeface="Segoe UI"/>
              </a:rPr>
              <a:t>Vale mais no PLANEJADOR: goal_count é fraca e o espaço não tem geometria</a:t>
            </a:r>
          </a:p>
        </p:txBody>
      </p:sp>
      <p:sp>
        <p:nvSpPr>
          <p:cNvPr id="8" name="Rectangle 7"/>
          <p:cNvSpPr/>
          <p:nvPr/>
        </p:nvSpPr>
        <p:spPr>
          <a:xfrm>
            <a:off x="6355080" y="1325880"/>
            <a:ext cx="5120640" cy="4572000"/>
          </a:xfrm>
          <a:prstGeom prst="rect">
            <a:avLst/>
          </a:prstGeom>
          <a:solidFill>
            <a:srgbClr val="FFFFFF"/>
          </a:solidFill>
          <a:ln w="22225">
            <a:solidFill>
              <a:srgbClr val="D55E00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9" name="TextBox 8"/>
          <p:cNvSpPr txBox="1"/>
          <p:nvPr/>
        </p:nvSpPr>
        <p:spPr>
          <a:xfrm>
            <a:off x="6629400" y="1554480"/>
            <a:ext cx="4617720" cy="8229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lnSpc>
                <a:spcPct val="100000"/>
              </a:lnSpc>
            </a:pPr>
            <a:r>
              <a:rPr sz="1900" b="1">
                <a:solidFill>
                  <a:srgbClr val="D55E00"/>
                </a:solidFill>
                <a:latin typeface="Segoe UI"/>
              </a:rPr>
              <a:t>Por que ainda não está aqui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6629400" y="2286000"/>
            <a:ext cx="4572000" cy="34747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1000"/>
              </a:spcAft>
            </a:pPr>
            <a:r>
              <a:rPr sz="1600">
                <a:solidFill>
                  <a:srgbClr val="52606D"/>
                </a:solidFill>
                <a:latin typeface="Segoe UI"/>
              </a:rPr>
              <a:t>Uma heurística aprendida NÃO é admissível por construção</a:t>
            </a:r>
          </a:p>
          <a:p>
            <a:pPr>
              <a:spcAft>
                <a:spcPts val="1000"/>
              </a:spcAft>
            </a:pPr>
            <a:r>
              <a:rPr sz="1600">
                <a:solidFill>
                  <a:srgbClr val="52606D"/>
                </a:solidFill>
                <a:latin typeface="Segoe UI"/>
              </a:rPr>
              <a:t>Regressão pode superestimar → A* perde a otimalidade em silêncio</a:t>
            </a:r>
          </a:p>
          <a:p>
            <a:pPr>
              <a:spcAft>
                <a:spcPts val="1000"/>
              </a:spcAft>
            </a:pPr>
            <a:r>
              <a:rPr sz="1600">
                <a:solidFill>
                  <a:srgbClr val="52606D"/>
                </a:solidFill>
                <a:latin typeface="Segoe UI"/>
              </a:rPr>
              <a:t>Saídas: usá-la só como desempate (preserva o ótimo)...</a:t>
            </a:r>
          </a:p>
          <a:p>
            <a:pPr>
              <a:spcAft>
                <a:spcPts val="1000"/>
              </a:spcAft>
            </a:pPr>
            <a:r>
              <a:rPr sz="1600">
                <a:solidFill>
                  <a:srgbClr val="52606D"/>
                </a:solidFill>
                <a:latin typeface="Segoe UI"/>
              </a:rPr>
              <a:t>...ou em busca limitadamente subótima, com fator de garantia</a:t>
            </a:r>
          </a:p>
          <a:p>
            <a:pPr>
              <a:spcAft>
                <a:spcPts val="1000"/>
              </a:spcAft>
            </a:pPr>
            <a:r>
              <a:rPr sz="1600">
                <a:solidFill>
                  <a:srgbClr val="52606D"/>
                </a:solidFill>
                <a:latin typeface="Segoe UI"/>
              </a:rPr>
              <a:t>Nossos testes de admissibilidade seriam o instrumento de medida</a:t>
            </a:r>
          </a:p>
        </p:txBody>
      </p:sp>
    </p:spTree>
  </p:cSld>
  <p:clrMapOvr>
    <a:masterClrMapping/>
  </p:clrMapOvr>
</p:sld>
</file>

<file path=ppt/slides/slide49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061219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2286000"/>
            <a:ext cx="12191695" cy="54864"/>
          </a:xfrm>
          <a:prstGeom prst="rect">
            <a:avLst/>
          </a:prstGeom>
          <a:solidFill>
            <a:srgbClr val="E69F0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1005840" y="2606040"/>
            <a:ext cx="10149840" cy="18288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lnSpc>
                <a:spcPct val="115000"/>
              </a:lnSpc>
            </a:pPr>
            <a:r>
              <a:rPr sz="3600" b="1">
                <a:solidFill>
                  <a:srgbClr val="FFFFFF"/>
                </a:solidFill>
                <a:latin typeface="Segoe UI"/>
              </a:rPr>
              <a:t>Uma implementação, dois espaços de estados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1005840" y="4572000"/>
            <a:ext cx="10149840" cy="12801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lnSpc>
                <a:spcPct val="120000"/>
              </a:lnSpc>
            </a:pPr>
            <a:r>
              <a:rPr sz="1800" b="0">
                <a:solidFill>
                  <a:srgbClr val="9FC6D8"/>
                </a:solidFill>
                <a:latin typeface="Segoe UI"/>
              </a:rPr>
              <a:t>A mesma função astar() resolve o roteamento na rede e o planejamento de ações.</a:t>
            </a:r>
          </a:p>
        </p:txBody>
      </p:sp>
    </p:spTree>
  </p:cSld>
  <p:clrMapOvr>
    <a:masterClrMapping/>
  </p:clrMapOvr>
</p:sld>
</file>

<file path=ppt/slides/slide50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061219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2788920"/>
            <a:ext cx="12191695" cy="54864"/>
          </a:xfrm>
          <a:prstGeom prst="rect">
            <a:avLst/>
          </a:prstGeom>
          <a:solidFill>
            <a:srgbClr val="0072B2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914400" y="1920240"/>
            <a:ext cx="10332720" cy="8229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lnSpc>
                <a:spcPct val="100000"/>
              </a:lnSpc>
            </a:pPr>
            <a:r>
              <a:rPr sz="2000" b="1">
                <a:solidFill>
                  <a:srgbClr val="0072B2"/>
                </a:solidFill>
                <a:latin typeface="Segoe UI"/>
              </a:rPr>
              <a:t>FECHAMENTO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914400" y="2971800"/>
            <a:ext cx="10332720" cy="10972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lnSpc>
                <a:spcPct val="100000"/>
              </a:lnSpc>
            </a:pPr>
            <a:r>
              <a:rPr sz="4400" b="1">
                <a:solidFill>
                  <a:srgbClr val="FFFFFF"/>
                </a:solidFill>
                <a:latin typeface="Segoe UI"/>
              </a:rPr>
              <a:t>Integração e limites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914400" y="4206240"/>
            <a:ext cx="10332720" cy="7315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lnSpc>
                <a:spcPct val="100000"/>
              </a:lnSpc>
            </a:pPr>
            <a:r>
              <a:rPr sz="1900" b="0">
                <a:solidFill>
                  <a:srgbClr val="9FC6D8"/>
                </a:solidFill>
                <a:latin typeface="Segoe UI"/>
              </a:rPr>
              <a:t>Os três sistemas num único incidente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914400" y="5120640"/>
            <a:ext cx="10332720" cy="4572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lnSpc>
                <a:spcPct val="100000"/>
              </a:lnSpc>
            </a:pPr>
            <a:r>
              <a:rPr sz="1400" b="0">
                <a:solidFill>
                  <a:srgbClr val="8A94A0"/>
                </a:solidFill>
                <a:latin typeface="Segoe UI"/>
              </a:rPr>
              <a:t>5 minutos</a:t>
            </a:r>
          </a:p>
        </p:txBody>
      </p:sp>
    </p:spTree>
  </p:cSld>
  <p:clrMapOvr>
    <a:masterClrMapping/>
  </p:clrMapOvr>
</p:sld>
</file>

<file path=ppt/slides/slide51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FBFAF7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0"/>
            <a:ext cx="12191695" cy="146304"/>
          </a:xfrm>
          <a:prstGeom prst="rect">
            <a:avLst/>
          </a:prstGeom>
          <a:solidFill>
            <a:srgbClr val="0072B2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685800" y="384048"/>
            <a:ext cx="10789920" cy="7315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lnSpc>
                <a:spcPct val="100000"/>
              </a:lnSpc>
            </a:pPr>
            <a:r>
              <a:rPr sz="3000" b="1">
                <a:solidFill>
                  <a:srgbClr val="1F2933"/>
                </a:solidFill>
                <a:latin typeface="Segoe UI"/>
              </a:rPr>
              <a:t>Um comando, os três sistemas</a:t>
            </a:r>
          </a:p>
        </p:txBody>
      </p:sp>
      <p:sp>
        <p:nvSpPr>
          <p:cNvPr id="5" name="Rectangle 4"/>
          <p:cNvSpPr/>
          <p:nvPr/>
        </p:nvSpPr>
        <p:spPr>
          <a:xfrm>
            <a:off x="685800" y="1280160"/>
            <a:ext cx="10789920" cy="4297680"/>
          </a:xfrm>
          <a:prstGeom prst="rect">
            <a:avLst/>
          </a:prstGeom>
          <a:solidFill>
            <a:srgbClr val="061219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none" lIns="320040" tIns="256032"/>
          <a:lstStyle/>
          <a:p>
            <a:pPr algn="ctr">
              <a:lnSpc>
                <a:spcPct val="115000"/>
              </a:lnSpc>
            </a:pPr>
            <a:r>
              <a:rPr sz="1500">
                <a:solidFill>
                  <a:srgbClr val="7FE0C0"/>
                </a:solidFill>
                <a:latin typeface="Consolas"/>
              </a:rPr>
              <a:t>$ aisg pipeline --case congestion --node SAF_A2</a:t>
            </a:r>
          </a:p>
          <a:p>
            <a:pPr>
              <a:lnSpc>
                <a:spcPct val="115000"/>
              </a:lnSpc>
            </a:pPr>
            <a:r>
              <a:rPr sz="1500">
                <a:solidFill>
                  <a:srgbClr val="E6EDF3"/>
                </a:solidFill>
                <a:latin typeface="Consolas"/>
              </a:rPr>
              <a:t/>
            </a:r>
          </a:p>
          <a:p>
            <a:pPr>
              <a:lnSpc>
                <a:spcPct val="115000"/>
              </a:lnSpc>
            </a:pPr>
            <a:r>
              <a:rPr sz="1500">
                <a:solidFill>
                  <a:srgbClr val="E6EDF3"/>
                </a:solidFill>
                <a:latin typeface="Consolas"/>
              </a:rPr>
              <a:t>1/3  diagnóstico ......... congestion (CF +0,89)</a:t>
            </a:r>
          </a:p>
          <a:p>
            <a:pPr>
              <a:lnSpc>
                <a:spcPct val="115000"/>
              </a:lnSpc>
            </a:pPr>
            <a:r>
              <a:rPr sz="1500">
                <a:solidFill>
                  <a:srgbClr val="E6EDF3"/>
                </a:solidFill>
                <a:latin typeface="Consolas"/>
              </a:rPr>
              <a:t>     ação recomendada .... reroute_traffic (CF +0,71)</a:t>
            </a:r>
          </a:p>
          <a:p>
            <a:pPr>
              <a:lnSpc>
                <a:spcPct val="115000"/>
              </a:lnSpc>
            </a:pPr>
            <a:r>
              <a:rPr sz="1500">
                <a:solidFill>
                  <a:srgbClr val="E6EDF3"/>
                </a:solidFill>
                <a:latin typeface="Consolas"/>
              </a:rPr>
              <a:t/>
            </a:r>
          </a:p>
          <a:p>
            <a:pPr>
              <a:lnSpc>
                <a:spcPct val="115000"/>
              </a:lnSpc>
            </a:pPr>
            <a:r>
              <a:rPr sz="1500">
                <a:solidFill>
                  <a:srgbClr val="E6EDF3"/>
                </a:solidFill>
                <a:latin typeface="Consolas"/>
              </a:rPr>
              <a:t>2/3  rota alternativa confirmada pelo A*: True</a:t>
            </a:r>
          </a:p>
          <a:p>
            <a:pPr>
              <a:lnSpc>
                <a:spcPct val="115000"/>
              </a:lnSpc>
            </a:pPr>
            <a:r>
              <a:rPr sz="1500">
                <a:solidFill>
                  <a:srgbClr val="E6EDF3"/>
                </a:solidFill>
                <a:latin typeface="Consolas"/>
              </a:rPr>
              <a:t>     plano com 5 ações, custo 6, validado</a:t>
            </a:r>
          </a:p>
          <a:p>
            <a:pPr>
              <a:lnSpc>
                <a:spcPct val="115000"/>
              </a:lnSpc>
            </a:pPr>
            <a:r>
              <a:rPr sz="1500">
                <a:solidFill>
                  <a:srgbClr val="E6EDF3"/>
                </a:solidFill>
                <a:latin typeface="Consolas"/>
              </a:rPr>
              <a:t/>
            </a:r>
          </a:p>
          <a:p>
            <a:pPr>
              <a:lnSpc>
                <a:spcPct val="115000"/>
              </a:lnSpc>
            </a:pPr>
            <a:r>
              <a:rPr sz="1500">
                <a:solidFill>
                  <a:srgbClr val="E6EDF3"/>
                </a:solidFill>
                <a:latin typeface="Consolas"/>
              </a:rPr>
              <a:t>3/3  rota evitando SAF_A2:</a:t>
            </a:r>
          </a:p>
          <a:p>
            <a:pPr>
              <a:lnSpc>
                <a:spcPct val="115000"/>
              </a:lnSpc>
            </a:pPr>
            <a:r>
              <a:rPr sz="1500">
                <a:solidFill>
                  <a:srgbClr val="E6EDF3"/>
                </a:solidFill>
                <a:latin typeface="Consolas"/>
              </a:rPr>
              <a:t>     NOC -&gt; LTE_CORE -&gt; LTE_ENB -&gt; RM_A5 -&gt; RECLOSER_7   92,22 ms</a:t>
            </a:r>
          </a:p>
        </p:txBody>
      </p:sp>
    </p:spTree>
  </p:cSld>
  <p:clrMapOvr>
    <a:masterClrMapping/>
  </p:clrMapOvr>
</p:sld>
</file>

<file path=ppt/slides/slide52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FBFAF7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0"/>
            <a:ext cx="12191695" cy="146304"/>
          </a:xfrm>
          <a:prstGeom prst="rect">
            <a:avLst/>
          </a:prstGeom>
          <a:solidFill>
            <a:srgbClr val="D55E0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685800" y="457200"/>
            <a:ext cx="10789920" cy="8229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lnSpc>
                <a:spcPct val="100000"/>
              </a:lnSpc>
            </a:pPr>
            <a:r>
              <a:rPr sz="3200" b="1">
                <a:solidFill>
                  <a:srgbClr val="1F2933"/>
                </a:solidFill>
                <a:latin typeface="Segoe UI"/>
              </a:rPr>
              <a:t>Limites de validade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685800" y="1371600"/>
            <a:ext cx="10789920" cy="493776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>
              <a:spcAft>
                <a:spcPts val="1600"/>
              </a:spcAft>
            </a:pPr>
            <a:r>
              <a:rPr sz="2300" b="1">
                <a:solidFill>
                  <a:srgbClr val="1F2933"/>
                </a:solidFill>
                <a:latin typeface="Segoe UI"/>
              </a:rPr>
              <a:t>• A topologia é sintética — não representa nenhuma instalação real</a:t>
            </a:r>
          </a:p>
          <a:p>
            <a:pPr>
              <a:spcAft>
                <a:spcPts val="1600"/>
              </a:spcAft>
            </a:pPr>
            <a:r>
              <a:rPr sz="2300" b="1">
                <a:solidFill>
                  <a:srgbClr val="1F2933"/>
                </a:solidFill>
                <a:latin typeface="Segoe UI"/>
              </a:rPr>
              <a:t>• Os limiares são nominais e não calibrados</a:t>
            </a:r>
          </a:p>
          <a:p>
            <a:pPr>
              <a:spcAft>
                <a:spcPts val="1600"/>
              </a:spcAft>
            </a:pPr>
            <a:r>
              <a:rPr sz="2300" b="1">
                <a:solidFill>
                  <a:srgbClr val="1F2933"/>
                </a:solidFill>
                <a:latin typeface="Segoe UI"/>
              </a:rPr>
              <a:t>• Não existe conjunto de dados rotulado de falhas para este domínio</a:t>
            </a:r>
          </a:p>
          <a:p>
            <a:pPr>
              <a:spcAft>
                <a:spcPts val="1600"/>
              </a:spcAft>
            </a:pPr>
            <a:r>
              <a:rPr sz="2300" b="1">
                <a:solidFill>
                  <a:srgbClr val="1F2933"/>
                </a:solidFill>
                <a:latin typeface="Segoe UI"/>
              </a:rPr>
              <a:t>• O sistema recomenda, não atua — no planejador isso não é conselho: é precondição</a:t>
            </a:r>
          </a:p>
          <a:p>
            <a:pPr lvl="1">
              <a:spcAft>
                <a:spcPts val="1000"/>
              </a:spcAft>
            </a:pPr>
            <a:r>
              <a:rPr sz="1900" b="0">
                <a:solidFill>
                  <a:srgbClr val="52606D"/>
                </a:solidFill>
                <a:latin typeface="Segoe UI"/>
              </a:rPr>
              <a:t>Uma conclusão obtida aqui vale para ESTE MODELO, não para uma planta física</a:t>
            </a:r>
          </a:p>
        </p:txBody>
      </p:sp>
    </p:spTree>
  </p:cSld>
  <p:clrMapOvr>
    <a:masterClrMapping/>
  </p:clrMapOvr>
</p:sld>
</file>

<file path=ppt/slides/slide53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FBFAF7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0"/>
            <a:ext cx="12191695" cy="146304"/>
          </a:xfrm>
          <a:prstGeom prst="rect">
            <a:avLst/>
          </a:prstGeom>
          <a:solidFill>
            <a:srgbClr val="0072B2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685800" y="384048"/>
            <a:ext cx="10789920" cy="7315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lnSpc>
                <a:spcPct val="100000"/>
              </a:lnSpc>
            </a:pPr>
            <a:r>
              <a:rPr sz="3000" b="1">
                <a:solidFill>
                  <a:srgbClr val="1F2933"/>
                </a:solidFill>
                <a:latin typeface="Segoe UI"/>
              </a:rPr>
              <a:t>Perguntas prováveis</a:t>
            </a:r>
          </a:p>
        </p:txBody>
      </p:sp>
      <p:graphicFrame>
        <p:nvGraphicFramePr>
          <p:cNvPr id="5" name="Table 4"/>
          <p:cNvGraphicFramePr>
            <a:graphicFrameLocks noGrp="1"/>
          </p:cNvGraphicFramePr>
          <p:nvPr/>
        </p:nvGraphicFramePr>
        <p:xfrm>
          <a:off x="685800" y="1325880"/>
          <a:ext cx="10789919" cy="3364992"/>
        </p:xfrm>
        <a:graphic>
          <a:graphicData uri="http://schemas.openxmlformats.org/drawingml/2006/table">
            <a:tbl>
              <a:tblPr firstRow="1" bandRow="1">
                <a:tableStyleId>{5C22544A-7EE6-4342-B048-85BDC9FD1C3A}</a:tableStyleId>
              </a:tblPr>
              <a:tblGrid>
                <a:gridCol w="4222142"/>
                <a:gridCol w="6567777"/>
              </a:tblGrid>
              <a:tr h="420624">
                <a:tc>
                  <a:txBody>
                    <a:bodyPr/>
                    <a:lstStyle/>
                    <a:p>
                      <a:r>
                        <a:rPr sz="1500" b="1">
                          <a:solidFill>
                            <a:srgbClr val="FFFFFF"/>
                          </a:solidFill>
                          <a:latin typeface="Segoe UI"/>
                        </a:rPr>
                        <a:t>Pergunta</a:t>
                      </a:r>
                    </a:p>
                  </a:txBody>
                  <a:tcPr anchor="ctr">
                    <a:solidFill>
                      <a:srgbClr val="0072B2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500" b="1">
                          <a:solidFill>
                            <a:srgbClr val="FFFFFF"/>
                          </a:solidFill>
                          <a:latin typeface="Segoe UI"/>
                        </a:rPr>
                        <a:t>Resposta curta</a:t>
                      </a:r>
                    </a:p>
                  </a:txBody>
                  <a:tcPr anchor="ctr">
                    <a:solidFill>
                      <a:srgbClr val="0072B2"/>
                    </a:solidFill>
                  </a:tcPr>
                </a:tc>
              </a:tr>
              <a:tr h="420624">
                <a:tc>
                  <a:txBody>
                    <a:bodyPr/>
                    <a:lstStyle/>
                    <a:p>
                      <a:r>
                        <a:rPr sz="1400" b="0">
                          <a:solidFill>
                            <a:srgbClr val="52606D"/>
                          </a:solidFill>
                          <a:latin typeface="Segoe UI"/>
                        </a:rPr>
                        <a:t>Por que não aprendizado de máquina?</a:t>
                      </a:r>
                    </a:p>
                  </a:txBody>
                  <a:tcPr anchor="ctr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400" b="0">
                          <a:solidFill>
                            <a:srgbClr val="52606D"/>
                          </a:solidFill>
                          <a:latin typeface="Segoe UI"/>
                        </a:rPr>
                        <a:t>Não há dados rotulados de falha, nem como produzi-los sem instrumento de degradação</a:t>
                      </a:r>
                    </a:p>
                  </a:txBody>
                  <a:tcPr anchor="ctr">
                    <a:solidFill>
                      <a:srgbClr val="FFFFFF"/>
                    </a:solidFill>
                  </a:tcPr>
                </a:tc>
              </a:tr>
              <a:tr h="420624">
                <a:tc>
                  <a:txBody>
                    <a:bodyPr/>
                    <a:lstStyle/>
                    <a:p>
                      <a:r>
                        <a:rPr sz="1400" b="0">
                          <a:solidFill>
                            <a:srgbClr val="52606D"/>
                          </a:solidFill>
                          <a:latin typeface="Segoe UI"/>
                        </a:rPr>
                        <a:t>Como escolhe entre regras concorrentes?</a:t>
                      </a:r>
                    </a:p>
                  </a:txBody>
                  <a:tcPr anchor="ctr">
                    <a:solidFill>
                      <a:srgbClr val="F4F2EE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400" b="0">
                          <a:solidFill>
                            <a:srgbClr val="52606D"/>
                          </a:solidFill>
                          <a:latin typeface="Segoe UI"/>
                        </a:rPr>
                        <a:t>Três políticas selecionáveis; a padrão é especificidade. Muda a ordem, não a conclusão</a:t>
                      </a:r>
                    </a:p>
                  </a:txBody>
                  <a:tcPr anchor="ctr">
                    <a:solidFill>
                      <a:srgbClr val="F4F2EE"/>
                    </a:solidFill>
                  </a:tcPr>
                </a:tc>
              </a:tr>
              <a:tr h="420624">
                <a:tc>
                  <a:txBody>
                    <a:bodyPr/>
                    <a:lstStyle/>
                    <a:p>
                      <a:r>
                        <a:rPr sz="1400" b="0">
                          <a:solidFill>
                            <a:srgbClr val="52606D"/>
                          </a:solidFill>
                          <a:latin typeface="Segoe UI"/>
                        </a:rPr>
                        <a:t>A heurística é admissível?</a:t>
                      </a:r>
                    </a:p>
                  </a:txBody>
                  <a:tcPr anchor="ctr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400" b="0">
                          <a:solidFill>
                            <a:srgbClr val="52606D"/>
                          </a:solidFill>
                          <a:latin typeface="Segoe UI"/>
                        </a:rPr>
                        <a:t>Sim — prova por desigualdade triangular e verificação exaustiva em teste</a:t>
                      </a:r>
                    </a:p>
                  </a:txBody>
                  <a:tcPr anchor="ctr">
                    <a:solidFill>
                      <a:srgbClr val="FFFFFF"/>
                    </a:solidFill>
                  </a:tcPr>
                </a:tc>
              </a:tr>
              <a:tr h="420624">
                <a:tc>
                  <a:txBody>
                    <a:bodyPr/>
                    <a:lstStyle/>
                    <a:p>
                      <a:r>
                        <a:rPr sz="1400" b="0">
                          <a:solidFill>
                            <a:srgbClr val="52606D"/>
                          </a:solidFill>
                          <a:latin typeface="Segoe UI"/>
                        </a:rPr>
                        <a:t>O GPS sempre acha o melhor plano?</a:t>
                      </a:r>
                    </a:p>
                  </a:txBody>
                  <a:tcPr anchor="ctr">
                    <a:solidFill>
                      <a:srgbClr val="F4F2EE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400" b="0">
                          <a:solidFill>
                            <a:srgbClr val="52606D"/>
                          </a:solidFill>
                          <a:latin typeface="Segoe UI"/>
                        </a:rPr>
                        <a:t>Não. Há um teste que exibe um caso concreto de não-otimalidade</a:t>
                      </a:r>
                    </a:p>
                  </a:txBody>
                  <a:tcPr anchor="ctr">
                    <a:solidFill>
                      <a:srgbClr val="F4F2EE"/>
                    </a:solidFill>
                  </a:tcPr>
                </a:tc>
              </a:tr>
              <a:tr h="420624">
                <a:tc>
                  <a:txBody>
                    <a:bodyPr/>
                    <a:lstStyle/>
                    <a:p>
                      <a:r>
                        <a:rPr sz="1400" b="0">
                          <a:solidFill>
                            <a:srgbClr val="52606D"/>
                          </a:solidFill>
                          <a:latin typeface="Segoe UI"/>
                        </a:rPr>
                        <a:t>Qual banco de dados?</a:t>
                      </a:r>
                    </a:p>
                  </a:txBody>
                  <a:tcPr anchor="ctr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400" b="0">
                          <a:solidFill>
                            <a:srgbClr val="52606D"/>
                          </a:solidFill>
                          <a:latin typeface="Segoe UI"/>
                        </a:rPr>
                        <a:t>Nenhum. JSON versionado, regras em código, memória de trabalho em RAM</a:t>
                      </a:r>
                    </a:p>
                  </a:txBody>
                  <a:tcPr anchor="ctr">
                    <a:solidFill>
                      <a:srgbClr val="FFFFFF"/>
                    </a:solidFill>
                  </a:tcPr>
                </a:tc>
              </a:tr>
              <a:tr h="420624">
                <a:tc>
                  <a:txBody>
                    <a:bodyPr/>
                    <a:lstStyle/>
                    <a:p>
                      <a:r>
                        <a:rPr sz="1400" b="0">
                          <a:solidFill>
                            <a:srgbClr val="52606D"/>
                          </a:solidFill>
                          <a:latin typeface="Segoe UI"/>
                        </a:rPr>
                        <a:t>E se não houver rota alternativa?</a:t>
                      </a:r>
                    </a:p>
                  </a:txBody>
                  <a:tcPr anchor="ctr">
                    <a:solidFill>
                      <a:srgbClr val="F4F2EE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400" b="0">
                          <a:solidFill>
                            <a:srgbClr val="52606D"/>
                          </a:solidFill>
                          <a:latin typeface="Segoe UI"/>
                        </a:rPr>
                        <a:t>A ação fica inaplicável e o planejador falha honestamente. Há teste</a:t>
                      </a:r>
                    </a:p>
                  </a:txBody>
                  <a:tcPr anchor="ctr">
                    <a:solidFill>
                      <a:srgbClr val="F4F2EE"/>
                    </a:solidFill>
                  </a:tcPr>
                </a:tc>
              </a:tr>
              <a:tr h="420624">
                <a:tc>
                  <a:txBody>
                    <a:bodyPr/>
                    <a:lstStyle/>
                    <a:p>
                      <a:r>
                        <a:rPr sz="1400" b="0">
                          <a:solidFill>
                            <a:srgbClr val="52606D"/>
                          </a:solidFill>
                          <a:latin typeface="Segoe UI"/>
                        </a:rPr>
                        <a:t>Por que CF e não probabilidade?</a:t>
                      </a:r>
                    </a:p>
                  </a:txBody>
                  <a:tcPr anchor="ctr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400" b="0">
                          <a:solidFill>
                            <a:srgbClr val="52606D"/>
                          </a:solidFill>
                          <a:latin typeface="Segoe UI"/>
                        </a:rPr>
                        <a:t>CF não exige priors nem independência condicional — que sem dados não se estimam</a:t>
                      </a:r>
                    </a:p>
                  </a:txBody>
                  <a:tcPr anchor="ctr">
                    <a:solidFill>
                      <a:srgbClr val="FFFFFF"/>
                    </a:solidFill>
                  </a:tcPr>
                </a:tc>
              </a:tr>
            </a:tbl>
          </a:graphicData>
        </a:graphic>
      </p:graphicFrame>
    </p:spTree>
  </p:cSld>
  <p:clrMapOvr>
    <a:masterClrMapping/>
  </p:clrMapOvr>
</p:sld>
</file>

<file path=ppt/slides/slide54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061219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2286000"/>
            <a:ext cx="12191695" cy="54864"/>
          </a:xfrm>
          <a:prstGeom prst="rect">
            <a:avLst/>
          </a:prstGeom>
          <a:solidFill>
            <a:srgbClr val="0072B2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1005840" y="2606040"/>
            <a:ext cx="10149840" cy="18288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lnSpc>
                <a:spcPct val="115000"/>
              </a:lnSpc>
            </a:pPr>
            <a:r>
              <a:rPr sz="3600" b="1">
                <a:solidFill>
                  <a:srgbClr val="FFFFFF"/>
                </a:solidFill>
                <a:latin typeface="Segoe UI"/>
              </a:rPr>
              <a:t>Obrigado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1005840" y="4572000"/>
            <a:ext cx="10149840" cy="12801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lnSpc>
                <a:spcPct val="120000"/>
              </a:lnSpc>
            </a:pPr>
            <a:r>
              <a:rPr sz="1800" b="0">
                <a:solidFill>
                  <a:srgbClr val="9FC6D8"/>
                </a:solidFill>
                <a:latin typeface="Segoe UI"/>
              </a:rPr>
              <a:t>github.com/fsd-dantas/ai-for-smartgrids   ·   108 testes   ·   wiki com a teoria da disciplina</a:t>
            </a:r>
          </a:p>
        </p:txBody>
      </p:sp>
    </p:spTree>
  </p:cSld>
  <p:clrMapOvr>
    <a:masterClrMapping/>
  </p:clrMapOvr>
</p:sld>
</file>

<file path=ppt/theme/theme1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1F497D"/>
      </a:dk2>
      <a:lt2>
        <a:srgbClr val="EEECE1"/>
      </a:lt2>
      <a:accent1>
        <a:srgbClr val="4F81BD"/>
      </a:accent1>
      <a:accent2>
        <a:srgbClr val="C0504D"/>
      </a:accent2>
      <a:accent3>
        <a:srgbClr val="9BBB59"/>
      </a:accent3>
      <a:accent4>
        <a:srgbClr val="8064A2"/>
      </a:accent4>
      <a:accent5>
        <a:srgbClr val="4BACC6"/>
      </a:accent5>
      <a:accent6>
        <a:srgbClr val="F79646"/>
      </a:accent6>
      <a:hlink>
        <a:srgbClr val="0000FF"/>
      </a:hlink>
      <a:folHlink>
        <a:srgbClr val="800080"/>
      </a:folHlink>
    </a:clrScheme>
    <a:fontScheme name="Office">
      <a:maj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30000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  <a:objectDefaults>
    <a:spDef>
      <a:spPr/>
      <a:bodyPr/>
      <a:lstStyle/>
      <a:style>
        <a:lnRef idx="1">
          <a:schemeClr val="accent1"/>
        </a:lnRef>
        <a:fillRef idx="3">
          <a:schemeClr val="accent1"/>
        </a:fillRef>
        <a:effectRef idx="2">
          <a:schemeClr val="accent1"/>
        </a:effectRef>
        <a:fontRef idx="minor">
          <a:schemeClr val="lt1"/>
        </a:fontRef>
      </a:style>
    </a:spDef>
    <a:lnDef>
      <a:spPr/>
      <a:bodyPr/>
      <a:lstStyle/>
      <a:style>
        <a:lnRef idx="2">
          <a:schemeClr val="accent1"/>
        </a:lnRef>
        <a:fillRef idx="0">
          <a:schemeClr val="accent1"/>
        </a:fillRef>
        <a:effectRef idx="1">
          <a:schemeClr val="accent1"/>
        </a:effectRef>
        <a:fontRef idx="minor">
          <a:schemeClr val="tx1"/>
        </a:fontRef>
      </a:style>
    </a:lnDef>
  </a:objectDefaults>
  <a:extraClrSchemeLst/>
</a:theme>
</file>

<file path=ppt/theme/theme2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1F497D"/>
      </a:dk2>
      <a:lt2>
        <a:srgbClr val="EEECE1"/>
      </a:lt2>
      <a:accent1>
        <a:srgbClr val="4F81BD"/>
      </a:accent1>
      <a:accent2>
        <a:srgbClr val="C0504D"/>
      </a:accent2>
      <a:accent3>
        <a:srgbClr val="9BBB59"/>
      </a:accent3>
      <a:accent4>
        <a:srgbClr val="8064A2"/>
      </a:accent4>
      <a:accent5>
        <a:srgbClr val="4BACC6"/>
      </a:accent5>
      <a:accent6>
        <a:srgbClr val="F79646"/>
      </a:accent6>
      <a:hlink>
        <a:srgbClr val="0000FF"/>
      </a:hlink>
      <a:folHlink>
        <a:srgbClr val="800080"/>
      </a:folHlink>
    </a:clrScheme>
    <a:fontScheme name="Office">
      <a:maj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30000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  <a:objectDefaults>
    <a:spDef>
      <a:spPr/>
      <a:bodyPr/>
      <a:lstStyle/>
      <a:style>
        <a:lnRef idx="1">
          <a:schemeClr val="accent1"/>
        </a:lnRef>
        <a:fillRef idx="3">
          <a:schemeClr val="accent1"/>
        </a:fillRef>
        <a:effectRef idx="2">
          <a:schemeClr val="accent1"/>
        </a:effectRef>
        <a:fontRef idx="minor">
          <a:schemeClr val="lt1"/>
        </a:fontRef>
      </a:style>
    </a:spDef>
    <a:lnDef>
      <a:spPr/>
      <a:bodyPr/>
      <a:lstStyle/>
      <a:style>
        <a:lnRef idx="2">
          <a:schemeClr val="accent1"/>
        </a:lnRef>
        <a:fillRef idx="0">
          <a:schemeClr val="accent1"/>
        </a:fillRef>
        <a:effectRef idx="1">
          <a:schemeClr val="accent1"/>
        </a:effectRef>
        <a:fontRef idx="minor">
          <a:schemeClr val="tx1"/>
        </a:fontRef>
      </a:style>
    </a:lnDef>
  </a:objectDefaults>
  <a:extraClrSchemeLst/>
</a:theme>
</file>

<file path=docProps/app.xml><?xml version="1.0" encoding="utf-8"?>
<Properties xmlns="http://schemas.openxmlformats.org/officeDocument/2006/extended-properties" xmlns:vt="http://schemas.openxmlformats.org/officeDocument/2006/docPropsVTypes">
  <TotalTime>1</TotalTime>
  <Words>0</Words>
  <Application>Microsoft Macintosh PowerPoint</Application>
  <PresentationFormat>On-screen Show (4:3)</PresentationFormat>
  <Paragraphs>0</Paragraphs>
  <Slides>0</Slides>
  <Notes>0</Notes>
  <HiddenSlides>0</HiddenSlides>
  <MMClips>0</MMClips>
  <ScaleCrop>false</ScaleCrop>
  <HeadingPairs>
    <vt:vector size="4" baseType="variant">
      <vt:variant>
        <vt:lpstr>Theme</vt:lpstr>
      </vt:variant>
      <vt:variant>
        <vt:i4>1</vt:i4>
      </vt:variant>
      <vt:variant>
        <vt:lpstr>Slide Titles</vt:lpstr>
      </vt:variant>
      <vt:variant>
        <vt:i4>0</vt:i4>
      </vt:variant>
    </vt:vector>
  </HeadingPairs>
  <TitlesOfParts>
    <vt:vector size="1" baseType="lpstr">
      <vt:lpstr>Office Theme</vt:lpstr>
    </vt:vector>
  </TitlesOfParts>
  <Manager/>
  <Company/>
  <LinksUpToDate>false</LinksUpToDate>
  <SharedDoc>false</SharedDoc>
  <HyperlinkBase/>
  <HyperlinksChanged>false</HyperlinksChanged>
  <AppVersion>14.0000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/>
  <dc:subject/>
  <dc:creator/>
  <cp:keywords/>
  <dc:description>generated using python-pptx</dc:description>
  <cp:lastModifiedBy>Steve Canny</cp:lastModifiedBy>
  <cp:revision>1</cp:revision>
  <dcterms:created xsi:type="dcterms:W3CDTF">2013-01-27T09:14:16Z</dcterms:created>
  <dcterms:modified xsi:type="dcterms:W3CDTF">2013-01-27T09:15:58Z</dcterms:modified>
  <cp:category/>
</cp:coreProperties>
</file>