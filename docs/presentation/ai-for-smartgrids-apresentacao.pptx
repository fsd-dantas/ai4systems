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Abertura. Não comece pelo código: comece pelo domínio e pela escolha do</a:t>
            </a:r>
          </a:p>
          <a:p>
            <a:r>
              <a:t>método. Os três trabalhos partilham um único domínio, e isso é proposital —</a:t>
            </a:r>
          </a:p>
          <a:p>
            <a:r>
              <a:t>permite mostrar que os sistemas se integram, em vez de apenas coexistirem.</a:t>
            </a:r>
          </a:p>
          <a:p/>
          <a:p>
            <a:r>
              <a:t>Antes de começar, deixe rodando "python -m pytest": 155 testes verdes na tela</a:t>
            </a:r>
          </a:p>
          <a:p>
            <a:r>
              <a:t>são um bom cartão de visita.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Diga o roteiro: 30 minutos por tema, com demonstração ao vivo em cada um.</a:t>
            </a:r>
          </a:p>
          <a:p/>
          <a:p>
            <a:r>
              <a:t>O ponto a plantar já aqui: os três não são exercícios separados. O diagnóstico</a:t>
            </a:r>
          </a:p>
          <a:p>
            <a:r>
              <a:t>produzido pelo trabalho 1 é a entrada do trabalho 2, e o trabalho 2 chama a</a:t>
            </a:r>
          </a:p>
          <a:p>
            <a:r>
              <a:t>função do trabalho 3. Ao final voltaremos a isso com um comando só.</a:t>
            </a:r>
          </a:p>
          <a:p/>
          <a:p>
            <a:r>
              <a:t>Em cerca de 20 segundos, explique a avaliação: requisitos, correção e evidência</a:t>
            </a:r>
          </a:p>
          <a:p>
            <a:r>
              <a:t>reproduzível; pesos propostos 30/30/25/15, ainda sem endosso docente registrado.</a:t>
            </a:r>
          </a:p>
          <a:p>
            <a:r>
              <a:t>O exemplo principal usa um diagnóstico selecionado por nó. Falhas simultâneas</a:t>
            </a:r>
          </a:p>
          <a:p>
            <a:r>
              <a:t>são uma extensão avaliada separadamente. Consulte docs/assessment-protocol.md</a:t>
            </a:r>
          </a:p>
          <a:p>
            <a:r>
              <a:t>e os dois slides de apêndice, ocultos para preservar os 90 minutos autorizados.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cenário: 30 nós sem fio em três setores, cada um com estrela de rádio de</a:t>
            </a:r>
          </a:p>
          <a:p>
            <a:r>
              <a:t>900 MHz e uma cadeia armazena-e-encaminha até um dispositivo de campo, sobre um</a:t>
            </a:r>
          </a:p>
          <a:p>
            <a:r>
              <a:t>núcleo em fibra e uma sobreposição LTE.</a:t>
            </a:r>
          </a:p>
          <a:p/>
          <a:p>
            <a:r>
              <a:t>Duas coisas a dizer antes que perguntem, porque as duas seriam perguntadas:</a:t>
            </a:r>
          </a:p>
          <a:p/>
          <a:p>
            <a:r>
              <a:t>A topologia é SINTÉTICA — não contém inventário, endereçamento nem identificação</a:t>
            </a:r>
          </a:p>
          <a:p>
            <a:r>
              <a:t>de equipamento de laboratório algum.</a:t>
            </a:r>
          </a:p>
          <a:p/>
          <a:p>
            <a:r>
              <a:t>E isto é um MODELO de topologia, não saída de simulação. Nenhuma execução</a:t>
            </a:r>
          </a:p>
          <a:p>
            <a:r>
              <a:t>produziu estes números: o cenário ns-3 para esta banda ainda não está construído,</a:t>
            </a:r>
          </a:p>
          <a:p>
            <a:r>
              <a:t>porque o ns-3.48 de estoque não sintetiza espectro em 902-928 MHz com lr-wpan.</a:t>
            </a:r>
          </a:p>
          <a:p>
            <a:r>
              <a:t>Dizer isso é mais forte do que deixar alguém descobrir.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pergunta de pesquisa. Enuncie-a e deixe-a no ar por um instante antes de</a:t>
            </a:r>
          </a:p>
          <a:p>
            <a:r>
              <a:t>seguir.</a:t>
            </a:r>
          </a:p>
          <a:p/>
          <a:p>
            <a:r>
              <a:t>Ela tem três qualificadores, e cada um é uma restrição real, não retórica:</a:t>
            </a:r>
          </a:p>
          <a:p/>
          <a:p>
            <a:r>
              <a:t>"sem dados rotulados de falha" — não há conjunto rotulado neste domínio, e não há</a:t>
            </a:r>
          </a:p>
          <a:p>
            <a:r>
              <a:t>como produzi-lo sem instrumento de degradação controlada. Isso elimina a via</a:t>
            </a:r>
          </a:p>
          <a:p>
            <a:r>
              <a:t>indutiva para o diagnóstico.</a:t>
            </a:r>
          </a:p>
          <a:p/>
          <a:p>
            <a:r>
              <a:t>"de forma auditável" — em operação crítica, uma recomendação que não pode ser</a:t>
            </a:r>
          </a:p>
          <a:p>
            <a:r>
              <a:t>justificada não é utilizável. Toda conclusão precisa apontar para a regra e o</a:t>
            </a:r>
          </a:p>
          <a:p>
            <a:r>
              <a:t>fato que a sustentam.</a:t>
            </a:r>
          </a:p>
          <a:p/>
          <a:p>
            <a:r>
              <a:t>"sob restrições explícitas de autorização" — nada pode alcançar a planta sem</a:t>
            </a:r>
          </a:p>
          <a:p>
            <a:r>
              <a:t>janela, autorização e operador responsável.</a:t>
            </a:r>
          </a:p>
          <a:p/>
          <a:p>
            <a:r>
              <a:t>A pergunta decompõe-se em três, uma por trabalho:</a:t>
            </a:r>
          </a:p>
          <a:p>
            <a:r>
              <a:t>  1. Por que o enlace degradou, e com que confiança?      -&gt; sistema especialista</a:t>
            </a:r>
          </a:p>
          <a:p>
            <a:r>
              <a:t>  2. Em que sequência agir, respeitando as restrições?    -&gt; planejamento STRIPS/GPS</a:t>
            </a:r>
          </a:p>
          <a:p>
            <a:r>
              <a:t>  3. Existe caminho alternativo, e qual o de menor custo? -&gt; busca A*</a:t>
            </a:r>
          </a:p>
          <a:p/>
          <a:p>
            <a:r>
              <a:t>Diga isso: os três trabalhos não foram escolhidos por serem os temas da</a:t>
            </a:r>
          </a:p>
          <a:p>
            <a:r>
              <a:t>disciplina — eles são as três partes de uma pergunta só.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slide existe porque nem todos na sala são engenheiros de redes, e sem</a:t>
            </a:r>
          </a:p>
          <a:p>
            <a:r>
              <a:t>ele os próximos vinte minutos viram vocabulário.</a:t>
            </a:r>
          </a:p>
          <a:p/>
          <a:p>
            <a:r>
              <a:t>Use uma analogia só, e mantenha-a: uma conversa numa sala.</a:t>
            </a:r>
          </a:p>
          <a:p/>
          <a:p>
            <a:r>
              <a:t>RSSI é o VOLUME da voz que chega. SNR é quanto essa voz se destaca do barulho de</a:t>
            </a:r>
          </a:p>
          <a:p>
            <a:r>
              <a:t>fundo — dá para ter volume alto e ainda assim não entender nada, se o barulho for</a:t>
            </a:r>
          </a:p>
          <a:p>
            <a:r>
              <a:t>maior. Perda de percurso é o quanto a voz enfraquece pela distância ou por uma</a:t>
            </a:r>
          </a:p>
          <a:p>
            <a:r>
              <a:t>parede no meio.</a:t>
            </a:r>
          </a:p>
          <a:p/>
          <a:p>
            <a:r>
              <a:t>Retransmissão é quantas vezes você precisa REPETIR a frase — e é a grandeza que</a:t>
            </a:r>
          </a:p>
          <a:p>
            <a:r>
              <a:t>distingue as duas situações que mais se confundem: se você repete muito mas sua</a:t>
            </a:r>
          </a:p>
          <a:p>
            <a:r>
              <a:t>voz chega alta e limpa, o problema não é a voz, é que várias pessoas falam ao</a:t>
            </a:r>
          </a:p>
          <a:p>
            <a:r>
              <a:t>mesmo tempo.</a:t>
            </a:r>
          </a:p>
          <a:p/>
          <a:p>
            <a:r>
              <a:t>Perda de pacotes e atraso são CONSEQUÊNCIAS: a informação não chegou, ou demorou.</a:t>
            </a:r>
          </a:p>
          <a:p>
            <a:r>
              <a:t>Elas dizem que algo está errado, nunca o quê. É por isso que o sistema precisa</a:t>
            </a:r>
          </a:p>
          <a:p>
            <a:r>
              <a:t>das três primeiras para diagnosticar, e não só destas duas.</a:t>
            </a:r>
          </a:p>
          <a:p/>
          <a:p>
            <a:r>
              <a:t>Carga oferecida é quanto se está pedindo do enlace. Acima de 100 % pede-se mais</a:t>
            </a:r>
          </a:p>
          <a:p>
            <a:r>
              <a:t>do que ele comporta — e a fila cresce por definição, não por defeito.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Distinga os dois níveis com clareza — eles respondem a perguntas diferentes.</a:t>
            </a:r>
          </a:p>
          <a:p/>
          <a:p>
            <a:r>
              <a:t>Os KPIs do DOMÍNIO são as grandezas que o simulador realmente produz: PHY pelo</a:t>
            </a:r>
          </a:p>
          <a:p>
            <a:r>
              <a:t>espectro, MAC pelo contador de retransmissão, e fluxo pelo FlowMonitor.</a:t>
            </a:r>
          </a:p>
          <a:p/>
          <a:p>
            <a:r>
              <a:t>Destaque a taxa de retransmissão do MAC. Sem ela, perda por meio disputado e</a:t>
            </a:r>
          </a:p>
          <a:p>
            <a:r>
              <a:t>perda por sinal fraco parecem idênticas no nível de fluxo — as duas aparecem como</a:t>
            </a:r>
          </a:p>
          <a:p>
            <a:r>
              <a:t>perda. A retransmissão é o que separa um meio ocupado de um sinal fraco, e é uma</a:t>
            </a:r>
          </a:p>
          <a:p>
            <a:r>
              <a:t>grandeza que só existe em rede sem fio.</a:t>
            </a:r>
          </a:p>
          <a:p/>
          <a:p>
            <a:r>
              <a:t>Os KPIs de AVALIAÇÃO são como julgamos se os sistemas funcionam. Note que cada</a:t>
            </a:r>
          </a:p>
          <a:p>
            <a:r>
              <a:t>trabalho tem um critério próprio e verificável: o fator de certeza diz quanta</a:t>
            </a:r>
          </a:p>
          <a:p>
            <a:r>
              <a:t>confiança há na conclusão; a validade do plano é reexecutada desde o estado</a:t>
            </a:r>
          </a:p>
          <a:p>
            <a:r>
              <a:t>inicial; a otimalidade da busca é comparada contra custo uniforme, que não usa</a:t>
            </a:r>
          </a:p>
          <a:p>
            <a:r>
              <a:t>heurística e serve de verdade de referência.</a:t>
            </a:r>
          </a:p>
          <a:p/>
          <a:p>
            <a:r>
              <a:t>O aviso da coluna esquerda é o que mantém a apresentação honesta: os limiares do</a:t>
            </a:r>
          </a:p>
          <a:p>
            <a:r>
              <a:t>domínio vieram de faixas de folha de dados e de prática comum de telecom. São</a:t>
            </a:r>
          </a:p>
          <a:p>
            <a:r>
              <a:t>ponto de partida para calibração, não valores medidos numa instalação. Por isso</a:t>
            </a:r>
          </a:p>
          <a:p>
            <a:r>
              <a:t>estão reunidos num único bloco, prontos para serem ajustados quando existir linha</a:t>
            </a:r>
          </a:p>
          <a:p>
            <a:r>
              <a:t>de base medida.</a:t>
            </a:r>
          </a:p>
          <a:p/>
          <a:p>
            <a:r>
              <a:t>Em resumo: os KPIs de avaliação estão verificados; os do domínio estão</a:t>
            </a:r>
          </a:p>
          <a:p>
            <a:r>
              <a:t>declarados, e declarados como não calibrados.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argumento mudou quando o cenário passou a ser simulado, e a versão</a:t>
            </a:r>
          </a:p>
          <a:p>
            <a:r>
              <a:t>nova é mais interessante. Não repita a antiga.</a:t>
            </a:r>
          </a:p>
          <a:p/>
          <a:p>
            <a:r>
              <a:t>No simulador, o operador COMANDA a condição: sobe a perda de percurso, injeta um</a:t>
            </a:r>
          </a:p>
          <a:p>
            <a:r>
              <a:t>emissor, para um nó. Portanto conhece o rótulo por construção, e pode repetir a</a:t>
            </a:r>
          </a:p>
          <a:p>
            <a:r>
              <a:t>execução quantas vezes quiser. Rótulos não faltam — são gratuitos e ilimitados.</a:t>
            </a:r>
          </a:p>
          <a:p/>
          <a:p>
            <a:r>
              <a:t>O problema é outro: um modelo treinado assim aprende O SIMULADOR, não a planta.</a:t>
            </a:r>
          </a:p>
          <a:p>
            <a:r>
              <a:t>O MAC simulado é CSMA-CA do 802.15.4; o rádio real usa o MAC proprietário do</a:t>
            </a:r>
          </a:p>
          <a:p>
            <a:r>
              <a:t>fabricante. Um classificador treinado nos rótulos do simulador aprenderia a</a:t>
            </a:r>
          </a:p>
          <a:p>
            <a:r>
              <a:t>assinatura do modelo — e não há evidência de que ela transfira.</a:t>
            </a:r>
          </a:p>
          <a:p/>
          <a:p>
            <a:r>
              <a:t>O sistema especialista faz o inverso: codifica conhecimento de engenharia que</a:t>
            </a:r>
          </a:p>
          <a:p>
            <a:r>
              <a:t>vale para a planta, e que pode ser contestado regra a regra. Onde há rótulos, a</a:t>
            </a:r>
          </a:p>
          <a:p>
            <a:r>
              <a:t>indução é possível; onde eles não representam o alvo, ela é apenas confiante.</a:t>
            </a:r>
          </a:p>
          <a:p/>
          <a:p>
            <a:r>
              <a:t>Para a rede de CAMPO o argumento antigo continua valendo, e por isso a segunda</a:t>
            </a:r>
          </a:p>
          <a:p>
            <a:r>
              <a:t>base de conhecimento existe: lá não há rótulo algum.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Nenhuma das colunas é superior em abstrato. A escolha depende do que se tem.</a:t>
            </a:r>
          </a:p>
          <a:p/>
          <a:p>
            <a:r>
              <a:t>Onde não há dados rotulados, o caminho honesto é codificar conhecimento de</a:t>
            </a:r>
          </a:p>
          <a:p>
            <a:r>
              <a:t>engenharia em regras explícitas. A vantagem não é só de disponibilidade: um</a:t>
            </a:r>
          </a:p>
          <a:p>
            <a:r>
              <a:t>especialista pode discordar da regra R14 e mudar apenas ela. Não se discute</a:t>
            </a:r>
          </a:p>
          <a:p>
            <a:r>
              <a:t>assim com um peso de rede neural.</a:t>
            </a:r>
          </a:p>
          <a:p/>
          <a:p>
            <a:r>
              <a:t>Se perguntarem "e quando houver dados?", a resposta está na próxima decisão de</a:t>
            </a:r>
          </a:p>
          <a:p>
            <a:r>
              <a:t>projeto: os limiares estão num único bloco, prontos para calibração.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Transição: sabemos por que é simbólico. Agora, como se constrói.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Enquadre como um problema de classificação com evidência incerta. Sensores</a:t>
            </a:r>
          </a:p>
          <a:p>
            <a:r>
              <a:t>são imperfeitos, dados são incompletos, fenômenos variam.</a:t>
            </a:r>
          </a:p>
          <a:p/>
          <a:p>
            <a:r>
              <a:t>Guarde a última linha: "recomenda, não atua". Voltaremos a ela no tema 2, onde</a:t>
            </a:r>
          </a:p>
          <a:p>
            <a:r>
              <a:t>ela deixa de ser um princípio e vira uma precondição.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Insista na separação entre base de conhecimento e motor de inferência: é ela</a:t>
            </a:r>
          </a:p>
          <a:p>
            <a:r>
              <a:t>que permite trocar o conhecimento sem reescrever o raciocínio.</a:t>
            </a:r>
          </a:p>
          <a:p/>
          <a:p>
            <a:r>
              <a:t>No repositório essa separação é real, não nominal: o motor não sabe nada sobre</a:t>
            </a:r>
          </a:p>
          <a:p>
            <a:r>
              <a:t>redes. Se ele funciona aqui, funciona em qualquer domínio que se escreva em</a:t>
            </a:r>
          </a:p>
          <a:p>
            <a:r>
              <a:t>regras — e essa é a condição para reutilizá-lo como fonte de conhecimento no</a:t>
            </a:r>
          </a:p>
          <a:p>
            <a:r>
              <a:t>trabalho multiespecialista de 25/09.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Treze variáveis em três níveis: PHY pelo espectro, MAC pelo contador de</a:t>
            </a:r>
          </a:p>
          <a:p>
            <a:r>
              <a:t>retransmissão, fluxo pelo FlowMonitor. Não leia a tabela — aponte a estrutura.</a:t>
            </a:r>
          </a:p>
          <a:p/>
          <a:p>
            <a:r>
              <a:t>A linha a destacar é retry_rate_pct. É o único valor que separa "o meio está</a:t>
            </a:r>
          </a:p>
          <a:p>
            <a:r>
              <a:t>disputado" de "o sinal está fraco": no nível de fluxo as duas causas produzem</a:t>
            </a:r>
          </a:p>
          <a:p>
            <a:r>
              <a:t>perda e ficam indistinguíveis. E é uma grandeza que só existe porque a rede é</a:t>
            </a:r>
          </a:p>
          <a:p>
            <a:r>
              <a:t>sem fio e o meio é compartilhado.</a:t>
            </a:r>
          </a:p>
          <a:p/>
          <a:p>
            <a:r>
              <a:t>Note também excess_path_loss_db: no simulador a perda de percurso é COMANDADA,</a:t>
            </a:r>
          </a:p>
          <a:p>
            <a:r>
              <a:t>não observada — é isso que torna a condição repetível, e rotulável.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figura é a base simulada, S01 a S42 — as mesmas regras que rodaram nas</a:t>
            </a:r>
          </a:p>
          <a:p>
            <a:r>
              <a:t>demonstrações desta apresentação.</a:t>
            </a:r>
          </a:p>
          <a:p/>
          <a:p>
            <a:r>
              <a:t>Percorra as camadas de baixo para cima: medição vira qualidade de sinal,</a:t>
            </a:r>
          </a:p>
          <a:p>
            <a:r>
              <a:t>estado e desempenho viram sintoma, evidência vira diagnóstico, diagnóstico vira</a:t>
            </a:r>
          </a:p>
          <a:p>
            <a:r>
              <a:t>ação, ação vira exigência de autorização.</a:t>
            </a:r>
          </a:p>
          <a:p/>
          <a:p>
            <a:r>
              <a:t>A pergunta a fazer em voz alta: por que estratificar? Porque as regras de</a:t>
            </a:r>
          </a:p>
          <a:p>
            <a:r>
              <a:t>diagnóstico nunca leem rssi_dbm diretamente — leem signal_quality. Trocar o</a:t>
            </a:r>
          </a:p>
          <a:p>
            <a:r>
              <a:t>sensor de RF muda a camada 1 e nada mais. Isso é modularidade do conhecimento, e</a:t>
            </a:r>
          </a:p>
          <a:p>
            <a:r>
              <a:t>é uma vantagem prática de regras sobre código procedural.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S14 é a regra mais própria deste domínio: perda alta COM sinal saudável e sem</a:t>
            </a:r>
          </a:p>
          <a:p>
            <a:r>
              <a:t>emissor concorrente não é propagação — é disputa pelo meio. Num enlace com fio</a:t>
            </a:r>
          </a:p>
          <a:p>
            <a:r>
              <a:t>essa hipótese não existiria; é o CSMA-CA que a cria.</a:t>
            </a:r>
          </a:p>
          <a:p/>
          <a:p>
            <a:r>
              <a:t>S25 é a contra-evidência. O fator de certeza negativo diz "retransmissão baixa é</a:t>
            </a:r>
          </a:p>
          <a:p>
            <a:r>
              <a:t>evidência CONTRA contenção". Regras booleanas obrigariam a escolher entre ignorar</a:t>
            </a:r>
          </a:p>
          <a:p>
            <a:r>
              <a:t>essa evidência e afirmar demais. O especialista real raciocina assim: certas</a:t>
            </a:r>
          </a:p>
          <a:p>
            <a:r>
              <a:t>observações reduzem a suspeita sem eliminá-la.</a:t>
            </a:r>
          </a:p>
          <a:p/>
          <a:p>
            <a:r>
              <a:t>S37 é a porta de governança, e prepara o tema 2: alterar o cenário durante uma</a:t>
            </a:r>
          </a:p>
          <a:p>
            <a:r>
              <a:t>campanha invalida a execução, portanto exige janela autorizada.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Faça a aritmética no quadro, não só no slide.</a:t>
            </a:r>
          </a:p>
          <a:p/>
          <a:p>
            <a:r>
              <a:t>Duas evidências de 0,8 dão 0,96: mais forte que qualquer uma isolada, e ainda</a:t>
            </a:r>
          </a:p>
          <a:p>
            <a:r>
              <a:t>assim longe da certeza. Evidências contraditórias de +0,8 e -0,8 cancelam-se</a:t>
            </a:r>
          </a:p>
          <a:p>
            <a:r>
              <a:t>exatamente em zero.</a:t>
            </a:r>
          </a:p>
          <a:p/>
          <a:p>
            <a:r>
              <a:t>Se perguntarem por que não probabilidade bayesiana: fatores de certeza não</a:t>
            </a:r>
          </a:p>
          <a:p>
            <a:r>
              <a:t>exigem probabilidades a priori nem independência condicional — que, sem dados,</a:t>
            </a:r>
          </a:p>
          <a:p>
            <a:r>
              <a:t>não há como estimar. O preço é que a álgebra é heurística, não</a:t>
            </a:r>
          </a:p>
          <a:p>
            <a:r>
              <a:t>probabilisticamente fundamentada. É o mesmo compromisso do MYCIN, e a mesma</a:t>
            </a:r>
          </a:p>
          <a:p>
            <a:r>
              <a:t>limitação. Diga a limitação; ela fortalece a apresentação, não a enfraquece.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Explique por que disparar uma regra por ciclo e não todas de uma vez: se o</a:t>
            </a:r>
          </a:p>
          <a:p>
            <a:r>
              <a:t>motor disparasse tudo simultaneamente, a resolução de conflito não teria efeito</a:t>
            </a:r>
          </a:p>
          <a:p>
            <a:r>
              <a:t>observável e o trace não contaria uma história.</a:t>
            </a:r>
          </a:p>
          <a:p/>
          <a:p>
            <a:r>
              <a:t>Este é o modo em que o sistema seria acoplado a um sistema de monitoramento</a:t>
            </a:r>
          </a:p>
          <a:p>
            <a:r>
              <a:t>real: a telemetria chega, o motor conclui sozinho.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Rode ao vivo. Percorra o trace regra a regra com o dedo na tela: a cadeia</a:t>
            </a:r>
          </a:p>
          <a:p>
            <a:r>
              <a:t>inteira é legível, da medição até a exigência de autorização.</a:t>
            </a:r>
          </a:p>
          <a:p/>
          <a:p>
            <a:r>
              <a:t>Aponte a última linha: excess_path_loss aparece com CF NEGATIVO. O sistema não</a:t>
            </a:r>
          </a:p>
          <a:p>
            <a:r>
              <a:t>apenas escolheu uma hipótese — registrou evidência contra outra. Isso é o que</a:t>
            </a:r>
          </a:p>
          <a:p>
            <a:r>
              <a:t>distingue um sistema com incerteza de um classificador que só devolve um rótulo.</a:t>
            </a:r>
          </a:p>
          <a:p/>
          <a:p>
            <a:r>
              <a:t>E note o que a conclusão significa: o sinal está BOM e mesmo assim há perda. Um</a:t>
            </a:r>
          </a:p>
          <a:p>
            <a:r>
              <a:t>diagnóstico de propagação estaria errado aqui, e a retransmissão do MAC é o que</a:t>
            </a:r>
          </a:p>
          <a:p>
            <a:r>
              <a:t>impede o sistema de cometer esse erro.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curto-circuito é o ponto técnico que vale explicar. Sem ele, o modo</a:t>
            </a:r>
          </a:p>
          <a:p>
            <a:r>
              <a:t>regressivo pergunta quase tanto quanto o progressivo — e perde a razão de</a:t>
            </a:r>
          </a:p>
          <a:p>
            <a:r>
              <a:t>existir. Foi, aliás, um defeito real: um teste apanhou o motor perguntando todas</a:t>
            </a:r>
          </a:p>
          <a:p>
            <a:r>
              <a:t>as 13 variáveis, e a correção foi abandonar a regra assim que uma condição se</a:t>
            </a:r>
          </a:p>
          <a:p>
            <a:r>
              <a:t>mostra falsa.</a:t>
            </a:r>
          </a:p>
          <a:p/>
          <a:p>
            <a:r>
              <a:t>Mencione que o teste</a:t>
            </a:r>
          </a:p>
          <a:p>
            <a:r>
              <a:t>test_backward_chaining_matches_forward_chaining_on_the_same_evidence</a:t>
            </a:r>
          </a:p>
          <a:p>
            <a:r>
              <a:t>verifica que os dois sentidos, com a mesma evidência, concluem o mesmo.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é o único momento não roteirizado da apresentação. Ensaie antes.</a:t>
            </a:r>
          </a:p>
          <a:p/>
          <a:p>
            <a:r>
              <a:t>Digite "?" numa das perguntas para mostrar o "por quê": o motor exibe a cadeia</a:t>
            </a:r>
          </a:p>
          <a:p>
            <a:r>
              <a:t>de regras que o levou até ali. Um sistema que só responde não é utilizável em</a:t>
            </a:r>
          </a:p>
          <a:p>
            <a:r>
              <a:t>operação crítica; um que mostra o caminho pode ser auditado e contestado.</a:t>
            </a:r>
          </a:p>
          <a:p/>
          <a:p>
            <a:r>
              <a:t>Aceita também uma certeza junto da resposta: "no 0.6" informa a resposta com</a:t>
            </a:r>
          </a:p>
          <a:p>
            <a:r>
              <a:t>confiança 0,6 em vez de certeza.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Quando várias regras estão prontas, é preciso escolher. As três políticas são</a:t>
            </a:r>
          </a:p>
          <a:p>
            <a:r>
              <a:t>selecionáveis em tempo de execução — mostre com --strategy recency que a ordem</a:t>
            </a:r>
          </a:p>
          <a:p>
            <a:r>
              <a:t>de disparo muda.</a:t>
            </a:r>
          </a:p>
          <a:p/>
          <a:p>
            <a:r>
              <a:t>A afirmação a fazer, e que é verificada em teste: com regras monotônicas, a</a:t>
            </a:r>
          </a:p>
          <a:p>
            <a:r>
              <a:t>política muda a ORDEM do raciocínio, não o ponto fixo. Há teste para as duas</a:t>
            </a:r>
          </a:p>
          <a:p>
            <a:r>
              <a:t>metades: que as ordens diferem entre políticas, e que o diagnóstico final é o</a:t>
            </a:r>
          </a:p>
          <a:p>
            <a:r>
              <a:t>mesmo.</a:t>
            </a:r>
          </a:p>
          <a:p/>
          <a:p>
            <a:r>
              <a:t>Este é o diferencial barato da apresentação: a maioria dos trabalhos não trata</a:t>
            </a:r>
          </a:p>
          <a:p>
            <a:r>
              <a:t>resolução de conflito.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"como" desce recursivamente das conclusões até os fatos informados pelo</a:t>
            </a:r>
          </a:p>
          <a:p>
            <a:r>
              <a:t>usuário, citando em cada nível a regra e a justificativa em linguagem natural</a:t>
            </a:r>
          </a:p>
          <a:p>
            <a:r>
              <a:t>que ela carrega.</a:t>
            </a:r>
          </a:p>
          <a:p/>
          <a:p>
            <a:r>
              <a:t>Contraste com ELIZA, que abrimos na primeira aula: ELIZA produzia respostas</a:t>
            </a:r>
          </a:p>
          <a:p>
            <a:r>
              <a:t>convincentes sem modelo do domínio. Aqui, toda conclusão é rastreável até a</a:t>
            </a:r>
          </a:p>
          <a:p>
            <a:r>
              <a:t>regra e o fato que a sustentam. É a diferença entre parecer e poder mostrar.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Oito casos, oito diagnósticos corretos. Mas o ponto não é o acerto — é que</a:t>
            </a:r>
          </a:p>
          <a:p>
            <a:r>
              <a:t>o nome do caso É o rótulo verdadeiro, porque o operador comandou a condição</a:t>
            </a:r>
          </a:p>
          <a:p>
            <a:r>
              <a:t>antes de executar.</a:t>
            </a:r>
          </a:p>
          <a:p/>
          <a:p>
            <a:r>
              <a:t>Isso é o que a bancada de campo não pode oferecer: no campo ninguém sabe, no</a:t>
            </a:r>
          </a:p>
          <a:p>
            <a:r>
              <a:t>momento da medição, o que causou a perda. Aqui sabe-se por construção, e a</a:t>
            </a:r>
          </a:p>
          <a:p>
            <a:r>
              <a:t>execução pode ser repetida.</a:t>
            </a:r>
          </a:p>
          <a:p/>
          <a:p>
            <a:r>
              <a:t>Aponte node_failure: CF +0,80, o mais baixo. Não é defeito — é o sistema</a:t>
            </a:r>
          </a:p>
          <a:p>
            <a:r>
              <a:t>admitindo que um nó calado tem mais de uma explicação possível.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Feche o tema 1 pelos limites, e não pelos resultados.</a:t>
            </a:r>
          </a:p>
          <a:p/>
          <a:p>
            <a:r>
              <a:t>Os limiares vieram de faixas de folha de dados de rádio sub-GHz e de prática</a:t>
            </a:r>
          </a:p>
          <a:p>
            <a:r>
              <a:t>comum de telecom — são ponto de partida para calibração, não valores medidos.</a:t>
            </a:r>
          </a:p>
          <a:p/>
          <a:p>
            <a:r>
              <a:t>A decisão de projeto que importa: eles estão todos num único dicionário</a:t>
            </a:r>
          </a:p>
          <a:p>
            <a:r>
              <a:t>THRESHOLDS. Quando existir linha de base medida, ajustam-se os valores e as</a:t>
            </a:r>
          </a:p>
          <a:p>
            <a:r>
              <a:t>regras não mudam. É por isso que o bloco está declarado num lugar só.</a:t>
            </a:r>
          </a:p>
          <a:p/>
          <a:p>
            <a:r>
              <a:t>O sistema diz isso na própria saída, ao fim de cada consulta.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Transição: o sistema especialista disse o que fazer. Agora, em que ordem.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Chame a atenção para o objetivo duplo: o serviço restaurado E o registro</a:t>
            </a:r>
          </a:p>
          <a:p>
            <a:r>
              <a:t>feito. Fechar a ordem de serviço sem registrar não satisfaz o objetivo.</a:t>
            </a:r>
          </a:p>
          <a:p/>
          <a:p>
            <a:r>
              <a:t>Isso é disciplina de evidência expressa como objetivo de planejamento — a mesma</a:t>
            </a:r>
          </a:p>
          <a:p>
            <a:r>
              <a:t>lógica de um laboratório que só aceita um resultado se ele estiver registrado.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À esquerda, a anatomia de um operador: precondições, lista de adição, lista</a:t>
            </a:r>
          </a:p>
          <a:p>
            <a:r>
              <a:t>de remoção. À direita, a recursão do GPS.</a:t>
            </a:r>
          </a:p>
          <a:p/>
          <a:p>
            <a:r>
              <a:t>Deixe claro que STRIPS e GPS não competem: STRIPS diz COMO DESCREVER uma ação,</a:t>
            </a:r>
          </a:p>
          <a:p>
            <a:r>
              <a:t>GPS diz COMO ESCOLHER a próxima. A mesma representação STRIPS pode ser resolvida</a:t>
            </a:r>
          </a:p>
          <a:p>
            <a:r>
              <a:t>por meios-fins, por busca progressiva ou por um planejador de ordem parcial — e</a:t>
            </a:r>
          </a:p>
          <a:p>
            <a:r>
              <a:t>neste trabalho ela é resolvida de duas maneiras.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Leia os três conjuntos. Depois explique a hipótese do mundo fechado: o estado</a:t>
            </a:r>
          </a:p>
          <a:p>
            <a:r>
              <a:t>é o conjunto dos literais VERDADEIROS, e tudo o que não está lá é considerado</a:t>
            </a:r>
          </a:p>
          <a:p>
            <a:r>
              <a:t>falso. Não precisamos dizer que a antena não está desalinhada — basta não dizer</a:t>
            </a:r>
          </a:p>
          <a:p>
            <a:r>
              <a:t>que está.</a:t>
            </a:r>
          </a:p>
          <a:p/>
          <a:p>
            <a:r>
              <a:t>Isso é o que torna o estado finito e a busca tratável.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Não leia a tabela inteira. Aponte três coisas:</a:t>
            </a:r>
          </a:p>
          <a:p/>
          <a:p>
            <a:r>
              <a:t>Primeiro: ninguém se desloca até um simulador, então o custo que importa não é</a:t>
            </a:r>
          </a:p>
          <a:p>
            <a:r>
              <a:t>a viagem da equipe — é a EXECUÇÃO. Alterar um parâmetro do cenário (o orçamento</a:t>
            </a:r>
          </a:p>
          <a:p>
            <a:r>
              <a:t>de percurso, o plano de canais) invalida a execução em curso, logo exige pará-la</a:t>
            </a:r>
          </a:p>
          <a:p>
            <a:r>
              <a:t>e retomá-la: 2 + 2 antes de qualquer reparo desse tipo.</a:t>
            </a:r>
          </a:p>
          <a:p/>
          <a:p>
            <a:r>
              <a:t>Segundo: reparos de tempo de execução — reativar um nó, corrigir uma rota — não</a:t>
            </a:r>
          </a:p>
          <a:p>
            <a:r>
              <a:t>exigem nada disso.</a:t>
            </a:r>
          </a:p>
          <a:p/>
          <a:p>
            <a:r>
              <a:t>Terceiro, e é o ponto: dois reparos de parâmetro cabem numa MESMA parada. O</a:t>
            </a:r>
          </a:p>
          <a:p>
            <a:r>
              <a:t>planejador agrupa. É a mesma decisão que a viagem da equipe forçava antes.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é o ponto de projeto mais forte do tema 2.</a:t>
            </a:r>
          </a:p>
          <a:p/>
          <a:p>
            <a:r>
              <a:t>Poderíamos ter escrito na documentação "não aja sem autorização". Em vez disso,</a:t>
            </a:r>
          </a:p>
          <a:p>
            <a:r>
              <a:t>authorized(?n) é precondição de todo operador que alcança a planta. O planejador</a:t>
            </a:r>
          </a:p>
          <a:p>
            <a:r>
              <a:t>não pode produzir um plano que aja sem autorização — não porque foi instruído a</a:t>
            </a:r>
          </a:p>
          <a:p>
            <a:r>
              <a:t>não fazê-lo, mas porque esse plano não existe no espaço de estados.</a:t>
            </a:r>
          </a:p>
          <a:p/>
          <a:p>
            <a:r>
              <a:t>Há um teste que verifica essa invariante em todos os oito diagnósticos.</a:t>
            </a:r>
          </a:p>
          <a:p/>
          <a:p>
            <a:r>
              <a:t>A exceção é start_run: retomar a execução não altera o cenário, apenas o repõe.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Newell e Simon, 1959. A contribuição conceitual é dupla.</a:t>
            </a:r>
          </a:p>
          <a:p/>
          <a:p>
            <a:r>
              <a:t>Primeiro, o vocabulário: estados, operadores, objetivos, subobjetivos — que o</a:t>
            </a:r>
          </a:p>
          <a:p>
            <a:r>
              <a:t>planejamento usa até hoje.</a:t>
            </a:r>
          </a:p>
          <a:p/>
          <a:p>
            <a:r>
              <a:t>Segundo, e mais importante para nós: o porquê de cada ação fica explícito. Cada</a:t>
            </a:r>
          </a:p>
          <a:p>
            <a:r>
              <a:t>ação existe para eliminar uma diferença concreta. Compare com a saída de um</a:t>
            </a:r>
          </a:p>
          <a:p>
            <a:r>
              <a:t>solver moderno, que devolve um plano ótimo sem dizer por que cada passo está</a:t>
            </a:r>
          </a:p>
          <a:p>
            <a:r>
              <a:t>ali.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Percorra o trace com o dedo. Cada linha "DIFERENÇA a reduzir" é uma pergunta;</a:t>
            </a:r>
          </a:p>
          <a:p>
            <a:r>
              <a:t>cada "operador candidato" é uma tentativa de resposta; e a recursão termina</a:t>
            </a:r>
          </a:p>
          <a:p>
            <a:r>
              <a:t>quando a diferença desaparece — aqui, quando descobrimos que a equipe já está na</a:t>
            </a:r>
          </a:p>
          <a:p>
            <a:r>
              <a:t>base.</a:t>
            </a:r>
          </a:p>
          <a:p/>
          <a:p>
            <a:r>
              <a:t>O plano final é a pilha desfeita na ordem inversa.</a:t>
            </a:r>
          </a:p>
          <a:p/>
          <a:p>
            <a:r>
              <a:t>$ aisg plan --simulated --diagnosis mac_contention --node RM_A5 --solver gps --trace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Diga as limitações você mesmo. Um trabalho que apresenta só os acertos convida</a:t>
            </a:r>
          </a:p>
          <a:p>
            <a:r>
              <a:t>a pergunta; um que apresenta os limites demonstra domínio.</a:t>
            </a:r>
          </a:p>
          <a:p/>
          <a:p>
            <a:r>
              <a:t>A anomalia de Sussman merece a explicação: alcançar o objetivo A e depois o</a:t>
            </a:r>
          </a:p>
          <a:p>
            <a:r>
              <a:t>objetivo B pode destruir A. Nossa implementação não resolve o problema — adota a</a:t>
            </a:r>
          </a:p>
          <a:p>
            <a:r>
              <a:t>defesa mínima de reverificar ao final e falhar explicitamente. Falhar de forma</a:t>
            </a:r>
          </a:p>
          <a:p>
            <a:r>
              <a:t>visível é melhor que devolver um plano que não funciona.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caso está num teste do repositório, não é hipotético:</a:t>
            </a:r>
          </a:p>
          <a:p>
            <a:r>
              <a:t>test_gps_can_be_suboptimal_when_a_cheap_action_has_expensive_preconditions.</a:t>
            </a:r>
          </a:p>
          <a:p/>
          <a:p>
            <a:r>
              <a:t>O GPS vê um operador de custo 1 e escolhe-o. Não vê que ele exige um</a:t>
            </a:r>
          </a:p>
          <a:p>
            <a:r>
              <a:t>deslocamento de custo 10. O A*, que raciocina sobre o custo acumulado do caminho</a:t>
            </a:r>
          </a:p>
          <a:p>
            <a:r>
              <a:t>inteiro, encontra o plano de custo 3.</a:t>
            </a:r>
          </a:p>
          <a:p/>
          <a:p>
            <a:r>
              <a:t>É exatamente por isso que os dois planejadores convivem no mesmo repositório: um</a:t>
            </a:r>
          </a:p>
          <a:p>
            <a:r>
              <a:t>explica, o outro garante.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Feito esse mapeamento, QUALQUER algoritmo de busca resolve o planejamento.</a:t>
            </a:r>
          </a:p>
          <a:p/>
          <a:p>
            <a:r>
              <a:t>E aqui está o ponto que liga os temas 2 e 3: a mesma função astar do terceiro</a:t>
            </a:r>
          </a:p>
          <a:p>
            <a:r>
              <a:t>trabalho resolve o planejamento. Não é uma cópia adaptada — é a mesma função,</a:t>
            </a:r>
          </a:p>
          <a:p>
            <a:r>
              <a:t>importada de aisg.search.algorithms. Uma implementação, dois espaços de estados.</a:t>
            </a:r>
          </a:p>
          <a:p/>
          <a:p>
            <a:r>
              <a:t>Se houver uma única coisa a lembrar deste tema, é esta.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slide é sobre honestidade técnica.</a:t>
            </a:r>
          </a:p>
          <a:p/>
          <a:p>
            <a:r>
              <a:t>Seria fácil escrever "usamos a heurística de contagem de objetivos" e seguir em</a:t>
            </a:r>
          </a:p>
          <a:p>
            <a:r>
              <a:t>frente. Mas ela só é admissível sob duas condições, e essas condições precisam</a:t>
            </a:r>
          </a:p>
          <a:p>
            <a:r>
              <a:t>ser verificadas no domínio — o que fizemos.</a:t>
            </a:r>
          </a:p>
          <a:p/>
          <a:p>
            <a:r>
              <a:t>A frase final é a que importa: uma heurística inadmissível não quebra o A*. Ele</a:t>
            </a:r>
          </a:p>
          <a:p>
            <a:r>
              <a:t>continua rodando e passa a devolver soluções subótimas SEM AVISAR. Por isso a</a:t>
            </a:r>
          </a:p>
          <a:p>
            <a:r>
              <a:t>admissibilidade se demonstra, não se presume.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Rode ao vivo. Note a ordem: autorização, parar a execução, alterar o parâmetro,</a:t>
            </a:r>
          </a:p>
          <a:p>
            <a:r>
              <a:t>retomar, verificar, registrar, encerrar. A verificação só é possível com a</a:t>
            </a:r>
          </a:p>
          <a:p>
            <a:r>
              <a:t>execução ativa — por isso parar é um custo, e não uma precaução gratuita.</a:t>
            </a:r>
          </a:p>
          <a:p/>
          <a:p>
            <a:r>
              <a:t>Sobre validação: um plano só vale se for executável passo a passo E atingir o</a:t>
            </a:r>
          </a:p>
          <a:p>
            <a:r>
              <a:t>objetivo. Plan.validate() reexecuta o plano desde o estado inicial e aponta o</a:t>
            </a:r>
          </a:p>
          <a:p>
            <a:r>
              <a:t>primeiro passo inaplicável com a precondição que faltou.</a:t>
            </a:r>
          </a:p>
          <a:p/>
          <a:p>
            <a:r>
              <a:t>Dois testes corrompem planos de propósito — um remove a autorização, outro</a:t>
            </a:r>
          </a:p>
          <a:p>
            <a:r>
              <a:t>remove o encerramento — para provar que a validação apanha os dois defeitos.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Rode o caso de congestionamento com um destino inalcançável:</a:t>
            </a:r>
          </a:p>
          <a:p/>
          <a:p>
            <a:r>
              <a:t>  aisg pipeline --case congestion --node AP_A --target SUB_S1</a:t>
            </a:r>
          </a:p>
          <a:p/>
          <a:p>
            <a:r>
              <a:t>O diagnóstico sai, a ação recomendada sai — e o planejador responde "nenhum plano</a:t>
            </a:r>
          </a:p>
          <a:p>
            <a:r>
              <a:t>encontrado". Porque não existe rota alternativa até aquele destino evitando o nó</a:t>
            </a:r>
          </a:p>
          <a:p>
            <a:r>
              <a:t>congestionado, e desviar é a única forma de resolver congestionamento.</a:t>
            </a:r>
          </a:p>
          <a:p/>
          <a:p>
            <a:r>
              <a:t>Ele poderia ter reparado outra coisa e declarado serviço restaurado. Não o faz.</a:t>
            </a:r>
          </a:p>
          <a:p/>
          <a:p>
            <a:r>
              <a:t>Este é o comportamento que mais custa a construir e que menos se nota: recusar-se</a:t>
            </a:r>
          </a:p>
          <a:p>
            <a:r>
              <a:t>a prometer. Num sistema de recomendação operacional é a diferença entre útil e</a:t>
            </a:r>
          </a:p>
          <a:p>
            <a:r>
              <a:t>perigoso — e há teste que o verifica, porque foi um defeito real antes de ser uma</a:t>
            </a:r>
          </a:p>
          <a:p>
            <a:r>
              <a:t>garantia.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é o segundo ponto de contato entre os trabalhos, e o mais concreto.</a:t>
            </a:r>
          </a:p>
          <a:p/>
          <a:p>
            <a:r>
              <a:t>O planejador poderia simplesmente assumir que existe rota alternativa. Em vez</a:t>
            </a:r>
          </a:p>
          <a:p>
            <a:r>
              <a:t>disso, ele pergunta ao A*: existe caminho de NOC até o dispositivo de campo que</a:t>
            </a:r>
          </a:p>
          <a:p>
            <a:r>
              <a:t>não passe pelo nó congestionado? Se a resposta é não, o literal não entra no</a:t>
            </a:r>
          </a:p>
          <a:p>
            <a:r>
              <a:t>estado inicial e o desvio deixa de ser uma opção.</a:t>
            </a:r>
          </a:p>
          <a:p/>
          <a:p>
            <a:r>
              <a:t>Há teste para os dois lados: com rota e sem rota.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Transição: já usamos o A* duas vezes sem explicá-lo. Agora explicamos.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Explique o modelo de custo antes do algoritmo, porque a prova depende dele.</a:t>
            </a:r>
          </a:p>
          <a:p/>
          <a:p>
            <a:r>
              <a:t>A velocidade é uma velocidade EFETIVA de transporte, não uma velocidade física</a:t>
            </a:r>
          </a:p>
          <a:p>
            <a:r>
              <a:t>de propagação: é uma abstração que reúne serialização, enfileiramento e o fato</a:t>
            </a:r>
          </a:p>
          <a:p>
            <a:r>
              <a:t>de que saltos de rádio mais longos operam com modulação mais robusta — e</a:t>
            </a:r>
          </a:p>
          <a:p>
            <a:r>
              <a:t>portanto mais lenta.</a:t>
            </a:r>
          </a:p>
          <a:p/>
          <a:p>
            <a:r>
              <a:t>Diga que é uma abstração. Um revisor que perceba isso sozinho vai desconfiar do</a:t>
            </a:r>
          </a:p>
          <a:p>
            <a:r>
              <a:t>resto.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À esquerda, o caminho ótimo com os custos salto a salto. À direita, a</a:t>
            </a:r>
          </a:p>
          <a:p>
            <a:r>
              <a:t>heurística, as duas provas, e a tabela comparativa.</a:t>
            </a:r>
          </a:p>
          <a:p/>
          <a:p>
            <a:r>
              <a:t>As duas metades de f importam: só g dá o custo uniforme, que é ótimo mas cego; só</a:t>
            </a:r>
          </a:p>
          <a:p>
            <a:r>
              <a:t>h dá a busca gulosa, que é rápida mas sem garantia. O A* é a combinação — e a</a:t>
            </a:r>
          </a:p>
          <a:p>
            <a:r>
              <a:t>tabela mostra exatamente isso.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Estes três pontos costumam faltar em implementações de sala de aula.</a:t>
            </a:r>
          </a:p>
          <a:p/>
          <a:p>
            <a:r>
              <a:t>O desempate importa para a reprodutibilidade: sem ele, duas execuções podem</a:t>
            </a:r>
          </a:p>
          <a:p>
            <a:r>
              <a:t>devolver caminhos diferentes de mesmo custo, e a demonstração fica instável.</a:t>
            </a:r>
          </a:p>
          <a:p/>
          <a:p>
            <a:r>
              <a:t>A reabertura é o caso geral: nossa heurística é consistente, então nunca</a:t>
            </a:r>
          </a:p>
          <a:p>
            <a:r>
              <a:t>acontece — mas tratamos, em vez de SUPOR a consistência. Supor é como se</a:t>
            </a:r>
          </a:p>
          <a:p>
            <a:r>
              <a:t>introduzem defeitos silenciosos.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é o momento de nível de doutorado da apresentação. Vá devagar.</a:t>
            </a:r>
          </a:p>
          <a:p/>
          <a:p>
            <a:r>
              <a:t>A chave é dividir pela velocidade MÁXIMA do sistema — a da fibra. Como nenhum</a:t>
            </a:r>
          </a:p>
          <a:p>
            <a:r>
              <a:t>enlace pode ser mais rápido que o mais rápido de todos, e como a sobrecarga</a:t>
            </a:r>
          </a:p>
          <a:p>
            <a:r>
              <a:t>nunca é negativa, cada salto custa pelo menos a distância percorrida dividida</a:t>
            </a:r>
          </a:p>
          <a:p>
            <a:r>
              <a:t>por esse máximo. A desigualdade triangular fecha o argumento.</a:t>
            </a:r>
          </a:p>
          <a:p/>
          <a:p>
            <a:r>
              <a:t>E não é acidente: o modelo de custo foi PROJETADO para que a prova se sustente.</a:t>
            </a:r>
          </a:p>
          <a:p>
            <a:r>
              <a:t>As distâncias são derivadas das coordenadas, nunca armazenadas em separado, de</a:t>
            </a:r>
          </a:p>
          <a:p>
            <a:r>
              <a:t>modo que geometria e heurística não podem divergir.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Termine a matemática e passe imediatamente à verificação. Não paramos no</a:t>
            </a:r>
          </a:p>
          <a:p>
            <a:r>
              <a:t>argumento: dois testes checam as duas propriedades exaustivamente, comparando</a:t>
            </a:r>
          </a:p>
          <a:p>
            <a:r>
              <a:t>contra o custo ótimo obtido por busca de custo uniforme — que não usa heurística</a:t>
            </a:r>
          </a:p>
          <a:p>
            <a:r>
              <a:t>nenhuma e serve de verdade de referência.</a:t>
            </a:r>
          </a:p>
          <a:p/>
          <a:p>
            <a:r>
              <a:t>Se alguém perguntar "como você sabe que a prova está certa?", a resposta é que a</a:t>
            </a:r>
          </a:p>
          <a:p>
            <a:r>
              <a:t>prova e o teste concordam em mais de mil pares.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tabela é o centro do tema 3. Leia as três lições:</a:t>
            </a:r>
          </a:p>
          <a:p/>
          <a:p>
            <a:r>
              <a:t>Primeira, e este exemplo é melhor que o anterior: a busca em largura minimiza</a:t>
            </a:r>
          </a:p>
          <a:p>
            <a:r>
              <a:t>SALTOS, não custo — e aqui o caminho ÓTIMO TEM MAIS SALTOS. A largura acha 2</a:t>
            </a:r>
          </a:p>
          <a:p>
            <a:r>
              <a:t>saltos por 381 ms; o A* acha 3 saltos por 70. Cinco vezes mais barato, com um</a:t>
            </a:r>
          </a:p>
          <a:p>
            <a:r>
              <a:t>salto a mais. Não há demonstração mais direta de que salto não é custo.</a:t>
            </a:r>
          </a:p>
          <a:p/>
          <a:p>
            <a:r>
              <a:t>Segunda: a gulosa é a mais rápida E ESTÁ ERRADA. Cinco expansões contra onze do</a:t>
            </a:r>
          </a:p>
          <a:p>
            <a:r>
              <a:t>A*, e um caminho 3,9 vezes mais caro. É o argumento mais direto a favor do termo</a:t>
            </a:r>
          </a:p>
          <a:p>
            <a:r>
              <a:t>g(n).</a:t>
            </a:r>
          </a:p>
          <a:p/>
          <a:p>
            <a:r>
              <a:t>Terceira: o A* alcança o mesmo ótimo do custo uniforme expandindo menos nós. A</a:t>
            </a:r>
          </a:p>
          <a:p>
            <a:r>
              <a:t>heurística não muda a resposta; muda o trabalho necessário para chegar a ela.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caminho ótimo desce pelo núcleo — fibra e ethernet — em vez de atravessar um</a:t>
            </a:r>
          </a:p>
          <a:p>
            <a:r>
              <a:t>salto de rádio direto.</a:t>
            </a:r>
          </a:p>
          <a:p/>
          <a:p>
            <a:r>
              <a:t>A largura escolhe o caminho de 2 saltos porque conta saltos. Mas aquele salto de</a:t>
            </a:r>
          </a:p>
          <a:p>
            <a:r>
              <a:t>rádio custa sozinho mais do que os três saltos do núcleo somados. É exatamente</a:t>
            </a:r>
          </a:p>
          <a:p>
            <a:r>
              <a:t>o erro que a tabela anterior mede.</a:t>
            </a:r>
          </a:p>
          <a:p/>
          <a:p>
            <a:r>
              <a:t>Este é o tipo de conclusão que um operador de rede tiraria de um estudo de</a:t>
            </a:r>
          </a:p>
          <a:p>
            <a:r>
              <a:t>planejamento — e o algoritmo chegou a ela sozinho.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Um único par pode ser sorte. Estes números somam todos os pares ORDENADOS</a:t>
            </a:r>
          </a:p>
          <a:p>
            <a:r>
              <a:t>(origem, destino) de cada cenário — 272 no de campo, 870 no simulado. Diga</a:t>
            </a:r>
          </a:p>
          <a:p>
            <a:r>
              <a:t>"ordenados": a contagem muda pela metade se forem não ordenados, e a pergunta</a:t>
            </a:r>
          </a:p>
          <a:p>
            <a:r>
              <a:t>vai ser feita.</a:t>
            </a:r>
          </a:p>
          <a:p/>
          <a:p>
            <a:r>
              <a:t>A economia é bem maior NESTE exemplo maior. Não diga que isso é uma lei de</a:t>
            </a:r>
          </a:p>
          <a:p>
            <a:r>
              <a:t>escala: são dois grafos, e dois pontos não estabelecem uma tendência. O que se</a:t>
            </a:r>
          </a:p>
          <a:p>
            <a:r>
              <a:t>pode afirmar é o que foi medido, e o teste verifica a RELAÇÃO entre os dois, não</a:t>
            </a:r>
          </a:p>
          <a:p>
            <a:r>
              <a:t>os números.</a:t>
            </a:r>
          </a:p>
          <a:p/>
          <a:p>
            <a:r>
              <a:t>O teste test_the_heuristic_saves_more_work_as_the_graph_grows verifica essa</a:t>
            </a:r>
          </a:p>
          <a:p>
            <a:r>
              <a:t>RELAÇÃO — que a economia cresce — e não os números específicos, que mudariam a</a:t>
            </a:r>
          </a:p>
          <a:p>
            <a:r>
              <a:t>cada ajuste na topologia.</a:t>
            </a:r>
          </a:p>
          <a:p/>
          <a:p>
            <a:r>
              <a:t>$ aisg --topology scale route --compare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Demonstre a injeção de falha ao vivo. É assim que a integração com o</a:t>
            </a:r>
          </a:p>
          <a:p>
            <a:r>
              <a:t>planejador funciona: quando o plano inclui desviar tráfego, a rota é recalculada</a:t>
            </a:r>
          </a:p>
          <a:p>
            <a:r>
              <a:t>evitando o nó afetado.</a:t>
            </a:r>
          </a:p>
          <a:p/>
          <a:p>
            <a:r>
              <a:t>O teste test_disabling_a_link_changes_the_optimal_route verifica exatamente</a:t>
            </a:r>
          </a:p>
          <a:p>
            <a:r>
              <a:t>isso: que o custo sobe e que o caminho muda.</a:t>
            </a:r>
          </a:p>
          <a:p/>
          <a:p>
            <a:r>
              <a:t>Este slide também responde a uma pergunta provável: o sistema lida com mudança?</a:t>
            </a:r>
          </a:p>
          <a:p>
            <a:r>
              <a:t>Lida — recalculando, não consultando uma tabela fixa.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slide existe porque a pergunta é boa e vai ser feita.</a:t>
            </a:r>
          </a:p>
          <a:p/>
          <a:p>
            <a:r>
              <a:t>Aprender a heurística NÃO esbarra no obstáculo do diagnóstico. O alvo de</a:t>
            </a:r>
          </a:p>
          <a:p>
            <a:r>
              <a:t>regressão é o custo real restante, e esse custo é calculável exatamente rodando</a:t>
            </a:r>
          </a:p>
          <a:p>
            <a:r>
              <a:t>Dijkstra a partir do objetivo. A supervisão é gratuita, exata e ilimitada — nada</a:t>
            </a:r>
          </a:p>
          <a:p>
            <a:r>
              <a:t>a ver com rotular falhas em campo.</a:t>
            </a:r>
          </a:p>
          <a:p/>
          <a:p>
            <a:r>
              <a:t>O ponto onde isso realmente pagaria não é o roteamento: ali a distância em linha</a:t>
            </a:r>
          </a:p>
          <a:p>
            <a:r>
              <a:t>reta já é quase perfeita e custa nada. É o PLANEJADOR, onde goal_count vale no</a:t>
            </a:r>
          </a:p>
          <a:p>
            <a:r>
              <a:t>máximo 2 e o espaço de estados não tem geometria para explorar. É exatamente o</a:t>
            </a:r>
          </a:p>
          <a:p>
            <a:r>
              <a:t>caso em que a literatura usa heurísticas aprendidas.</a:t>
            </a:r>
          </a:p>
          <a:p/>
          <a:p>
            <a:r>
              <a:t>O preço é a admissibilidade. Uma rede treinada por regressão pode superestimar, e</a:t>
            </a:r>
          </a:p>
          <a:p>
            <a:r>
              <a:t>aí o A* continua rodando e devolve planos subótimos SEM AVISAR — o mesmo risco</a:t>
            </a:r>
          </a:p>
          <a:p>
            <a:r>
              <a:t>que discutimos no slide da heurística goal_count.</a:t>
            </a:r>
          </a:p>
          <a:p/>
          <a:p>
            <a:r>
              <a:t>E aqui está o que torna este repositório bem posicionado para o experimento: já</a:t>
            </a:r>
          </a:p>
          <a:p>
            <a:r>
              <a:t>temos testes que verificam admissibilidade exaustivamente. Eles nao seriam</a:t>
            </a:r>
          </a:p>
          <a:p>
            <a:r>
              <a:t>apenas uma proteção — seriam o instrumento para MEDIR quantas vezes a heurística</a:t>
            </a:r>
          </a:p>
          <a:p>
            <a:r>
              <a:t>aprendida viola a admissibilidade, e em quanto. Isso é um resultado publicável,</a:t>
            </a:r>
          </a:p>
          <a:p>
            <a:r>
              <a:t>não um detalhe de implementação.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Feche o tema 3 amarrando-o ao tema 2.</a:t>
            </a:r>
          </a:p>
          <a:p/>
          <a:p>
            <a:r>
              <a:t>A busca está definida sobre um PROBLEMA ABSTRATO: estado inicial, teste de</a:t>
            </a:r>
          </a:p>
          <a:p>
            <a:r>
              <a:t>objetivo, função sucessora. Nada nela sabe o que é um nó de rede.</a:t>
            </a:r>
          </a:p>
          <a:p/>
          <a:p>
            <a:r>
              <a:t>Por isso a mesma função serve para achar um caminho num grafo de comunicação e</a:t>
            </a:r>
          </a:p>
          <a:p>
            <a:r>
              <a:t>para achar uma sequência de ações num espaço de estados de planejamento. Não há</a:t>
            </a:r>
          </a:p>
          <a:p>
            <a:r>
              <a:t>duas implementações de A* neste repositório — há uma, usada duas vezes.</a:t>
            </a:r>
          </a:p>
          <a:p/>
          <a:p>
            <a:r>
              <a:t>É o tipo de reuso que só aparece quando a abstração está certa.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Último bloco, e o único em que os três trabalhos aparecem juntos.</a:t>
            </a:r>
          </a:p>
          <a:p/>
          <a:p>
            <a:r>
              <a:t>Até aqui cada tema foi apresentado isoladamente. Agora mostre que eles formam um</a:t>
            </a:r>
          </a:p>
          <a:p>
            <a:r>
              <a:t>sistema: um incidente atravessa os três, e o que sai de um é a entrada do</a:t>
            </a:r>
          </a:p>
          <a:p>
            <a:r>
              <a:t>seguinte.</a:t>
            </a:r>
          </a:p>
          <a:p/>
          <a:p>
            <a:r>
              <a:t>Reserve tempo para as perguntas — com três temas de trinta minutos, elas tendem</a:t>
            </a:r>
          </a:p>
          <a:p>
            <a:r>
              <a:t>a concentrar-se no fim.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demonstração final. Um comando só.</a:t>
            </a:r>
          </a:p>
          <a:p/>
          <a:p>
            <a:r>
              <a:t>O sistema especialista diagnostica congestionamento. O diagnóstico vira o estado</a:t>
            </a:r>
          </a:p>
          <a:p>
            <a:r>
              <a:t>inicial do planejador. O planejador só pode propor desvio porque a busca A*</a:t>
            </a:r>
          </a:p>
          <a:p>
            <a:r>
              <a:t>CONFIRMOU que existe rota alternativa evitando o nó. E o plano sai com</a:t>
            </a:r>
          </a:p>
          <a:p>
            <a:r>
              <a:t>autorização, verificação e registro.</a:t>
            </a:r>
          </a:p>
          <a:p/>
          <a:p>
            <a:r>
              <a:t>Os três trabalhos não são três exercícios: são um sistema.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Feche pelos limites, e não pelos resultados. É o que separa um trabalho de</a:t>
            </a:r>
          </a:p>
          <a:p>
            <a:r>
              <a:t>engenharia de uma demonstração.</a:t>
            </a:r>
          </a:p>
          <a:p/>
          <a:p>
            <a:r>
              <a:t>Cada uma destas linhas é uma afirmação que o sistema faz sobre si mesmo — a</a:t>
            </a:r>
          </a:p>
          <a:p>
            <a:r>
              <a:t>última aparece impressa ao fim de cada consulta.</a:t>
            </a:r>
          </a:p>
          <a:p/>
          <a:p>
            <a:r>
              <a:t>Se houver tempo, mencione o que vem a seguir: o sistema multiespecialista e a</a:t>
            </a:r>
          </a:p>
          <a:p>
            <a:r>
              <a:t>eco-resolução em 25/09, e a análise do artigo sobre encadeamento em 02/10.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Não mostre este slide na apresentação — ele é a sua cola. Deixe-o oculto ou</a:t>
            </a:r>
          </a:p>
          <a:p>
            <a:r>
              <a:t>pule-o rapidamente.</a:t>
            </a:r>
          </a:p>
          <a:p/>
          <a:p>
            <a:r>
              <a:t>Se uma pergunta não estiver aqui e você não souber, a melhor resposta é a</a:t>
            </a:r>
          </a:p>
          <a:p>
            <a:r>
              <a:t>honesta: dizer o que sabe, dizer o que não verificou, e oferecer verificar.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Encerramento.</a:t>
            </a:r>
          </a:p>
          <a:p/>
          <a:p>
            <a:r>
              <a:t>O repositório é público, tem 155 testes verdes em integração contínua para</a:t>
            </a:r>
          </a:p>
          <a:p>
            <a:r>
              <a:t>Python 3.10 a 3.13, documentação bilíngue, e uma wiki que liga cada conceito da</a:t>
            </a:r>
          </a:p>
          <a:p>
            <a:r>
              <a:t>disciplina ao ponto do código que o implementa.</a:t>
            </a:r>
          </a:p>
          <a:p/>
          <a:p>
            <a:r>
              <a:t>Convide perguntas.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Material de consulta; não adiciona tempo à apresentação de 90 minutos.</a:t>
            </a:r>
          </a:p>
          <a:p>
            <a:r>
              <a:t>Esta é uma proposta de autoavaliação, não uma rubrica oficial.</a:t>
            </a:r>
          </a:p>
          <a:p/>
          <a:p>
            <a:r>
              <a:t>Procedimento: relacionar requisitos à evidência; identificar o commit e qualquer</a:t>
            </a:r>
          </a:p>
          <a:p>
            <a:r>
              <a:t>diff local; executar as verificações; justificar a pontuação por critério;</a:t>
            </a:r>
          </a:p>
          <a:p>
            <a:r>
              <a:t>registrar eventual manifestação explícita do professor. Sem resposta, manter o</a:t>
            </a:r>
          </a:p>
          <a:p>
            <a:r>
              <a:t>status de proposta. O endosso dos critérios não endossa automaticamente a nota.</a:t>
            </a:r>
          </a:p>
          <a:p/>
          <a:p>
            <a:r>
              <a:t>Detalhamento, matriz de evidências e texto sugerido para solicitar apreciação:</a:t>
            </a:r>
          </a:p>
          <a:p>
            <a:r>
              <a:t>docs/assessment-protocol.md. A revisão preliminar de 85/100 pertence ao commit</a:t>
            </a:r>
          </a:p>
          <a:p>
            <a:r>
              <a:t>8d47ced, anterior a esta rubrica detalhada, e não é nota docente. Defesa oral</a:t>
            </a:r>
          </a:p>
          <a:p>
            <a:r>
              <a:t>ainda não observada permanece pendente.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simplificação é uma escolha didática: permite concentrar a defesa em</a:t>
            </a:r>
          </a:p>
          <a:p>
            <a:r>
              <a:t>regras, estados, precondições e busca. Não descreve todas as falhas de uma rede.</a:t>
            </a:r>
          </a:p>
          <a:p/>
          <a:p>
            <a:r>
              <a:t>Para a extensão, demonstrar interferência com falha de alimentação; preservar os</a:t>
            </a:r>
          </a:p>
          <a:p>
            <a:r>
              <a:t>casos de falha única e saudável; rejeitar falhas desconhecidas; impedir fechamento</a:t>
            </a:r>
          </a:p>
          <a:p>
            <a:r>
              <a:t>quando uma falha não puder ser resolvida. Considerar interações e restrições das</a:t>
            </a:r>
          </a:p>
          <a:p>
            <a:r>
              <a:t>ações. Planejar várias falhas fornecidas não demonstra diagnóstico multicausal.</a:t>
            </a:r>
          </a:p>
          <a:p/>
          <a:p>
            <a:r>
              <a:t>Autorização e verificação são efeitos assumidos no modelo determinístico;</a:t>
            </a:r>
          </a:p>
          <a:p>
            <a:r>
              <a:t>o planejador não obtém aprovação humana nem mede recuperação física.</a:t>
            </a:r>
          </a:p>
          <a:p>
            <a:r>
              <a:t>Os 90 minutos foram confirmados pelo autor como autorizados pelo professor.</a:t>
            </a:r>
          </a:p>
          <a:p>
            <a:r>
              <a:t>Este apêndice é opcional; não amplia a duração.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anner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2920"/>
            <a:ext cx="12191695" cy="342848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4846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>
                <a:solidFill>
                  <a:srgbClr val="FFFFFF"/>
                </a:solidFill>
                <a:latin typeface="Segoe UI"/>
              </a:rPr>
              <a:t>Sistema especialista · Planejamento automático · Busca A*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577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9FC6D8"/>
                </a:solidFill>
                <a:latin typeface="Segoe UI"/>
              </a:rPr>
              <a:t>Fernando Sabino Dantas  ·  Introdução à Inteligência Artificial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F2933"/>
                </a:solidFill>
                <a:latin typeface="Segoe UI"/>
              </a:rPr>
              <a:t>Os três trabalhos, um único domínio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789920" cy="4937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600"/>
              </a:spcAft>
            </a:pPr>
            <a:r>
              <a:rPr sz="2300" b="1">
                <a:solidFill>
                  <a:srgbClr val="1F2933"/>
                </a:solidFill>
                <a:latin typeface="Segoe UI"/>
              </a:rPr>
              <a:t>• Sistema especialista: 43 regras, encadeamento nos dois sentidos, fatores de certeza</a:t>
            </a:r>
          </a:p>
          <a:p>
            <a:pPr>
              <a:spcAft>
                <a:spcPts val="1600"/>
              </a:spcAft>
            </a:pPr>
            <a:r>
              <a:rPr sz="2300" b="1">
                <a:solidFill>
                  <a:srgbClr val="1F2933"/>
                </a:solidFill>
                <a:latin typeface="Segoe UI"/>
              </a:rPr>
              <a:t>• Geração automática de planos: STRIPS, resolvido por GPS e por A* progressivo</a:t>
            </a:r>
          </a:p>
          <a:p>
            <a:pPr>
              <a:spcAft>
                <a:spcPts val="1600"/>
              </a:spcAft>
            </a:pPr>
            <a:r>
              <a:rPr sz="2300" b="1">
                <a:solidFill>
                  <a:srgbClr val="1F2933"/>
                </a:solidFill>
                <a:latin typeface="Segoe UI"/>
              </a:rPr>
              <a:t>• Busca A*: caminho exato, com prova de admissibilidade</a:t>
            </a:r>
          </a:p>
          <a:p>
            <a:pPr>
              <a:spcAft>
                <a:spcPts val="1600"/>
              </a:spcAft>
            </a:pPr>
            <a:r>
              <a:rPr sz="2300" b="1">
                <a:solidFill>
                  <a:srgbClr val="1F2933"/>
                </a:solidFill>
                <a:latin typeface="Segoe UI"/>
              </a:rPr>
              <a:t>• Domínio comum: o cenário SIMULADO em ns-3 — 30 nós, três setores</a:t>
            </a:r>
          </a:p>
          <a:p>
            <a:pPr lvl="1">
              <a:spcAft>
                <a:spcPts val="1000"/>
              </a:spcAft>
            </a:pPr>
            <a:r>
              <a:rPr sz="1900" b="0">
                <a:solidFill>
                  <a:srgbClr val="52606D"/>
                </a:solidFill>
                <a:latin typeface="Segoe UI"/>
              </a:rPr>
              <a:t>Os três se integram: o diagnóstico vira o estado inicial do plano, e o plano consulta a busca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F2933"/>
                </a:solidFill>
                <a:latin typeface="Segoe UI"/>
              </a:rPr>
              <a:t>O domínio: o cenário simulado (ns-3)</a:t>
            </a:r>
          </a:p>
        </p:txBody>
      </p:sp>
      <p:pic>
        <p:nvPicPr>
          <p:cNvPr id="5" name="Picture 4" descr="05-simulated-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6353" y="1234440"/>
            <a:ext cx="8758989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61722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2606D"/>
                </a:solidFill>
                <a:latin typeface="Segoe UI"/>
              </a:rPr>
              <a:t>Modelo de topologia — 30 nós, três setores. Nao e saida de simulacao.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54864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072B2"/>
                </a:solidFill>
                <a:latin typeface="Segoe UI"/>
              </a:rPr>
              <a:t>PERGUNTA DE PESQUISA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06040"/>
            <a:ext cx="10149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Segoe UI"/>
              </a:rPr>
              <a:t>Como recomendar diagnóstico e ação sem dados rotulados de falha?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572000"/>
            <a:ext cx="10149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9FC6D8"/>
                </a:solidFill>
                <a:latin typeface="Segoe UI"/>
              </a:rPr>
              <a:t>De forma auditável, e sob restrições explícitas de autorização — numa rede de comunicação de sistema elétrico.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F2933"/>
                </a:solidFill>
                <a:latin typeface="Segoe UI"/>
              </a:rPr>
              <a:t>Antes dos KPIs: o que cada grandeza significa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325880"/>
          <a:ext cx="10789918" cy="3364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9028"/>
                <a:gridCol w="4452982"/>
                <a:gridCol w="3767908"/>
              </a:tblGrid>
              <a:tr h="4206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Grandeza</a:t>
                      </a:r>
                    </a:p>
                  </a:txBody>
                  <a:tcPr anchor="ctr">
                    <a:solidFill>
                      <a:srgbClr val="0072B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Em linguagem simples</a:t>
                      </a:r>
                    </a:p>
                  </a:txBody>
                  <a:tcPr anchor="ctr">
                    <a:solidFill>
                      <a:srgbClr val="0072B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Quando piora</a:t>
                      </a:r>
                    </a:p>
                  </a:txBody>
                  <a:tcPr anchor="ctr">
                    <a:solidFill>
                      <a:srgbClr val="0072B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RSSI (dBm)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Quão FORTE o sinal chega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o receptor mal escuta o transmissor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SNR (dB)</a:t>
                      </a:r>
                    </a:p>
                  </a:txBody>
                  <a:tcPr anchor="ctr"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Quão LIMPO o sinal chega, acima do ruído</a:t>
                      </a:r>
                    </a:p>
                  </a:txBody>
                  <a:tcPr anchor="ctr"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o sinal existe, mas o ruído o encobre</a:t>
                      </a:r>
                    </a:p>
                  </a:txBody>
                  <a:tcPr anchor="ctr">
                    <a:solidFill>
                      <a:srgbClr val="F4F2E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Perda de percurso (dB)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Quanto o sinal enfraquece no caminho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distância, obstáculo ou atenuação comandada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Retransmissão MAC (%)</a:t>
                      </a:r>
                    </a:p>
                  </a:txBody>
                  <a:tcPr anchor="ctr"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Quantas vezes é preciso repetir o envio</a:t>
                      </a:r>
                    </a:p>
                  </a:txBody>
                  <a:tcPr anchor="ctr"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vários rádios falam ao mesmo tempo e colidem</a:t>
                      </a:r>
                    </a:p>
                  </a:txBody>
                  <a:tcPr anchor="ctr">
                    <a:solidFill>
                      <a:srgbClr val="F4F2E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Perda de pacotes (%)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Quanta informação não chega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consequência, não causa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Atraso / RTT (ms)</a:t>
                      </a:r>
                    </a:p>
                  </a:txBody>
                  <a:tcPr anchor="ctr"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Quanto tempo a informação leva para ir e voltar</a:t>
                      </a:r>
                    </a:p>
                  </a:txBody>
                  <a:tcPr anchor="ctr"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fila cheia, ou caminho longo</a:t>
                      </a:r>
                    </a:p>
                  </a:txBody>
                  <a:tcPr anchor="ctr">
                    <a:solidFill>
                      <a:srgbClr val="F4F2E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Carga oferecida (%)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Quanto se pede do enlace, em relação ao que ele aguenta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acima de 100 % pede-se mais do que existe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F2933"/>
                </a:solidFill>
                <a:latin typeface="Segoe UI"/>
              </a:rPr>
              <a:t>Como isto é medido: dois níveis de KPI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25880"/>
            <a:ext cx="5120640" cy="4572000"/>
          </a:xfrm>
          <a:prstGeom prst="rect">
            <a:avLst/>
          </a:prstGeom>
          <a:solidFill>
            <a:srgbClr val="FFFFFF"/>
          </a:solidFill>
          <a:ln w="22225">
            <a:solidFill>
              <a:srgbClr val="E69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1554480"/>
            <a:ext cx="4617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E69F00"/>
                </a:solidFill>
                <a:latin typeface="Segoe UI"/>
              </a:rPr>
              <a:t>KPIs do domínio — a entrada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8600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52606D"/>
                </a:solidFill>
                <a:latin typeface="Segoe UI"/>
              </a:rPr>
              <a:t>PHY: RSSI (dBm), SNR (dB), perda de percurso comandada (dB)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52606D"/>
                </a:solidFill>
                <a:latin typeface="Segoe UI"/>
              </a:rPr>
              <a:t>MAC: taxa de retransmissão (%) — o discriminador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52606D"/>
                </a:solidFill>
                <a:latin typeface="Segoe UI"/>
              </a:rPr>
              <a:t>Fluxo: perda (%), atraso (ms), carga oferecida (%)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52606D"/>
                </a:solidFill>
                <a:latin typeface="Segoe UI"/>
              </a:rPr>
              <a:t>Custo de transporte (ms) — derivado, alimenta a busca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52606D"/>
                </a:solidFill>
                <a:latin typeface="Segoe UI"/>
              </a:rPr>
              <a:t>⚠ Limiares NOMINAIS e NÃO calibrados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1325880"/>
            <a:ext cx="5120640" cy="4572000"/>
          </a:xfrm>
          <a:prstGeom prst="rect">
            <a:avLst/>
          </a:prstGeom>
          <a:solidFill>
            <a:srgbClr val="FFFFFF"/>
          </a:solidFill>
          <a:ln w="22225">
            <a:solidFill>
              <a:srgbClr val="009E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629400" y="1554480"/>
            <a:ext cx="4617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009E73"/>
                </a:solidFill>
                <a:latin typeface="Segoe UI"/>
              </a:rPr>
              <a:t>KPIs de avaliação — o veredito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28600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52606D"/>
                </a:solidFill>
                <a:latin typeface="Segoe UI"/>
              </a:rPr>
              <a:t>Diagnóstico: fator de certeza (CF) da conclusão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52606D"/>
                </a:solidFill>
                <a:latin typeface="Segoe UI"/>
              </a:rPr>
              <a:t>Plano: custo total, e validade (executável + atinge o objetivo)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52606D"/>
                </a:solidFill>
                <a:latin typeface="Segoe UI"/>
              </a:rPr>
              <a:t>Busca: nós expandidos, custo do caminho, otimalidade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52606D"/>
                </a:solidFill>
                <a:latin typeface="Segoe UI"/>
              </a:rPr>
              <a:t>Transversal: 155 testes; admissibilidade verificada em todos os pares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54864"/>
          </a:xfrm>
          <a:prstGeom prst="rect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606040"/>
            <a:ext cx="10149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Segoe UI"/>
              </a:rPr>
              <a:t>Por que o DIAGNÓSTICO não é aprendido?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572000"/>
            <a:ext cx="10149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9FC6D8"/>
                </a:solidFill>
                <a:latin typeface="Segoe UI"/>
              </a:rPr>
              <a:t>No simulador os rótulos são gratuitos. O problema não é o rótulo — é o que o modelo aprenderia.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F2933"/>
                </a:solidFill>
                <a:latin typeface="Segoe UI"/>
              </a:rPr>
              <a:t>Dedutivo × indutivo: a escolha depende do que existe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25880"/>
            <a:ext cx="5120640" cy="4572000"/>
          </a:xfrm>
          <a:prstGeom prst="rect">
            <a:avLst/>
          </a:prstGeom>
          <a:solidFill>
            <a:srgbClr val="FFFFFF"/>
          </a:solidFill>
          <a:ln w="2222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1554480"/>
            <a:ext cx="4617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0072B2"/>
                </a:solidFill>
                <a:latin typeface="Segoe UI"/>
              </a:rPr>
              <a:t>Dedutivo (regras)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8600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52606D"/>
                </a:solidFill>
                <a:latin typeface="Segoe UI"/>
              </a:rPr>
              <a:t>Conhecimento vem do especialista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52606D"/>
                </a:solidFill>
                <a:latin typeface="Segoe UI"/>
              </a:rPr>
              <a:t>Não exige dados históricos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52606D"/>
                </a:solidFill>
                <a:latin typeface="Segoe UI"/>
              </a:rPr>
              <a:t>Auditável regra a regra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52606D"/>
                </a:solidFill>
                <a:latin typeface="Segoe UI"/>
              </a:rPr>
              <a:t>Contestável: discute-se uma regra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52606D"/>
                </a:solidFill>
                <a:latin typeface="Segoe UI"/>
              </a:rPr>
              <a:t>Falha por omissão — sem conclusão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1325880"/>
            <a:ext cx="5120640" cy="4572000"/>
          </a:xfrm>
          <a:prstGeom prst="rect">
            <a:avLst/>
          </a:prstGeom>
          <a:solidFill>
            <a:srgbClr val="FFFFFF"/>
          </a:solidFill>
          <a:ln w="22225">
            <a:solidFill>
              <a:srgbClr val="E69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629400" y="1554480"/>
            <a:ext cx="4617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E69F00"/>
                </a:solidFill>
                <a:latin typeface="Segoe UI"/>
              </a:rPr>
              <a:t>Indutivo (aprendizagem)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28600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52606D"/>
                </a:solidFill>
                <a:latin typeface="Segoe UI"/>
              </a:rPr>
              <a:t>Conhecimento vem de exemplos rotulados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52606D"/>
                </a:solidFill>
                <a:latin typeface="Segoe UI"/>
              </a:rPr>
              <a:t>Exige dados históricos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52606D"/>
                </a:solidFill>
                <a:latin typeface="Segoe UI"/>
              </a:rPr>
              <a:t>Auditabilidade variável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52606D"/>
                </a:solidFill>
                <a:latin typeface="Segoe UI"/>
              </a:rPr>
              <a:t>Difícil discutir um peso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52606D"/>
                </a:solidFill>
                <a:latin typeface="Segoe UI"/>
              </a:rPr>
              <a:t>Falha em silêncio — conclusão errada e confiante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54864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72B2"/>
                </a:solidFill>
                <a:latin typeface="Segoe UI"/>
              </a:rPr>
              <a:t>TEMA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718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Segoe UI"/>
              </a:rPr>
              <a:t>Sistema especialista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>
                <a:solidFill>
                  <a:srgbClr val="9FC6D8"/>
                </a:solidFill>
                <a:latin typeface="Segoe UI"/>
              </a:rPr>
              <a:t>Regras de produção, encadeamento progressivo e regressivo, fatores de certeza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A94A0"/>
                </a:solidFill>
                <a:latin typeface="Segoe UI"/>
              </a:rPr>
              <a:t>30 minutos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F2933"/>
                </a:solidFill>
                <a:latin typeface="Segoe UI"/>
              </a:rPr>
              <a:t>O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789920" cy="4937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600"/>
              </a:spcAft>
            </a:pPr>
            <a:r>
              <a:rPr sz="2300" b="1">
                <a:solidFill>
                  <a:srgbClr val="1F2933"/>
                </a:solidFill>
                <a:latin typeface="Segoe UI"/>
              </a:rPr>
              <a:t>• Um enlace do backhaul degradou ou caiu</a:t>
            </a:r>
          </a:p>
          <a:p>
            <a:pPr>
              <a:spcAft>
                <a:spcPts val="1600"/>
              </a:spcAft>
            </a:pPr>
            <a:r>
              <a:rPr sz="2300" b="1">
                <a:solidFill>
                  <a:srgbClr val="1F2933"/>
                </a:solidFill>
                <a:latin typeface="Segoe UI"/>
              </a:rPr>
              <a:t>• Duas perguntas: por quê? e o que fazer?</a:t>
            </a:r>
          </a:p>
          <a:p>
            <a:pPr>
              <a:spcAft>
                <a:spcPts val="1600"/>
              </a:spcAft>
            </a:pPr>
            <a:r>
              <a:rPr sz="2300" b="1">
                <a:solidFill>
                  <a:srgbClr val="1F2933"/>
                </a:solidFill>
                <a:latin typeface="Segoe UI"/>
              </a:rPr>
              <a:t>• Oito hipóteses concorrentes de diagnóstico</a:t>
            </a:r>
          </a:p>
          <a:p>
            <a:pPr>
              <a:spcAft>
                <a:spcPts val="1600"/>
              </a:spcAft>
            </a:pPr>
            <a:r>
              <a:rPr sz="2300" b="1">
                <a:solidFill>
                  <a:srgbClr val="1F2933"/>
                </a:solidFill>
                <a:latin typeface="Segoe UI"/>
              </a:rPr>
              <a:t>• A resposta precisa vir com um grau de confiança, não como certeza absoluta</a:t>
            </a:r>
          </a:p>
          <a:p>
            <a:pPr lvl="1">
              <a:spcAft>
                <a:spcPts val="1000"/>
              </a:spcAft>
            </a:pPr>
            <a:r>
              <a:rPr sz="1900" b="0">
                <a:solidFill>
                  <a:srgbClr val="52606D"/>
                </a:solidFill>
                <a:latin typeface="Segoe UI"/>
              </a:rPr>
              <a:t>O sistema recomenda — não atua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F2933"/>
                </a:solidFill>
                <a:latin typeface="Segoe UI"/>
              </a:rPr>
              <a:t>Arquitetura de um sistema especialista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789920" cy="4937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600"/>
              </a:spcAft>
            </a:pPr>
            <a:r>
              <a:rPr sz="2300" b="1">
                <a:solidFill>
                  <a:srgbClr val="1F2933"/>
                </a:solidFill>
                <a:latin typeface="Segoe UI"/>
              </a:rPr>
              <a:t>• Base de conhecimento — fatos, regras, heurísticas do domínio</a:t>
            </a:r>
          </a:p>
          <a:p>
            <a:pPr>
              <a:spcAft>
                <a:spcPts val="1600"/>
              </a:spcAft>
            </a:pPr>
            <a:r>
              <a:rPr sz="2300" b="1">
                <a:solidFill>
                  <a:srgbClr val="1F2933"/>
                </a:solidFill>
                <a:latin typeface="Segoe UI"/>
              </a:rPr>
              <a:t>• Memória de trabalho — fatos do problema em curso</a:t>
            </a:r>
          </a:p>
          <a:p>
            <a:pPr>
              <a:spcAft>
                <a:spcPts val="1600"/>
              </a:spcAft>
            </a:pPr>
            <a:r>
              <a:rPr sz="2300" b="1">
                <a:solidFill>
                  <a:srgbClr val="1F2933"/>
                </a:solidFill>
                <a:latin typeface="Segoe UI"/>
              </a:rPr>
              <a:t>• Motor de inferência — aplica as regras e conclui</a:t>
            </a:r>
          </a:p>
          <a:p>
            <a:pPr>
              <a:spcAft>
                <a:spcPts val="1600"/>
              </a:spcAft>
            </a:pPr>
            <a:r>
              <a:rPr sz="2300" b="1">
                <a:solidFill>
                  <a:srgbClr val="1F2933"/>
                </a:solidFill>
                <a:latin typeface="Segoe UI"/>
              </a:rPr>
              <a:t>• Módulo de explicação — justifica as conclusões</a:t>
            </a:r>
          </a:p>
          <a:p>
            <a:pPr>
              <a:spcAft>
                <a:spcPts val="1600"/>
              </a:spcAft>
            </a:pPr>
            <a:r>
              <a:rPr sz="2300" b="1">
                <a:solidFill>
                  <a:srgbClr val="1F2933"/>
                </a:solidFill>
                <a:latin typeface="Segoe UI"/>
              </a:rPr>
              <a:t>• Interface — entrada de dados e consulta</a:t>
            </a:r>
          </a:p>
          <a:p>
            <a:pPr lvl="1">
              <a:spcAft>
                <a:spcPts val="1000"/>
              </a:spcAft>
            </a:pPr>
            <a:r>
              <a:rPr sz="1900" b="0">
                <a:solidFill>
                  <a:srgbClr val="52606D"/>
                </a:solidFill>
                <a:latin typeface="Segoe UI"/>
              </a:rPr>
              <a:t>A separação entre conhecimento e inferência é a característica definidora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F2933"/>
                </a:solidFill>
                <a:latin typeface="Segoe UI"/>
              </a:rPr>
              <a:t>As variáveis observáveis — o que o simulador produz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325880"/>
          <a:ext cx="10789920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15968"/>
                <a:gridCol w="2157984"/>
                <a:gridCol w="4315968"/>
              </a:tblGrid>
              <a:tr h="36249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Variável</a:t>
                      </a:r>
                    </a:p>
                  </a:txBody>
                  <a:tcPr anchor="ctr">
                    <a:solidFill>
                      <a:srgbClr val="0072B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Nível</a:t>
                      </a:r>
                    </a:p>
                  </a:txBody>
                  <a:tcPr anchor="ctr">
                    <a:solidFill>
                      <a:srgbClr val="0072B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Domínio</a:t>
                      </a:r>
                    </a:p>
                  </a:txBody>
                  <a:tcPr anchor="ctr">
                    <a:solidFill>
                      <a:srgbClr val="0072B2"/>
                    </a:solidFill>
                  </a:tcPr>
                </a:tc>
              </a:tr>
              <a:tr h="36249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rssi_dbm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PHY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[-120, -30] dBm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249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snr_db</a:t>
                      </a:r>
                    </a:p>
                  </a:txBody>
                  <a:tcPr anchor="ctr"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PHY</a:t>
                      </a:r>
                    </a:p>
                  </a:txBody>
                  <a:tcPr anchor="ctr"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[-5, 40] dB</a:t>
                      </a:r>
                    </a:p>
                  </a:txBody>
                  <a:tcPr anchor="ctr">
                    <a:solidFill>
                      <a:srgbClr val="F4F2EE"/>
                    </a:solidFill>
                  </a:tcPr>
                </a:tc>
              </a:tr>
              <a:tr h="36249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excess_path_loss_db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PHY (comandado)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[0, 80] dB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249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retry_rate_pct</a:t>
                      </a:r>
                    </a:p>
                  </a:txBody>
                  <a:tcPr anchor="ctr"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MAC</a:t>
                      </a:r>
                    </a:p>
                  </a:txBody>
                  <a:tcPr anchor="ctr"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[0, 100] %  &lt;- o discriminador</a:t>
                      </a:r>
                    </a:p>
                  </a:txBody>
                  <a:tcPr anchor="ctr">
                    <a:solidFill>
                      <a:srgbClr val="F4F2EE"/>
                    </a:solidFill>
                  </a:tcPr>
                </a:tc>
              </a:tr>
              <a:tr h="36249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packet_loss_pct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fluxo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[0, 100]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249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rtt_ms</a:t>
                      </a:r>
                    </a:p>
                  </a:txBody>
                  <a:tcPr anchor="ctr"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fluxo</a:t>
                      </a:r>
                    </a:p>
                  </a:txBody>
                  <a:tcPr anchor="ctr"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[0, 5000] ms</a:t>
                      </a:r>
                    </a:p>
                  </a:txBody>
                  <a:tcPr anchor="ctr">
                    <a:solidFill>
                      <a:srgbClr val="F4F2EE"/>
                    </a:solidFill>
                  </a:tcPr>
                </a:tc>
              </a:tr>
              <a:tr h="36249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offered_load_pct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fluxo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[0, 200]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249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node_responding</a:t>
                      </a:r>
                    </a:p>
                  </a:txBody>
                  <a:tcPr anchor="ctr"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cenário</a:t>
                      </a:r>
                    </a:p>
                  </a:txBody>
                  <a:tcPr anchor="ctr"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yes | no</a:t>
                      </a:r>
                    </a:p>
                  </a:txBody>
                  <a:tcPr anchor="ctr">
                    <a:solidFill>
                      <a:srgbClr val="F4F2EE"/>
                    </a:solidFill>
                  </a:tcPr>
                </a:tc>
              </a:tr>
              <a:tr h="36249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upstream_relay_reachable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cenário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yes | 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249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route_present</a:t>
                      </a:r>
                    </a:p>
                  </a:txBody>
                  <a:tcPr anchor="ctr"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cenário</a:t>
                      </a:r>
                    </a:p>
                  </a:txBody>
                  <a:tcPr anchor="ctr"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yes | no</a:t>
                      </a:r>
                    </a:p>
                  </a:txBody>
                  <a:tcPr anchor="ctr">
                    <a:solidFill>
                      <a:srgbClr val="F4F2EE"/>
                    </a:solidFill>
                  </a:tcPr>
                </a:tc>
              </a:tr>
              <a:tr h="36249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co_channel_emitter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cenário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yes | 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249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nodes_sharing_channel</a:t>
                      </a:r>
                    </a:p>
                  </a:txBody>
                  <a:tcPr anchor="ctr"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cenário</a:t>
                      </a:r>
                    </a:p>
                  </a:txBody>
                  <a:tcPr anchor="ctr"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few | many</a:t>
                      </a:r>
                    </a:p>
                  </a:txBody>
                  <a:tcPr anchor="ctr">
                    <a:solidFill>
                      <a:srgbClr val="F4F2EE"/>
                    </a:solidFill>
                  </a:tcPr>
                </a:tc>
              </a:tr>
              <a:tr h="36249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neighbours_affected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cenário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none | one | many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F2933"/>
                </a:solidFill>
                <a:latin typeface="Segoe UI"/>
              </a:rPr>
              <a:t>As 41 regras em cinco camadas</a:t>
            </a:r>
          </a:p>
        </p:txBody>
      </p:sp>
      <p:pic>
        <p:nvPicPr>
          <p:cNvPr id="5" name="Picture 4" descr="02-expert-syst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1617" y="1234440"/>
            <a:ext cx="7608460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61722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2606D"/>
                </a:solidFill>
                <a:latin typeface="Segoe UI"/>
              </a:rPr>
              <a:t>A camada 3b traz contra-evidência: regras com fator de certeza negativo.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F2933"/>
                </a:solidFill>
                <a:latin typeface="Segoe UI"/>
              </a:rPr>
              <a:t>Três regras, três papéis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80160"/>
            <a:ext cx="10789920" cy="4297680"/>
          </a:xfrm>
          <a:prstGeom prst="rect">
            <a:avLst/>
          </a:prstGeom>
          <a:solidFill>
            <a:srgbClr val="061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20040" tIns="256032"/>
          <a:lstStyle/>
          <a:p>
            <a:pPr algn="ctr"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>S14:  SE  retransmissão_MAC &gt; 30 %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>      E   qualidade_do_sinal != poor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>      E   emissor_co_canal = no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>      ENTÃO diagnóstico = mac_contention           (CF +0,85)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>      &lt;- perda COM sinal saudável: o meio está disputado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>S25:  SE  retransmissão_MAC &lt;= 30 %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>      ENTÃO diagnóstico = mac_contention           (CF -0,80)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>      &lt;- contra-evidência: torna a hipótese MENOS provável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>S37:  SE  ação_recomendada = separate_channels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>      ENTÃO exige_autorização = yes                (CF +1,00)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F2933"/>
                </a:solidFill>
                <a:latin typeface="Segoe UI"/>
              </a:rPr>
              <a:t>Fatores de certeza: a álgebra do MYCIN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80160"/>
            <a:ext cx="10789920" cy="4297680"/>
          </a:xfrm>
          <a:prstGeom prst="rect">
            <a:avLst/>
          </a:prstGeom>
          <a:solidFill>
            <a:srgbClr val="061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20040" tIns="256032"/>
          <a:lstStyle/>
          <a:p>
            <a:pPr algn="ctr"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>CF está em [-1, +1]:  +1 confirmado   -1 refutado   0 sem evidência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>CF da premissa    = MÍNIMO entre as condições      (o elo mais fraco)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>CF da conclusão   = CF da premissa  ×  CF da regra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>disparo           = só acima do limiar 0,2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>combinação de duas conclusões independentes: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>   ambos &gt;= 0        cf1 + cf2 × (1 - cf1)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>   ambos &lt;= 0        cf1 + cf2 × (1 + cf1)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>   sinais opostos    (cf1 + cf2) / (1 - min(|cf1|, |cf2|))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8064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52606D"/>
                </a:solidFill>
                <a:latin typeface="Segoe UI"/>
              </a:rPr>
              <a:t>O mínimo modela o elo mais fraco: uma premissa não é mais forte que sua condição mais fraca.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F2933"/>
                </a:solidFill>
                <a:latin typeface="Segoe UI"/>
              </a:rPr>
              <a:t>Encadeamento progressivo — dirigido por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789920" cy="4937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600"/>
              </a:spcAft>
            </a:pPr>
            <a:r>
              <a:rPr sz="2300" b="1">
                <a:solidFill>
                  <a:srgbClr val="1F2933"/>
                </a:solidFill>
                <a:latin typeface="Segoe UI"/>
              </a:rPr>
              <a:t>• Parte dos fatos e deriva tudo o que puder</a:t>
            </a:r>
          </a:p>
          <a:p>
            <a:pPr>
              <a:spcAft>
                <a:spcPts val="1600"/>
              </a:spcAft>
            </a:pPr>
            <a:r>
              <a:rPr sz="2300" b="1">
                <a:solidFill>
                  <a:srgbClr val="1F2933"/>
                </a:solidFill>
                <a:latin typeface="Segoe UI"/>
              </a:rPr>
              <a:t>• Ciclo reconhecer-agir: monta o conjunto de conflito, resolve, dispara</a:t>
            </a:r>
          </a:p>
          <a:p>
            <a:pPr>
              <a:spcAft>
                <a:spcPts val="1600"/>
              </a:spcAft>
            </a:pPr>
            <a:r>
              <a:rPr sz="2300" b="1">
                <a:solidFill>
                  <a:srgbClr val="1F2933"/>
                </a:solidFill>
                <a:latin typeface="Segoe UI"/>
              </a:rPr>
              <a:t>• Uma regra por ciclo — e não todas</a:t>
            </a:r>
          </a:p>
          <a:p>
            <a:pPr lvl="1">
              <a:spcAft>
                <a:spcPts val="1000"/>
              </a:spcAft>
            </a:pPr>
            <a:r>
              <a:rPr sz="1900" b="0">
                <a:solidFill>
                  <a:srgbClr val="52606D"/>
                </a:solidFill>
                <a:latin typeface="Segoe UI"/>
              </a:rPr>
              <a:t>assim a ordem do raciocínio fica visível no trace, e a resolução de conflito tem efeito observável</a:t>
            </a:r>
          </a:p>
          <a:p>
            <a:pPr>
              <a:spcAft>
                <a:spcPts val="1600"/>
              </a:spcAft>
            </a:pPr>
            <a:r>
              <a:rPr sz="2300" b="1">
                <a:solidFill>
                  <a:srgbClr val="1F2933"/>
                </a:solidFill>
                <a:latin typeface="Segoe UI"/>
              </a:rPr>
              <a:t>• É o modo alarme de monitoramento: chega telemetria, o sistema conclui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F2933"/>
                </a:solidFill>
                <a:latin typeface="Segoe UI"/>
              </a:rPr>
              <a:t>Demonstração: encadeamento progressivo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80160"/>
            <a:ext cx="10789920" cy="4297680"/>
          </a:xfrm>
          <a:prstGeom prst="rect">
            <a:avLst/>
          </a:prstGeom>
          <a:solidFill>
            <a:srgbClr val="061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20040" tIns="256032"/>
          <a:lstStyle/>
          <a:p>
            <a:pPr algn="ctr">
              <a:lnSpc>
                <a:spcPct val="115000"/>
              </a:lnSpc>
            </a:pPr>
            <a:r>
              <a:rPr sz="1500">
                <a:solidFill>
                  <a:srgbClr val="7FE0C0"/>
                </a:solidFill>
                <a:latin typeface="Consolas"/>
              </a:rPr>
              <a:t>$ aisg diagnose --kb simulated --case mac_contention --trace --explain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>* S04: premissa CF +1,00 × regra CF +0,90 =&gt; signal_quality = good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>* S14: premissa CF +1,00 × regra CF +0,85 =&gt; diagnosis = mac_contention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>* S29: premissa CF +0,94 × regra CF +0,85 =&gt; ação = separate_channels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>* S37: premissa CF +0,80 × regra CF +1,00 =&gt; autorização = yes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>diagnóstico: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>  mac_contention         CF +0,94  ###################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>  excess_path_loss       CF -0,85  -#################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F2933"/>
                </a:solidFill>
                <a:latin typeface="Segoe UI"/>
              </a:rPr>
              <a:t>Encadeamento regressivo — dirigido por objetivo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789920" cy="4937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600"/>
              </a:spcAft>
            </a:pPr>
            <a:r>
              <a:rPr sz="2300" b="1">
                <a:solidFill>
                  <a:srgbClr val="1F2933"/>
                </a:solidFill>
                <a:latin typeface="Segoe UI"/>
              </a:rPr>
              <a:t>• Parte da pergunta “o diagnóstico é X?” e busca só a evidência que a sustenta</a:t>
            </a:r>
          </a:p>
          <a:p>
            <a:pPr>
              <a:spcAft>
                <a:spcPts val="1600"/>
              </a:spcAft>
            </a:pPr>
            <a:r>
              <a:rPr sz="2300" b="1">
                <a:solidFill>
                  <a:srgbClr val="1F2933"/>
                </a:solidFill>
                <a:latin typeface="Segoe UI"/>
              </a:rPr>
              <a:t>• É o modo do Expert SINTA — e o modo do engenheiro às duas da manhã</a:t>
            </a:r>
          </a:p>
          <a:p>
            <a:pPr>
              <a:spcAft>
                <a:spcPts val="1600"/>
              </a:spcAft>
            </a:pPr>
            <a:r>
              <a:rPr sz="2300" b="1">
                <a:solidFill>
                  <a:srgbClr val="1F2933"/>
                </a:solidFill>
                <a:latin typeface="Segoe UI"/>
              </a:rPr>
              <a:t>• Curto-circuito: condição falsa abandona a regra — as demais NÃO são perguntadas</a:t>
            </a:r>
          </a:p>
          <a:p>
            <a:pPr>
              <a:spcAft>
                <a:spcPts val="1600"/>
              </a:spcAft>
            </a:pPr>
            <a:r>
              <a:rPr sz="2300" b="1">
                <a:solidFill>
                  <a:srgbClr val="1F2933"/>
                </a:solidFill>
                <a:latin typeface="Segoe UI"/>
              </a:rPr>
              <a:t>• Corte por suficiência: objetivo com CF ≥ 0,9 encerra a busca</a:t>
            </a:r>
          </a:p>
          <a:p>
            <a:pPr lvl="1">
              <a:spcAft>
                <a:spcPts val="1000"/>
              </a:spcAft>
            </a:pPr>
            <a:r>
              <a:rPr sz="1900" b="0">
                <a:solidFill>
                  <a:srgbClr val="52606D"/>
                </a:solidFill>
                <a:latin typeface="Segoe UI"/>
              </a:rPr>
              <a:t>Resultado: o caso de falha de energia conclui com 6 de 13 perguntas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F2933"/>
                </a:solidFill>
                <a:latin typeface="Segoe UI"/>
              </a:rPr>
              <a:t>Demonstração: consulta guiada por objetivo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80160"/>
            <a:ext cx="10789920" cy="4297680"/>
          </a:xfrm>
          <a:prstGeom prst="rect">
            <a:avLst/>
          </a:prstGeom>
          <a:solidFill>
            <a:srgbClr val="061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20040" tIns="256032"/>
          <a:lstStyle/>
          <a:p>
            <a:pPr algn="ctr">
              <a:lnSpc>
                <a:spcPct val="115000"/>
              </a:lnSpc>
            </a:pPr>
            <a:r>
              <a:rPr sz="1500">
                <a:solidFill>
                  <a:srgbClr val="7FE0C0"/>
                </a:solidFill>
                <a:latin typeface="Consolas"/>
              </a:rPr>
              <a:t>$ aisg diagnose --kb simulated --interactive --mode backward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>O nó responde [yes, no]?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>  (Enter = não sei)   ('?' = por quê)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>&gt; no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>O repetidor a montante responde [yes, no]?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>&gt; ?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>Por que esta pergunta está sendo feita: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>  S17: SE repetidor_a_montante = no E nó_responde = no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>       ENTÃO upstream_relay_failure (CF +0,90)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>&gt; no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>diagnóstico: upstream_relay_failure (CF +0,97)  —  poucas perguntas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F2933"/>
                </a:solidFill>
                <a:latin typeface="Segoe UI"/>
              </a:rPr>
              <a:t>Resolução de conflito: qual regra dispara primeiro?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325880"/>
          <a:ext cx="10789919" cy="1682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7198"/>
                <a:gridCol w="4449451"/>
                <a:gridCol w="3893270"/>
              </a:tblGrid>
              <a:tr h="4206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Política</a:t>
                      </a:r>
                    </a:p>
                  </a:txBody>
                  <a:tcPr anchor="ctr">
                    <a:solidFill>
                      <a:srgbClr val="0072B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Critério</a:t>
                      </a:r>
                    </a:p>
                  </a:txBody>
                  <a:tcPr anchor="ctr">
                    <a:solidFill>
                      <a:srgbClr val="0072B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Efeito</a:t>
                      </a:r>
                    </a:p>
                  </a:txBody>
                  <a:tcPr anchor="ctr">
                    <a:solidFill>
                      <a:srgbClr val="0072B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first-match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Ordem de declaração na base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Previsível, ingênua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933"/>
                          </a:solidFill>
                          <a:latin typeface="Segoe UI"/>
                        </a:rPr>
                        <a:t>specificity</a:t>
                      </a:r>
                    </a:p>
                  </a:txBody>
                  <a:tcPr anchor="ctr">
                    <a:solidFill>
                      <a:srgbClr val="FDF1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933"/>
                          </a:solidFill>
                          <a:latin typeface="Segoe UI"/>
                        </a:rPr>
                        <a:t>Mais condições primeiro (padrão)</a:t>
                      </a:r>
                    </a:p>
                  </a:txBody>
                  <a:tcPr anchor="ctr">
                    <a:solidFill>
                      <a:srgbClr val="FDF1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933"/>
                          </a:solidFill>
                          <a:latin typeface="Segoe UI"/>
                        </a:rPr>
                        <a:t>Prefere a regra mais informada</a:t>
                      </a:r>
                    </a:p>
                  </a:txBody>
                  <a:tcPr anchor="ctr">
                    <a:solidFill>
                      <a:srgbClr val="FDF1D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recency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Fatos mais recentes primeiro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Segue a evidência nova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F2933"/>
                </a:solidFill>
                <a:latin typeface="Segoe UI"/>
              </a:rPr>
              <a:t>Explicação: como a conclusão foi obtida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80160"/>
            <a:ext cx="10789920" cy="4297680"/>
          </a:xfrm>
          <a:prstGeom prst="rect">
            <a:avLst/>
          </a:prstGeom>
          <a:solidFill>
            <a:srgbClr val="061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20040" tIns="256032"/>
          <a:lstStyle/>
          <a:p>
            <a:pPr algn="ctr"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>diagnóstico = node_power_failure (CF +0,95, R16)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>  &lt;= R16: SE alimentação_do_nó = failed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>          ENTÃO diagnóstico = node_power_failure (CF +0,95)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>     Falha de alimentação explica a perda do nó independentemente do rádio.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>      alimentação_do_nó = failed (CF +1,00, fato inicial)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F2933"/>
                </a:solidFill>
                <a:latin typeface="Segoe UI"/>
              </a:rPr>
              <a:t>Os oito casos comandáveis no simulador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325880"/>
          <a:ext cx="10789918" cy="37856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0692"/>
                <a:gridCol w="3055552"/>
                <a:gridCol w="1050346"/>
                <a:gridCol w="3151038"/>
                <a:gridCol w="1432290"/>
              </a:tblGrid>
              <a:tr h="4206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Caso comandado</a:t>
                      </a:r>
                    </a:p>
                  </a:txBody>
                  <a:tcPr anchor="ctr">
                    <a:solidFill>
                      <a:srgbClr val="0072B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Diagnóstico</a:t>
                      </a:r>
                    </a:p>
                  </a:txBody>
                  <a:tcPr anchor="ctr">
                    <a:solidFill>
                      <a:srgbClr val="0072B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CF</a:t>
                      </a:r>
                    </a:p>
                  </a:txBody>
                  <a:tcPr anchor="ctr">
                    <a:solidFill>
                      <a:srgbClr val="0072B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Ação recomendada</a:t>
                      </a:r>
                    </a:p>
                  </a:txBody>
                  <a:tcPr anchor="ctr">
                    <a:solidFill>
                      <a:srgbClr val="0072B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Autoriza?</a:t>
                      </a:r>
                    </a:p>
                  </a:txBody>
                  <a:tcPr anchor="ctr">
                    <a:solidFill>
                      <a:srgbClr val="0072B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rf_interference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rf_interference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+0,93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change_channel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sim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excess_path_loss</a:t>
                      </a:r>
                    </a:p>
                  </a:txBody>
                  <a:tcPr anchor="ctr"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excess_path_loss</a:t>
                      </a:r>
                    </a:p>
                  </a:txBody>
                  <a:tcPr anchor="ctr"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+0,92</a:t>
                      </a:r>
                    </a:p>
                  </a:txBody>
                  <a:tcPr anchor="ctr"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restore_path_budget</a:t>
                      </a:r>
                    </a:p>
                  </a:txBody>
                  <a:tcPr anchor="ctr"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sim</a:t>
                      </a:r>
                    </a:p>
                  </a:txBody>
                  <a:tcPr anchor="ctr">
                    <a:solidFill>
                      <a:srgbClr val="F4F2E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933"/>
                          </a:solidFill>
                          <a:latin typeface="Segoe UI"/>
                        </a:rPr>
                        <a:t>mac_contention</a:t>
                      </a:r>
                    </a:p>
                  </a:txBody>
                  <a:tcPr anchor="ctr">
                    <a:solidFill>
                      <a:srgbClr val="FDF1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933"/>
                          </a:solidFill>
                          <a:latin typeface="Segoe UI"/>
                        </a:rPr>
                        <a:t>mac_contention</a:t>
                      </a:r>
                    </a:p>
                  </a:txBody>
                  <a:tcPr anchor="ctr">
                    <a:solidFill>
                      <a:srgbClr val="FDF1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933"/>
                          </a:solidFill>
                          <a:latin typeface="Segoe UI"/>
                        </a:rPr>
                        <a:t>+0,94</a:t>
                      </a:r>
                    </a:p>
                  </a:txBody>
                  <a:tcPr anchor="ctr">
                    <a:solidFill>
                      <a:srgbClr val="FDF1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933"/>
                          </a:solidFill>
                          <a:latin typeface="Segoe UI"/>
                        </a:rPr>
                        <a:t>separate_channels</a:t>
                      </a:r>
                    </a:p>
                  </a:txBody>
                  <a:tcPr anchor="ctr">
                    <a:solidFill>
                      <a:srgbClr val="FDF1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933"/>
                          </a:solidFill>
                          <a:latin typeface="Segoe UI"/>
                        </a:rPr>
                        <a:t>sim</a:t>
                      </a:r>
                    </a:p>
                  </a:txBody>
                  <a:tcPr anchor="ctr">
                    <a:solidFill>
                      <a:srgbClr val="FDF1D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node_failure</a:t>
                      </a:r>
                    </a:p>
                  </a:txBody>
                  <a:tcPr anchor="ctr"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node_failure</a:t>
                      </a:r>
                    </a:p>
                  </a:txBody>
                  <a:tcPr anchor="ctr"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+0,80</a:t>
                      </a:r>
                    </a:p>
                  </a:txBody>
                  <a:tcPr anchor="ctr"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restart_node</a:t>
                      </a:r>
                    </a:p>
                  </a:txBody>
                  <a:tcPr anchor="ctr"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sim</a:t>
                      </a:r>
                    </a:p>
                  </a:txBody>
                  <a:tcPr anchor="ctr">
                    <a:solidFill>
                      <a:srgbClr val="F4F2E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upstream_relay_failure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upstream_relay_failure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+0,97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restore_upstream_relay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sim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routing_misconfiguration</a:t>
                      </a:r>
                    </a:p>
                  </a:txBody>
                  <a:tcPr anchor="ctr"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routing_misconfiguration</a:t>
                      </a:r>
                    </a:p>
                  </a:txBody>
                  <a:tcPr anchor="ctr"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+0,90</a:t>
                      </a:r>
                    </a:p>
                  </a:txBody>
                  <a:tcPr anchor="ctr"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fix_routing</a:t>
                      </a:r>
                    </a:p>
                  </a:txBody>
                  <a:tcPr anchor="ctr"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sim</a:t>
                      </a:r>
                    </a:p>
                  </a:txBody>
                  <a:tcPr anchor="ctr">
                    <a:solidFill>
                      <a:srgbClr val="F4F2E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congestion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congestion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+0,89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reroute_traffic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sim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healthy</a:t>
                      </a:r>
                    </a:p>
                  </a:txBody>
                  <a:tcPr anchor="ctr"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healthy</a:t>
                      </a:r>
                    </a:p>
                  </a:txBody>
                  <a:tcPr anchor="ctr"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+0,81</a:t>
                      </a:r>
                    </a:p>
                  </a:txBody>
                  <a:tcPr anchor="ctr"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no_action</a:t>
                      </a:r>
                    </a:p>
                  </a:txBody>
                  <a:tcPr anchor="ctr"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não</a:t>
                      </a:r>
                    </a:p>
                  </a:txBody>
                  <a:tcPr anchor="ctr">
                    <a:solidFill>
                      <a:srgbClr val="F4F2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54864"/>
          </a:xfrm>
          <a:prstGeom prst="rect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606040"/>
            <a:ext cx="10149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Segoe UI"/>
              </a:rPr>
              <a:t>Os limiares são nominais e não calibrados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572000"/>
            <a:ext cx="10149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9FC6D8"/>
                </a:solidFill>
                <a:latin typeface="Segoe UI"/>
              </a:rPr>
              <a:t>Reunidos num único bloco, para que a calibração futura ajuste valores sem reescrever regras.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54864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9E73"/>
                </a:solidFill>
                <a:latin typeface="Segoe UI"/>
              </a:rPr>
              <a:t>TEMA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718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Segoe UI"/>
              </a:rPr>
              <a:t>Geração automática de planos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>
                <a:solidFill>
                  <a:srgbClr val="9FC6D8"/>
                </a:solidFill>
                <a:latin typeface="Segoe UI"/>
              </a:rPr>
              <a:t>STRIPS, GPS por análise meios-fins, e planejamento como busca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A94A0"/>
                </a:solidFill>
                <a:latin typeface="Segoe UI"/>
              </a:rPr>
              <a:t>30 minutos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F2933"/>
                </a:solidFill>
                <a:latin typeface="Segoe UI"/>
              </a:rPr>
              <a:t>O problema: sequenciamento sob restrições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789920" cy="4937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600"/>
              </a:spcAft>
            </a:pPr>
            <a:r>
              <a:rPr sz="2300" b="1">
                <a:solidFill>
                  <a:srgbClr val="1F2933"/>
                </a:solidFill>
                <a:latin typeface="Segoe UI"/>
              </a:rPr>
              <a:t>• O diagnóstico já foi feito e a ação já foi recomendada</a:t>
            </a:r>
          </a:p>
          <a:p>
            <a:pPr>
              <a:spcAft>
                <a:spcPts val="1600"/>
              </a:spcAft>
            </a:pPr>
            <a:r>
              <a:rPr sz="2300" b="1">
                <a:solidFill>
                  <a:srgbClr val="1F2933"/>
                </a:solidFill>
                <a:latin typeface="Segoe UI"/>
              </a:rPr>
              <a:t>• Falta decidir em que sequência executá-la</a:t>
            </a:r>
          </a:p>
          <a:p>
            <a:pPr>
              <a:spcAft>
                <a:spcPts val="1600"/>
              </a:spcAft>
            </a:pPr>
            <a:r>
              <a:rPr sz="2300" b="1">
                <a:solidFill>
                  <a:srgbClr val="1F2933"/>
                </a:solidFill>
                <a:latin typeface="Segoe UI"/>
              </a:rPr>
              <a:t>• Uma equipe não realinha uma antena antes de chegar ao local</a:t>
            </a:r>
          </a:p>
          <a:p>
            <a:pPr>
              <a:spcAft>
                <a:spcPts val="1600"/>
              </a:spcAft>
            </a:pPr>
            <a:r>
              <a:rPr sz="2300" b="1">
                <a:solidFill>
                  <a:srgbClr val="1F2933"/>
                </a:solidFill>
                <a:latin typeface="Segoe UI"/>
              </a:rPr>
              <a:t>• Nada toca a planta antes da autorização</a:t>
            </a:r>
          </a:p>
          <a:p>
            <a:pPr>
              <a:spcAft>
                <a:spcPts val="1600"/>
              </a:spcAft>
            </a:pPr>
            <a:r>
              <a:rPr sz="2300" b="1">
                <a:solidFill>
                  <a:srgbClr val="1F2933"/>
                </a:solidFill>
                <a:latin typeface="Segoe UI"/>
              </a:rPr>
              <a:t>• Objetivo: service-restored(N) E logged(N)</a:t>
            </a:r>
          </a:p>
          <a:p>
            <a:pPr lvl="1">
              <a:spcAft>
                <a:spcPts val="1000"/>
              </a:spcAft>
            </a:pPr>
            <a:r>
              <a:rPr sz="1900" b="0">
                <a:solidFill>
                  <a:srgbClr val="52606D"/>
                </a:solidFill>
                <a:latin typeface="Segoe UI"/>
              </a:rPr>
              <a:t>a evidência faz parte do objetivo — não é um extra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F2933"/>
                </a:solidFill>
                <a:latin typeface="Segoe UI"/>
              </a:rPr>
              <a:t>STRIPS: a representação, e GPS: a estratégia</a:t>
            </a:r>
          </a:p>
        </p:txBody>
      </p:sp>
      <p:pic>
        <p:nvPicPr>
          <p:cNvPr id="5" name="Picture 4" descr="03-plan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8136" y="1234440"/>
            <a:ext cx="7395423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61722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2606D"/>
                </a:solidFill>
                <a:latin typeface="Segoe UI"/>
              </a:rPr>
              <a:t>Três conjuntos definem uma ação. O estado é o conjunto dos literais verdadeiros.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F2933"/>
                </a:solidFill>
                <a:latin typeface="Segoe UI"/>
              </a:rPr>
              <a:t>Um operador STRIPS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80160"/>
            <a:ext cx="10789920" cy="4297680"/>
          </a:xfrm>
          <a:prstGeom prst="rect">
            <a:avLst/>
          </a:prstGeom>
          <a:solidFill>
            <a:srgbClr val="061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20040" tIns="256032"/>
          <a:lstStyle/>
          <a:p>
            <a:pPr algn="ctr"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>separate_channels(?n)                              custo 3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>  precondições:   authorized(?n)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>                  mac-contention(?n)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>                  run-stopped(?n)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>  adiciona:     + cleared-mac-contention(?n)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>  remove:       - mac-contention(?n)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>  estado = { diagnosed(N), run-active(N), mac-contention(N) }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>  hipótese do mundo fechado: o que não está no conjunto é falso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F2933"/>
                </a:solidFill>
                <a:latin typeface="Segoe UI"/>
              </a:rPr>
              <a:t>Os doze operadores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325880"/>
          <a:ext cx="10789918" cy="4626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6860"/>
                <a:gridCol w="1116198"/>
                <a:gridCol w="2046364"/>
                <a:gridCol w="2790496"/>
              </a:tblGrid>
              <a:tr h="4206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Operador</a:t>
                      </a:r>
                    </a:p>
                  </a:txBody>
                  <a:tcPr anchor="ctr">
                    <a:solidFill>
                      <a:srgbClr val="009E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Custo</a:t>
                      </a:r>
                    </a:p>
                  </a:txBody>
                  <a:tcPr anchor="ctr">
                    <a:solidFill>
                      <a:srgbClr val="009E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Exige execução parada?</a:t>
                      </a:r>
                    </a:p>
                  </a:txBody>
                  <a:tcPr anchor="ctr">
                    <a:solidFill>
                      <a:srgbClr val="009E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Autorização?</a:t>
                      </a:r>
                    </a:p>
                  </a:txBody>
                  <a:tcPr anchor="ctr">
                    <a:solidFill>
                      <a:srgbClr val="009E7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request_authorization(?n)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não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stop_run(?n)</a:t>
                      </a:r>
                    </a:p>
                  </a:txBody>
                  <a:tcPr anchor="ctr"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anchor="ctr"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SIM</a:t>
                      </a:r>
                    </a:p>
                  </a:txBody>
                  <a:tcPr anchor="ctr"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sim</a:t>
                      </a:r>
                    </a:p>
                  </a:txBody>
                  <a:tcPr anchor="ctr">
                    <a:solidFill>
                      <a:srgbClr val="F4F2E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start_run(?n)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restore_path_budget(?n)</a:t>
                      </a:r>
                    </a:p>
                  </a:txBody>
                  <a:tcPr anchor="ctr"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anchor="ctr"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SIM</a:t>
                      </a:r>
                    </a:p>
                  </a:txBody>
                  <a:tcPr anchor="ctr"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sim</a:t>
                      </a:r>
                    </a:p>
                  </a:txBody>
                  <a:tcPr anchor="ctr">
                    <a:solidFill>
                      <a:srgbClr val="F4F2E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separate_channels(?n)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SIM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sim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restart_node(?n)</a:t>
                      </a:r>
                    </a:p>
                  </a:txBody>
                  <a:tcPr anchor="ctr"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anchor="ctr"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não</a:t>
                      </a:r>
                    </a:p>
                  </a:txBody>
                  <a:tcPr anchor="ctr"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sim</a:t>
                      </a:r>
                    </a:p>
                  </a:txBody>
                  <a:tcPr anchor="ctr">
                    <a:solidFill>
                      <a:srgbClr val="F4F2E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fix_routing(?n)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não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sim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restore_relay(?n)</a:t>
                      </a:r>
                    </a:p>
                  </a:txBody>
                  <a:tcPr anchor="ctr"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anchor="ctr"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não</a:t>
                      </a:r>
                    </a:p>
                  </a:txBody>
                  <a:tcPr anchor="ctr"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sim</a:t>
                      </a:r>
                    </a:p>
                  </a:txBody>
                  <a:tcPr anchor="ctr">
                    <a:solidFill>
                      <a:srgbClr val="F4F2E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933"/>
                          </a:solidFill>
                          <a:latin typeface="Segoe UI"/>
                        </a:rPr>
                        <a:t>reroute_traffic(?n)</a:t>
                      </a:r>
                    </a:p>
                  </a:txBody>
                  <a:tcPr anchor="ctr">
                    <a:solidFill>
                      <a:srgbClr val="FDF1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933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anchor="ctr">
                    <a:solidFill>
                      <a:srgbClr val="FDF1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933"/>
                          </a:solidFill>
                          <a:latin typeface="Segoe UI"/>
                        </a:rPr>
                        <a:t>não</a:t>
                      </a:r>
                    </a:p>
                  </a:txBody>
                  <a:tcPr anchor="ctr">
                    <a:solidFill>
                      <a:srgbClr val="FDF1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933"/>
                          </a:solidFill>
                          <a:latin typeface="Segoe UI"/>
                        </a:rPr>
                        <a:t>sim + rota alternativa</a:t>
                      </a:r>
                    </a:p>
                  </a:txBody>
                  <a:tcPr anchor="ctr">
                    <a:solidFill>
                      <a:srgbClr val="FDF1D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verify_link / record_logbook / close_work_order</a:t>
                      </a:r>
                    </a:p>
                  </a:txBody>
                  <a:tcPr anchor="ctr"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anchor="ctr"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>
                    <a:solidFill>
                      <a:srgbClr val="F4F2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54864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606040"/>
            <a:ext cx="10149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Segoe UI"/>
              </a:rPr>
              <a:t>Governança como precondição, não como recomendação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572000"/>
            <a:ext cx="10149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9FC6D8"/>
                </a:solidFill>
                <a:latin typeface="Segoe UI"/>
              </a:rPr>
              <a:t>Agir sem autorização não é desaconselhado: é um estado INALCANÇÁVEL.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F2933"/>
                </a:solidFill>
                <a:latin typeface="Segoe UI"/>
              </a:rPr>
              <a:t>GPS: análise meios-fins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789920" cy="4937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600"/>
              </a:spcAft>
            </a:pPr>
            <a:r>
              <a:rPr sz="2300" b="1">
                <a:solidFill>
                  <a:srgbClr val="1F2933"/>
                </a:solidFill>
                <a:latin typeface="Segoe UI"/>
              </a:rPr>
              <a:t>• Olhe a DIFERENÇA entre o estado atual e o objetivo</a:t>
            </a:r>
          </a:p>
          <a:p>
            <a:pPr>
              <a:spcAft>
                <a:spcPts val="1600"/>
              </a:spcAft>
            </a:pPr>
            <a:r>
              <a:rPr sz="2300" b="1">
                <a:solidFill>
                  <a:srgbClr val="1F2933"/>
                </a:solidFill>
                <a:latin typeface="Segoe UI"/>
              </a:rPr>
              <a:t>• Escolha um operador que REDUZA essa diferença</a:t>
            </a:r>
          </a:p>
          <a:p>
            <a:pPr>
              <a:spcAft>
                <a:spcPts val="1600"/>
              </a:spcAft>
            </a:pPr>
            <a:r>
              <a:rPr sz="2300" b="1">
                <a:solidFill>
                  <a:srgbClr val="1F2933"/>
                </a:solidFill>
                <a:latin typeface="Segoe UI"/>
              </a:rPr>
              <a:t>• Recursivamente, satisfaça as precondições desse operador</a:t>
            </a:r>
          </a:p>
          <a:p>
            <a:pPr>
              <a:spcAft>
                <a:spcPts val="1600"/>
              </a:spcAft>
            </a:pPr>
            <a:r>
              <a:rPr sz="2300" b="1">
                <a:solidFill>
                  <a:srgbClr val="1F2933"/>
                </a:solidFill>
                <a:latin typeface="Segoe UI"/>
              </a:rPr>
              <a:t>• Aplique o operador</a:t>
            </a:r>
          </a:p>
          <a:p>
            <a:pPr lvl="1">
              <a:spcAft>
                <a:spcPts val="1000"/>
              </a:spcAft>
            </a:pPr>
            <a:r>
              <a:rPr sz="1900" b="0">
                <a:solidFill>
                  <a:srgbClr val="52606D"/>
                </a:solidFill>
                <a:latin typeface="Segoe UI"/>
              </a:rPr>
              <a:t>Toda ação existe para eliminar uma diferença concreta — por isso o trace se lê como justificativa, não como log de busca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F2933"/>
                </a:solidFill>
                <a:latin typeface="Segoe UI"/>
              </a:rPr>
              <a:t>O trace do GPS: uma justificativa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80160"/>
            <a:ext cx="10789920" cy="4297680"/>
          </a:xfrm>
          <a:prstGeom prst="rect">
            <a:avLst/>
          </a:prstGeom>
          <a:solidFill>
            <a:srgbClr val="061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20040" tIns="256032"/>
          <a:lstStyle/>
          <a:p>
            <a:pPr algn="ctr"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>DIFERENÇA a reduzir: service-restored(RM_A5)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>  operador candidato: close_work_order(RM_A5)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>  precondições: link-up(RM_A5), logged(RM_A5)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>    DIFERENÇA a reduzir: link-up(RM_A5)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>      operador candidato: verify_link(RM_A5)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>        DIFERENÇA a reduzir: fault-cleared(RM_A5)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>          operador candidato: separate_channels(RM_A5)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>            DIFERENÇA a reduzir: run-stopped(RM_A5)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>              APLICA stop_run(RM_A5)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>            já satisfeito: run-active(RM_A5)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F2933"/>
                </a:solidFill>
                <a:latin typeface="Segoe UI"/>
              </a:rPr>
              <a:t>As limitações do GPS — ditas antes que perguntem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789920" cy="4937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600"/>
              </a:spcAft>
            </a:pPr>
            <a:r>
              <a:rPr sz="2300" b="1">
                <a:solidFill>
                  <a:srgbClr val="1F2933"/>
                </a:solidFill>
                <a:latin typeface="Segoe UI"/>
              </a:rPr>
              <a:t>• O GPS não é completo nem ótimo</a:t>
            </a:r>
          </a:p>
          <a:p>
            <a:pPr>
              <a:spcAft>
                <a:spcPts val="1600"/>
              </a:spcAft>
            </a:pPr>
            <a:r>
              <a:rPr sz="2300" b="1">
                <a:solidFill>
                  <a:srgbClr val="1F2933"/>
                </a:solidFill>
                <a:latin typeface="Segoe UI"/>
              </a:rPr>
              <a:t>• Adota o primeiro operador que reduz a diferença; só revisa por retrocesso</a:t>
            </a:r>
          </a:p>
          <a:p>
            <a:pPr>
              <a:spcAft>
                <a:spcPts val="1600"/>
              </a:spcAft>
            </a:pPr>
            <a:r>
              <a:rPr sz="2300" b="1">
                <a:solidFill>
                  <a:srgbClr val="1F2933"/>
                </a:solidFill>
                <a:latin typeface="Segoe UI"/>
              </a:rPr>
              <a:t>• Anomalia de Sussman: com subobjetivos que interagem, atingir um pode desfazer outro</a:t>
            </a:r>
          </a:p>
          <a:p>
            <a:pPr lvl="1">
              <a:spcAft>
                <a:spcPts val="1000"/>
              </a:spcAft>
            </a:pPr>
            <a:r>
              <a:rPr sz="1900" b="0">
                <a:solidFill>
                  <a:srgbClr val="52606D"/>
                </a:solidFill>
                <a:latin typeface="Segoe UI"/>
              </a:rPr>
              <a:t>Nossa defesa mínima: reverificar os subobjetivos ao final e falhar explicitamente, em vez de devolver plano inválido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F2933"/>
                </a:solidFill>
                <a:latin typeface="Segoe UI"/>
              </a:rPr>
              <a:t>A não-otimalidade do GPS, demonstrada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80160"/>
            <a:ext cx="10789920" cy="4297680"/>
          </a:xfrm>
          <a:prstGeom prst="rect">
            <a:avLst/>
          </a:prstGeom>
          <a:solidFill>
            <a:srgbClr val="061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20040" tIns="256032"/>
          <a:lstStyle/>
          <a:p>
            <a:pPr algn="ctr"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>O GPS ordena os operadores pelo custo PRÓPRIO,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>sem olhar o custo das PRECONDIÇÕES.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>  conserto_barato_no_local   custo  1   exige: on-site(N)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>  deslocar_equipe            custo 10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>  conserto_remoto            custo  3   exige: nada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>GPS:  deslocar_equipe (10) + conserto_barato (1)   =  custo 11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>A* :  conserto_remoto (3)                          =  custo  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F2933"/>
                </a:solidFill>
                <a:latin typeface="Segoe UI"/>
              </a:rPr>
              <a:t>Planejamento é busca: o mesmo problema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325880"/>
          <a:ext cx="1078992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15968"/>
                <a:gridCol w="6473952"/>
              </a:tblGrid>
              <a:tr h="4206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Busca</a:t>
                      </a:r>
                    </a:p>
                  </a:txBody>
                  <a:tcPr anchor="ctr">
                    <a:solidFill>
                      <a:srgbClr val="009E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Planejamento</a:t>
                      </a:r>
                    </a:p>
                  </a:txBody>
                  <a:tcPr anchor="ctr">
                    <a:solidFill>
                      <a:srgbClr val="009E7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estado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conjunto de literais verdadeiros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ação sucessora</a:t>
                      </a:r>
                    </a:p>
                  </a:txBody>
                  <a:tcPr anchor="ctr"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qualquer ação aplicável</a:t>
                      </a:r>
                    </a:p>
                  </a:txBody>
                  <a:tcPr anchor="ctr">
                    <a:solidFill>
                      <a:srgbClr val="F4F2E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custo do passo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custo da ação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teste de objetivo</a:t>
                      </a:r>
                    </a:p>
                  </a:txBody>
                  <a:tcPr anchor="ctr"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o objetivo está contido no estado</a:t>
                      </a:r>
                    </a:p>
                  </a:txBody>
                  <a:tcPr anchor="ctr">
                    <a:solidFill>
                      <a:srgbClr val="F4F2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F2933"/>
                </a:solidFill>
                <a:latin typeface="Segoe UI"/>
              </a:rPr>
              <a:t>A heurística do planejador, e sua condição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789920" cy="4937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600"/>
              </a:spcAft>
            </a:pPr>
            <a:r>
              <a:rPr sz="2300" b="1">
                <a:solidFill>
                  <a:srgbClr val="1F2933"/>
                </a:solidFill>
                <a:latin typeface="Segoe UI"/>
              </a:rPr>
              <a:t>• goal_count: h(s) = número de literais do objetivo ainda não satisfeitos</a:t>
            </a:r>
          </a:p>
          <a:p>
            <a:pPr>
              <a:spcAft>
                <a:spcPts val="1600"/>
              </a:spcAft>
            </a:pPr>
            <a:r>
              <a:rPr sz="2300" b="1">
                <a:solidFill>
                  <a:srgbClr val="1F2933"/>
                </a:solidFill>
                <a:latin typeface="Segoe UI"/>
              </a:rPr>
              <a:t>• Admissível APENAS SE nenhuma ação satisfaz mais de um literal do objetivo e toda ação custa ao menos 1</a:t>
            </a:r>
          </a:p>
          <a:p>
            <a:pPr>
              <a:spcAft>
                <a:spcPts val="1600"/>
              </a:spcAft>
            </a:pPr>
            <a:r>
              <a:rPr sz="2300" b="1">
                <a:solidFill>
                  <a:srgbClr val="1F2933"/>
                </a:solidFill>
                <a:latin typeface="Segoe UI"/>
              </a:rPr>
              <a:t>• Neste domínio a condição vale: service-restored e logged vêm de operadores diferentes</a:t>
            </a:r>
          </a:p>
          <a:p>
            <a:pPr>
              <a:spcAft>
                <a:spcPts val="1600"/>
              </a:spcAft>
            </a:pPr>
            <a:r>
              <a:rPr sz="2300" b="1">
                <a:solidFill>
                  <a:srgbClr val="1F2933"/>
                </a:solidFill>
                <a:latin typeface="Segoe UI"/>
              </a:rPr>
              <a:t>• Declaramos a condição em vez de supô-la</a:t>
            </a:r>
          </a:p>
          <a:p>
            <a:pPr lvl="1">
              <a:spcAft>
                <a:spcPts val="1000"/>
              </a:spcAft>
            </a:pPr>
            <a:r>
              <a:rPr sz="1900" b="0">
                <a:solidFill>
                  <a:srgbClr val="52606D"/>
                </a:solidFill>
                <a:latin typeface="Segoe UI"/>
              </a:rPr>
              <a:t>uma heurística inadmissível custaria a otimalidade em silêncio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F2933"/>
                </a:solidFill>
                <a:latin typeface="Segoe UI"/>
              </a:rPr>
              <a:t>Demonstração: os dois planejadores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80160"/>
            <a:ext cx="10789920" cy="4297680"/>
          </a:xfrm>
          <a:prstGeom prst="rect">
            <a:avLst/>
          </a:prstGeom>
          <a:solidFill>
            <a:srgbClr val="061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20040" tIns="256032"/>
          <a:lstStyle/>
          <a:p>
            <a:pPr algn="ctr">
              <a:lnSpc>
                <a:spcPct val="115000"/>
              </a:lnSpc>
            </a:pPr>
            <a:r>
              <a:rPr sz="1500">
                <a:solidFill>
                  <a:srgbClr val="7FE0C0"/>
                </a:solidFill>
                <a:latin typeface="Consolas"/>
              </a:rPr>
              <a:t>$ aisg plan --simulated --diagnosis mac_contention --node RM_A5 --solver both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> 1. request_authorization(RM_A5)   [1]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> 2. stop_run(RM_A5)                [2]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> 3. separate_channels(RM_A5)       [3]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> 4. start_run(RM_A5)               [2]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> 5. verify_link(RM_A5)             [1]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> 6. record_logbook(RM_A5)          [1]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> 7. close_work_order(RM_A5)        [1]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>    custo total: 11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>Validação: o plano é executável e atinge o objetivo.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54864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606040"/>
            <a:ext cx="10149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Segoe UI"/>
              </a:rPr>
              <a:t>O sistema também sabe quando NÃO prometer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572000"/>
            <a:ext cx="10149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9FC6D8"/>
                </a:solidFill>
                <a:latin typeface="Segoe UI"/>
              </a:rPr>
              <a:t>Se uma das falhas não tem reparo disponível, ele não devolve um plano parcial.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F2933"/>
                </a:solidFill>
                <a:latin typeface="Segoe UI"/>
              </a:rPr>
              <a:t>Integração com a busca A*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789920" cy="4937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600"/>
              </a:spcAft>
            </a:pPr>
            <a:r>
              <a:rPr sz="2300" b="1">
                <a:solidFill>
                  <a:srgbClr val="1F2933"/>
                </a:solidFill>
                <a:latin typeface="Segoe UI"/>
              </a:rPr>
              <a:t>• reroute_traffic exige o literal alternate-route(?n)</a:t>
            </a:r>
          </a:p>
          <a:p>
            <a:pPr>
              <a:spcAft>
                <a:spcPts val="1600"/>
              </a:spcAft>
            </a:pPr>
            <a:r>
              <a:rPr sz="2300" b="1">
                <a:solidFill>
                  <a:srgbClr val="1F2933"/>
                </a:solidFill>
                <a:latin typeface="Segoe UI"/>
              </a:rPr>
              <a:t>• Esse literal NÃO é inventado</a:t>
            </a:r>
          </a:p>
          <a:p>
            <a:pPr>
              <a:spcAft>
                <a:spcPts val="1600"/>
              </a:spcAft>
            </a:pPr>
            <a:r>
              <a:rPr sz="2300" b="1">
                <a:solidFill>
                  <a:srgbClr val="1F2933"/>
                </a:solidFill>
                <a:latin typeface="Segoe UI"/>
              </a:rPr>
              <a:t>• Quando o diagnóstico é congestionamento, o planejador consulta o A* sobre a topologia, evitando o nó afetado</a:t>
            </a:r>
          </a:p>
          <a:p>
            <a:pPr>
              <a:spcAft>
                <a:spcPts val="1600"/>
              </a:spcAft>
            </a:pPr>
            <a:r>
              <a:rPr sz="2300" b="1">
                <a:solidFill>
                  <a:srgbClr val="1F2933"/>
                </a:solidFill>
                <a:latin typeface="Segoe UI"/>
              </a:rPr>
              <a:t>• Se não houver rota, a ação fica inaplicável</a:t>
            </a:r>
          </a:p>
          <a:p>
            <a:pPr lvl="1">
              <a:spcAft>
                <a:spcPts val="1000"/>
              </a:spcAft>
            </a:pPr>
            <a:r>
              <a:rPr sz="1900" b="0">
                <a:solidFill>
                  <a:srgbClr val="52606D"/>
                </a:solidFill>
                <a:latin typeface="Segoe UI"/>
              </a:rPr>
              <a:t>e o planejador falha honestamente, em vez de propor um desvio impossível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54864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E69F00"/>
                </a:solidFill>
                <a:latin typeface="Segoe UI"/>
              </a:rPr>
              <a:t>TEMA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718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Segoe UI"/>
              </a:rPr>
              <a:t>Busca A*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>
                <a:solidFill>
                  <a:srgbClr val="9FC6D8"/>
                </a:solidFill>
                <a:latin typeface="Segoe UI"/>
              </a:rPr>
              <a:t>f(n) = g(n) + h(n), prova de admissibilidade, e comparação entre estratégias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A94A0"/>
                </a:solidFill>
                <a:latin typeface="Segoe UI"/>
              </a:rPr>
              <a:t>30 minutos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F2933"/>
                </a:solidFill>
                <a:latin typeface="Segoe UI"/>
              </a:rPr>
              <a:t>O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789920" cy="4937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600"/>
              </a:spcAft>
            </a:pPr>
            <a:r>
              <a:rPr sz="2300" b="1">
                <a:solidFill>
                  <a:srgbClr val="1F2933"/>
                </a:solidFill>
                <a:latin typeface="Segoe UI"/>
              </a:rPr>
              <a:t>• Qual o caminho de menor custo de transporte entre dois nós?</a:t>
            </a:r>
          </a:p>
          <a:p>
            <a:pPr>
              <a:spcAft>
                <a:spcPts val="1600"/>
              </a:spcAft>
            </a:pPr>
            <a:r>
              <a:rPr sz="2300" b="1">
                <a:solidFill>
                  <a:srgbClr val="1F2933"/>
                </a:solidFill>
                <a:latin typeface="Segoe UI"/>
              </a:rPr>
              <a:t>• O requisito da disciplina é explícito: retornar o CAMINHO EXATO entre o estado inicial e o objetivo</a:t>
            </a:r>
          </a:p>
          <a:p>
            <a:pPr>
              <a:spcAft>
                <a:spcPts val="1600"/>
              </a:spcAft>
            </a:pPr>
            <a:r>
              <a:rPr sz="2300" b="1">
                <a:solidFill>
                  <a:srgbClr val="1F2933"/>
                </a:solidFill>
                <a:latin typeface="Segoe UI"/>
              </a:rPr>
              <a:t>• custo(u,v) = sobrecarga(tipo) + distância / (velocidade(tipo) × qualidade)</a:t>
            </a:r>
          </a:p>
          <a:p>
            <a:pPr>
              <a:spcAft>
                <a:spcPts val="1600"/>
              </a:spcAft>
            </a:pPr>
            <a:r>
              <a:rPr sz="2300" b="1">
                <a:solidFill>
                  <a:srgbClr val="1F2933"/>
                </a:solidFill>
                <a:latin typeface="Segoe UI"/>
              </a:rPr>
              <a:t>• Um repetidor armazena-e-encaminha TERMINA e retransmite o quadro</a:t>
            </a:r>
          </a:p>
          <a:p>
            <a:pPr lvl="1">
              <a:spcAft>
                <a:spcPts val="1000"/>
              </a:spcAft>
            </a:pPr>
            <a:r>
              <a:rPr sz="1900" b="0">
                <a:solidFill>
                  <a:srgbClr val="52606D"/>
                </a:solidFill>
                <a:latin typeface="Segoe UI"/>
              </a:rPr>
              <a:t>por isso paga 25 ms de sobrecarga, contra 0,5 ms da fibra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F2933"/>
                </a:solidFill>
                <a:latin typeface="Segoe UI"/>
              </a:rPr>
              <a:t>f(n) = g(n) + h(n)</a:t>
            </a:r>
          </a:p>
        </p:txBody>
      </p:sp>
      <p:pic>
        <p:nvPicPr>
          <p:cNvPr id="5" name="Picture 4" descr="04-ast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7888" y="1234440"/>
            <a:ext cx="6915919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61722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2606D"/>
                </a:solidFill>
                <a:latin typeface="Segoe UI"/>
              </a:rPr>
              <a:t>O caminho ótimo evita inteiramente a cadeia armazena-e-encaminha.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F2933"/>
                </a:solidFill>
                <a:latin typeface="Segoe UI"/>
              </a:rPr>
              <a:t>Três detalhes que separam um A* correto de um A* de brinquedo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789920" cy="4937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600"/>
              </a:spcAft>
            </a:pPr>
            <a:r>
              <a:rPr sz="2300" b="1">
                <a:solidFill>
                  <a:srgbClr val="1F2933"/>
                </a:solidFill>
                <a:latin typeface="Segoe UI"/>
              </a:rPr>
              <a:t>• Desempate: empates em f resolvem-se preferindo o maior g, depois a ordem de inserção</a:t>
            </a:r>
          </a:p>
          <a:p>
            <a:pPr lvl="1">
              <a:spcAft>
                <a:spcPts val="1000"/>
              </a:spcAft>
            </a:pPr>
            <a:r>
              <a:rPr sz="1900" b="0">
                <a:solidFill>
                  <a:srgbClr val="52606D"/>
                </a:solidFill>
                <a:latin typeface="Segoe UI"/>
              </a:rPr>
              <a:t>as execuções ficam reprodutíveis — importante numa apresentação</a:t>
            </a:r>
          </a:p>
          <a:p>
            <a:pPr>
              <a:spcAft>
                <a:spcPts val="1600"/>
              </a:spcAft>
            </a:pPr>
            <a:r>
              <a:rPr sz="2300" b="1">
                <a:solidFill>
                  <a:srgbClr val="1F2933"/>
                </a:solidFill>
                <a:latin typeface="Segoe UI"/>
              </a:rPr>
              <a:t>• Reabertura: um estado fechado é reaberto se surgir caminho mais barato</a:t>
            </a:r>
          </a:p>
          <a:p>
            <a:pPr lvl="1">
              <a:spcAft>
                <a:spcPts val="1000"/>
              </a:spcAft>
            </a:pPr>
            <a:r>
              <a:rPr sz="1900" b="0">
                <a:solidFill>
                  <a:srgbClr val="52606D"/>
                </a:solidFill>
                <a:latin typeface="Segoe UI"/>
              </a:rPr>
              <a:t>com heurística consistente isso nunca ocorre, mas tratamos o caso geral</a:t>
            </a:r>
          </a:p>
          <a:p>
            <a:pPr>
              <a:spcAft>
                <a:spcPts val="1600"/>
              </a:spcAft>
            </a:pPr>
            <a:r>
              <a:rPr sz="2300" b="1">
                <a:solidFill>
                  <a:srgbClr val="1F2933"/>
                </a:solidFill>
                <a:latin typeface="Segoe UI"/>
              </a:rPr>
              <a:t>• Custos negativos são recusados com erro explícito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F2933"/>
                </a:solidFill>
                <a:latin typeface="Segoe UI"/>
              </a:rPr>
              <a:t>Prova de admissibilidade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80160"/>
            <a:ext cx="10789920" cy="4297680"/>
          </a:xfrm>
          <a:prstGeom prst="rect">
            <a:avLst/>
          </a:prstGeom>
          <a:solidFill>
            <a:srgbClr val="061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20040" tIns="256032"/>
          <a:lstStyle/>
          <a:p>
            <a:pPr algn="ctr"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>h(n) = distância_em_linha_reta(n, objetivo) / VELOCIDADE_MÁXIMA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>Como  sobrecarga &gt;= 0,  qualidade &lt;= 1,  velocidade(tipo) &lt;= MÁXIMA: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>    custo(u,v)  &gt;=  d(u,v) / VELOCIDADE_MÁXIMA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>Somando ao longo de qualquer caminho de n até o objetivo, o custo total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>é ao menos a distância TOTAL PERCORRIDA dividida pela velocidade máxima.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>Pela desigualdade triangular, a distância percorrida é ao menos a linha reta.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>    custo_ótimo(n)  &gt;=  h(n)          admissível   ∎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F2933"/>
                </a:solidFill>
                <a:latin typeface="Segoe UI"/>
              </a:rPr>
              <a:t>Prova de consistência, e a verificação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80160"/>
            <a:ext cx="10789920" cy="4297680"/>
          </a:xfrm>
          <a:prstGeom prst="rect">
            <a:avLst/>
          </a:prstGeom>
          <a:solidFill>
            <a:srgbClr val="061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20040" tIns="256032"/>
          <a:lstStyle/>
          <a:p>
            <a:pPr algn="ctr"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>Pela desigualdade triangular: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>    d(u, objetivo)  &lt;=  d(u,v) + d(v, objetivo)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>Dividindo pela velocidade máxima: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>    h(u)  &lt;=  custo(u,v) + h(v)       consistente   ∎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>A consistência implica a admissibilidade,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>e garante que nenhum nó precise ser reaberto.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>VERIFICADO, não apenas argumentado: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>  272 pares no cenário base + 870 no de escala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>  todas as arestas, todos os objetivos — zero violações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F2933"/>
                </a:solidFill>
                <a:latin typeface="Segoe UI"/>
              </a:rPr>
              <a:t>Cinco estratégias, o mesmo problema: LTE_ENB → AP_B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325880"/>
          <a:ext cx="10789918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97013"/>
                <a:gridCol w="1398693"/>
                <a:gridCol w="1998133"/>
                <a:gridCol w="1998133"/>
                <a:gridCol w="2197946"/>
              </a:tblGrid>
              <a:tr h="4206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Estratégia</a:t>
                      </a:r>
                    </a:p>
                  </a:txBody>
                  <a:tcPr anchor="ctr">
                    <a:solidFill>
                      <a:srgbClr val="E69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Passos</a:t>
                      </a:r>
                    </a:p>
                  </a:txBody>
                  <a:tcPr anchor="ctr">
                    <a:solidFill>
                      <a:srgbClr val="E69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Custo (ms)</a:t>
                      </a:r>
                    </a:p>
                  </a:txBody>
                  <a:tcPr anchor="ctr">
                    <a:solidFill>
                      <a:srgbClr val="E69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Expandidos</a:t>
                      </a:r>
                    </a:p>
                  </a:txBody>
                  <a:tcPr anchor="ctr">
                    <a:solidFill>
                      <a:srgbClr val="E69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Ótimo?</a:t>
                      </a:r>
                    </a:p>
                  </a:txBody>
                  <a:tcPr anchor="ctr">
                    <a:solidFill>
                      <a:srgbClr val="E69F0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Largura (BFS)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381,46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só em passos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Custo uniforme</a:t>
                      </a:r>
                    </a:p>
                  </a:txBody>
                  <a:tcPr anchor="ctr"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anchor="ctr"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70,51</a:t>
                      </a:r>
                    </a:p>
                  </a:txBody>
                  <a:tcPr anchor="ctr"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anchor="ctr"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sim</a:t>
                      </a:r>
                    </a:p>
                  </a:txBody>
                  <a:tcPr anchor="ctr">
                    <a:solidFill>
                      <a:srgbClr val="F4F2E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Gulosa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381,46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não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A*</a:t>
                      </a:r>
                    </a:p>
                  </a:txBody>
                  <a:tcPr anchor="ctr"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anchor="ctr"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70,51</a:t>
                      </a:r>
                    </a:p>
                  </a:txBody>
                  <a:tcPr anchor="ctr"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anchor="ctr"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sim</a:t>
                      </a:r>
                    </a:p>
                  </a:txBody>
                  <a:tcPr anchor="ctr">
                    <a:solidFill>
                      <a:srgbClr val="F4F2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F2933"/>
                </a:solidFill>
                <a:latin typeface="Segoe UI"/>
              </a:rPr>
              <a:t>O caminho ótimo, salto a salto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80160"/>
            <a:ext cx="10789920" cy="4297680"/>
          </a:xfrm>
          <a:prstGeom prst="rect">
            <a:avLst/>
          </a:prstGeom>
          <a:solidFill>
            <a:srgbClr val="061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20040" tIns="256032"/>
          <a:lstStyle/>
          <a:p>
            <a:pPr algn="ctr"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>LTE_ENB -&gt; LTE_CORE -&gt; NOC -&gt; AP_B                       70,51 ms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>salto                  meio                 qual.   custo    acum.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>LTE_ENB -&gt; LTE_CORE    fibra óptica          0,96    13,86    13,86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>LTE_CORE -&gt; NOC        ethernet local        1,00     9,41    23,27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>NOC -&gt; AP_B            fibra óptica          0,97    47,23    70,51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>a largura preferiu: LTE_ENB -&gt; RM_B4 -&gt; AP_B  =  381,46 ms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>dois saltos, um deles de radio — e cinco vezes mais caro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F2933"/>
                </a:solidFill>
                <a:latin typeface="Segoe UI"/>
              </a:rPr>
              <a:t>A vantagem da heurística cresce com o grafo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325880"/>
          <a:ext cx="10789917" cy="1261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562"/>
                <a:gridCol w="1325077"/>
                <a:gridCol w="2650155"/>
                <a:gridCol w="2650155"/>
                <a:gridCol w="1892968"/>
              </a:tblGrid>
              <a:tr h="4206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Cenário</a:t>
                      </a:r>
                    </a:p>
                  </a:txBody>
                  <a:tcPr anchor="ctr">
                    <a:solidFill>
                      <a:srgbClr val="E69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Nós</a:t>
                      </a:r>
                    </a:p>
                  </a:txBody>
                  <a:tcPr anchor="ctr">
                    <a:solidFill>
                      <a:srgbClr val="E69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A* expandidos</a:t>
                      </a:r>
                    </a:p>
                  </a:txBody>
                  <a:tcPr anchor="ctr">
                    <a:solidFill>
                      <a:srgbClr val="E69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Custo uniforme</a:t>
                      </a:r>
                    </a:p>
                  </a:txBody>
                  <a:tcPr anchor="ctr">
                    <a:solidFill>
                      <a:srgbClr val="E69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Economia</a:t>
                      </a:r>
                    </a:p>
                  </a:txBody>
                  <a:tcPr anchor="ctr">
                    <a:solidFill>
                      <a:srgbClr val="E69F0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campo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2 342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2 584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9,4 %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933"/>
                          </a:solidFill>
                          <a:latin typeface="Segoe UI"/>
                        </a:rPr>
                        <a:t>simulado</a:t>
                      </a:r>
                    </a:p>
                  </a:txBody>
                  <a:tcPr anchor="ctr">
                    <a:solidFill>
                      <a:srgbClr val="FDF1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933"/>
                          </a:solidFill>
                          <a:latin typeface="Segoe UI"/>
                        </a:rPr>
                        <a:t>30</a:t>
                      </a:r>
                    </a:p>
                  </a:txBody>
                  <a:tcPr anchor="ctr">
                    <a:solidFill>
                      <a:srgbClr val="FDF1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933"/>
                          </a:solidFill>
                          <a:latin typeface="Segoe UI"/>
                        </a:rPr>
                        <a:t>10 310</a:t>
                      </a:r>
                    </a:p>
                  </a:txBody>
                  <a:tcPr anchor="ctr">
                    <a:solidFill>
                      <a:srgbClr val="FDF1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933"/>
                          </a:solidFill>
                          <a:latin typeface="Segoe UI"/>
                        </a:rPr>
                        <a:t>13 920</a:t>
                      </a:r>
                    </a:p>
                  </a:txBody>
                  <a:tcPr anchor="ctr">
                    <a:solidFill>
                      <a:srgbClr val="FDF1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933"/>
                          </a:solidFill>
                          <a:latin typeface="Segoe UI"/>
                        </a:rPr>
                        <a:t>25,9 %</a:t>
                      </a:r>
                    </a:p>
                  </a:txBody>
                  <a:tcPr anchor="ctr">
                    <a:solidFill>
                      <a:srgbClr val="FDF1D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F2933"/>
                </a:solidFill>
                <a:latin typeface="Segoe UI"/>
              </a:rPr>
              <a:t>Falha e recálculo de rota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80160"/>
            <a:ext cx="10789920" cy="4297680"/>
          </a:xfrm>
          <a:prstGeom prst="rect">
            <a:avLst/>
          </a:prstGeom>
          <a:solidFill>
            <a:srgbClr val="061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20040" tIns="256032"/>
          <a:lstStyle/>
          <a:p>
            <a:pPr algn="ctr">
              <a:lnSpc>
                <a:spcPct val="115000"/>
              </a:lnSpc>
            </a:pPr>
            <a:r>
              <a:rPr sz="1500">
                <a:solidFill>
                  <a:srgbClr val="7FE0C0"/>
                </a:solidFill>
                <a:latin typeface="Consolas"/>
              </a:rPr>
              <a:t>$ aisg --topology simulated route --from LTE_ENB --to AP_B \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>         --disable-link LTE_CORE-LTE_ENB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>antes :  70,51 ms   LTE_ENB -&gt; LTE_CORE -&gt; NOC -&gt; AP_B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>depois: 345,80 ms   LTE_ENB -&gt; RM_C4 -&gt; AP_C -&gt; NOC -&gt; AP_B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>Sem o enlace de núcleo, o caminho entra por um salto de rádio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>— e o custo quase quintuplica.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F2933"/>
                </a:solidFill>
                <a:latin typeface="Segoe UI"/>
              </a:rPr>
              <a:t>Onde o aprendizado de máquina ENTRARIA: a heurística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25880"/>
            <a:ext cx="5120640" cy="4572000"/>
          </a:xfrm>
          <a:prstGeom prst="rect">
            <a:avLst/>
          </a:prstGeom>
          <a:solidFill>
            <a:srgbClr val="FFFFFF"/>
          </a:solidFill>
          <a:ln w="22225">
            <a:solidFill>
              <a:srgbClr val="009E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1554480"/>
            <a:ext cx="4617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009E73"/>
                </a:solidFill>
                <a:latin typeface="Segoe UI"/>
              </a:rPr>
              <a:t>Por que é uma tarefa diferente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8600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52606D"/>
                </a:solidFill>
                <a:latin typeface="Segoe UI"/>
              </a:rPr>
              <a:t>O alvo é h*(n), o custo real restante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52606D"/>
                </a:solidFill>
                <a:latin typeface="Segoe UI"/>
              </a:rPr>
              <a:t>Calculável exatamente: Dijkstra a partir do objetivo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52606D"/>
                </a:solidFill>
                <a:latin typeface="Segoe UI"/>
              </a:rPr>
              <a:t>Supervisão gratuita e exata — não é rótulo de falha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52606D"/>
                </a:solidFill>
                <a:latin typeface="Segoe UI"/>
              </a:rPr>
              <a:t>Não exige instrumento de degradação nem campo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52606D"/>
                </a:solidFill>
                <a:latin typeface="Segoe UI"/>
              </a:rPr>
              <a:t>Vale mais no PLANEJADOR: goal_count é fraca e o espaço não tem geometria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1325880"/>
            <a:ext cx="5120640" cy="4572000"/>
          </a:xfrm>
          <a:prstGeom prst="rect">
            <a:avLst/>
          </a:prstGeom>
          <a:solidFill>
            <a:srgbClr val="FFFFFF"/>
          </a:solidFill>
          <a:ln w="22225">
            <a:solidFill>
              <a:srgbClr val="D55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629400" y="1554480"/>
            <a:ext cx="4617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D55E00"/>
                </a:solidFill>
                <a:latin typeface="Segoe UI"/>
              </a:rPr>
              <a:t>Por que ainda não está aqui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28600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52606D"/>
                </a:solidFill>
                <a:latin typeface="Segoe UI"/>
              </a:rPr>
              <a:t>Uma heurística aprendida NÃO é admissível por construção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52606D"/>
                </a:solidFill>
                <a:latin typeface="Segoe UI"/>
              </a:rPr>
              <a:t>Regressão pode superestimar → A* perde a otimalidade em silêncio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52606D"/>
                </a:solidFill>
                <a:latin typeface="Segoe UI"/>
              </a:rPr>
              <a:t>Saídas: usá-la só como desempate (preserva o ótimo)...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52606D"/>
                </a:solidFill>
                <a:latin typeface="Segoe UI"/>
              </a:rPr>
              <a:t>...ou em busca limitadamente subótima, com fator de garantia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52606D"/>
                </a:solidFill>
                <a:latin typeface="Segoe UI"/>
              </a:rPr>
              <a:t>Nossos testes de admissibilidade seriam o instrumento de medida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54864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606040"/>
            <a:ext cx="10149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Segoe UI"/>
              </a:rPr>
              <a:t>Uma implementação, dois espaços de estados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572000"/>
            <a:ext cx="10149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9FC6D8"/>
                </a:solidFill>
                <a:latin typeface="Segoe UI"/>
              </a:rPr>
              <a:t>A mesma função astar() resolve o roteamento na rede e o planejamento de ações.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54864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72B2"/>
                </a:solidFill>
                <a:latin typeface="Segoe UI"/>
              </a:rPr>
              <a:t>FECHAMENTO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718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Segoe UI"/>
              </a:rPr>
              <a:t>Integração e limites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>
                <a:solidFill>
                  <a:srgbClr val="9FC6D8"/>
                </a:solidFill>
                <a:latin typeface="Segoe UI"/>
              </a:rPr>
              <a:t>Os três sistemas num único incidente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A94A0"/>
                </a:solidFill>
                <a:latin typeface="Segoe UI"/>
              </a:rPr>
              <a:t>5 minutos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F2933"/>
                </a:solidFill>
                <a:latin typeface="Segoe UI"/>
              </a:rPr>
              <a:t>Um comando, os três sistemas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80160"/>
            <a:ext cx="10789920" cy="4297680"/>
          </a:xfrm>
          <a:prstGeom prst="rect">
            <a:avLst/>
          </a:prstGeom>
          <a:solidFill>
            <a:srgbClr val="061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20040" tIns="256032"/>
          <a:lstStyle/>
          <a:p>
            <a:pPr algn="ctr">
              <a:lnSpc>
                <a:spcPct val="115000"/>
              </a:lnSpc>
            </a:pPr>
            <a:r>
              <a:rPr sz="1500">
                <a:solidFill>
                  <a:srgbClr val="7FE0C0"/>
                </a:solidFill>
                <a:latin typeface="Consolas"/>
              </a:rPr>
              <a:t>$ aisg --topology simulated pipeline --case congestion --node SAF_A1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>1/3  diagnóstico ......... congestion (CF +0,89)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>     ação recomendada .... reroute_traffic (CF +0,71)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>2/3  rota alternativa confirmada pelo A*: True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>     plano validado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>3/3  rota evitando SAF_A1: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6EDF3"/>
                </a:solidFill>
                <a:latin typeface="Consolas"/>
              </a:rPr>
              <a:t>     NOC -&gt; LTE_CORE -&gt; LTE_ENB -&gt; FD_A               267,06 ms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F2933"/>
                </a:solidFill>
                <a:latin typeface="Segoe UI"/>
              </a:rPr>
              <a:t>Limites de validade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789920" cy="4937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600"/>
              </a:spcAft>
            </a:pPr>
            <a:r>
              <a:rPr sz="2300" b="1">
                <a:solidFill>
                  <a:srgbClr val="1F2933"/>
                </a:solidFill>
                <a:latin typeface="Segoe UI"/>
              </a:rPr>
              <a:t>• A topologia é sintética — não representa nenhuma instalação real</a:t>
            </a:r>
          </a:p>
          <a:p>
            <a:pPr>
              <a:spcAft>
                <a:spcPts val="1600"/>
              </a:spcAft>
            </a:pPr>
            <a:r>
              <a:rPr sz="2300" b="1">
                <a:solidFill>
                  <a:srgbClr val="1F2933"/>
                </a:solidFill>
                <a:latin typeface="Segoe UI"/>
              </a:rPr>
              <a:t>• Os limiares são nominais e não calibrados</a:t>
            </a:r>
          </a:p>
          <a:p>
            <a:pPr>
              <a:spcAft>
                <a:spcPts val="1600"/>
              </a:spcAft>
            </a:pPr>
            <a:r>
              <a:rPr sz="2300" b="1">
                <a:solidFill>
                  <a:srgbClr val="1F2933"/>
                </a:solidFill>
                <a:latin typeface="Segoe UI"/>
              </a:rPr>
              <a:t>• Não existe conjunto de dados rotulado de falhas para este domínio</a:t>
            </a:r>
          </a:p>
          <a:p>
            <a:pPr>
              <a:spcAft>
                <a:spcPts val="1600"/>
              </a:spcAft>
            </a:pPr>
            <a:r>
              <a:rPr sz="2300" b="1">
                <a:solidFill>
                  <a:srgbClr val="1F2933"/>
                </a:solidFill>
                <a:latin typeface="Segoe UI"/>
              </a:rPr>
              <a:t>• O sistema recomenda, não atua — no planejador isso não é conselho: é precondição</a:t>
            </a:r>
          </a:p>
          <a:p>
            <a:pPr lvl="1">
              <a:spcAft>
                <a:spcPts val="1000"/>
              </a:spcAft>
            </a:pPr>
            <a:r>
              <a:rPr sz="1900" b="0">
                <a:solidFill>
                  <a:srgbClr val="52606D"/>
                </a:solidFill>
                <a:latin typeface="Segoe UI"/>
              </a:rPr>
              <a:t>Uma conclusão obtida aqui vale para ESTE MODELO, não para uma planta física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F2933"/>
                </a:solidFill>
                <a:latin typeface="Segoe UI"/>
              </a:rPr>
              <a:t>Perguntas prováveis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325880"/>
          <a:ext cx="10789919" cy="3364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22142"/>
                <a:gridCol w="6567777"/>
              </a:tblGrid>
              <a:tr h="4206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Pergunta</a:t>
                      </a:r>
                    </a:p>
                  </a:txBody>
                  <a:tcPr anchor="ctr">
                    <a:solidFill>
                      <a:srgbClr val="0072B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Resposta curta</a:t>
                      </a:r>
                    </a:p>
                  </a:txBody>
                  <a:tcPr anchor="ctr">
                    <a:solidFill>
                      <a:srgbClr val="0072B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Por que não aprendizado de máquina?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Não há dados rotulados de falha, nem como produzi-los sem instrumento de degradação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Como escolhe entre regras concorrentes?</a:t>
                      </a:r>
                    </a:p>
                  </a:txBody>
                  <a:tcPr anchor="ctr"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Três políticas selecionáveis; a padrão é especificidade. Muda a ordem, não a conclusão</a:t>
                      </a:r>
                    </a:p>
                  </a:txBody>
                  <a:tcPr anchor="ctr">
                    <a:solidFill>
                      <a:srgbClr val="F4F2E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A heurística é admissível?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Sim — prova por desigualdade triangular e verificação exaustiva em teste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O GPS sempre acha o melhor plano?</a:t>
                      </a:r>
                    </a:p>
                  </a:txBody>
                  <a:tcPr anchor="ctr"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Não. Há um teste que exibe um caso concreto de não-otimalidade</a:t>
                      </a:r>
                    </a:p>
                  </a:txBody>
                  <a:tcPr anchor="ctr">
                    <a:solidFill>
                      <a:srgbClr val="F4F2E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Qual banco de dados?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Nenhum. JSON versionado, regras em código, memória de trabalho em RAM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E se não houver rota alternativa?</a:t>
                      </a:r>
                    </a:p>
                  </a:txBody>
                  <a:tcPr anchor="ctr"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A ação fica inaplicável e o planejador falha honestamente. Há teste</a:t>
                      </a:r>
                    </a:p>
                  </a:txBody>
                  <a:tcPr anchor="ctr">
                    <a:solidFill>
                      <a:srgbClr val="F4F2E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Por que CF e não probabilidade?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CF não exige priors nem independência condicional — que sem dados não se estimam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54864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606040"/>
            <a:ext cx="10149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Segoe UI"/>
              </a:rPr>
              <a:t>Obrigado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572000"/>
            <a:ext cx="10149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9FC6D8"/>
                </a:solidFill>
                <a:latin typeface="Segoe UI"/>
              </a:rPr>
              <a:t>github.com/fsd-dantas/ai-for-smartgrids   ·   155 testes   ·   wiki com a teoria da disciplina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F2933"/>
                </a:solidFill>
                <a:latin typeface="Segoe UI"/>
              </a:rPr>
              <a:t>Apêndice — proposta de avaliação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52606D"/>
                </a:solidFill>
                <a:latin typeface="Segoe UI"/>
              </a:rPr>
              <a:t>Autoavaliação proposta • sem endosso docente registrado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737360"/>
          <a:ext cx="10789919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914400"/>
                <a:gridCol w="6949439"/>
              </a:tblGrid>
              <a:tr h="4206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Área</a:t>
                      </a:r>
                    </a:p>
                  </a:txBody>
                  <a:tcPr anchor="ctr">
                    <a:solidFill>
                      <a:srgbClr val="0072B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Pontos</a:t>
                      </a:r>
                    </a:p>
                  </a:txBody>
                  <a:tcPr anchor="ctr">
                    <a:solidFill>
                      <a:srgbClr val="0072B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Evidência principal</a:t>
                      </a:r>
                    </a:p>
                  </a:txBody>
                  <a:tcPr anchor="ctr">
                    <a:solidFill>
                      <a:srgbClr val="0072B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Sistema especialista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Regras, encadeamento, CF e explicação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Planejamento</a:t>
                      </a:r>
                    </a:p>
                  </a:txBody>
                  <a:tcPr anchor="ctr"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30</a:t>
                      </a:r>
                    </a:p>
                  </a:txBody>
                  <a:tcPr anchor="ctr"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Modelo, plano executável e integração</a:t>
                      </a:r>
                    </a:p>
                  </a:txBody>
                  <a:tcPr anchor="ctr">
                    <a:solidFill>
                      <a:srgbClr val="F4F2E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Busca A*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Caminho, custo, heurística e comparação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Documentação e defesa</a:t>
                      </a:r>
                    </a:p>
                  </a:txBody>
                  <a:tcPr anchor="ctr"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 anchor="ctr"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606D"/>
                          </a:solidFill>
                          <a:latin typeface="Segoe UI"/>
                        </a:rPr>
                        <a:t>Reprodução, clareza e limites</a:t>
                      </a:r>
                    </a:p>
                  </a:txBody>
                  <a:tcPr anchor="ctr">
                    <a:solidFill>
                      <a:srgbClr val="F4F2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F2933"/>
                </a:solidFill>
                <a:latin typeface="Segoe UI"/>
              </a:rPr>
              <a:t>Apêndice — escopo das falhas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789920" cy="4937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600"/>
              </a:spcAft>
            </a:pPr>
            <a:r>
              <a:rPr sz="2300" b="1">
                <a:solidFill>
                  <a:srgbClr val="1F2933"/>
                </a:solidFill>
                <a:latin typeface="Segoe UI"/>
              </a:rPr>
              <a:t>• Demonstração principal: um diagnóstico selecionado por nó</a:t>
            </a:r>
          </a:p>
          <a:p>
            <a:pPr>
              <a:spcAft>
                <a:spcPts val="1600"/>
              </a:spcAft>
            </a:pPr>
            <a:r>
              <a:rPr sz="2300" b="1">
                <a:solidFill>
                  <a:srgbClr val="1F2933"/>
                </a:solidFill>
                <a:latin typeface="Segoe UI"/>
              </a:rPr>
              <a:t>• Hipóteses concorrentes não confirmam falhas simultâneas</a:t>
            </a:r>
          </a:p>
          <a:p>
            <a:pPr>
              <a:spcAft>
                <a:spcPts val="1600"/>
              </a:spcAft>
            </a:pPr>
            <a:r>
              <a:rPr sz="2300" b="1">
                <a:solidFill>
                  <a:srgbClr val="1F2933"/>
                </a:solidFill>
                <a:latin typeface="Segoe UI"/>
              </a:rPr>
              <a:t>• Extensão: um predicado de reparo para cada falha fornecida</a:t>
            </a:r>
          </a:p>
          <a:p>
            <a:pPr>
              <a:spcAft>
                <a:spcPts val="1600"/>
              </a:spcAft>
            </a:pPr>
            <a:r>
              <a:rPr sz="2300" b="1">
                <a:solidFill>
                  <a:srgbClr val="1F2933"/>
                </a:solidFill>
                <a:latin typeface="Segoe UI"/>
              </a:rPr>
              <a:t>• Só verificar e encerrar após resolver todas as falhas do escopo</a:t>
            </a:r>
          </a:p>
          <a:p>
            <a:pPr>
              <a:spcAft>
                <a:spcPts val="1600"/>
              </a:spcAft>
            </a:pPr>
            <a:r>
              <a:rPr sz="2300" b="1">
                <a:solidFill>
                  <a:srgbClr val="1F2933"/>
                </a:solidFill>
                <a:latin typeface="Segoe UI"/>
              </a:rPr>
              <a:t>• Validar a extensão separadamente; resultados valem para o modelo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