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82" r:id="rId3"/>
    <p:sldId id="279" r:id="rId4"/>
    <p:sldId id="283" r:id="rId5"/>
    <p:sldId id="281" r:id="rId6"/>
    <p:sldId id="284" r:id="rId7"/>
    <p:sldId id="285" r:id="rId8"/>
    <p:sldId id="286" r:id="rId9"/>
    <p:sldId id="287" r:id="rId10"/>
    <p:sldId id="289" r:id="rId11"/>
    <p:sldId id="288" r:id="rId12"/>
    <p:sldId id="290" r:id="rId13"/>
    <p:sldId id="291" r:id="rId14"/>
    <p:sldId id="292" r:id="rId15"/>
    <p:sldId id="293" r:id="rId16"/>
    <p:sldId id="294" r:id="rId17"/>
    <p:sldId id="295" r:id="rId18"/>
    <p:sldId id="296" r:id="rId19"/>
    <p:sldId id="297" r:id="rId20"/>
    <p:sldId id="298" r:id="rId21"/>
    <p:sldId id="278" r:id="rId2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94C04E78-9DC5-41B5-804B-59E2F83F620C}">
          <p14:sldIdLst>
            <p14:sldId id="256"/>
            <p14:sldId id="282"/>
            <p14:sldId id="279"/>
            <p14:sldId id="283"/>
            <p14:sldId id="281"/>
            <p14:sldId id="284"/>
            <p14:sldId id="285"/>
            <p14:sldId id="286"/>
            <p14:sldId id="287"/>
            <p14:sldId id="289"/>
            <p14:sldId id="288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10539"/>
    <a:srgbClr val="800539"/>
    <a:srgbClr val="FD02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4" autoAdjust="0"/>
    <p:restoredTop sz="94694"/>
  </p:normalViewPr>
  <p:slideViewPr>
    <p:cSldViewPr snapToGrid="0" snapToObjects="1" showGuides="1">
      <p:cViewPr varScale="1">
        <p:scale>
          <a:sx n="111" d="100"/>
          <a:sy n="111" d="100"/>
        </p:scale>
        <p:origin x="594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C85A01-7F43-DF4B-A56A-D56FBC29A924}" type="datetimeFigureOut">
              <a:rPr lang="pt-BR" smtClean="0"/>
              <a:t>10/09/2026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973500-FE24-774E-8932-3833A078E141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1559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973500-FE24-774E-8932-3833A078E141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33982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973500-FE24-774E-8932-3833A078E141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57696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6472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53237F-C3FC-4846-88E0-7F628DC7C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0B2D18-5336-3F45-A5DB-1609F1E58D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0B02B42-5A8D-FF47-BDF8-AE1E10AEB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9E43636-7209-6E4C-81DD-C079EDAC7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AC7092C-D9B8-B146-9659-A50B4EB90CBF}" type="slidenum">
              <a:rPr lang="pt-BR" smtClean="0"/>
              <a:t>‹#›</a:t>
            </a:fld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58ACC670-E9EE-C9BF-9113-43D54ED59BCC}"/>
              </a:ext>
            </a:extLst>
          </p:cNvPr>
          <p:cNvSpPr/>
          <p:nvPr userDrawn="1"/>
        </p:nvSpPr>
        <p:spPr>
          <a:xfrm>
            <a:off x="1540565" y="6281530"/>
            <a:ext cx="1649896" cy="43994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061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07557D-2F6C-584C-B08B-7202F22D0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0E6E12D-21CE-3E4E-93DC-0566C4A50E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100FD01-9FAB-5242-8832-DFD74E4EF66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42F892D-862C-2D47-B31F-1150E6DD63F8}" type="datetimeFigureOut">
              <a:rPr lang="pt-BR" smtClean="0"/>
              <a:t>10/09/2026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4022E12-6641-AD45-9AD7-63AA2BC22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AE509A8-81B3-BC42-A17A-03D5B4E67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AC7092C-D9B8-B146-9659-A50B4EB90CB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46836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71B042-FA96-0046-AC8F-02FB6106E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E2A7980-B797-0340-AFC1-3BA1AEFB33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3B2D33B-7689-BB49-AF3C-FBA30A7DD1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0496422-2012-BF45-9BF9-9F03B98994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42F892D-862C-2D47-B31F-1150E6DD63F8}" type="datetimeFigureOut">
              <a:rPr lang="pt-BR" smtClean="0"/>
              <a:t>10/09/2026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12A5800-465D-6343-9B9F-E5074AAA6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320169E-FDBE-2642-B1C6-F396D6733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AC7092C-D9B8-B146-9659-A50B4EB90CB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70465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0568DE-CA90-8943-8E3B-6BCA9A7D5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28A109C-4E7E-C249-8663-BA034C92C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DA00E26-49F5-7C46-9807-E710126D9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E89714D-340E-1042-9716-75122060B6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8E22C24-80CC-B64D-958F-861C6E932C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C7CC4025-A95C-EE46-93C7-113D1DB5DBC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42F892D-862C-2D47-B31F-1150E6DD63F8}" type="datetimeFigureOut">
              <a:rPr lang="pt-BR" smtClean="0"/>
              <a:t>10/09/2026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39DDF7E4-26B3-5640-B02E-5A059C246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0282619A-E153-F64D-8A0A-90ADB5261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AC7092C-D9B8-B146-9659-A50B4EB90CB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1644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6886D7-2029-3849-B2AF-D4254BD8F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156AD631-D12E-0A43-A4B2-34BD5F7932D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42F892D-862C-2D47-B31F-1150E6DD63F8}" type="datetimeFigureOut">
              <a:rPr lang="pt-BR" smtClean="0"/>
              <a:t>10/09/2026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CB8894AF-CD21-A54A-B1AC-F22EA77D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8E2A004-569A-A846-96B5-268E84C76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AC7092C-D9B8-B146-9659-A50B4EB90CB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972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ABF9C40E-F3D8-174D-8897-E1286A7FD87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42F892D-862C-2D47-B31F-1150E6DD63F8}" type="datetimeFigureOut">
              <a:rPr lang="pt-BR" smtClean="0"/>
              <a:t>10/09/2026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BAF9C72-0176-2D49-A135-74D9BB1B3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B7EBAD3-7AFF-1446-9614-B1000EEB5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AC7092C-D9B8-B146-9659-A50B4EB90CB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42474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8B91D1-933F-D442-96F2-7E417F637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5645735-AA08-F84B-9AB6-9157ABFA93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17CD056-3CFC-B048-931E-78B888DCF4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FAC4021-4831-AE4A-A75A-DEAEB5A403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42F892D-862C-2D47-B31F-1150E6DD63F8}" type="datetimeFigureOut">
              <a:rPr lang="pt-BR" smtClean="0"/>
              <a:t>10/09/2026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7017886-1037-0F49-A3A4-76BA3091A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C1A5089-28A6-524F-B561-0E2F5CFFC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AC7092C-D9B8-B146-9659-A50B4EB90CB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6065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331552-DD45-F849-A82E-F03ECC12F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B5D5D9D-9878-5649-A589-7F11E93050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3C43375-1CF7-704D-B9D3-077EE12578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8F0DC97-29D9-3741-A824-D0AF639F06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42F892D-862C-2D47-B31F-1150E6DD63F8}" type="datetimeFigureOut">
              <a:rPr lang="pt-BR" smtClean="0"/>
              <a:t>10/09/2026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9CC0792-30AF-1549-B8B6-0732B7AE3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1514C85-FE9E-B44D-8558-BF8DCF40B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AC7092C-D9B8-B146-9659-A50B4EB90CB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59533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E5851E-50B9-204A-A492-C895127D6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6BC6D9D-4803-9640-B977-C6758177CF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32B5CE2-B28F-414A-A36D-9FEFEDB605C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42F892D-862C-2D47-B31F-1150E6DD63F8}" type="datetimeFigureOut">
              <a:rPr lang="pt-BR" smtClean="0"/>
              <a:t>10/09/2026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0ECE862-E922-594C-8E24-3C3D2282E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6BB98F9-4304-7A4D-A8AC-5993D6E84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AC7092C-D9B8-B146-9659-A50B4EB90CB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52823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D91FE92-8621-A249-A763-1AB686BE22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6F2C073-A6A6-5544-B957-9E96415799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A17AEB8-8067-D943-B83B-1AC63A2EE72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42F892D-862C-2D47-B31F-1150E6DD63F8}" type="datetimeFigureOut">
              <a:rPr lang="pt-BR" smtClean="0"/>
              <a:t>10/09/2026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0EF7C2E-9C27-114D-BE41-5B2070619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33FF784-4316-8748-B63B-6CDF55797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AC7092C-D9B8-B146-9659-A50B4EB90CB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0221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Padrão do plano de fundo&#10;&#10;Descrição gerada automaticamente com confiança baixa">
            <a:extLst>
              <a:ext uri="{FF2B5EF4-FFF2-40B4-BE49-F238E27FC236}">
                <a16:creationId xmlns:a16="http://schemas.microsoft.com/office/drawing/2014/main" id="{DA6EB240-15CE-7D46-A968-108AB86B7A51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m 3" descr="Uma imagem contendo Logotipo&#10;&#10;Descrição gerada automaticamente">
            <a:extLst>
              <a:ext uri="{FF2B5EF4-FFF2-40B4-BE49-F238E27FC236}">
                <a16:creationId xmlns:a16="http://schemas.microsoft.com/office/drawing/2014/main" id="{E61E87A7-A503-43EA-BA4B-19D3E975F3E0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94904" y="6192982"/>
            <a:ext cx="3076861" cy="55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32103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Uma imagem contendo Forma&#10;&#10;Descrição gerada automaticamente">
            <a:extLst>
              <a:ext uri="{FF2B5EF4-FFF2-40B4-BE49-F238E27FC236}">
                <a16:creationId xmlns:a16="http://schemas.microsoft.com/office/drawing/2014/main" id="{8A30E2B3-F0B9-3248-BAE6-F1209292D2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F04B612-E1A1-EB45-9FBD-335732929D7A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4028341" y="2711669"/>
            <a:ext cx="7441324" cy="1437182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l"/>
            <a:r>
              <a:rPr lang="pt-BR" sz="4000" b="1" spc="-300" dirty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Sistema Especialista, Planejamento Automático e Busca A* Aplicados ao Gerenciamento de Redes sem Fio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42A33A-D40D-D94A-A311-D61290DA0B7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4028342" y="5507715"/>
            <a:ext cx="6204516" cy="423424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indent="0" algn="r">
              <a:buNone/>
            </a:pPr>
            <a:r>
              <a:rPr lang="pt-BR" sz="1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Fernando Sabino Dantas</a:t>
            </a:r>
          </a:p>
        </p:txBody>
      </p:sp>
      <p:pic>
        <p:nvPicPr>
          <p:cNvPr id="8" name="Imagem 7" descr="Texto, Aplicativo&#10;&#10;Descrição gerada automaticamente">
            <a:extLst>
              <a:ext uri="{FF2B5EF4-FFF2-40B4-BE49-F238E27FC236}">
                <a16:creationId xmlns:a16="http://schemas.microsoft.com/office/drawing/2014/main" id="{6B1950E5-AADD-F143-85B7-CCB042F314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013" y="3099030"/>
            <a:ext cx="3008993" cy="1049821"/>
          </a:xfrm>
          <a:prstGeom prst="rect">
            <a:avLst/>
          </a:prstGeom>
        </p:spPr>
      </p:pic>
      <p:sp>
        <p:nvSpPr>
          <p:cNvPr id="4" name="Subtítulo 2">
            <a:extLst>
              <a:ext uri="{FF2B5EF4-FFF2-40B4-BE49-F238E27FC236}">
                <a16:creationId xmlns:a16="http://schemas.microsoft.com/office/drawing/2014/main" id="{AFE9B693-59D5-9EB9-B8BE-B44EACD17083}"/>
              </a:ext>
            </a:extLst>
          </p:cNvPr>
          <p:cNvSpPr txBox="1">
            <a:spLocks/>
          </p:cNvSpPr>
          <p:nvPr/>
        </p:nvSpPr>
        <p:spPr>
          <a:xfrm>
            <a:off x="3525019" y="5052517"/>
            <a:ext cx="6204516" cy="423424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INTRODUÇÃO À INTELIGÊNCIA ARTIFICIAL</a:t>
            </a:r>
            <a:endParaRPr lang="pt-BR" sz="1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ubtítulo 2">
            <a:extLst>
              <a:ext uri="{FF2B5EF4-FFF2-40B4-BE49-F238E27FC236}">
                <a16:creationId xmlns:a16="http://schemas.microsoft.com/office/drawing/2014/main" id="{8D2732EE-9243-1E64-AD84-F08C953A43FF}"/>
              </a:ext>
            </a:extLst>
          </p:cNvPr>
          <p:cNvSpPr txBox="1">
            <a:spLocks/>
          </p:cNvSpPr>
          <p:nvPr/>
        </p:nvSpPr>
        <p:spPr>
          <a:xfrm>
            <a:off x="3506968" y="5960907"/>
            <a:ext cx="6204516" cy="423424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1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Prof. Edson Emílio Scalabrin</a:t>
            </a:r>
          </a:p>
        </p:txBody>
      </p:sp>
    </p:spTree>
    <p:extLst>
      <p:ext uri="{BB962C8B-B14F-4D97-AF65-F5344CB8AC3E}">
        <p14:creationId xmlns:p14="http://schemas.microsoft.com/office/powerpoint/2010/main" val="37680515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44739-F7AD-02D5-001D-6EFDA9731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D3B1BA82-5159-B623-EEC3-87F6325B97C7}"/>
              </a:ext>
            </a:extLst>
          </p:cNvPr>
          <p:cNvSpPr txBox="1"/>
          <p:nvPr/>
        </p:nvSpPr>
        <p:spPr>
          <a:xfrm>
            <a:off x="768096" y="1325880"/>
            <a:ext cx="384048" cy="2635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700" b="1" i="0" dirty="0">
                <a:solidFill>
                  <a:srgbClr val="274C77"/>
                </a:solidFill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7402C4-034C-2F7D-2A69-B651DE578AA0}"/>
              </a:ext>
            </a:extLst>
          </p:cNvPr>
          <p:cNvSpPr txBox="1"/>
          <p:nvPr/>
        </p:nvSpPr>
        <p:spPr>
          <a:xfrm>
            <a:off x="1353312" y="1298448"/>
            <a:ext cx="4206240" cy="232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 dirty="0" err="1">
                <a:solidFill>
                  <a:srgbClr val="274C77"/>
                </a:solidFill>
              </a:rPr>
              <a:t>Fundamentos</a:t>
            </a:r>
            <a:r>
              <a:rPr sz="1500" b="1" i="0" dirty="0">
                <a:solidFill>
                  <a:srgbClr val="274C77"/>
                </a:solidFill>
              </a:rPr>
              <a:t> e </a:t>
            </a:r>
            <a:r>
              <a:rPr sz="1500" b="1" i="0" dirty="0" err="1">
                <a:solidFill>
                  <a:srgbClr val="274C77"/>
                </a:solidFill>
              </a:rPr>
              <a:t>questão</a:t>
            </a:r>
            <a:r>
              <a:rPr sz="1500" b="1" i="0" dirty="0">
                <a:solidFill>
                  <a:srgbClr val="274C77"/>
                </a:solidFill>
              </a:rPr>
              <a:t> de </a:t>
            </a:r>
            <a:r>
              <a:rPr sz="1500" b="1" i="0" dirty="0" err="1">
                <a:solidFill>
                  <a:srgbClr val="274C77"/>
                </a:solidFill>
              </a:rPr>
              <a:t>investigação</a:t>
            </a:r>
            <a:endParaRPr sz="1500" b="1" i="0" dirty="0">
              <a:solidFill>
                <a:srgbClr val="274C77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BC372C-FD79-84C4-A47C-534783640C1E}"/>
              </a:ext>
            </a:extLst>
          </p:cNvPr>
          <p:cNvSpPr txBox="1"/>
          <p:nvPr/>
        </p:nvSpPr>
        <p:spPr>
          <a:xfrm>
            <a:off x="5650992" y="1298448"/>
            <a:ext cx="5532120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 dirty="0">
                <a:solidFill>
                  <a:srgbClr val="172235"/>
                </a:solidFill>
              </a:rPr>
              <a:t>Agência, LLM-MAS e critério operacional de cooperação</a:t>
            </a:r>
          </a:p>
        </p:txBody>
      </p:sp>
      <p:cxnSp>
        <p:nvCxnSpPr>
          <p:cNvPr id="11" name="Connector 8">
            <a:extLst>
              <a:ext uri="{FF2B5EF4-FFF2-40B4-BE49-F238E27FC236}">
                <a16:creationId xmlns:a16="http://schemas.microsoft.com/office/drawing/2014/main" id="{D01112AC-CF8F-0376-6F2B-2B9C773C60AE}"/>
              </a:ext>
            </a:extLst>
          </p:cNvPr>
          <p:cNvCxnSpPr/>
          <p:nvPr/>
        </p:nvCxnSpPr>
        <p:spPr>
          <a:xfrm>
            <a:off x="1353312" y="1737360"/>
            <a:ext cx="9802368" cy="0"/>
          </a:xfrm>
          <a:prstGeom prst="line">
            <a:avLst/>
          </a:prstGeom>
          <a:ln w="762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C8C88E4-2AD3-B2F3-8018-221410AC186D}"/>
              </a:ext>
            </a:extLst>
          </p:cNvPr>
          <p:cNvSpPr txBox="1"/>
          <p:nvPr/>
        </p:nvSpPr>
        <p:spPr>
          <a:xfrm>
            <a:off x="768096" y="2020823"/>
            <a:ext cx="384048" cy="2635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8C3041"/>
                </a:solidFill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FC1DAC-3008-F614-E505-B4D406B2A5DD}"/>
              </a:ext>
            </a:extLst>
          </p:cNvPr>
          <p:cNvSpPr txBox="1"/>
          <p:nvPr/>
        </p:nvSpPr>
        <p:spPr>
          <a:xfrm>
            <a:off x="1353312" y="1993391"/>
            <a:ext cx="4206240" cy="232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8C3041"/>
                </a:solidFill>
              </a:rPr>
              <a:t>Guo et al. (2024)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4CEB94-81A6-6EAB-3D32-1577235A71F8}"/>
              </a:ext>
            </a:extLst>
          </p:cNvPr>
          <p:cNvSpPr txBox="1"/>
          <p:nvPr/>
        </p:nvSpPr>
        <p:spPr>
          <a:xfrm>
            <a:off x="5650992" y="1854845"/>
            <a:ext cx="5532120" cy="4456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en-US" sz="1400" i="1" dirty="0">
                <a:solidFill>
                  <a:srgbClr val="172235"/>
                </a:solidFill>
                <a:latin typeface="Aptos"/>
              </a:rPr>
              <a:t>Large Language Model Based Multi-agents: A Survey of Progress and Challenges</a:t>
            </a:r>
          </a:p>
        </p:txBody>
      </p:sp>
      <p:cxnSp>
        <p:nvCxnSpPr>
          <p:cNvPr id="15" name="Connector 12">
            <a:extLst>
              <a:ext uri="{FF2B5EF4-FFF2-40B4-BE49-F238E27FC236}">
                <a16:creationId xmlns:a16="http://schemas.microsoft.com/office/drawing/2014/main" id="{1BFBF15F-3B45-0388-A162-7FF6D3203BFF}"/>
              </a:ext>
            </a:extLst>
          </p:cNvPr>
          <p:cNvCxnSpPr/>
          <p:nvPr/>
        </p:nvCxnSpPr>
        <p:spPr>
          <a:xfrm>
            <a:off x="1353312" y="2432303"/>
            <a:ext cx="9802368" cy="0"/>
          </a:xfrm>
          <a:prstGeom prst="line">
            <a:avLst/>
          </a:prstGeom>
          <a:ln w="762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EF76583-108E-E749-D6A1-48E8DEF0FB6D}"/>
              </a:ext>
            </a:extLst>
          </p:cNvPr>
          <p:cNvSpPr txBox="1"/>
          <p:nvPr/>
        </p:nvSpPr>
        <p:spPr>
          <a:xfrm>
            <a:off x="768096" y="2715768"/>
            <a:ext cx="384048" cy="2635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3E6B5C"/>
                </a:solidFill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58BAD44-9D28-1163-E7F6-EC7A6322BDDE}"/>
              </a:ext>
            </a:extLst>
          </p:cNvPr>
          <p:cNvSpPr txBox="1"/>
          <p:nvPr/>
        </p:nvSpPr>
        <p:spPr>
          <a:xfrm>
            <a:off x="1353312" y="2688336"/>
            <a:ext cx="4206240" cy="232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3E6B5C"/>
                </a:solidFill>
              </a:rPr>
              <a:t>Chen et al. (2024): AgentVerse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B89383-F808-3890-437F-E1F66AD551FB}"/>
              </a:ext>
            </a:extLst>
          </p:cNvPr>
          <p:cNvSpPr txBox="1"/>
          <p:nvPr/>
        </p:nvSpPr>
        <p:spPr>
          <a:xfrm>
            <a:off x="5650992" y="2573545"/>
            <a:ext cx="5532120" cy="4456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en-US" sz="1400" i="1" dirty="0">
                <a:solidFill>
                  <a:srgbClr val="172235"/>
                </a:solidFill>
                <a:latin typeface="Aptos"/>
              </a:rPr>
              <a:t>AgentVerse: Facilitating Multi-Agent Collaboration and Exploring Emergent Behaviors</a:t>
            </a:r>
          </a:p>
        </p:txBody>
      </p:sp>
      <p:cxnSp>
        <p:nvCxnSpPr>
          <p:cNvPr id="19" name="Connector 16">
            <a:extLst>
              <a:ext uri="{FF2B5EF4-FFF2-40B4-BE49-F238E27FC236}">
                <a16:creationId xmlns:a16="http://schemas.microsoft.com/office/drawing/2014/main" id="{3CFF276E-7630-1FEE-01CE-63B7D334F73F}"/>
              </a:ext>
            </a:extLst>
          </p:cNvPr>
          <p:cNvCxnSpPr/>
          <p:nvPr/>
        </p:nvCxnSpPr>
        <p:spPr>
          <a:xfrm>
            <a:off x="1353312" y="3127248"/>
            <a:ext cx="9802368" cy="0"/>
          </a:xfrm>
          <a:prstGeom prst="line">
            <a:avLst/>
          </a:prstGeom>
          <a:ln w="762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3844E7B-2FC0-A814-9944-8F19ABE59865}"/>
              </a:ext>
            </a:extLst>
          </p:cNvPr>
          <p:cNvSpPr txBox="1"/>
          <p:nvPr/>
        </p:nvSpPr>
        <p:spPr>
          <a:xfrm>
            <a:off x="768096" y="3410712"/>
            <a:ext cx="384048" cy="2635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9A6B2F"/>
                </a:solidFill>
              </a:rPr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7E68F53-AD3E-D423-5EAF-7DFC22299D00}"/>
              </a:ext>
            </a:extLst>
          </p:cNvPr>
          <p:cNvSpPr txBox="1"/>
          <p:nvPr/>
        </p:nvSpPr>
        <p:spPr>
          <a:xfrm>
            <a:off x="1353312" y="3383280"/>
            <a:ext cx="4206240" cy="232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9A6B2F"/>
                </a:solidFill>
              </a:rPr>
              <a:t>Yang et al. (2025): AutoHMA-LLM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3F4C00-6E95-6BB0-ACAA-657696143D32}"/>
              </a:ext>
            </a:extLst>
          </p:cNvPr>
          <p:cNvSpPr txBox="1"/>
          <p:nvPr/>
        </p:nvSpPr>
        <p:spPr>
          <a:xfrm>
            <a:off x="5650992" y="3232858"/>
            <a:ext cx="55321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400" i="1" dirty="0"/>
              <a:t>AutoHMA-LLM: Efficient Task Coordination and Execution in Heterogeneous Multi-Agent Systems Using Hybrid Large Language Models</a:t>
            </a:r>
          </a:p>
        </p:txBody>
      </p:sp>
      <p:cxnSp>
        <p:nvCxnSpPr>
          <p:cNvPr id="23" name="Connector 20">
            <a:extLst>
              <a:ext uri="{FF2B5EF4-FFF2-40B4-BE49-F238E27FC236}">
                <a16:creationId xmlns:a16="http://schemas.microsoft.com/office/drawing/2014/main" id="{88969702-4CD4-A535-425D-CF2ABF33C9C0}"/>
              </a:ext>
            </a:extLst>
          </p:cNvPr>
          <p:cNvCxnSpPr/>
          <p:nvPr/>
        </p:nvCxnSpPr>
        <p:spPr>
          <a:xfrm>
            <a:off x="1353312" y="3822191"/>
            <a:ext cx="9802368" cy="0"/>
          </a:xfrm>
          <a:prstGeom prst="line">
            <a:avLst/>
          </a:prstGeom>
          <a:ln w="762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AFDA9D4-24D5-D3B5-6B9D-FCC4A67313A8}"/>
              </a:ext>
            </a:extLst>
          </p:cNvPr>
          <p:cNvSpPr txBox="1"/>
          <p:nvPr/>
        </p:nvSpPr>
        <p:spPr>
          <a:xfrm>
            <a:off x="768096" y="4105656"/>
            <a:ext cx="384048" cy="2635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A33A32"/>
                </a:solidFill>
              </a:rPr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C6D5BC-F130-62E1-CCAB-A1AFD4D9604E}"/>
              </a:ext>
            </a:extLst>
          </p:cNvPr>
          <p:cNvSpPr txBox="1"/>
          <p:nvPr/>
        </p:nvSpPr>
        <p:spPr>
          <a:xfrm>
            <a:off x="1353312" y="4078224"/>
            <a:ext cx="4206240" cy="232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A33A32"/>
                </a:solidFill>
              </a:rPr>
              <a:t>Síntese comparativa e agenda de pesquisa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3DF20CF-80DE-D4A2-C97F-8F3CB35DED2D}"/>
              </a:ext>
            </a:extLst>
          </p:cNvPr>
          <p:cNvSpPr txBox="1"/>
          <p:nvPr/>
        </p:nvSpPr>
        <p:spPr>
          <a:xfrm>
            <a:off x="5650992" y="4078224"/>
            <a:ext cx="5532120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172235"/>
                </a:solidFill>
              </a:rPr>
              <a:t>Proposições, confiabilidade e validade experimental</a:t>
            </a:r>
          </a:p>
        </p:txBody>
      </p:sp>
      <p:cxnSp>
        <p:nvCxnSpPr>
          <p:cNvPr id="27" name="Connector 24">
            <a:extLst>
              <a:ext uri="{FF2B5EF4-FFF2-40B4-BE49-F238E27FC236}">
                <a16:creationId xmlns:a16="http://schemas.microsoft.com/office/drawing/2014/main" id="{12131447-01A8-20F1-07ED-9D9E1E5BF261}"/>
              </a:ext>
            </a:extLst>
          </p:cNvPr>
          <p:cNvCxnSpPr/>
          <p:nvPr/>
        </p:nvCxnSpPr>
        <p:spPr>
          <a:xfrm>
            <a:off x="1353312" y="4517136"/>
            <a:ext cx="9802368" cy="0"/>
          </a:xfrm>
          <a:prstGeom prst="line">
            <a:avLst/>
          </a:prstGeom>
          <a:ln w="762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F6BCE0BC-0169-6292-B772-F598CAF5BA55}"/>
              </a:ext>
            </a:extLst>
          </p:cNvPr>
          <p:cNvSpPr txBox="1"/>
          <p:nvPr/>
        </p:nvSpPr>
        <p:spPr>
          <a:xfrm>
            <a:off x="768096" y="4800600"/>
            <a:ext cx="384048" cy="2635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274C77"/>
                </a:solidFill>
              </a:rPr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7BE9522-B2C5-5377-00B9-B4796F61BD61}"/>
              </a:ext>
            </a:extLst>
          </p:cNvPr>
          <p:cNvSpPr txBox="1"/>
          <p:nvPr/>
        </p:nvSpPr>
        <p:spPr>
          <a:xfrm>
            <a:off x="1353312" y="4773168"/>
            <a:ext cx="4206240" cy="232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274C77"/>
                </a:solidFill>
              </a:rPr>
              <a:t>Conclusões e discussão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50C97F8-8D30-D8EE-33D9-9257D5598BD1}"/>
              </a:ext>
            </a:extLst>
          </p:cNvPr>
          <p:cNvSpPr txBox="1"/>
          <p:nvPr/>
        </p:nvSpPr>
        <p:spPr>
          <a:xfrm>
            <a:off x="5650992" y="4773168"/>
            <a:ext cx="5532120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172235"/>
                </a:solidFill>
              </a:rPr>
              <a:t>Implicações</a:t>
            </a:r>
            <a:r>
              <a:rPr sz="1400" b="0" i="0" dirty="0">
                <a:solidFill>
                  <a:srgbClr val="172235"/>
                </a:solidFill>
              </a:rPr>
              <a:t> para a </a:t>
            </a:r>
            <a:r>
              <a:rPr sz="1400" b="0" i="0" dirty="0" err="1">
                <a:solidFill>
                  <a:srgbClr val="172235"/>
                </a:solidFill>
              </a:rPr>
              <a:t>teoria</a:t>
            </a:r>
            <a:r>
              <a:rPr sz="1400" b="0" i="0" dirty="0">
                <a:solidFill>
                  <a:srgbClr val="172235"/>
                </a:solidFill>
              </a:rPr>
              <a:t> e a </a:t>
            </a:r>
            <a:r>
              <a:rPr sz="1400" b="0" i="0" dirty="0" err="1">
                <a:solidFill>
                  <a:srgbClr val="172235"/>
                </a:solidFill>
              </a:rPr>
              <a:t>engenharia</a:t>
            </a:r>
            <a:r>
              <a:rPr sz="1400" b="0" i="0" dirty="0">
                <a:solidFill>
                  <a:srgbClr val="172235"/>
                </a:solidFill>
              </a:rPr>
              <a:t> de </a:t>
            </a:r>
            <a:r>
              <a:rPr sz="1400" b="0" i="0" dirty="0" err="1">
                <a:solidFill>
                  <a:srgbClr val="172235"/>
                </a:solidFill>
              </a:rPr>
              <a:t>agentes</a:t>
            </a:r>
            <a:endParaRPr sz="1400" b="0" i="0" dirty="0">
              <a:solidFill>
                <a:srgbClr val="172235"/>
              </a:solidFill>
            </a:endParaRPr>
          </a:p>
        </p:txBody>
      </p:sp>
      <p:cxnSp>
        <p:nvCxnSpPr>
          <p:cNvPr id="31" name="Connector 28">
            <a:extLst>
              <a:ext uri="{FF2B5EF4-FFF2-40B4-BE49-F238E27FC236}">
                <a16:creationId xmlns:a16="http://schemas.microsoft.com/office/drawing/2014/main" id="{9BF16593-0B5A-2C98-BF87-62299F456BC9}"/>
              </a:ext>
            </a:extLst>
          </p:cNvPr>
          <p:cNvCxnSpPr/>
          <p:nvPr/>
        </p:nvCxnSpPr>
        <p:spPr>
          <a:xfrm>
            <a:off x="1353312" y="5212079"/>
            <a:ext cx="9802368" cy="0"/>
          </a:xfrm>
          <a:prstGeom prst="line">
            <a:avLst/>
          </a:prstGeom>
          <a:ln w="762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17420699-C7F6-BA5C-36E8-661DB0A6C22B}"/>
              </a:ext>
            </a:extLst>
          </p:cNvPr>
          <p:cNvSpPr txBox="1"/>
          <p:nvPr/>
        </p:nvSpPr>
        <p:spPr>
          <a:xfrm>
            <a:off x="768096" y="5495544"/>
            <a:ext cx="384048" cy="2635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4D5968"/>
                </a:solidFill>
              </a:rPr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441E5B-2D47-65B0-3E3B-969805A5AE0D}"/>
              </a:ext>
            </a:extLst>
          </p:cNvPr>
          <p:cNvSpPr txBox="1"/>
          <p:nvPr/>
        </p:nvSpPr>
        <p:spPr>
          <a:xfrm>
            <a:off x="1353312" y="5468112"/>
            <a:ext cx="4206240" cy="232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4D5968"/>
                </a:solidFill>
              </a:rPr>
              <a:t>Referências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141117-91CA-3DFD-68C0-DE73C1ADF8F7}"/>
              </a:ext>
            </a:extLst>
          </p:cNvPr>
          <p:cNvSpPr txBox="1"/>
          <p:nvPr/>
        </p:nvSpPr>
        <p:spPr>
          <a:xfrm>
            <a:off x="5650992" y="5468112"/>
            <a:ext cx="5532120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1" dirty="0">
                <a:solidFill>
                  <a:srgbClr val="172235"/>
                </a:solidFill>
              </a:rPr>
              <a:t>Corpus</a:t>
            </a:r>
            <a:r>
              <a:rPr sz="1400" b="0" i="0" dirty="0">
                <a:solidFill>
                  <a:srgbClr val="172235"/>
                </a:solidFill>
              </a:rPr>
              <a:t> principal e </a:t>
            </a:r>
            <a:r>
              <a:rPr sz="1400" b="0" i="0" dirty="0" err="1">
                <a:solidFill>
                  <a:srgbClr val="172235"/>
                </a:solidFill>
              </a:rPr>
              <a:t>literatura</a:t>
            </a:r>
            <a:r>
              <a:rPr sz="1400" b="0" i="0" dirty="0">
                <a:solidFill>
                  <a:srgbClr val="172235"/>
                </a:solidFill>
              </a:rPr>
              <a:t> </a:t>
            </a:r>
            <a:r>
              <a:rPr sz="1400" b="0" i="0" dirty="0" err="1">
                <a:solidFill>
                  <a:srgbClr val="172235"/>
                </a:solidFill>
              </a:rPr>
              <a:t>complementar</a:t>
            </a:r>
            <a:endParaRPr sz="1400" b="0" i="0" dirty="0">
              <a:solidFill>
                <a:srgbClr val="172235"/>
              </a:solidFill>
            </a:endParaRPr>
          </a:p>
        </p:txBody>
      </p:sp>
      <p:cxnSp>
        <p:nvCxnSpPr>
          <p:cNvPr id="35" name="Connector 32">
            <a:extLst>
              <a:ext uri="{FF2B5EF4-FFF2-40B4-BE49-F238E27FC236}">
                <a16:creationId xmlns:a16="http://schemas.microsoft.com/office/drawing/2014/main" id="{97B26537-4D2D-B60C-EE51-E902C6E262DD}"/>
              </a:ext>
            </a:extLst>
          </p:cNvPr>
          <p:cNvCxnSpPr/>
          <p:nvPr/>
        </p:nvCxnSpPr>
        <p:spPr>
          <a:xfrm>
            <a:off x="1353312" y="5907024"/>
            <a:ext cx="9802368" cy="0"/>
          </a:xfrm>
          <a:prstGeom prst="line">
            <a:avLst/>
          </a:prstGeom>
          <a:ln w="762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617ACC69-235E-4FD6-2EA0-24F548307A51}"/>
              </a:ext>
            </a:extLst>
          </p:cNvPr>
          <p:cNvSpPr txBox="1"/>
          <p:nvPr/>
        </p:nvSpPr>
        <p:spPr>
          <a:xfrm>
            <a:off x="594360" y="219456"/>
            <a:ext cx="5669280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pt-BR" sz="900" b="1" dirty="0">
                <a:solidFill>
                  <a:srgbClr val="8C3041"/>
                </a:solidFill>
              </a:rPr>
              <a:t>ÍNDICE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0DB250E-0156-43A0-BC8D-8BA3D01EC0AB}"/>
              </a:ext>
            </a:extLst>
          </p:cNvPr>
          <p:cNvSpPr txBox="1"/>
          <p:nvPr/>
        </p:nvSpPr>
        <p:spPr>
          <a:xfrm>
            <a:off x="594360" y="502920"/>
            <a:ext cx="10789920" cy="387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pt-BR" sz="2500" b="1" i="0" dirty="0">
                <a:solidFill>
                  <a:srgbClr val="172235"/>
                </a:solidFill>
              </a:rPr>
              <a:t>Estrutura da Apresentação</a:t>
            </a:r>
            <a:endParaRPr sz="2500" b="1" i="0" dirty="0">
              <a:solidFill>
                <a:srgbClr val="172235"/>
              </a:solidFill>
            </a:endParaRPr>
          </a:p>
        </p:txBody>
      </p:sp>
      <p:cxnSp>
        <p:nvCxnSpPr>
          <p:cNvPr id="50" name="Connector 4">
            <a:extLst>
              <a:ext uri="{FF2B5EF4-FFF2-40B4-BE49-F238E27FC236}">
                <a16:creationId xmlns:a16="http://schemas.microsoft.com/office/drawing/2014/main" id="{8B6FF522-52B2-A5C1-B79F-57993439F010}"/>
              </a:ext>
            </a:extLst>
          </p:cNvPr>
          <p:cNvCxnSpPr/>
          <p:nvPr/>
        </p:nvCxnSpPr>
        <p:spPr>
          <a:xfrm>
            <a:off x="594360" y="1051560"/>
            <a:ext cx="11000232" cy="0"/>
          </a:xfrm>
          <a:prstGeom prst="line">
            <a:avLst/>
          </a:prstGeom>
          <a:ln w="13970">
            <a:solidFill>
              <a:srgbClr val="8C30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03958087-E43F-DC0D-9FEB-F60F078BB5E5}"/>
              </a:ext>
            </a:extLst>
          </p:cNvPr>
          <p:cNvSpPr txBox="1"/>
          <p:nvPr/>
        </p:nvSpPr>
        <p:spPr>
          <a:xfrm>
            <a:off x="11155680" y="246888"/>
            <a:ext cx="420624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lang="pt-BR" sz="900" b="0" i="0" dirty="0">
                <a:solidFill>
                  <a:srgbClr val="4D5968"/>
                </a:solidFill>
              </a:rPr>
              <a:t>0</a:t>
            </a:r>
            <a:r>
              <a:rPr lang="pt-BR" sz="900" dirty="0">
                <a:solidFill>
                  <a:srgbClr val="4D5968"/>
                </a:solidFill>
              </a:rPr>
              <a:t>1</a:t>
            </a:r>
            <a:r>
              <a:rPr lang="pt-BR" sz="900" b="0" i="0" dirty="0">
                <a:solidFill>
                  <a:srgbClr val="4D5968"/>
                </a:solidFill>
              </a:rPr>
              <a:t> de 19</a:t>
            </a:r>
            <a:endParaRPr sz="900" b="0" i="0" dirty="0">
              <a:solidFill>
                <a:srgbClr val="4D596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63687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Box 40">
            <a:extLst>
              <a:ext uri="{FF2B5EF4-FFF2-40B4-BE49-F238E27FC236}">
                <a16:creationId xmlns:a16="http://schemas.microsoft.com/office/drawing/2014/main" id="{B37B4D07-CF87-4EA5-763D-655D89264E6A}"/>
              </a:ext>
            </a:extLst>
          </p:cNvPr>
          <p:cNvSpPr txBox="1"/>
          <p:nvPr/>
        </p:nvSpPr>
        <p:spPr>
          <a:xfrm>
            <a:off x="768096" y="2219020"/>
            <a:ext cx="9875520" cy="3100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pt-BR" sz="2000" b="0" i="0" dirty="0">
                <a:solidFill>
                  <a:srgbClr val="4D5968"/>
                </a:solidFill>
              </a:rPr>
              <a:t>Conceitos, </a:t>
            </a:r>
            <a:r>
              <a:rPr sz="2000" b="0" i="0" dirty="0" err="1">
                <a:solidFill>
                  <a:srgbClr val="4D5968"/>
                </a:solidFill>
              </a:rPr>
              <a:t>Arquiteturas</a:t>
            </a:r>
            <a:r>
              <a:rPr sz="2000" b="0" i="0" dirty="0">
                <a:solidFill>
                  <a:srgbClr val="4D5968"/>
                </a:solidFill>
              </a:rPr>
              <a:t>, </a:t>
            </a:r>
            <a:r>
              <a:rPr sz="2000" b="0" i="0" dirty="0" err="1">
                <a:solidFill>
                  <a:srgbClr val="4D5968"/>
                </a:solidFill>
              </a:rPr>
              <a:t>mecanismos</a:t>
            </a:r>
            <a:r>
              <a:rPr sz="2000" b="0" i="0" dirty="0">
                <a:solidFill>
                  <a:srgbClr val="4D5968"/>
                </a:solidFill>
              </a:rPr>
              <a:t> de </a:t>
            </a:r>
            <a:r>
              <a:rPr sz="2000" b="0" i="0" dirty="0" err="1">
                <a:solidFill>
                  <a:srgbClr val="4D5968"/>
                </a:solidFill>
              </a:rPr>
              <a:t>coordenação</a:t>
            </a:r>
            <a:r>
              <a:rPr sz="2000" b="0" i="0" dirty="0">
                <a:solidFill>
                  <a:srgbClr val="4D5968"/>
                </a:solidFill>
              </a:rPr>
              <a:t> e </a:t>
            </a:r>
            <a:r>
              <a:rPr sz="2000" b="0" i="0" dirty="0" err="1">
                <a:solidFill>
                  <a:srgbClr val="4D5968"/>
                </a:solidFill>
              </a:rPr>
              <a:t>evidência</a:t>
            </a:r>
            <a:r>
              <a:rPr sz="2000" b="0" i="0" dirty="0">
                <a:solidFill>
                  <a:srgbClr val="4D5968"/>
                </a:solidFill>
              </a:rPr>
              <a:t> </a:t>
            </a:r>
            <a:r>
              <a:rPr sz="2000" b="0" i="0" dirty="0" err="1">
                <a:solidFill>
                  <a:srgbClr val="4D5968"/>
                </a:solidFill>
              </a:rPr>
              <a:t>empírica</a:t>
            </a:r>
            <a:endParaRPr sz="2000" b="0" i="0" dirty="0">
              <a:solidFill>
                <a:srgbClr val="4D5968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6DB4CD7-209E-9F14-F02A-CEF8C27B6D5A}"/>
              </a:ext>
            </a:extLst>
          </p:cNvPr>
          <p:cNvSpPr/>
          <p:nvPr/>
        </p:nvSpPr>
        <p:spPr>
          <a:xfrm>
            <a:off x="768096" y="3179140"/>
            <a:ext cx="10652760" cy="1143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9D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D4EEB0B-994D-5A2B-A8CD-D4AFECED476F}"/>
              </a:ext>
            </a:extLst>
          </p:cNvPr>
          <p:cNvSpPr txBox="1"/>
          <p:nvPr/>
        </p:nvSpPr>
        <p:spPr>
          <a:xfrm>
            <a:off x="830167" y="3395590"/>
            <a:ext cx="1554480" cy="5065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 i="0" dirty="0">
                <a:solidFill>
                  <a:srgbClr val="8C3041"/>
                </a:solidFill>
              </a:rPr>
              <a:t>Questão </a:t>
            </a:r>
            <a:br>
              <a:rPr lang="pt-BR" sz="1600" b="1" i="0" dirty="0">
                <a:solidFill>
                  <a:srgbClr val="8C3041"/>
                </a:solidFill>
              </a:rPr>
            </a:br>
            <a:r>
              <a:rPr sz="1600" b="1" i="0" dirty="0" err="1">
                <a:solidFill>
                  <a:srgbClr val="8C3041"/>
                </a:solidFill>
              </a:rPr>
              <a:t>orientadora</a:t>
            </a:r>
            <a:endParaRPr sz="1600" b="1" i="0" dirty="0">
              <a:solidFill>
                <a:srgbClr val="8C304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104C9C8-7283-3E74-8D16-9B98D0C4F7B6}"/>
              </a:ext>
            </a:extLst>
          </p:cNvPr>
          <p:cNvSpPr txBox="1"/>
          <p:nvPr/>
        </p:nvSpPr>
        <p:spPr>
          <a:xfrm>
            <a:off x="2560320" y="3334588"/>
            <a:ext cx="8412480" cy="569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 i="0" dirty="0">
                <a:solidFill>
                  <a:srgbClr val="172235"/>
                </a:solidFill>
              </a:rPr>
              <a:t>Sob quais </a:t>
            </a:r>
            <a:r>
              <a:rPr sz="1800" b="1" i="0" dirty="0" err="1">
                <a:solidFill>
                  <a:srgbClr val="172235"/>
                </a:solidFill>
              </a:rPr>
              <a:t>condições</a:t>
            </a:r>
            <a:r>
              <a:rPr sz="1800" b="1" i="0" dirty="0">
                <a:solidFill>
                  <a:srgbClr val="172235"/>
                </a:solidFill>
              </a:rPr>
              <a:t> a </a:t>
            </a:r>
            <a:r>
              <a:rPr sz="1800" b="1" i="0" dirty="0" err="1">
                <a:solidFill>
                  <a:srgbClr val="172235"/>
                </a:solidFill>
              </a:rPr>
              <a:t>interação</a:t>
            </a:r>
            <a:r>
              <a:rPr sz="1800" b="1" i="0" dirty="0">
                <a:solidFill>
                  <a:srgbClr val="172235"/>
                </a:solidFill>
              </a:rPr>
              <a:t> entre agentes LLM </a:t>
            </a:r>
            <a:r>
              <a:rPr sz="1800" b="1" i="0" dirty="0" err="1">
                <a:solidFill>
                  <a:srgbClr val="172235"/>
                </a:solidFill>
              </a:rPr>
              <a:t>constitui</a:t>
            </a:r>
            <a:r>
              <a:rPr sz="1800" b="1" i="0" dirty="0">
                <a:solidFill>
                  <a:srgbClr val="172235"/>
                </a:solidFill>
              </a:rPr>
              <a:t> cooperação </a:t>
            </a:r>
            <a:r>
              <a:rPr sz="1800" b="1" i="0" dirty="0" err="1">
                <a:solidFill>
                  <a:srgbClr val="172235"/>
                </a:solidFill>
              </a:rPr>
              <a:t>computacional</a:t>
            </a:r>
            <a:r>
              <a:rPr sz="1800" b="1" i="0" dirty="0">
                <a:solidFill>
                  <a:srgbClr val="172235"/>
                </a:solidFill>
              </a:rPr>
              <a:t>  e não </a:t>
            </a:r>
            <a:r>
              <a:rPr sz="1800" b="1" i="0" dirty="0" err="1">
                <a:solidFill>
                  <a:srgbClr val="172235"/>
                </a:solidFill>
              </a:rPr>
              <a:t>apenas</a:t>
            </a:r>
            <a:r>
              <a:rPr sz="1800" b="1" i="0" dirty="0">
                <a:solidFill>
                  <a:srgbClr val="172235"/>
                </a:solidFill>
              </a:rPr>
              <a:t> </a:t>
            </a:r>
            <a:r>
              <a:rPr sz="1800" b="1" i="0" dirty="0" err="1">
                <a:solidFill>
                  <a:srgbClr val="172235"/>
                </a:solidFill>
              </a:rPr>
              <a:t>multiplicação</a:t>
            </a:r>
            <a:r>
              <a:rPr sz="1800" b="1" i="0" dirty="0">
                <a:solidFill>
                  <a:srgbClr val="172235"/>
                </a:solidFill>
              </a:rPr>
              <a:t> de </a:t>
            </a:r>
            <a:r>
              <a:rPr sz="1800" b="1" i="0" dirty="0" err="1">
                <a:solidFill>
                  <a:srgbClr val="172235"/>
                </a:solidFill>
              </a:rPr>
              <a:t>inferências</a:t>
            </a:r>
            <a:r>
              <a:rPr sz="1800" b="1" i="0" dirty="0">
                <a:solidFill>
                  <a:srgbClr val="172235"/>
                </a:solidFill>
              </a:rPr>
              <a:t>?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67EE783-EFD2-F33A-45D2-9D84E3D0E288}"/>
              </a:ext>
            </a:extLst>
          </p:cNvPr>
          <p:cNvSpPr txBox="1"/>
          <p:nvPr/>
        </p:nvSpPr>
        <p:spPr>
          <a:xfrm>
            <a:off x="768096" y="5126812"/>
            <a:ext cx="10652760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0" i="0" dirty="0">
                <a:solidFill>
                  <a:srgbClr val="4D5968"/>
                </a:solidFill>
              </a:rPr>
              <a:t>Guo et al. (IJCAI 2024) · Chen et al. (ICLR 2024) · Yang et al. (IEEE TCCN 2025)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272A755-7C48-48F5-86BE-B30F2D7AAC9F}"/>
              </a:ext>
            </a:extLst>
          </p:cNvPr>
          <p:cNvSpPr txBox="1"/>
          <p:nvPr/>
        </p:nvSpPr>
        <p:spPr>
          <a:xfrm>
            <a:off x="594360" y="219456"/>
            <a:ext cx="5669280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 i="0" dirty="0">
                <a:solidFill>
                  <a:srgbClr val="8C3041"/>
                </a:solidFill>
              </a:rPr>
              <a:t>1 · FUNDAMENTOS E QUESTÃO DE INVESTIGAÇÃO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78D8035-D038-B92E-8FCB-232DD3CFE4FC}"/>
              </a:ext>
            </a:extLst>
          </p:cNvPr>
          <p:cNvSpPr txBox="1"/>
          <p:nvPr/>
        </p:nvSpPr>
        <p:spPr>
          <a:xfrm>
            <a:off x="594360" y="502920"/>
            <a:ext cx="10789920" cy="387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pt-BR" sz="2500" b="1" i="0" dirty="0">
                <a:solidFill>
                  <a:srgbClr val="172235"/>
                </a:solidFill>
              </a:rPr>
              <a:t>Cooperação entre agentes baseado em modelos de linguagem</a:t>
            </a:r>
            <a:endParaRPr sz="2500" b="1" i="0" dirty="0">
              <a:solidFill>
                <a:srgbClr val="172235"/>
              </a:solidFill>
            </a:endParaRPr>
          </a:p>
        </p:txBody>
      </p:sp>
      <p:cxnSp>
        <p:nvCxnSpPr>
          <p:cNvPr id="59" name="Connector 4">
            <a:extLst>
              <a:ext uri="{FF2B5EF4-FFF2-40B4-BE49-F238E27FC236}">
                <a16:creationId xmlns:a16="http://schemas.microsoft.com/office/drawing/2014/main" id="{DC61FAC0-6F4D-CDAC-F937-3D43C3BAD6D2}"/>
              </a:ext>
            </a:extLst>
          </p:cNvPr>
          <p:cNvCxnSpPr/>
          <p:nvPr/>
        </p:nvCxnSpPr>
        <p:spPr>
          <a:xfrm>
            <a:off x="594360" y="1051560"/>
            <a:ext cx="11000232" cy="0"/>
          </a:xfrm>
          <a:prstGeom prst="line">
            <a:avLst/>
          </a:prstGeom>
          <a:ln w="13970">
            <a:solidFill>
              <a:srgbClr val="8C30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AB8E936E-4C6C-DAEE-2A86-2B5CFEEF2464}"/>
              </a:ext>
            </a:extLst>
          </p:cNvPr>
          <p:cNvSpPr txBox="1"/>
          <p:nvPr/>
        </p:nvSpPr>
        <p:spPr>
          <a:xfrm>
            <a:off x="11155680" y="246888"/>
            <a:ext cx="420624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lang="pt-BR" sz="900" b="0" i="0" dirty="0">
                <a:solidFill>
                  <a:srgbClr val="4D5968"/>
                </a:solidFill>
              </a:rPr>
              <a:t>02 de 19</a:t>
            </a:r>
            <a:endParaRPr sz="900" b="0" i="0" dirty="0">
              <a:solidFill>
                <a:srgbClr val="4D596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39991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F9B848A-4F73-3CAE-813C-8D894F363EF2}"/>
              </a:ext>
            </a:extLst>
          </p:cNvPr>
          <p:cNvSpPr txBox="1"/>
          <p:nvPr/>
        </p:nvSpPr>
        <p:spPr>
          <a:xfrm>
            <a:off x="594360" y="219456"/>
            <a:ext cx="5669280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 i="0" dirty="0">
                <a:solidFill>
                  <a:srgbClr val="8C3041"/>
                </a:solidFill>
              </a:rPr>
              <a:t>1 · FUNDAMENTOS E QUESTÃO DE INVESTIGAÇÃO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30AFA9-6268-5854-CB0D-DE055B870E45}"/>
              </a:ext>
            </a:extLst>
          </p:cNvPr>
          <p:cNvSpPr txBox="1"/>
          <p:nvPr/>
        </p:nvSpPr>
        <p:spPr>
          <a:xfrm>
            <a:off x="594360" y="502920"/>
            <a:ext cx="10789920" cy="387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 i="0" dirty="0">
                <a:solidFill>
                  <a:srgbClr val="172235"/>
                </a:solidFill>
              </a:rPr>
              <a:t>Quando a </a:t>
            </a:r>
            <a:r>
              <a:rPr sz="2500" b="1" i="0" dirty="0" err="1">
                <a:solidFill>
                  <a:srgbClr val="172235"/>
                </a:solidFill>
              </a:rPr>
              <a:t>interação</a:t>
            </a:r>
            <a:r>
              <a:rPr sz="2500" b="1" i="0" dirty="0">
                <a:solidFill>
                  <a:srgbClr val="172235"/>
                </a:solidFill>
              </a:rPr>
              <a:t> </a:t>
            </a:r>
            <a:r>
              <a:rPr sz="2500" b="1" i="0" dirty="0" err="1">
                <a:solidFill>
                  <a:srgbClr val="172235"/>
                </a:solidFill>
              </a:rPr>
              <a:t>constitui</a:t>
            </a:r>
            <a:r>
              <a:rPr sz="2500" b="1" i="0" dirty="0">
                <a:solidFill>
                  <a:srgbClr val="172235"/>
                </a:solidFill>
              </a:rPr>
              <a:t> cooperação?</a:t>
            </a:r>
          </a:p>
        </p:txBody>
      </p:sp>
      <p:cxnSp>
        <p:nvCxnSpPr>
          <p:cNvPr id="7" name="Connector 4">
            <a:extLst>
              <a:ext uri="{FF2B5EF4-FFF2-40B4-BE49-F238E27FC236}">
                <a16:creationId xmlns:a16="http://schemas.microsoft.com/office/drawing/2014/main" id="{82B329CC-851B-0A7D-FF19-FAF730B55A77}"/>
              </a:ext>
            </a:extLst>
          </p:cNvPr>
          <p:cNvCxnSpPr/>
          <p:nvPr/>
        </p:nvCxnSpPr>
        <p:spPr>
          <a:xfrm>
            <a:off x="594360" y="1051560"/>
            <a:ext cx="11000232" cy="0"/>
          </a:xfrm>
          <a:prstGeom prst="line">
            <a:avLst/>
          </a:prstGeom>
          <a:ln w="13970">
            <a:solidFill>
              <a:srgbClr val="8C30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2F6A59C-E34E-B230-E151-EDA7F0E975F6}"/>
              </a:ext>
            </a:extLst>
          </p:cNvPr>
          <p:cNvSpPr txBox="1"/>
          <p:nvPr/>
        </p:nvSpPr>
        <p:spPr>
          <a:xfrm>
            <a:off x="749808" y="1353312"/>
            <a:ext cx="10607040" cy="2790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800" b="0" i="0">
                <a:solidFill>
                  <a:srgbClr val="172235"/>
                </a:solidFill>
              </a:rPr>
              <a:t>Considere políticas locais πᵢ, mensagens mᵢⱼ e um objetivo coletivo J.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9E2CEC-BD47-E90D-4EDA-9C64B38641D0}"/>
              </a:ext>
            </a:extLst>
          </p:cNvPr>
          <p:cNvSpPr/>
          <p:nvPr/>
        </p:nvSpPr>
        <p:spPr>
          <a:xfrm>
            <a:off x="1188720" y="1901952"/>
            <a:ext cx="9802368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9D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790399-6BE3-71C4-46D1-C507D2C11387}"/>
              </a:ext>
            </a:extLst>
          </p:cNvPr>
          <p:cNvSpPr txBox="1"/>
          <p:nvPr/>
        </p:nvSpPr>
        <p:spPr>
          <a:xfrm>
            <a:off x="1463040" y="2130552"/>
            <a:ext cx="9253728" cy="3696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 i="0">
                <a:solidFill>
                  <a:srgbClr val="274C77"/>
                </a:solidFill>
              </a:rPr>
              <a:t>Δcoop = J(π₁…πₙ | Γ) − J(π₁…πₙ | Γ = ∅)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D3B3A81-1660-A88A-FD3B-F1B24C35561A}"/>
              </a:ext>
            </a:extLst>
          </p:cNvPr>
          <p:cNvGraphicFramePr>
            <a:graphicFrameLocks noGrp="1"/>
          </p:cNvGraphicFramePr>
          <p:nvPr/>
        </p:nvGraphicFramePr>
        <p:xfrm>
          <a:off x="804672" y="3273552"/>
          <a:ext cx="10561319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4281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Condição</a:t>
                      </a:r>
                    </a:p>
                  </a:txBody>
                  <a:tcPr marL="64008" marR="64008" marT="36576" marB="36576">
                    <a:solidFill>
                      <a:srgbClr val="1722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Pergunta analítica</a:t>
                      </a:r>
                    </a:p>
                  </a:txBody>
                  <a:tcPr marL="64008" marR="64008" marT="36576" marB="36576">
                    <a:solidFill>
                      <a:srgbClr val="1722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Evidência esperada</a:t>
                      </a:r>
                    </a:p>
                  </a:txBody>
                  <a:tcPr marL="64008" marR="64008" marT="36576" marB="36576">
                    <a:solidFill>
                      <a:srgbClr val="1722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4281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72235"/>
                          </a:solidFill>
                          <a:latin typeface="Aptos"/>
                        </a:rPr>
                        <a:t>Interdependência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72235"/>
                          </a:solidFill>
                          <a:latin typeface="Aptos"/>
                        </a:rPr>
                        <a:t>A ação de um agente altera as opções dos demais?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72235"/>
                          </a:solidFill>
                          <a:latin typeface="Aptos"/>
                        </a:rPr>
                        <a:t>Trajetórias ou resultados distintos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4281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72235"/>
                          </a:solidFill>
                          <a:latin typeface="Aptos"/>
                        </a:rPr>
                        <a:t>Comunicação funcional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72235"/>
                          </a:solidFill>
                          <a:latin typeface="Aptos"/>
                        </a:rPr>
                        <a:t>As mensagens modificam decisões posteriores?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72235"/>
                          </a:solidFill>
                          <a:latin typeface="Aptos"/>
                        </a:rPr>
                        <a:t>Ablação dos canais Γ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281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72235"/>
                          </a:solidFill>
                          <a:latin typeface="Aptos"/>
                        </a:rPr>
                        <a:t>Objetivo coletivo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72235"/>
                          </a:solidFill>
                          <a:latin typeface="Aptos"/>
                        </a:rPr>
                        <a:t>Existe critério além das metas individuais?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72235"/>
                          </a:solidFill>
                          <a:latin typeface="Aptos"/>
                        </a:rPr>
                        <a:t>Métrica J explicitamente definida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428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72235"/>
                          </a:solidFill>
                          <a:latin typeface="Aptos"/>
                        </a:rPr>
                        <a:t>Contribuição marginal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72235"/>
                          </a:solidFill>
                          <a:latin typeface="Aptos"/>
                        </a:rPr>
                        <a:t>Cada papel acrescenta capacidade identificável?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72235"/>
                          </a:solidFill>
                          <a:latin typeface="Aptos"/>
                        </a:rPr>
                        <a:t>Ablação de agentes e papéis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2D6C9A50-B333-2826-58CF-F790148D520B}"/>
              </a:ext>
            </a:extLst>
          </p:cNvPr>
          <p:cNvSpPr txBox="1"/>
          <p:nvPr/>
        </p:nvSpPr>
        <p:spPr>
          <a:xfrm>
            <a:off x="960120" y="5779008"/>
            <a:ext cx="10241280" cy="232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8C3041"/>
                </a:solidFill>
              </a:rPr>
              <a:t>Δcoop &gt; 0 é necessário, mas não suficiente: o ganho deve ser comparado ao custo de comunicação e à correlação dos erros.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47063A-A72D-4E12-81D1-3A97A4EAD408}"/>
              </a:ext>
            </a:extLst>
          </p:cNvPr>
          <p:cNvSpPr txBox="1"/>
          <p:nvPr/>
        </p:nvSpPr>
        <p:spPr>
          <a:xfrm>
            <a:off x="11155680" y="246888"/>
            <a:ext cx="420624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lang="pt-BR" sz="900" b="0" i="0" dirty="0">
                <a:solidFill>
                  <a:srgbClr val="4D5968"/>
                </a:solidFill>
              </a:rPr>
              <a:t>03 de 19</a:t>
            </a:r>
            <a:endParaRPr sz="900" b="0" i="0" dirty="0">
              <a:solidFill>
                <a:srgbClr val="4D596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3271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A2735-614B-40D9-1838-28ED3B755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7AF5A48D-8AEF-616B-3672-0C7A1DD95783}"/>
              </a:ext>
            </a:extLst>
          </p:cNvPr>
          <p:cNvSpPr txBox="1"/>
          <p:nvPr/>
        </p:nvSpPr>
        <p:spPr>
          <a:xfrm>
            <a:off x="594360" y="219456"/>
            <a:ext cx="5669280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 i="0">
                <a:solidFill>
                  <a:srgbClr val="8C3041"/>
                </a:solidFill>
              </a:rPr>
              <a:t>1 · FUNDAMENTOS E QUESTÃO DE INVESTIGAÇÃO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5A0D032-DAFD-8735-4E32-C9E34F8D39C9}"/>
              </a:ext>
            </a:extLst>
          </p:cNvPr>
          <p:cNvSpPr txBox="1"/>
          <p:nvPr/>
        </p:nvSpPr>
        <p:spPr>
          <a:xfrm>
            <a:off x="594360" y="502920"/>
            <a:ext cx="10789920" cy="387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 i="0">
                <a:solidFill>
                  <a:srgbClr val="172235"/>
                </a:solidFill>
              </a:rPr>
              <a:t>Agência e sistemas multiagente: delimitação conceitual</a:t>
            </a:r>
          </a:p>
        </p:txBody>
      </p:sp>
      <p:cxnSp>
        <p:nvCxnSpPr>
          <p:cNvPr id="39" name="Connector 4">
            <a:extLst>
              <a:ext uri="{FF2B5EF4-FFF2-40B4-BE49-F238E27FC236}">
                <a16:creationId xmlns:a16="http://schemas.microsoft.com/office/drawing/2014/main" id="{CA16C5EF-51AE-7E22-D3E2-0D3A83D2D63C}"/>
              </a:ext>
            </a:extLst>
          </p:cNvPr>
          <p:cNvCxnSpPr/>
          <p:nvPr/>
        </p:nvCxnSpPr>
        <p:spPr>
          <a:xfrm>
            <a:off x="594360" y="1051560"/>
            <a:ext cx="11000232" cy="0"/>
          </a:xfrm>
          <a:prstGeom prst="line">
            <a:avLst/>
          </a:prstGeom>
          <a:ln w="13970">
            <a:solidFill>
              <a:srgbClr val="8C30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EBF07EC8-18E0-BF06-73AF-90FC95B8EA77}"/>
              </a:ext>
            </a:extLst>
          </p:cNvPr>
          <p:cNvSpPr txBox="1"/>
          <p:nvPr/>
        </p:nvSpPr>
        <p:spPr>
          <a:xfrm>
            <a:off x="713232" y="1353312"/>
            <a:ext cx="3246120" cy="2790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 i="0">
                <a:solidFill>
                  <a:srgbClr val="274C77"/>
                </a:solidFill>
              </a:rPr>
              <a:t>Agente de software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87F9975-91E4-5AC8-F5F4-68D87DD99E4A}"/>
              </a:ext>
            </a:extLst>
          </p:cNvPr>
          <p:cNvSpPr txBox="1"/>
          <p:nvPr/>
        </p:nvSpPr>
        <p:spPr>
          <a:xfrm>
            <a:off x="713232" y="1792224"/>
            <a:ext cx="3246120" cy="3851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500" b="1" i="0">
                <a:solidFill>
                  <a:srgbClr val="172235"/>
                </a:solidFill>
              </a:rPr>
              <a:t>A = ⟨O, S, Π, U, G⟩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77ACCAE-238C-A1E8-2705-750FF3C74792}"/>
              </a:ext>
            </a:extLst>
          </p:cNvPr>
          <p:cNvSpPr/>
          <p:nvPr/>
        </p:nvSpPr>
        <p:spPr>
          <a:xfrm>
            <a:off x="777240" y="2615184"/>
            <a:ext cx="82296" cy="82296"/>
          </a:xfrm>
          <a:prstGeom prst="ellipse">
            <a:avLst/>
          </a:prstGeom>
          <a:solidFill>
            <a:srgbClr val="274C77"/>
          </a:solidFill>
          <a:ln w="15240">
            <a:solidFill>
              <a:srgbClr val="274C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396B012-E727-D70B-5F33-675554504341}"/>
              </a:ext>
            </a:extLst>
          </p:cNvPr>
          <p:cNvSpPr txBox="1"/>
          <p:nvPr/>
        </p:nvSpPr>
        <p:spPr>
          <a:xfrm>
            <a:off x="960120" y="2496312"/>
            <a:ext cx="3063239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172235"/>
                </a:solidFill>
              </a:rPr>
              <a:t>O: observações do ambiente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F768FA9A-0B11-9491-ADFE-BC0E4DBF354A}"/>
              </a:ext>
            </a:extLst>
          </p:cNvPr>
          <p:cNvSpPr/>
          <p:nvPr/>
        </p:nvSpPr>
        <p:spPr>
          <a:xfrm>
            <a:off x="777240" y="3108960"/>
            <a:ext cx="82296" cy="82296"/>
          </a:xfrm>
          <a:prstGeom prst="ellipse">
            <a:avLst/>
          </a:prstGeom>
          <a:solidFill>
            <a:srgbClr val="274C77"/>
          </a:solidFill>
          <a:ln w="15240">
            <a:solidFill>
              <a:srgbClr val="274C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80A5C5-963F-A123-3036-69A392A640F6}"/>
              </a:ext>
            </a:extLst>
          </p:cNvPr>
          <p:cNvSpPr txBox="1"/>
          <p:nvPr/>
        </p:nvSpPr>
        <p:spPr>
          <a:xfrm>
            <a:off x="960120" y="2990088"/>
            <a:ext cx="3063239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172235"/>
                </a:solidFill>
              </a:rPr>
              <a:t>S: estado interno e memória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85C8B442-AAC1-6035-2E8A-D766AAC714E1}"/>
              </a:ext>
            </a:extLst>
          </p:cNvPr>
          <p:cNvSpPr/>
          <p:nvPr/>
        </p:nvSpPr>
        <p:spPr>
          <a:xfrm>
            <a:off x="777240" y="3602736"/>
            <a:ext cx="82296" cy="82296"/>
          </a:xfrm>
          <a:prstGeom prst="ellipse">
            <a:avLst/>
          </a:prstGeom>
          <a:solidFill>
            <a:srgbClr val="274C77"/>
          </a:solidFill>
          <a:ln w="15240">
            <a:solidFill>
              <a:srgbClr val="274C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F66DA5E-4365-D28D-67A5-1E31046BF29F}"/>
              </a:ext>
            </a:extLst>
          </p:cNvPr>
          <p:cNvSpPr txBox="1"/>
          <p:nvPr/>
        </p:nvSpPr>
        <p:spPr>
          <a:xfrm>
            <a:off x="960120" y="3483864"/>
            <a:ext cx="3063239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172235"/>
                </a:solidFill>
              </a:rPr>
              <a:t>Π: política de decisão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B1507977-2D9B-2028-7BF8-C920373ED7DA}"/>
              </a:ext>
            </a:extLst>
          </p:cNvPr>
          <p:cNvSpPr/>
          <p:nvPr/>
        </p:nvSpPr>
        <p:spPr>
          <a:xfrm>
            <a:off x="777240" y="4096511"/>
            <a:ext cx="82296" cy="82296"/>
          </a:xfrm>
          <a:prstGeom prst="ellipse">
            <a:avLst/>
          </a:prstGeom>
          <a:solidFill>
            <a:srgbClr val="274C77"/>
          </a:solidFill>
          <a:ln w="15240">
            <a:solidFill>
              <a:srgbClr val="274C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B60F6C-ABC4-2ED4-4FDC-E6988E8CAB88}"/>
              </a:ext>
            </a:extLst>
          </p:cNvPr>
          <p:cNvSpPr txBox="1"/>
          <p:nvPr/>
        </p:nvSpPr>
        <p:spPr>
          <a:xfrm>
            <a:off x="960120" y="3977639"/>
            <a:ext cx="3063239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172235"/>
                </a:solidFill>
              </a:rPr>
              <a:t>U: conjunto de ações; G: objetivos</a:t>
            </a:r>
          </a:p>
        </p:txBody>
      </p:sp>
      <p:cxnSp>
        <p:nvCxnSpPr>
          <p:cNvPr id="50" name="Connector 15">
            <a:extLst>
              <a:ext uri="{FF2B5EF4-FFF2-40B4-BE49-F238E27FC236}">
                <a16:creationId xmlns:a16="http://schemas.microsoft.com/office/drawing/2014/main" id="{3665BED2-D79B-35CB-1AD8-2B6B3C97B298}"/>
              </a:ext>
            </a:extLst>
          </p:cNvPr>
          <p:cNvCxnSpPr/>
          <p:nvPr/>
        </p:nvCxnSpPr>
        <p:spPr>
          <a:xfrm>
            <a:off x="4251960" y="1389888"/>
            <a:ext cx="0" cy="3776472"/>
          </a:xfrm>
          <a:prstGeom prst="line">
            <a:avLst/>
          </a:prstGeom>
          <a:ln w="1524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06BFA89D-36B3-1CD6-DBD2-1D388AF1FE4E}"/>
              </a:ext>
            </a:extLst>
          </p:cNvPr>
          <p:cNvSpPr txBox="1"/>
          <p:nvPr/>
        </p:nvSpPr>
        <p:spPr>
          <a:xfrm>
            <a:off x="4572000" y="1353312"/>
            <a:ext cx="3017520" cy="2790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 i="0">
                <a:solidFill>
                  <a:srgbClr val="8C3041"/>
                </a:solidFill>
              </a:rPr>
              <a:t>Agente baseado em LLM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DF47966-A27D-DFB1-594D-A43EC0F8979D}"/>
              </a:ext>
            </a:extLst>
          </p:cNvPr>
          <p:cNvSpPr txBox="1"/>
          <p:nvPr/>
        </p:nvSpPr>
        <p:spPr>
          <a:xfrm>
            <a:off x="4572000" y="1874519"/>
            <a:ext cx="2971800" cy="16370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 dirty="0">
                <a:solidFill>
                  <a:srgbClr val="172235"/>
                </a:solidFill>
              </a:rPr>
              <a:t>O </a:t>
            </a:r>
            <a:r>
              <a:rPr sz="1700" b="0" i="0" dirty="0" err="1">
                <a:solidFill>
                  <a:srgbClr val="172235"/>
                </a:solidFill>
              </a:rPr>
              <a:t>modelo</a:t>
            </a:r>
            <a:r>
              <a:rPr sz="1700" b="0" i="0" dirty="0">
                <a:solidFill>
                  <a:srgbClr val="172235"/>
                </a:solidFill>
              </a:rPr>
              <a:t> de </a:t>
            </a:r>
            <a:r>
              <a:rPr sz="1700" b="0" i="0" dirty="0" err="1">
                <a:solidFill>
                  <a:srgbClr val="172235"/>
                </a:solidFill>
              </a:rPr>
              <a:t>linguagem</a:t>
            </a:r>
            <a:r>
              <a:rPr sz="1700" b="0" i="0" dirty="0">
                <a:solidFill>
                  <a:srgbClr val="172235"/>
                </a:solidFill>
              </a:rPr>
              <a:t> </a:t>
            </a:r>
            <a:r>
              <a:rPr sz="1700" b="0" i="0" dirty="0" err="1">
                <a:solidFill>
                  <a:srgbClr val="172235"/>
                </a:solidFill>
              </a:rPr>
              <a:t>pode</a:t>
            </a:r>
            <a:r>
              <a:rPr sz="1700" b="0" i="0" dirty="0">
                <a:solidFill>
                  <a:srgbClr val="172235"/>
                </a:solidFill>
              </a:rPr>
              <a:t> </a:t>
            </a:r>
            <a:r>
              <a:rPr sz="1700" b="0" i="0" dirty="0" err="1">
                <a:solidFill>
                  <a:srgbClr val="172235"/>
                </a:solidFill>
              </a:rPr>
              <a:t>realizar</a:t>
            </a:r>
            <a:r>
              <a:rPr sz="1700" b="0" i="0" dirty="0">
                <a:solidFill>
                  <a:srgbClr val="172235"/>
                </a:solidFill>
              </a:rPr>
              <a:t> </a:t>
            </a:r>
            <a:r>
              <a:rPr sz="1700" b="0" i="0" dirty="0" err="1">
                <a:solidFill>
                  <a:srgbClr val="172235"/>
                </a:solidFill>
              </a:rPr>
              <a:t>interpretação</a:t>
            </a:r>
            <a:r>
              <a:rPr sz="1700" b="0" i="0" dirty="0">
                <a:solidFill>
                  <a:srgbClr val="172235"/>
                </a:solidFill>
              </a:rPr>
              <a:t>, </a:t>
            </a:r>
            <a:r>
              <a:rPr sz="1700" b="0" i="0" dirty="0" err="1">
                <a:solidFill>
                  <a:srgbClr val="172235"/>
                </a:solidFill>
              </a:rPr>
              <a:t>planejamento</a:t>
            </a:r>
            <a:r>
              <a:rPr sz="1700" b="0" i="0" dirty="0">
                <a:solidFill>
                  <a:srgbClr val="172235"/>
                </a:solidFill>
              </a:rPr>
              <a:t> </a:t>
            </a:r>
            <a:r>
              <a:rPr sz="1700" b="0" i="0" dirty="0" err="1">
                <a:solidFill>
                  <a:srgbClr val="172235"/>
                </a:solidFill>
              </a:rPr>
              <a:t>ou</a:t>
            </a:r>
            <a:r>
              <a:rPr sz="1700" b="0" i="0" dirty="0">
                <a:solidFill>
                  <a:srgbClr val="172235"/>
                </a:solidFill>
              </a:rPr>
              <a:t> </a:t>
            </a:r>
            <a:r>
              <a:rPr sz="1700" b="0" i="0" dirty="0" err="1">
                <a:solidFill>
                  <a:srgbClr val="172235"/>
                </a:solidFill>
              </a:rPr>
              <a:t>decisão</a:t>
            </a:r>
            <a:r>
              <a:rPr lang="pt-BR" sz="1700" dirty="0">
                <a:solidFill>
                  <a:srgbClr val="172235"/>
                </a:solidFill>
              </a:rPr>
              <a:t>, mas</a:t>
            </a:r>
            <a:r>
              <a:rPr sz="1700" b="0" i="0" dirty="0">
                <a:solidFill>
                  <a:srgbClr val="172235"/>
                </a:solidFill>
              </a:rPr>
              <a:t> não </a:t>
            </a:r>
            <a:r>
              <a:rPr sz="1700" b="0" i="0" dirty="0" err="1">
                <a:solidFill>
                  <a:srgbClr val="172235"/>
                </a:solidFill>
              </a:rPr>
              <a:t>substitui</a:t>
            </a:r>
            <a:r>
              <a:rPr sz="1700" b="0" i="0" dirty="0">
                <a:solidFill>
                  <a:srgbClr val="172235"/>
                </a:solidFill>
              </a:rPr>
              <a:t> </a:t>
            </a:r>
            <a:r>
              <a:rPr sz="1700" b="0" i="0" dirty="0" err="1">
                <a:solidFill>
                  <a:srgbClr val="172235"/>
                </a:solidFill>
              </a:rPr>
              <a:t>memória</a:t>
            </a:r>
            <a:r>
              <a:rPr sz="1700" b="0" i="0" dirty="0">
                <a:solidFill>
                  <a:srgbClr val="172235"/>
                </a:solidFill>
              </a:rPr>
              <a:t>, ferramentas, </a:t>
            </a:r>
            <a:r>
              <a:rPr sz="1700" b="0" i="0" dirty="0" err="1">
                <a:solidFill>
                  <a:srgbClr val="172235"/>
                </a:solidFill>
              </a:rPr>
              <a:t>controle</a:t>
            </a:r>
            <a:r>
              <a:rPr sz="1700" b="0" i="0" dirty="0">
                <a:solidFill>
                  <a:srgbClr val="172235"/>
                </a:solidFill>
              </a:rPr>
              <a:t> </a:t>
            </a:r>
            <a:r>
              <a:rPr sz="1700" b="0" i="0" dirty="0" err="1">
                <a:solidFill>
                  <a:srgbClr val="172235"/>
                </a:solidFill>
              </a:rPr>
              <a:t>ou</a:t>
            </a:r>
            <a:r>
              <a:rPr sz="1700" b="0" i="0" dirty="0">
                <a:solidFill>
                  <a:srgbClr val="172235"/>
                </a:solidFill>
              </a:rPr>
              <a:t> </a:t>
            </a:r>
            <a:r>
              <a:rPr sz="1700" b="0" i="0" dirty="0" err="1">
                <a:solidFill>
                  <a:srgbClr val="172235"/>
                </a:solidFill>
              </a:rPr>
              <a:t>objetivos</a:t>
            </a:r>
            <a:r>
              <a:rPr sz="1700" b="0" i="0" dirty="0">
                <a:solidFill>
                  <a:srgbClr val="172235"/>
                </a:solidFill>
              </a:rPr>
              <a:t>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EC29F60-28B3-590D-D4B7-6221A10E6353}"/>
              </a:ext>
            </a:extLst>
          </p:cNvPr>
          <p:cNvSpPr txBox="1"/>
          <p:nvPr/>
        </p:nvSpPr>
        <p:spPr>
          <a:xfrm>
            <a:off x="4572000" y="3794760"/>
            <a:ext cx="2971800" cy="3565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300" b="1" i="0">
                <a:solidFill>
                  <a:srgbClr val="8C3041"/>
                </a:solidFill>
              </a:rPr>
              <a:t>LLM ≠ agente</a:t>
            </a:r>
          </a:p>
        </p:txBody>
      </p:sp>
      <p:cxnSp>
        <p:nvCxnSpPr>
          <p:cNvPr id="54" name="Connector 19">
            <a:extLst>
              <a:ext uri="{FF2B5EF4-FFF2-40B4-BE49-F238E27FC236}">
                <a16:creationId xmlns:a16="http://schemas.microsoft.com/office/drawing/2014/main" id="{67C6A754-28E2-7C43-E29C-27F4C659A32A}"/>
              </a:ext>
            </a:extLst>
          </p:cNvPr>
          <p:cNvCxnSpPr/>
          <p:nvPr/>
        </p:nvCxnSpPr>
        <p:spPr>
          <a:xfrm>
            <a:off x="7909560" y="1389888"/>
            <a:ext cx="0" cy="3776472"/>
          </a:xfrm>
          <a:prstGeom prst="line">
            <a:avLst/>
          </a:prstGeom>
          <a:ln w="1524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A6401B9-F8A4-A4D7-C3C0-350AC710D53E}"/>
              </a:ext>
            </a:extLst>
          </p:cNvPr>
          <p:cNvSpPr txBox="1"/>
          <p:nvPr/>
        </p:nvSpPr>
        <p:spPr>
          <a:xfrm>
            <a:off x="8229600" y="1353312"/>
            <a:ext cx="3200400" cy="2790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 i="0">
                <a:solidFill>
                  <a:srgbClr val="3E6B5C"/>
                </a:solidFill>
              </a:rPr>
              <a:t>Sistema multiagente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0ECEF72-BDE7-23DA-3361-F74B4F2AEEA3}"/>
              </a:ext>
            </a:extLst>
          </p:cNvPr>
          <p:cNvSpPr txBox="1"/>
          <p:nvPr/>
        </p:nvSpPr>
        <p:spPr>
          <a:xfrm>
            <a:off x="8229600" y="1792224"/>
            <a:ext cx="3154680" cy="3696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 i="0">
                <a:solidFill>
                  <a:srgbClr val="172235"/>
                </a:solidFill>
              </a:rPr>
              <a:t>M = ⟨{Aᵢ}, E, Γ, Ω⟩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3B1B6572-09A2-F207-AE54-601DF1B810BB}"/>
              </a:ext>
            </a:extLst>
          </p:cNvPr>
          <p:cNvSpPr/>
          <p:nvPr/>
        </p:nvSpPr>
        <p:spPr>
          <a:xfrm>
            <a:off x="8275320" y="2615184"/>
            <a:ext cx="82296" cy="82296"/>
          </a:xfrm>
          <a:prstGeom prst="ellipse">
            <a:avLst/>
          </a:prstGeom>
          <a:solidFill>
            <a:srgbClr val="3E6B5C"/>
          </a:solidFill>
          <a:ln w="15240">
            <a:solidFill>
              <a:srgbClr val="3E6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1F84AC8-2C2B-F70A-D781-6B0236EB3A21}"/>
              </a:ext>
            </a:extLst>
          </p:cNvPr>
          <p:cNvSpPr txBox="1"/>
          <p:nvPr/>
        </p:nvSpPr>
        <p:spPr>
          <a:xfrm>
            <a:off x="8458200" y="2496312"/>
            <a:ext cx="2999232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172235"/>
                </a:solidFill>
              </a:rPr>
              <a:t>{Aᵢ}: agentes autônomos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2DEC4F6D-E4D2-01F8-F07F-E93E689D99BE}"/>
              </a:ext>
            </a:extLst>
          </p:cNvPr>
          <p:cNvSpPr/>
          <p:nvPr/>
        </p:nvSpPr>
        <p:spPr>
          <a:xfrm>
            <a:off x="8275320" y="3108960"/>
            <a:ext cx="82296" cy="82296"/>
          </a:xfrm>
          <a:prstGeom prst="ellipse">
            <a:avLst/>
          </a:prstGeom>
          <a:solidFill>
            <a:srgbClr val="3E6B5C"/>
          </a:solidFill>
          <a:ln w="15240">
            <a:solidFill>
              <a:srgbClr val="3E6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1A55BB6-268E-FB81-CF0E-45EF671B7E86}"/>
              </a:ext>
            </a:extLst>
          </p:cNvPr>
          <p:cNvSpPr txBox="1"/>
          <p:nvPr/>
        </p:nvSpPr>
        <p:spPr>
          <a:xfrm>
            <a:off x="8458200" y="2990088"/>
            <a:ext cx="2999232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172235"/>
                </a:solidFill>
              </a:rPr>
              <a:t>E: ambiente compartilhado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606E72C7-3760-3E18-C97C-38279ED5FEFD}"/>
              </a:ext>
            </a:extLst>
          </p:cNvPr>
          <p:cNvSpPr/>
          <p:nvPr/>
        </p:nvSpPr>
        <p:spPr>
          <a:xfrm>
            <a:off x="8275320" y="3602736"/>
            <a:ext cx="82296" cy="82296"/>
          </a:xfrm>
          <a:prstGeom prst="ellipse">
            <a:avLst/>
          </a:prstGeom>
          <a:solidFill>
            <a:srgbClr val="3E6B5C"/>
          </a:solidFill>
          <a:ln w="15240">
            <a:solidFill>
              <a:srgbClr val="3E6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A9E5F7D-23AB-6C2B-3B78-BDBAB8CAA674}"/>
              </a:ext>
            </a:extLst>
          </p:cNvPr>
          <p:cNvSpPr txBox="1"/>
          <p:nvPr/>
        </p:nvSpPr>
        <p:spPr>
          <a:xfrm>
            <a:off x="8458200" y="3483864"/>
            <a:ext cx="2999232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172235"/>
                </a:solidFill>
              </a:rPr>
              <a:t>Γ: canais e protocolos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AD07998C-0563-72D8-851D-5103DD70EECD}"/>
              </a:ext>
            </a:extLst>
          </p:cNvPr>
          <p:cNvSpPr/>
          <p:nvPr/>
        </p:nvSpPr>
        <p:spPr>
          <a:xfrm>
            <a:off x="8275320" y="4096511"/>
            <a:ext cx="82296" cy="82296"/>
          </a:xfrm>
          <a:prstGeom prst="ellipse">
            <a:avLst/>
          </a:prstGeom>
          <a:solidFill>
            <a:srgbClr val="3E6B5C"/>
          </a:solidFill>
          <a:ln w="15240">
            <a:solidFill>
              <a:srgbClr val="3E6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D851498-50A7-11CC-EB47-46608A931B1D}"/>
              </a:ext>
            </a:extLst>
          </p:cNvPr>
          <p:cNvSpPr txBox="1"/>
          <p:nvPr/>
        </p:nvSpPr>
        <p:spPr>
          <a:xfrm>
            <a:off x="8458200" y="3977639"/>
            <a:ext cx="2999232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172235"/>
                </a:solidFill>
              </a:rPr>
              <a:t>Ω: organização e coordenação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0B37BDF6-F837-05AD-7F2F-9BCBF97858FE}"/>
              </a:ext>
            </a:extLst>
          </p:cNvPr>
          <p:cNvSpPr/>
          <p:nvPr/>
        </p:nvSpPr>
        <p:spPr>
          <a:xfrm>
            <a:off x="969264" y="5413248"/>
            <a:ext cx="10241280" cy="658368"/>
          </a:xfrm>
          <a:prstGeom prst="rect">
            <a:avLst/>
          </a:prstGeom>
          <a:solidFill>
            <a:srgbClr val="ECEEF1"/>
          </a:solidFill>
          <a:ln w="10160">
            <a:solidFill>
              <a:srgbClr val="D9D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4798142-7A85-A5FC-9DBB-6DC56DB89C4B}"/>
              </a:ext>
            </a:extLst>
          </p:cNvPr>
          <p:cNvSpPr txBox="1"/>
          <p:nvPr/>
        </p:nvSpPr>
        <p:spPr>
          <a:xfrm>
            <a:off x="1225296" y="5596128"/>
            <a:ext cx="9729216" cy="232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72235"/>
                </a:solidFill>
              </a:rPr>
              <a:t>Implicação: a arquitetura do agente permanece uma decisão de projeto, mesmo quando a política inclui um LLM.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FA8E339-9B7B-6530-5DCF-24895600DD14}"/>
              </a:ext>
            </a:extLst>
          </p:cNvPr>
          <p:cNvSpPr txBox="1"/>
          <p:nvPr/>
        </p:nvSpPr>
        <p:spPr>
          <a:xfrm>
            <a:off x="11155680" y="246888"/>
            <a:ext cx="420624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lang="pt-BR" sz="900" b="0" i="0" dirty="0">
                <a:solidFill>
                  <a:srgbClr val="4D5968"/>
                </a:solidFill>
              </a:rPr>
              <a:t>04 de 19</a:t>
            </a:r>
            <a:endParaRPr sz="900" b="0" i="0" dirty="0">
              <a:solidFill>
                <a:srgbClr val="4D596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84287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6B6FEC8-0678-8737-3874-11080E39439C}"/>
              </a:ext>
            </a:extLst>
          </p:cNvPr>
          <p:cNvSpPr txBox="1"/>
          <p:nvPr/>
        </p:nvSpPr>
        <p:spPr>
          <a:xfrm>
            <a:off x="594360" y="219456"/>
            <a:ext cx="5669280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 i="0">
                <a:solidFill>
                  <a:srgbClr val="8C3041"/>
                </a:solidFill>
              </a:rPr>
              <a:t>1 · FUNDAMENTOS E QUESTÃO DE INVESTIGAÇÃO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1D1B01-56DD-2107-A39A-A8205142F4EE}"/>
              </a:ext>
            </a:extLst>
          </p:cNvPr>
          <p:cNvSpPr txBox="1"/>
          <p:nvPr/>
        </p:nvSpPr>
        <p:spPr>
          <a:xfrm>
            <a:off x="594360" y="502920"/>
            <a:ext cx="10789920" cy="387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 i="0">
                <a:solidFill>
                  <a:srgbClr val="172235"/>
                </a:solidFill>
              </a:rPr>
              <a:t>Corpus analítico e critério de seleção</a:t>
            </a:r>
          </a:p>
        </p:txBody>
      </p:sp>
      <p:cxnSp>
        <p:nvCxnSpPr>
          <p:cNvPr id="7" name="Connector 4">
            <a:extLst>
              <a:ext uri="{FF2B5EF4-FFF2-40B4-BE49-F238E27FC236}">
                <a16:creationId xmlns:a16="http://schemas.microsoft.com/office/drawing/2014/main" id="{B53A2CFA-6E7D-5F97-EE3C-713581D42087}"/>
              </a:ext>
            </a:extLst>
          </p:cNvPr>
          <p:cNvCxnSpPr/>
          <p:nvPr/>
        </p:nvCxnSpPr>
        <p:spPr>
          <a:xfrm>
            <a:off x="594360" y="1051560"/>
            <a:ext cx="11000232" cy="0"/>
          </a:xfrm>
          <a:prstGeom prst="line">
            <a:avLst/>
          </a:prstGeom>
          <a:ln w="13970">
            <a:solidFill>
              <a:srgbClr val="8C30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56BE6B9-113A-1D81-4D9C-B7B386E76B67}"/>
              </a:ext>
            </a:extLst>
          </p:cNvPr>
          <p:cNvSpPr txBox="1"/>
          <p:nvPr/>
        </p:nvSpPr>
        <p:spPr>
          <a:xfrm>
            <a:off x="685800" y="1481328"/>
            <a:ext cx="475488" cy="387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 i="0">
                <a:solidFill>
                  <a:srgbClr val="274C77"/>
                </a:solidFill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4176BD-6D34-6A80-1CDB-141BB09BCE9E}"/>
              </a:ext>
            </a:extLst>
          </p:cNvPr>
          <p:cNvSpPr txBox="1"/>
          <p:nvPr/>
        </p:nvSpPr>
        <p:spPr>
          <a:xfrm>
            <a:off x="1307592" y="1481328"/>
            <a:ext cx="251460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172235"/>
                </a:solidFill>
              </a:rPr>
              <a:t>Guo et al.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FE56A7-D37B-637D-02D1-900EC5DF18E8}"/>
              </a:ext>
            </a:extLst>
          </p:cNvPr>
          <p:cNvSpPr txBox="1"/>
          <p:nvPr/>
        </p:nvSpPr>
        <p:spPr>
          <a:xfrm>
            <a:off x="1307592" y="1773936"/>
            <a:ext cx="2514600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4D5968"/>
                </a:solidFill>
              </a:rPr>
              <a:t>IJCAI 2024 · Survey Track</a:t>
            </a:r>
          </a:p>
        </p:txBody>
      </p:sp>
      <p:cxnSp>
        <p:nvCxnSpPr>
          <p:cNvPr id="11" name="Connector 8">
            <a:extLst>
              <a:ext uri="{FF2B5EF4-FFF2-40B4-BE49-F238E27FC236}">
                <a16:creationId xmlns:a16="http://schemas.microsoft.com/office/drawing/2014/main" id="{0EC45F92-80B9-129E-3CE6-BE194AA6ADD1}"/>
              </a:ext>
            </a:extLst>
          </p:cNvPr>
          <p:cNvCxnSpPr/>
          <p:nvPr/>
        </p:nvCxnSpPr>
        <p:spPr>
          <a:xfrm>
            <a:off x="685800" y="2148840"/>
            <a:ext cx="3154680" cy="0"/>
          </a:xfrm>
          <a:prstGeom prst="line">
            <a:avLst/>
          </a:prstGeom>
          <a:ln w="12700">
            <a:solidFill>
              <a:srgbClr val="274C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A8B1E03-B5BB-E15F-DF46-54E1F646E8E1}"/>
              </a:ext>
            </a:extLst>
          </p:cNvPr>
          <p:cNvSpPr txBox="1"/>
          <p:nvPr/>
        </p:nvSpPr>
        <p:spPr>
          <a:xfrm>
            <a:off x="685800" y="2441448"/>
            <a:ext cx="3154680" cy="2790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 i="0">
                <a:solidFill>
                  <a:srgbClr val="274C77"/>
                </a:solidFill>
              </a:rPr>
              <a:t>Sistematização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E4BFB9-D21C-B8F9-700C-B725BF46ED5E}"/>
              </a:ext>
            </a:extLst>
          </p:cNvPr>
          <p:cNvSpPr txBox="1"/>
          <p:nvPr/>
        </p:nvSpPr>
        <p:spPr>
          <a:xfrm>
            <a:off x="685800" y="3172968"/>
            <a:ext cx="3154680" cy="7650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 dirty="0">
                <a:solidFill>
                  <a:srgbClr val="172235"/>
                </a:solidFill>
              </a:rPr>
              <a:t>Como </a:t>
            </a:r>
            <a:r>
              <a:rPr sz="1600" b="0" i="0" dirty="0" err="1">
                <a:solidFill>
                  <a:srgbClr val="172235"/>
                </a:solidFill>
              </a:rPr>
              <a:t>ambiente</a:t>
            </a:r>
            <a:r>
              <a:rPr sz="1600" b="0" i="0" dirty="0">
                <a:solidFill>
                  <a:srgbClr val="172235"/>
                </a:solidFill>
              </a:rPr>
              <a:t>, </a:t>
            </a:r>
            <a:r>
              <a:rPr sz="1600" b="0" i="0" dirty="0" err="1">
                <a:solidFill>
                  <a:srgbClr val="172235"/>
                </a:solidFill>
              </a:rPr>
              <a:t>perfil</a:t>
            </a:r>
            <a:r>
              <a:rPr sz="1600" b="0" i="0" dirty="0">
                <a:solidFill>
                  <a:srgbClr val="172235"/>
                </a:solidFill>
              </a:rPr>
              <a:t>, comunicação e </a:t>
            </a:r>
            <a:r>
              <a:rPr sz="1600" b="0" i="0" dirty="0" err="1">
                <a:solidFill>
                  <a:srgbClr val="172235"/>
                </a:solidFill>
              </a:rPr>
              <a:t>aquisição</a:t>
            </a:r>
            <a:r>
              <a:rPr sz="1600" b="0" i="0" dirty="0">
                <a:solidFill>
                  <a:srgbClr val="172235"/>
                </a:solidFill>
              </a:rPr>
              <a:t> de </a:t>
            </a:r>
            <a:r>
              <a:rPr sz="1600" b="0" i="0" dirty="0" err="1">
                <a:solidFill>
                  <a:srgbClr val="172235"/>
                </a:solidFill>
              </a:rPr>
              <a:t>capacidades</a:t>
            </a:r>
            <a:r>
              <a:rPr sz="1600" b="0" i="0" dirty="0">
                <a:solidFill>
                  <a:srgbClr val="172235"/>
                </a:solidFill>
              </a:rPr>
              <a:t> </a:t>
            </a:r>
            <a:r>
              <a:rPr sz="1600" b="0" i="0" dirty="0" err="1">
                <a:solidFill>
                  <a:srgbClr val="172235"/>
                </a:solidFill>
              </a:rPr>
              <a:t>estruturam</a:t>
            </a:r>
            <a:r>
              <a:rPr sz="1600" b="0" i="0" dirty="0">
                <a:solidFill>
                  <a:srgbClr val="172235"/>
                </a:solidFill>
              </a:rPr>
              <a:t> </a:t>
            </a:r>
            <a:r>
              <a:rPr sz="1600" b="0" i="0" dirty="0" err="1">
                <a:solidFill>
                  <a:srgbClr val="172235"/>
                </a:solidFill>
              </a:rPr>
              <a:t>os</a:t>
            </a:r>
            <a:r>
              <a:rPr sz="1600" b="0" i="0" dirty="0">
                <a:solidFill>
                  <a:srgbClr val="172235"/>
                </a:solidFill>
              </a:rPr>
              <a:t> </a:t>
            </a:r>
            <a:r>
              <a:rPr sz="1600" b="0" i="0" dirty="0" err="1">
                <a:solidFill>
                  <a:srgbClr val="172235"/>
                </a:solidFill>
              </a:rPr>
              <a:t>sistemas</a:t>
            </a:r>
            <a:r>
              <a:rPr sz="1600" b="0" i="0" dirty="0">
                <a:solidFill>
                  <a:srgbClr val="172235"/>
                </a:solidFill>
              </a:rPr>
              <a:t> LLM-MAS?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1E258C-B4AB-99CD-75B6-D063FE753034}"/>
              </a:ext>
            </a:extLst>
          </p:cNvPr>
          <p:cNvSpPr txBox="1"/>
          <p:nvPr/>
        </p:nvSpPr>
        <p:spPr>
          <a:xfrm>
            <a:off x="4526280" y="1481328"/>
            <a:ext cx="475488" cy="387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 i="0">
                <a:solidFill>
                  <a:srgbClr val="8C3041"/>
                </a:solidFill>
              </a:rPr>
              <a:t>02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3BB048-5562-F41A-7C6A-E1D270EAEF89}"/>
              </a:ext>
            </a:extLst>
          </p:cNvPr>
          <p:cNvSpPr txBox="1"/>
          <p:nvPr/>
        </p:nvSpPr>
        <p:spPr>
          <a:xfrm>
            <a:off x="5148072" y="1481328"/>
            <a:ext cx="251460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172235"/>
                </a:solidFill>
              </a:rPr>
              <a:t>Chen et al.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1047D0-54D3-F086-1F2C-7CA70A1AB436}"/>
              </a:ext>
            </a:extLst>
          </p:cNvPr>
          <p:cNvSpPr txBox="1"/>
          <p:nvPr/>
        </p:nvSpPr>
        <p:spPr>
          <a:xfrm>
            <a:off x="5148072" y="1773936"/>
            <a:ext cx="2514600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4D5968"/>
                </a:solidFill>
              </a:rPr>
              <a:t>ICLR 2024</a:t>
            </a:r>
          </a:p>
        </p:txBody>
      </p:sp>
      <p:cxnSp>
        <p:nvCxnSpPr>
          <p:cNvPr id="17" name="Connector 14">
            <a:extLst>
              <a:ext uri="{FF2B5EF4-FFF2-40B4-BE49-F238E27FC236}">
                <a16:creationId xmlns:a16="http://schemas.microsoft.com/office/drawing/2014/main" id="{0BC391F4-A529-F179-065C-99D5EADC297D}"/>
              </a:ext>
            </a:extLst>
          </p:cNvPr>
          <p:cNvCxnSpPr/>
          <p:nvPr/>
        </p:nvCxnSpPr>
        <p:spPr>
          <a:xfrm>
            <a:off x="4526280" y="2148840"/>
            <a:ext cx="3154680" cy="0"/>
          </a:xfrm>
          <a:prstGeom prst="line">
            <a:avLst/>
          </a:prstGeom>
          <a:ln w="12700">
            <a:solidFill>
              <a:srgbClr val="8C30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612964E-E35E-12A4-AA3D-1C4B6C521D5F}"/>
              </a:ext>
            </a:extLst>
          </p:cNvPr>
          <p:cNvSpPr txBox="1"/>
          <p:nvPr/>
        </p:nvSpPr>
        <p:spPr>
          <a:xfrm>
            <a:off x="4526280" y="2441448"/>
            <a:ext cx="3154680" cy="2790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 i="0">
                <a:solidFill>
                  <a:srgbClr val="8C3041"/>
                </a:solidFill>
              </a:rPr>
              <a:t>Colaboração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A26B286-FFFD-12D2-5CD9-886133E87128}"/>
              </a:ext>
            </a:extLst>
          </p:cNvPr>
          <p:cNvSpPr txBox="1"/>
          <p:nvPr/>
        </p:nvSpPr>
        <p:spPr>
          <a:xfrm>
            <a:off x="4526280" y="3172968"/>
            <a:ext cx="3154680" cy="7650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172235"/>
                </a:solidFill>
              </a:rPr>
              <a:t>Como composição, deliberação, ação e avaliação produzem comportamento coletivo?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61FC231-AD80-A779-4F6F-2E44CCFEED24}"/>
              </a:ext>
            </a:extLst>
          </p:cNvPr>
          <p:cNvSpPr txBox="1"/>
          <p:nvPr/>
        </p:nvSpPr>
        <p:spPr>
          <a:xfrm>
            <a:off x="8366760" y="1481328"/>
            <a:ext cx="475488" cy="387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 i="0">
                <a:solidFill>
                  <a:srgbClr val="3E6B5C"/>
                </a:solidFill>
              </a:rPr>
              <a:t>03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57862F-B254-276C-B5F9-72EA92B0CB29}"/>
              </a:ext>
            </a:extLst>
          </p:cNvPr>
          <p:cNvSpPr txBox="1"/>
          <p:nvPr/>
        </p:nvSpPr>
        <p:spPr>
          <a:xfrm>
            <a:off x="8988552" y="1481328"/>
            <a:ext cx="251460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172235"/>
                </a:solidFill>
              </a:rPr>
              <a:t>Yang et al.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7514CCF-43C8-588E-CBB9-418E6B3EEAB9}"/>
              </a:ext>
            </a:extLst>
          </p:cNvPr>
          <p:cNvSpPr txBox="1"/>
          <p:nvPr/>
        </p:nvSpPr>
        <p:spPr>
          <a:xfrm>
            <a:off x="8988552" y="1773936"/>
            <a:ext cx="2514600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4D5968"/>
                </a:solidFill>
              </a:rPr>
              <a:t>IEEE TCCN 2025</a:t>
            </a:r>
          </a:p>
        </p:txBody>
      </p:sp>
      <p:cxnSp>
        <p:nvCxnSpPr>
          <p:cNvPr id="23" name="Connector 20">
            <a:extLst>
              <a:ext uri="{FF2B5EF4-FFF2-40B4-BE49-F238E27FC236}">
                <a16:creationId xmlns:a16="http://schemas.microsoft.com/office/drawing/2014/main" id="{26032CFA-B02D-794C-70F9-FA150DAB6BB0}"/>
              </a:ext>
            </a:extLst>
          </p:cNvPr>
          <p:cNvCxnSpPr/>
          <p:nvPr/>
        </p:nvCxnSpPr>
        <p:spPr>
          <a:xfrm>
            <a:off x="8366760" y="2148840"/>
            <a:ext cx="3154680" cy="0"/>
          </a:xfrm>
          <a:prstGeom prst="line">
            <a:avLst/>
          </a:prstGeom>
          <a:ln w="12700">
            <a:solidFill>
              <a:srgbClr val="3E6B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D31F128-274E-E780-CE69-4C4A09D65F90}"/>
              </a:ext>
            </a:extLst>
          </p:cNvPr>
          <p:cNvSpPr txBox="1"/>
          <p:nvPr/>
        </p:nvSpPr>
        <p:spPr>
          <a:xfrm>
            <a:off x="8366760" y="2441448"/>
            <a:ext cx="3154680" cy="2790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 i="0">
                <a:solidFill>
                  <a:srgbClr val="3E6B5C"/>
                </a:solidFill>
              </a:rPr>
              <a:t>Execução heterogênea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C8EAF8-698D-0C7C-CBA3-5BECBAB68C07}"/>
              </a:ext>
            </a:extLst>
          </p:cNvPr>
          <p:cNvSpPr txBox="1"/>
          <p:nvPr/>
        </p:nvSpPr>
        <p:spPr>
          <a:xfrm>
            <a:off x="8366760" y="3172968"/>
            <a:ext cx="3154680" cy="7650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172235"/>
                </a:solidFill>
              </a:rPr>
              <a:t>Como coordenar agentes com capacidades e custos comunicacionais distintos?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2464A87-335E-7E9F-EFAA-D1E4D1FE04F4}"/>
              </a:ext>
            </a:extLst>
          </p:cNvPr>
          <p:cNvSpPr/>
          <p:nvPr/>
        </p:nvSpPr>
        <p:spPr>
          <a:xfrm>
            <a:off x="841248" y="4873752"/>
            <a:ext cx="10515600" cy="896112"/>
          </a:xfrm>
          <a:prstGeom prst="rect">
            <a:avLst/>
          </a:prstGeom>
          <a:solidFill>
            <a:srgbClr val="ECEEF1"/>
          </a:solidFill>
          <a:ln w="10160">
            <a:solidFill>
              <a:srgbClr val="D9D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59AB90A-AB5F-18C8-77DC-E844955EE1F8}"/>
              </a:ext>
            </a:extLst>
          </p:cNvPr>
          <p:cNvSpPr txBox="1"/>
          <p:nvPr/>
        </p:nvSpPr>
        <p:spPr>
          <a:xfrm>
            <a:off x="1097280" y="5120640"/>
            <a:ext cx="868680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 i="0" dirty="0" err="1">
                <a:solidFill>
                  <a:srgbClr val="8C3041"/>
                </a:solidFill>
              </a:rPr>
              <a:t>Critérios</a:t>
            </a:r>
            <a:endParaRPr sz="1050" b="1" i="0" dirty="0">
              <a:solidFill>
                <a:srgbClr val="8C304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BF1D72A-5C00-6A02-8DED-BE55F39AB138}"/>
              </a:ext>
            </a:extLst>
          </p:cNvPr>
          <p:cNvSpPr txBox="1"/>
          <p:nvPr/>
        </p:nvSpPr>
        <p:spPr>
          <a:xfrm>
            <a:off x="1965960" y="5047488"/>
            <a:ext cx="9052560" cy="4749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 i="0" dirty="0" err="1">
                <a:solidFill>
                  <a:srgbClr val="172235"/>
                </a:solidFill>
              </a:rPr>
              <a:t>revisão</a:t>
            </a:r>
            <a:r>
              <a:rPr sz="1500" b="1" i="0" dirty="0">
                <a:solidFill>
                  <a:srgbClr val="172235"/>
                </a:solidFill>
              </a:rPr>
              <a:t> por pares · </a:t>
            </a:r>
            <a:r>
              <a:rPr sz="1500" b="1" i="0" dirty="0" err="1">
                <a:solidFill>
                  <a:srgbClr val="172235"/>
                </a:solidFill>
              </a:rPr>
              <a:t>complementaridade</a:t>
            </a:r>
            <a:r>
              <a:rPr sz="1500" b="1" i="0" dirty="0">
                <a:solidFill>
                  <a:srgbClr val="172235"/>
                </a:solidFill>
              </a:rPr>
              <a:t> </a:t>
            </a:r>
            <a:r>
              <a:rPr sz="1500" b="1" i="0" dirty="0" err="1">
                <a:solidFill>
                  <a:srgbClr val="172235"/>
                </a:solidFill>
              </a:rPr>
              <a:t>epistemológica</a:t>
            </a:r>
            <a:r>
              <a:rPr sz="1500" b="1" i="0" dirty="0">
                <a:solidFill>
                  <a:srgbClr val="172235"/>
                </a:solidFill>
              </a:rPr>
              <a:t> · </a:t>
            </a:r>
            <a:r>
              <a:rPr sz="1500" b="1" i="0" dirty="0" err="1">
                <a:solidFill>
                  <a:srgbClr val="172235"/>
                </a:solidFill>
              </a:rPr>
              <a:t>relevância</a:t>
            </a:r>
            <a:r>
              <a:rPr sz="1500" b="1" i="0" dirty="0">
                <a:solidFill>
                  <a:srgbClr val="172235"/>
                </a:solidFill>
              </a:rPr>
              <a:t> para Agentes de Software · </a:t>
            </a:r>
            <a:r>
              <a:rPr sz="1500" b="1" i="0" dirty="0" err="1">
                <a:solidFill>
                  <a:srgbClr val="172235"/>
                </a:solidFill>
              </a:rPr>
              <a:t>evidência</a:t>
            </a:r>
            <a:r>
              <a:rPr sz="1500" b="1" i="0" dirty="0">
                <a:solidFill>
                  <a:srgbClr val="172235"/>
                </a:solidFill>
              </a:rPr>
              <a:t> </a:t>
            </a:r>
            <a:r>
              <a:rPr sz="1500" b="1" i="0" dirty="0" err="1">
                <a:solidFill>
                  <a:srgbClr val="172235"/>
                </a:solidFill>
              </a:rPr>
              <a:t>examinável</a:t>
            </a:r>
            <a:endParaRPr sz="1500" b="1" i="0" dirty="0">
              <a:solidFill>
                <a:srgbClr val="172235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32719B2-7840-300C-89C2-F11E30F9C3D0}"/>
              </a:ext>
            </a:extLst>
          </p:cNvPr>
          <p:cNvSpPr txBox="1"/>
          <p:nvPr/>
        </p:nvSpPr>
        <p:spPr>
          <a:xfrm>
            <a:off x="11155680" y="246888"/>
            <a:ext cx="420624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lang="pt-BR" sz="900" b="0" i="0" dirty="0">
                <a:solidFill>
                  <a:srgbClr val="4D5968"/>
                </a:solidFill>
              </a:rPr>
              <a:t>05 de 19</a:t>
            </a:r>
            <a:endParaRPr sz="900" b="0" i="0" dirty="0">
              <a:solidFill>
                <a:srgbClr val="4D596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8973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Box 28">
            <a:extLst>
              <a:ext uri="{FF2B5EF4-FFF2-40B4-BE49-F238E27FC236}">
                <a16:creationId xmlns:a16="http://schemas.microsoft.com/office/drawing/2014/main" id="{7CFCB5D2-B2A0-F36C-5BEE-BC758E894518}"/>
              </a:ext>
            </a:extLst>
          </p:cNvPr>
          <p:cNvSpPr txBox="1"/>
          <p:nvPr/>
        </p:nvSpPr>
        <p:spPr>
          <a:xfrm>
            <a:off x="594360" y="219456"/>
            <a:ext cx="5669280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 i="0">
                <a:solidFill>
                  <a:srgbClr val="8C3041"/>
                </a:solidFill>
              </a:rPr>
              <a:t>2 · GUO ET AL. (2024)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D3ECE7A-FC42-9052-2733-3AAEEDF84883}"/>
              </a:ext>
            </a:extLst>
          </p:cNvPr>
          <p:cNvSpPr txBox="1"/>
          <p:nvPr/>
        </p:nvSpPr>
        <p:spPr>
          <a:xfrm>
            <a:off x="594360" y="502920"/>
            <a:ext cx="10789920" cy="387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pt-BR" sz="2500" b="1" dirty="0">
                <a:solidFill>
                  <a:srgbClr val="172235"/>
                </a:solidFill>
              </a:rPr>
              <a:t>D</a:t>
            </a:r>
            <a:r>
              <a:rPr sz="2500" b="1" i="0" dirty="0" err="1">
                <a:solidFill>
                  <a:srgbClr val="172235"/>
                </a:solidFill>
              </a:rPr>
              <a:t>imensões</a:t>
            </a:r>
            <a:r>
              <a:rPr sz="2500" b="1" i="0" dirty="0">
                <a:solidFill>
                  <a:srgbClr val="172235"/>
                </a:solidFill>
              </a:rPr>
              <a:t> </a:t>
            </a:r>
            <a:r>
              <a:rPr sz="2500" b="1" i="0" dirty="0" err="1">
                <a:solidFill>
                  <a:srgbClr val="172235"/>
                </a:solidFill>
              </a:rPr>
              <a:t>constitutivas</a:t>
            </a:r>
            <a:r>
              <a:rPr sz="2500" b="1" i="0" dirty="0">
                <a:solidFill>
                  <a:srgbClr val="172235"/>
                </a:solidFill>
              </a:rPr>
              <a:t> dos </a:t>
            </a:r>
            <a:r>
              <a:rPr sz="2500" b="1" i="0" dirty="0" err="1">
                <a:solidFill>
                  <a:srgbClr val="172235"/>
                </a:solidFill>
              </a:rPr>
              <a:t>sistemas</a:t>
            </a:r>
            <a:r>
              <a:rPr sz="2500" b="1" i="0" dirty="0">
                <a:solidFill>
                  <a:srgbClr val="172235"/>
                </a:solidFill>
              </a:rPr>
              <a:t> LLM-MAS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E843C8-EAEB-30EF-4C5A-A59A4D8EDB49}"/>
              </a:ext>
            </a:extLst>
          </p:cNvPr>
          <p:cNvSpPr txBox="1"/>
          <p:nvPr/>
        </p:nvSpPr>
        <p:spPr>
          <a:xfrm>
            <a:off x="748462" y="1472015"/>
            <a:ext cx="38404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900" b="1" i="0" dirty="0">
                <a:solidFill>
                  <a:srgbClr val="274C77"/>
                </a:solidFill>
              </a:rPr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246966E-2A92-C0A0-F3AA-4557FD3FF4A4}"/>
              </a:ext>
            </a:extLst>
          </p:cNvPr>
          <p:cNvSpPr txBox="1"/>
          <p:nvPr/>
        </p:nvSpPr>
        <p:spPr>
          <a:xfrm>
            <a:off x="1371600" y="1353312"/>
            <a:ext cx="2834640" cy="248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 i="0" dirty="0" err="1">
                <a:solidFill>
                  <a:srgbClr val="274C77"/>
                </a:solidFill>
              </a:rPr>
              <a:t>Ambiente</a:t>
            </a:r>
            <a:r>
              <a:rPr sz="1600" b="1" i="0" dirty="0">
                <a:solidFill>
                  <a:srgbClr val="274C77"/>
                </a:solidFill>
              </a:rPr>
              <a:t> e </a:t>
            </a:r>
            <a:r>
              <a:rPr sz="1600" b="1" i="0" dirty="0" err="1">
                <a:solidFill>
                  <a:srgbClr val="274C77"/>
                </a:solidFill>
              </a:rPr>
              <a:t>configuração</a:t>
            </a:r>
            <a:endParaRPr sz="1600" b="1" i="0" dirty="0">
              <a:solidFill>
                <a:srgbClr val="274C77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5778242-97D7-DCB0-2818-6A8324FD80D1}"/>
              </a:ext>
            </a:extLst>
          </p:cNvPr>
          <p:cNvSpPr txBox="1"/>
          <p:nvPr/>
        </p:nvSpPr>
        <p:spPr>
          <a:xfrm>
            <a:off x="4251960" y="1353312"/>
            <a:ext cx="6995160" cy="248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172235"/>
                </a:solidFill>
              </a:rPr>
              <a:t>Domínios, tarefas e condições de operação</a:t>
            </a:r>
          </a:p>
        </p:txBody>
      </p:sp>
      <p:cxnSp>
        <p:nvCxnSpPr>
          <p:cNvPr id="34" name="Connector 8">
            <a:extLst>
              <a:ext uri="{FF2B5EF4-FFF2-40B4-BE49-F238E27FC236}">
                <a16:creationId xmlns:a16="http://schemas.microsoft.com/office/drawing/2014/main" id="{03ECF65D-B5F4-E097-BE25-62BF6FE02945}"/>
              </a:ext>
            </a:extLst>
          </p:cNvPr>
          <p:cNvCxnSpPr/>
          <p:nvPr/>
        </p:nvCxnSpPr>
        <p:spPr>
          <a:xfrm>
            <a:off x="1371600" y="1920240"/>
            <a:ext cx="9829800" cy="0"/>
          </a:xfrm>
          <a:prstGeom prst="line">
            <a:avLst/>
          </a:prstGeom>
          <a:ln w="889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C78093E-37C1-16BA-E0DC-C795C36FFE0C}"/>
              </a:ext>
            </a:extLst>
          </p:cNvPr>
          <p:cNvSpPr txBox="1"/>
          <p:nvPr/>
        </p:nvSpPr>
        <p:spPr>
          <a:xfrm>
            <a:off x="748462" y="2311685"/>
            <a:ext cx="38404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900" b="1" i="0" dirty="0">
                <a:solidFill>
                  <a:srgbClr val="8C3041"/>
                </a:solidFill>
              </a:rPr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9E0399-665F-C430-5F70-369DD1CA232D}"/>
              </a:ext>
            </a:extLst>
          </p:cNvPr>
          <p:cNvSpPr txBox="1"/>
          <p:nvPr/>
        </p:nvSpPr>
        <p:spPr>
          <a:xfrm>
            <a:off x="1371600" y="2231136"/>
            <a:ext cx="2834640" cy="248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 i="0" dirty="0">
                <a:solidFill>
                  <a:srgbClr val="8C3041"/>
                </a:solidFill>
              </a:rPr>
              <a:t>Interface </a:t>
            </a:r>
            <a:r>
              <a:rPr sz="1600" b="1" i="0" dirty="0" err="1">
                <a:solidFill>
                  <a:srgbClr val="8C3041"/>
                </a:solidFill>
              </a:rPr>
              <a:t>agente</a:t>
            </a:r>
            <a:r>
              <a:rPr lang="pt-BR" sz="1600" b="1" dirty="0">
                <a:solidFill>
                  <a:srgbClr val="8C3041"/>
                </a:solidFill>
              </a:rPr>
              <a:t>-</a:t>
            </a:r>
            <a:r>
              <a:rPr sz="1600" b="1" i="0" dirty="0" err="1">
                <a:solidFill>
                  <a:srgbClr val="8C3041"/>
                </a:solidFill>
              </a:rPr>
              <a:t>ambiente</a:t>
            </a:r>
            <a:endParaRPr sz="1600" b="1" i="0" dirty="0">
              <a:solidFill>
                <a:srgbClr val="8C3041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4286BA9-BA05-69CD-8DD9-308907A23FA7}"/>
              </a:ext>
            </a:extLst>
          </p:cNvPr>
          <p:cNvSpPr txBox="1"/>
          <p:nvPr/>
        </p:nvSpPr>
        <p:spPr>
          <a:xfrm>
            <a:off x="4251960" y="2231136"/>
            <a:ext cx="6995160" cy="248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172235"/>
                </a:solidFill>
              </a:rPr>
              <a:t>Observações, ações e ferramentas disponíveis</a:t>
            </a:r>
          </a:p>
        </p:txBody>
      </p:sp>
      <p:cxnSp>
        <p:nvCxnSpPr>
          <p:cNvPr id="38" name="Connector 12">
            <a:extLst>
              <a:ext uri="{FF2B5EF4-FFF2-40B4-BE49-F238E27FC236}">
                <a16:creationId xmlns:a16="http://schemas.microsoft.com/office/drawing/2014/main" id="{C9FCE414-D6E7-C82A-B7FA-C2A42D7A6D92}"/>
              </a:ext>
            </a:extLst>
          </p:cNvPr>
          <p:cNvCxnSpPr/>
          <p:nvPr/>
        </p:nvCxnSpPr>
        <p:spPr>
          <a:xfrm>
            <a:off x="1371600" y="2798064"/>
            <a:ext cx="9829800" cy="0"/>
          </a:xfrm>
          <a:prstGeom prst="line">
            <a:avLst/>
          </a:prstGeom>
          <a:ln w="889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C0C40C10-9DD1-81DB-B433-ADD27E3A5F61}"/>
              </a:ext>
            </a:extLst>
          </p:cNvPr>
          <p:cNvSpPr txBox="1"/>
          <p:nvPr/>
        </p:nvSpPr>
        <p:spPr>
          <a:xfrm>
            <a:off x="768096" y="3235679"/>
            <a:ext cx="38404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900" b="1" i="0" dirty="0">
                <a:solidFill>
                  <a:srgbClr val="3E6B5C"/>
                </a:solidFill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105ED75-0DB0-4317-66F7-189AD27794F9}"/>
              </a:ext>
            </a:extLst>
          </p:cNvPr>
          <p:cNvSpPr txBox="1"/>
          <p:nvPr/>
        </p:nvSpPr>
        <p:spPr>
          <a:xfrm>
            <a:off x="1371600" y="3108960"/>
            <a:ext cx="2834640" cy="248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 i="0">
                <a:solidFill>
                  <a:srgbClr val="3E6B5C"/>
                </a:solidFill>
              </a:rPr>
              <a:t>Perfil do agente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700F6B0-F794-F1A0-C8A2-402EB3BB1FE2}"/>
              </a:ext>
            </a:extLst>
          </p:cNvPr>
          <p:cNvSpPr txBox="1"/>
          <p:nvPr/>
        </p:nvSpPr>
        <p:spPr>
          <a:xfrm>
            <a:off x="4251960" y="3108960"/>
            <a:ext cx="6995160" cy="248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172235"/>
                </a:solidFill>
              </a:rPr>
              <a:t>Papéis, personas, competências e especialização</a:t>
            </a:r>
          </a:p>
        </p:txBody>
      </p:sp>
      <p:cxnSp>
        <p:nvCxnSpPr>
          <p:cNvPr id="42" name="Connector 16">
            <a:extLst>
              <a:ext uri="{FF2B5EF4-FFF2-40B4-BE49-F238E27FC236}">
                <a16:creationId xmlns:a16="http://schemas.microsoft.com/office/drawing/2014/main" id="{000F23B4-935F-510F-0630-662A354CA015}"/>
              </a:ext>
            </a:extLst>
          </p:cNvPr>
          <p:cNvCxnSpPr/>
          <p:nvPr/>
        </p:nvCxnSpPr>
        <p:spPr>
          <a:xfrm>
            <a:off x="1371600" y="3675887"/>
            <a:ext cx="9829800" cy="0"/>
          </a:xfrm>
          <a:prstGeom prst="line">
            <a:avLst/>
          </a:prstGeom>
          <a:ln w="889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2C8FBDF7-2F00-AC29-B007-9992EFE120F0}"/>
              </a:ext>
            </a:extLst>
          </p:cNvPr>
          <p:cNvSpPr txBox="1"/>
          <p:nvPr/>
        </p:nvSpPr>
        <p:spPr>
          <a:xfrm>
            <a:off x="768096" y="4113502"/>
            <a:ext cx="38404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900" b="1" i="0" dirty="0">
                <a:solidFill>
                  <a:srgbClr val="9A6B2F"/>
                </a:solidFill>
              </a:rPr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582129E-92E9-3AEE-A3F4-93AC1CAA644D}"/>
              </a:ext>
            </a:extLst>
          </p:cNvPr>
          <p:cNvSpPr txBox="1"/>
          <p:nvPr/>
        </p:nvSpPr>
        <p:spPr>
          <a:xfrm>
            <a:off x="1371600" y="3986783"/>
            <a:ext cx="2834640" cy="248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 i="0">
                <a:solidFill>
                  <a:srgbClr val="9A6B2F"/>
                </a:solidFill>
              </a:rPr>
              <a:t>Comunicação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F780552-895E-8C3B-AA06-E1C7CBC54559}"/>
              </a:ext>
            </a:extLst>
          </p:cNvPr>
          <p:cNvSpPr txBox="1"/>
          <p:nvPr/>
        </p:nvSpPr>
        <p:spPr>
          <a:xfrm>
            <a:off x="4251960" y="3986783"/>
            <a:ext cx="6995160" cy="248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172235"/>
                </a:solidFill>
              </a:rPr>
              <a:t>Conteúdo, paradigma e estrutura das interações</a:t>
            </a:r>
          </a:p>
        </p:txBody>
      </p:sp>
      <p:cxnSp>
        <p:nvCxnSpPr>
          <p:cNvPr id="46" name="Connector 20">
            <a:extLst>
              <a:ext uri="{FF2B5EF4-FFF2-40B4-BE49-F238E27FC236}">
                <a16:creationId xmlns:a16="http://schemas.microsoft.com/office/drawing/2014/main" id="{C589FA27-614B-F914-5201-BE769E24F9B6}"/>
              </a:ext>
            </a:extLst>
          </p:cNvPr>
          <p:cNvCxnSpPr/>
          <p:nvPr/>
        </p:nvCxnSpPr>
        <p:spPr>
          <a:xfrm>
            <a:off x="1371600" y="4553712"/>
            <a:ext cx="9829800" cy="0"/>
          </a:xfrm>
          <a:prstGeom prst="line">
            <a:avLst/>
          </a:prstGeom>
          <a:ln w="889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46CED83D-F33F-9F6D-B240-CA610BE92849}"/>
              </a:ext>
            </a:extLst>
          </p:cNvPr>
          <p:cNvSpPr txBox="1"/>
          <p:nvPr/>
        </p:nvSpPr>
        <p:spPr>
          <a:xfrm>
            <a:off x="748462" y="4991326"/>
            <a:ext cx="38404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900" b="1" i="0" dirty="0">
                <a:solidFill>
                  <a:srgbClr val="A33A32"/>
                </a:solidFill>
              </a:rPr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8EBBDE1-53CF-A161-1E93-DE13CC8447C1}"/>
              </a:ext>
            </a:extLst>
          </p:cNvPr>
          <p:cNvSpPr txBox="1"/>
          <p:nvPr/>
        </p:nvSpPr>
        <p:spPr>
          <a:xfrm>
            <a:off x="1371600" y="4864608"/>
            <a:ext cx="2834640" cy="248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 i="0">
                <a:solidFill>
                  <a:srgbClr val="A33A32"/>
                </a:solidFill>
              </a:rPr>
              <a:t>Aquisição de capacidades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22E21D-B949-4B45-F2C7-DD8C1A346723}"/>
              </a:ext>
            </a:extLst>
          </p:cNvPr>
          <p:cNvSpPr txBox="1"/>
          <p:nvPr/>
        </p:nvSpPr>
        <p:spPr>
          <a:xfrm>
            <a:off x="4251960" y="4864608"/>
            <a:ext cx="6995160" cy="248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172235"/>
                </a:solidFill>
              </a:rPr>
              <a:t>Feedback do ambiente, de agentes ou de humanos</a:t>
            </a:r>
          </a:p>
        </p:txBody>
      </p:sp>
      <p:cxnSp>
        <p:nvCxnSpPr>
          <p:cNvPr id="50" name="Connector 24">
            <a:extLst>
              <a:ext uri="{FF2B5EF4-FFF2-40B4-BE49-F238E27FC236}">
                <a16:creationId xmlns:a16="http://schemas.microsoft.com/office/drawing/2014/main" id="{BAC9FDB4-8DEC-F8A9-D591-0B850BBDE34A}"/>
              </a:ext>
            </a:extLst>
          </p:cNvPr>
          <p:cNvCxnSpPr/>
          <p:nvPr/>
        </p:nvCxnSpPr>
        <p:spPr>
          <a:xfrm>
            <a:off x="1371600" y="5431536"/>
            <a:ext cx="9829800" cy="0"/>
          </a:xfrm>
          <a:prstGeom prst="line">
            <a:avLst/>
          </a:prstGeom>
          <a:ln w="889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89EE2146-57DC-D16E-16E9-6AD4813701CF}"/>
              </a:ext>
            </a:extLst>
          </p:cNvPr>
          <p:cNvSpPr/>
          <p:nvPr/>
        </p:nvSpPr>
        <p:spPr>
          <a:xfrm>
            <a:off x="1097280" y="5852160"/>
            <a:ext cx="9985248" cy="411480"/>
          </a:xfrm>
          <a:prstGeom prst="rect">
            <a:avLst/>
          </a:prstGeom>
          <a:solidFill>
            <a:srgbClr val="ECEEF1"/>
          </a:solidFill>
          <a:ln w="10160">
            <a:solidFill>
              <a:srgbClr val="D9D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B8F0CE2-36E8-7A51-FAE5-E295F0CEAFB4}"/>
              </a:ext>
            </a:extLst>
          </p:cNvPr>
          <p:cNvSpPr txBox="1"/>
          <p:nvPr/>
        </p:nvSpPr>
        <p:spPr>
          <a:xfrm>
            <a:off x="1298448" y="5952744"/>
            <a:ext cx="9582912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172235"/>
                </a:solidFill>
              </a:rPr>
              <a:t>Resultado conceitual: ‘multiagente’ designa uma configuração organizacional, não uma propriedade automática do modelo.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2ED2BC3-2C4B-849B-D032-C69DAEDAF93D}"/>
              </a:ext>
            </a:extLst>
          </p:cNvPr>
          <p:cNvSpPr txBox="1"/>
          <p:nvPr/>
        </p:nvSpPr>
        <p:spPr>
          <a:xfrm>
            <a:off x="11155680" y="246888"/>
            <a:ext cx="420624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lang="pt-BR" sz="900" b="0" i="0" dirty="0">
                <a:solidFill>
                  <a:srgbClr val="4D5968"/>
                </a:solidFill>
              </a:rPr>
              <a:t>06 de 19</a:t>
            </a:r>
            <a:endParaRPr sz="900" b="0" i="0" dirty="0">
              <a:solidFill>
                <a:srgbClr val="4D596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5082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E15EB35-3A54-8104-72BC-589EDACC42C5}"/>
              </a:ext>
            </a:extLst>
          </p:cNvPr>
          <p:cNvSpPr txBox="1"/>
          <p:nvPr/>
        </p:nvSpPr>
        <p:spPr>
          <a:xfrm>
            <a:off x="594360" y="219456"/>
            <a:ext cx="5669280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 i="0">
                <a:solidFill>
                  <a:srgbClr val="8C3041"/>
                </a:solidFill>
              </a:rPr>
              <a:t>2 · GUO ET AL. (2024)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A82520-4378-888B-F9DC-795AB4DE44E9}"/>
              </a:ext>
            </a:extLst>
          </p:cNvPr>
          <p:cNvSpPr txBox="1"/>
          <p:nvPr/>
        </p:nvSpPr>
        <p:spPr>
          <a:xfrm>
            <a:off x="594360" y="502920"/>
            <a:ext cx="10789920" cy="387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pt-BR" sz="2500" b="1" dirty="0">
                <a:solidFill>
                  <a:srgbClr val="172235"/>
                </a:solidFill>
              </a:rPr>
              <a:t>C</a:t>
            </a:r>
            <a:r>
              <a:rPr sz="2500" b="1" i="0" dirty="0" err="1">
                <a:solidFill>
                  <a:srgbClr val="172235"/>
                </a:solidFill>
              </a:rPr>
              <a:t>ontribuição</a:t>
            </a:r>
            <a:r>
              <a:rPr sz="2500" b="1" i="0" dirty="0">
                <a:solidFill>
                  <a:srgbClr val="172235"/>
                </a:solidFill>
              </a:rPr>
              <a:t> </a:t>
            </a:r>
            <a:r>
              <a:rPr sz="2500" b="1" i="0" dirty="0" err="1">
                <a:solidFill>
                  <a:srgbClr val="172235"/>
                </a:solidFill>
              </a:rPr>
              <a:t>teórica</a:t>
            </a:r>
            <a:r>
              <a:rPr sz="2500" b="1" i="0" dirty="0">
                <a:solidFill>
                  <a:srgbClr val="172235"/>
                </a:solidFill>
              </a:rPr>
              <a:t> e </a:t>
            </a:r>
            <a:r>
              <a:rPr sz="2500" b="1" i="0" dirty="0" err="1">
                <a:solidFill>
                  <a:srgbClr val="172235"/>
                </a:solidFill>
              </a:rPr>
              <a:t>limites</a:t>
            </a:r>
            <a:endParaRPr sz="2500" b="1" i="0" dirty="0">
              <a:solidFill>
                <a:srgbClr val="172235"/>
              </a:solidFill>
            </a:endParaRPr>
          </a:p>
        </p:txBody>
      </p:sp>
      <p:cxnSp>
        <p:nvCxnSpPr>
          <p:cNvPr id="7" name="Connector 4">
            <a:extLst>
              <a:ext uri="{FF2B5EF4-FFF2-40B4-BE49-F238E27FC236}">
                <a16:creationId xmlns:a16="http://schemas.microsoft.com/office/drawing/2014/main" id="{4A1B06C8-89D8-62B6-874A-A0FAB8E1059C}"/>
              </a:ext>
            </a:extLst>
          </p:cNvPr>
          <p:cNvCxnSpPr/>
          <p:nvPr/>
        </p:nvCxnSpPr>
        <p:spPr>
          <a:xfrm>
            <a:off x="594360" y="1051560"/>
            <a:ext cx="11000232" cy="0"/>
          </a:xfrm>
          <a:prstGeom prst="line">
            <a:avLst/>
          </a:prstGeom>
          <a:ln w="13970">
            <a:solidFill>
              <a:srgbClr val="8C30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29E1CF8-C1FB-4E4F-54BA-BD4CBF06316F}"/>
              </a:ext>
            </a:extLst>
          </p:cNvPr>
          <p:cNvGraphicFramePr>
            <a:graphicFrameLocks noGrp="1"/>
          </p:cNvGraphicFramePr>
          <p:nvPr/>
        </p:nvGraphicFramePr>
        <p:xfrm>
          <a:off x="804672" y="1417320"/>
          <a:ext cx="10561319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3737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Aptos"/>
                        </a:rPr>
                        <a:t>Dimensão</a:t>
                      </a:r>
                    </a:p>
                  </a:txBody>
                  <a:tcPr marL="64008" marR="64008" marT="36576" marB="36576">
                    <a:solidFill>
                      <a:srgbClr val="1722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Aptos"/>
                        </a:rPr>
                        <a:t>Contribuição</a:t>
                      </a:r>
                    </a:p>
                  </a:txBody>
                  <a:tcPr marL="64008" marR="64008" marT="36576" marB="36576">
                    <a:solidFill>
                      <a:srgbClr val="1722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Aptos"/>
                        </a:rPr>
                        <a:t>Limite epistemológico</a:t>
                      </a:r>
                    </a:p>
                  </a:txBody>
                  <a:tcPr marL="64008" marR="64008" marT="36576" marB="36576">
                    <a:solidFill>
                      <a:srgbClr val="1722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3737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72235"/>
                          </a:solidFill>
                          <a:latin typeface="Aptos"/>
                        </a:rPr>
                        <a:t>Vocabulário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72235"/>
                          </a:solidFill>
                          <a:latin typeface="Aptos"/>
                        </a:rPr>
                        <a:t>Unifica conceitos dispersos em uma estrutura analítica.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72235"/>
                          </a:solidFill>
                          <a:latin typeface="Aptos"/>
                        </a:rPr>
                        <a:t>Categorias permanecem parcialmente sobrepostas.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3737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72235"/>
                          </a:solidFill>
                          <a:latin typeface="Aptos"/>
                        </a:rPr>
                        <a:t>Comparabilidade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72235"/>
                          </a:solidFill>
                          <a:latin typeface="Aptos"/>
                        </a:rPr>
                        <a:t>Permite descrever arquitetura, ambiente e comunicação.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72235"/>
                          </a:solidFill>
                          <a:latin typeface="Aptos"/>
                        </a:rPr>
                        <a:t>Estudos utilizam tarefas e métricas heterogêneas.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737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72235"/>
                          </a:solidFill>
                          <a:latin typeface="Aptos"/>
                        </a:rPr>
                        <a:t>Hipóteses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72235"/>
                          </a:solidFill>
                          <a:latin typeface="Aptos"/>
                        </a:rPr>
                        <a:t>Expõe variáveis para experimentos e ablações.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72235"/>
                          </a:solidFill>
                          <a:latin typeface="Aptos"/>
                        </a:rPr>
                        <a:t>Não determina causalmente qual configuração é superior.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37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72235"/>
                          </a:solidFill>
                          <a:latin typeface="Aptos"/>
                        </a:rPr>
                        <a:t>Disciplina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72235"/>
                          </a:solidFill>
                          <a:latin typeface="Aptos"/>
                        </a:rPr>
                        <a:t>Reconecta LLMs a organização, interação e aprendizagem.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 dirty="0">
                          <a:solidFill>
                            <a:srgbClr val="172235"/>
                          </a:solidFill>
                          <a:latin typeface="Aptos"/>
                        </a:rPr>
                        <a:t>A </a:t>
                      </a:r>
                      <a:r>
                        <a:rPr sz="1200" b="0" dirty="0" err="1">
                          <a:solidFill>
                            <a:srgbClr val="172235"/>
                          </a:solidFill>
                          <a:latin typeface="Aptos"/>
                        </a:rPr>
                        <a:t>literatura</a:t>
                      </a:r>
                      <a:r>
                        <a:rPr sz="1200" b="0" dirty="0">
                          <a:solidFill>
                            <a:srgbClr val="172235"/>
                          </a:solidFill>
                          <a:latin typeface="Aptos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72235"/>
                          </a:solidFill>
                          <a:latin typeface="Aptos"/>
                        </a:rPr>
                        <a:t>ainda</a:t>
                      </a:r>
                      <a:r>
                        <a:rPr sz="1200" b="0" dirty="0">
                          <a:solidFill>
                            <a:srgbClr val="172235"/>
                          </a:solidFill>
                          <a:latin typeface="Aptos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72235"/>
                          </a:solidFill>
                          <a:latin typeface="Aptos"/>
                        </a:rPr>
                        <a:t>carece</a:t>
                      </a:r>
                      <a:r>
                        <a:rPr sz="1200" b="0" dirty="0">
                          <a:solidFill>
                            <a:srgbClr val="172235"/>
                          </a:solidFill>
                          <a:latin typeface="Aptos"/>
                        </a:rPr>
                        <a:t> de </a:t>
                      </a:r>
                      <a:r>
                        <a:rPr sz="1200" b="0" dirty="0" err="1">
                          <a:solidFill>
                            <a:srgbClr val="172235"/>
                          </a:solidFill>
                          <a:latin typeface="Aptos"/>
                        </a:rPr>
                        <a:t>protocolos</a:t>
                      </a:r>
                      <a:r>
                        <a:rPr sz="1200" b="0" dirty="0">
                          <a:solidFill>
                            <a:srgbClr val="172235"/>
                          </a:solidFill>
                          <a:latin typeface="Aptos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72235"/>
                          </a:solidFill>
                          <a:latin typeface="Aptos"/>
                        </a:rPr>
                        <a:t>estáveis</a:t>
                      </a:r>
                      <a:r>
                        <a:rPr sz="1200" b="0" dirty="0">
                          <a:solidFill>
                            <a:srgbClr val="172235"/>
                          </a:solidFill>
                          <a:latin typeface="Aptos"/>
                        </a:rPr>
                        <a:t>.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B1624B1-C8CB-9767-73D5-5F06C971CE78}"/>
              </a:ext>
            </a:extLst>
          </p:cNvPr>
          <p:cNvSpPr txBox="1"/>
          <p:nvPr/>
        </p:nvSpPr>
        <p:spPr>
          <a:xfrm>
            <a:off x="841248" y="5029200"/>
            <a:ext cx="1051560" cy="248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 i="0" dirty="0" err="1">
                <a:solidFill>
                  <a:srgbClr val="8C3041"/>
                </a:solidFill>
              </a:rPr>
              <a:t>Importância</a:t>
            </a:r>
            <a:endParaRPr sz="1600" b="1" i="0" dirty="0">
              <a:solidFill>
                <a:srgbClr val="8C304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78FD25-5CFB-E94D-4557-9FBD5EE2DF99}"/>
              </a:ext>
            </a:extLst>
          </p:cNvPr>
          <p:cNvSpPr txBox="1"/>
          <p:nvPr/>
        </p:nvSpPr>
        <p:spPr>
          <a:xfrm>
            <a:off x="2309947" y="5016650"/>
            <a:ext cx="9235440" cy="248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 i="0" dirty="0">
                <a:solidFill>
                  <a:srgbClr val="172235"/>
                </a:solidFill>
              </a:rPr>
              <a:t>O survey </a:t>
            </a:r>
            <a:r>
              <a:rPr sz="1600" b="1" i="0" dirty="0" err="1">
                <a:solidFill>
                  <a:srgbClr val="172235"/>
                </a:solidFill>
              </a:rPr>
              <a:t>fornece</a:t>
            </a:r>
            <a:r>
              <a:rPr sz="1600" b="1" i="0" dirty="0">
                <a:solidFill>
                  <a:srgbClr val="172235"/>
                </a:solidFill>
              </a:rPr>
              <a:t> uma </a:t>
            </a:r>
            <a:r>
              <a:rPr sz="1600" b="1" i="0" dirty="0" err="1">
                <a:solidFill>
                  <a:srgbClr val="172235"/>
                </a:solidFill>
              </a:rPr>
              <a:t>linguagem</a:t>
            </a:r>
            <a:r>
              <a:rPr sz="1600" b="1" i="0" dirty="0">
                <a:solidFill>
                  <a:srgbClr val="172235"/>
                </a:solidFill>
              </a:rPr>
              <a:t> para formular </a:t>
            </a:r>
            <a:r>
              <a:rPr sz="1600" b="1" i="0" dirty="0" err="1">
                <a:solidFill>
                  <a:srgbClr val="172235"/>
                </a:solidFill>
              </a:rPr>
              <a:t>hipóteses</a:t>
            </a:r>
            <a:r>
              <a:rPr sz="1600" b="1" i="0" dirty="0">
                <a:solidFill>
                  <a:srgbClr val="172235"/>
                </a:solidFill>
              </a:rPr>
              <a:t> </a:t>
            </a:r>
            <a:r>
              <a:rPr sz="1600" b="1" i="0" dirty="0" err="1">
                <a:solidFill>
                  <a:srgbClr val="172235"/>
                </a:solidFill>
              </a:rPr>
              <a:t>arquiteturais</a:t>
            </a:r>
            <a:endParaRPr sz="1600" b="1" i="0" dirty="0">
              <a:solidFill>
                <a:srgbClr val="172235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D63B81-8AB1-CC7E-3762-80507B97F588}"/>
              </a:ext>
            </a:extLst>
          </p:cNvPr>
          <p:cNvSpPr txBox="1"/>
          <p:nvPr/>
        </p:nvSpPr>
        <p:spPr>
          <a:xfrm>
            <a:off x="1024128" y="5916168"/>
            <a:ext cx="10058400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0" i="1">
                <a:solidFill>
                  <a:srgbClr val="274C77"/>
                </a:solidFill>
              </a:rPr>
              <a:t>Consequência metodológica: toda alegação sobre colaboração deve identificar mecanismo, baseline e unidade de avaliação.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D2BD55-835B-E70E-2D51-A49B9457DE89}"/>
              </a:ext>
            </a:extLst>
          </p:cNvPr>
          <p:cNvSpPr txBox="1"/>
          <p:nvPr/>
        </p:nvSpPr>
        <p:spPr>
          <a:xfrm>
            <a:off x="11155680" y="246888"/>
            <a:ext cx="420624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lang="pt-BR" sz="900" b="0" i="0" dirty="0">
                <a:solidFill>
                  <a:srgbClr val="4D5968"/>
                </a:solidFill>
              </a:rPr>
              <a:t>07 de 19</a:t>
            </a:r>
            <a:endParaRPr sz="900" b="0" i="0" dirty="0">
              <a:solidFill>
                <a:srgbClr val="4D596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76449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DBD1105-6DD4-DBA1-A8B5-F2F9CA8A2DAC}"/>
              </a:ext>
            </a:extLst>
          </p:cNvPr>
          <p:cNvSpPr txBox="1"/>
          <p:nvPr/>
        </p:nvSpPr>
        <p:spPr>
          <a:xfrm>
            <a:off x="594360" y="219456"/>
            <a:ext cx="5669280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 i="0">
                <a:solidFill>
                  <a:srgbClr val="8C3041"/>
                </a:solidFill>
              </a:rPr>
              <a:t>3 · CHEN ET AL. (2024): AGENTVERSE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6510E9-3B35-E6A1-481A-49482B79BD1E}"/>
              </a:ext>
            </a:extLst>
          </p:cNvPr>
          <p:cNvSpPr txBox="1"/>
          <p:nvPr/>
        </p:nvSpPr>
        <p:spPr>
          <a:xfrm>
            <a:off x="594360" y="498962"/>
            <a:ext cx="10789920" cy="387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pt-BR" sz="2500" b="1" dirty="0">
                <a:solidFill>
                  <a:srgbClr val="172235"/>
                </a:solidFill>
              </a:rPr>
              <a:t>C</a:t>
            </a:r>
            <a:r>
              <a:rPr sz="2500" b="1" i="0" dirty="0" err="1">
                <a:solidFill>
                  <a:srgbClr val="172235"/>
                </a:solidFill>
              </a:rPr>
              <a:t>olaboração</a:t>
            </a:r>
            <a:r>
              <a:rPr sz="2500" b="1" i="0" dirty="0">
                <a:solidFill>
                  <a:srgbClr val="172235"/>
                </a:solidFill>
              </a:rPr>
              <a:t> </a:t>
            </a:r>
            <a:r>
              <a:rPr sz="2500" b="1" i="0" dirty="0" err="1">
                <a:solidFill>
                  <a:srgbClr val="172235"/>
                </a:solidFill>
              </a:rPr>
              <a:t>como</a:t>
            </a:r>
            <a:r>
              <a:rPr sz="2500" b="1" i="0" dirty="0">
                <a:solidFill>
                  <a:srgbClr val="172235"/>
                </a:solidFill>
              </a:rPr>
              <a:t> </a:t>
            </a:r>
            <a:r>
              <a:rPr sz="2500" b="1" i="0" dirty="0" err="1">
                <a:solidFill>
                  <a:srgbClr val="172235"/>
                </a:solidFill>
              </a:rPr>
              <a:t>processo</a:t>
            </a:r>
            <a:r>
              <a:rPr sz="2500" b="1" i="0" dirty="0">
                <a:solidFill>
                  <a:srgbClr val="172235"/>
                </a:solidFill>
              </a:rPr>
              <a:t> </a:t>
            </a:r>
            <a:r>
              <a:rPr sz="2500" b="1" i="0" dirty="0" err="1">
                <a:solidFill>
                  <a:srgbClr val="172235"/>
                </a:solidFill>
              </a:rPr>
              <a:t>iterativo</a:t>
            </a:r>
            <a:endParaRPr sz="2500" b="1" i="0" dirty="0">
              <a:solidFill>
                <a:srgbClr val="17223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7405F5-1C0E-FA91-A265-25FFDF82E867}"/>
              </a:ext>
            </a:extLst>
          </p:cNvPr>
          <p:cNvSpPr txBox="1"/>
          <p:nvPr/>
        </p:nvSpPr>
        <p:spPr>
          <a:xfrm>
            <a:off x="11155680" y="246888"/>
            <a:ext cx="420624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 i="0" dirty="0">
                <a:solidFill>
                  <a:srgbClr val="4D5968"/>
                </a:solidFill>
              </a:rPr>
              <a:t>08</a:t>
            </a:r>
            <a:r>
              <a:rPr lang="pt-BR" sz="900" b="0" i="0" dirty="0">
                <a:solidFill>
                  <a:srgbClr val="4D5968"/>
                </a:solidFill>
              </a:rPr>
              <a:t> de 19</a:t>
            </a:r>
            <a:endParaRPr sz="900" b="0" i="0" dirty="0">
              <a:solidFill>
                <a:srgbClr val="4D5968"/>
              </a:solidFill>
            </a:endParaRPr>
          </a:p>
        </p:txBody>
      </p:sp>
      <p:cxnSp>
        <p:nvCxnSpPr>
          <p:cNvPr id="7" name="Connector 4">
            <a:extLst>
              <a:ext uri="{FF2B5EF4-FFF2-40B4-BE49-F238E27FC236}">
                <a16:creationId xmlns:a16="http://schemas.microsoft.com/office/drawing/2014/main" id="{F19515D3-E41D-50B5-B6EB-E34742F783AE}"/>
              </a:ext>
            </a:extLst>
          </p:cNvPr>
          <p:cNvCxnSpPr/>
          <p:nvPr/>
        </p:nvCxnSpPr>
        <p:spPr>
          <a:xfrm>
            <a:off x="594360" y="1051560"/>
            <a:ext cx="11000232" cy="0"/>
          </a:xfrm>
          <a:prstGeom prst="line">
            <a:avLst/>
          </a:prstGeom>
          <a:ln w="13970">
            <a:solidFill>
              <a:srgbClr val="8C30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5C9EF96A-3286-380B-C182-6CBE25FFEEC4}"/>
              </a:ext>
            </a:extLst>
          </p:cNvPr>
          <p:cNvSpPr/>
          <p:nvPr/>
        </p:nvSpPr>
        <p:spPr>
          <a:xfrm>
            <a:off x="1499616" y="1517904"/>
            <a:ext cx="621792" cy="62179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74C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274C77"/>
                </a:solidFill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5B629B-136F-99DE-9B97-F8A2264BEDF0}"/>
              </a:ext>
            </a:extLst>
          </p:cNvPr>
          <p:cNvSpPr txBox="1"/>
          <p:nvPr/>
        </p:nvSpPr>
        <p:spPr>
          <a:xfrm>
            <a:off x="658368" y="2395728"/>
            <a:ext cx="2304288" cy="2635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274C77"/>
                </a:solidFill>
              </a:rPr>
              <a:t>Recrutamento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D459F2-0D31-5119-D1FB-D2BE5F91D81A}"/>
              </a:ext>
            </a:extLst>
          </p:cNvPr>
          <p:cNvSpPr txBox="1"/>
          <p:nvPr/>
        </p:nvSpPr>
        <p:spPr>
          <a:xfrm>
            <a:off x="658368" y="2880360"/>
            <a:ext cx="2304288" cy="4432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172235"/>
                </a:solidFill>
              </a:rPr>
              <a:t>Seleção</a:t>
            </a:r>
            <a:r>
              <a:rPr sz="1400" b="0" i="0" dirty="0">
                <a:solidFill>
                  <a:srgbClr val="172235"/>
                </a:solidFill>
              </a:rPr>
              <a:t> de </a:t>
            </a:r>
            <a:r>
              <a:rPr sz="1400" b="0" i="0" dirty="0" err="1">
                <a:solidFill>
                  <a:srgbClr val="172235"/>
                </a:solidFill>
              </a:rPr>
              <a:t>especialistas</a:t>
            </a:r>
            <a:r>
              <a:rPr sz="1400" b="0" i="0" dirty="0">
                <a:solidFill>
                  <a:srgbClr val="172235"/>
                </a:solidFill>
              </a:rPr>
              <a:t> em </a:t>
            </a:r>
            <a:r>
              <a:rPr sz="1400" b="0" i="0" dirty="0" err="1">
                <a:solidFill>
                  <a:srgbClr val="172235"/>
                </a:solidFill>
              </a:rPr>
              <a:t>função</a:t>
            </a:r>
            <a:r>
              <a:rPr sz="1400" b="0" i="0" dirty="0">
                <a:solidFill>
                  <a:srgbClr val="172235"/>
                </a:solidFill>
              </a:rPr>
              <a:t> da </a:t>
            </a:r>
            <a:r>
              <a:rPr sz="1400" b="0" i="0" dirty="0" err="1">
                <a:solidFill>
                  <a:srgbClr val="172235"/>
                </a:solidFill>
              </a:rPr>
              <a:t>tarefa</a:t>
            </a:r>
            <a:endParaRPr sz="1400" b="0" i="0" dirty="0">
              <a:solidFill>
                <a:srgbClr val="172235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33FC9D9-B300-66F1-75FD-022C31EFE439}"/>
              </a:ext>
            </a:extLst>
          </p:cNvPr>
          <p:cNvSpPr/>
          <p:nvPr/>
        </p:nvSpPr>
        <p:spPr>
          <a:xfrm>
            <a:off x="4334256" y="1517904"/>
            <a:ext cx="621792" cy="62179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8C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8C3041"/>
                </a:solidFill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87F03D-B743-5D04-4CE6-230A292478D5}"/>
              </a:ext>
            </a:extLst>
          </p:cNvPr>
          <p:cNvSpPr txBox="1"/>
          <p:nvPr/>
        </p:nvSpPr>
        <p:spPr>
          <a:xfrm>
            <a:off x="3493008" y="2395728"/>
            <a:ext cx="2304288" cy="2635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8C3041"/>
                </a:solidFill>
              </a:rPr>
              <a:t>Decisão colaborativa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D80C36-DEC9-DC67-4078-EBCF084EF9D8}"/>
              </a:ext>
            </a:extLst>
          </p:cNvPr>
          <p:cNvSpPr txBox="1"/>
          <p:nvPr/>
        </p:nvSpPr>
        <p:spPr>
          <a:xfrm>
            <a:off x="3493008" y="2880360"/>
            <a:ext cx="2304288" cy="4432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172235"/>
                </a:solidFill>
              </a:rPr>
              <a:t>Discussão e composição de perspectivas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E0996F4-EF1C-DB63-5776-552884B6C6A1}"/>
              </a:ext>
            </a:extLst>
          </p:cNvPr>
          <p:cNvSpPr/>
          <p:nvPr/>
        </p:nvSpPr>
        <p:spPr>
          <a:xfrm>
            <a:off x="7168896" y="1517904"/>
            <a:ext cx="621792" cy="62179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E6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3E6B5C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36ED2B-44E9-3A21-2960-0DDBC35E231B}"/>
              </a:ext>
            </a:extLst>
          </p:cNvPr>
          <p:cNvSpPr txBox="1"/>
          <p:nvPr/>
        </p:nvSpPr>
        <p:spPr>
          <a:xfrm>
            <a:off x="6327648" y="2395728"/>
            <a:ext cx="2304288" cy="2635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3E6B5C"/>
                </a:solidFill>
              </a:rPr>
              <a:t>Execução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9EC00C-29C9-E3E3-0552-D3372E88486E}"/>
              </a:ext>
            </a:extLst>
          </p:cNvPr>
          <p:cNvSpPr txBox="1"/>
          <p:nvPr/>
        </p:nvSpPr>
        <p:spPr>
          <a:xfrm>
            <a:off x="6327648" y="2880360"/>
            <a:ext cx="2304288" cy="4432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172235"/>
                </a:solidFill>
              </a:rPr>
              <a:t>Ação textual, instrumental ou incorporada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1DFA924-23C9-48DB-9032-6588824FA754}"/>
              </a:ext>
            </a:extLst>
          </p:cNvPr>
          <p:cNvSpPr/>
          <p:nvPr/>
        </p:nvSpPr>
        <p:spPr>
          <a:xfrm>
            <a:off x="10003536" y="1517904"/>
            <a:ext cx="621792" cy="62179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9A6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9A6B2F"/>
                </a:solidFill>
              </a:rPr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5CA5B2E-E121-A1F4-9ED0-2DBE92597DCE}"/>
              </a:ext>
            </a:extLst>
          </p:cNvPr>
          <p:cNvSpPr txBox="1"/>
          <p:nvPr/>
        </p:nvSpPr>
        <p:spPr>
          <a:xfrm>
            <a:off x="9162288" y="2395728"/>
            <a:ext cx="2304288" cy="2635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9A6B2F"/>
                </a:solidFill>
              </a:rPr>
              <a:t>Avaliação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01B0A7-5FE6-43FE-D620-5B93B10A3B89}"/>
              </a:ext>
            </a:extLst>
          </p:cNvPr>
          <p:cNvSpPr txBox="1"/>
          <p:nvPr/>
        </p:nvSpPr>
        <p:spPr>
          <a:xfrm>
            <a:off x="9162288" y="2880360"/>
            <a:ext cx="2304288" cy="4432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172235"/>
                </a:solidFill>
              </a:rPr>
              <a:t>Feedback sobre processo e resultado</a:t>
            </a:r>
          </a:p>
        </p:txBody>
      </p:sp>
      <p:cxnSp>
        <p:nvCxnSpPr>
          <p:cNvPr id="20" name="Connector 17">
            <a:extLst>
              <a:ext uri="{FF2B5EF4-FFF2-40B4-BE49-F238E27FC236}">
                <a16:creationId xmlns:a16="http://schemas.microsoft.com/office/drawing/2014/main" id="{554F34E2-1F97-C0C5-282C-22C603C7551D}"/>
              </a:ext>
            </a:extLst>
          </p:cNvPr>
          <p:cNvCxnSpPr/>
          <p:nvPr/>
        </p:nvCxnSpPr>
        <p:spPr>
          <a:xfrm>
            <a:off x="3054096" y="1828800"/>
            <a:ext cx="438912" cy="0"/>
          </a:xfrm>
          <a:prstGeom prst="line">
            <a:avLst/>
          </a:prstGeom>
          <a:ln w="15240">
            <a:solidFill>
              <a:srgbClr val="4D59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18">
            <a:extLst>
              <a:ext uri="{FF2B5EF4-FFF2-40B4-BE49-F238E27FC236}">
                <a16:creationId xmlns:a16="http://schemas.microsoft.com/office/drawing/2014/main" id="{7EDD3DD7-5D87-A943-0827-A367DA102621}"/>
              </a:ext>
            </a:extLst>
          </p:cNvPr>
          <p:cNvCxnSpPr/>
          <p:nvPr/>
        </p:nvCxnSpPr>
        <p:spPr>
          <a:xfrm>
            <a:off x="5888736" y="1828800"/>
            <a:ext cx="438912" cy="0"/>
          </a:xfrm>
          <a:prstGeom prst="line">
            <a:avLst/>
          </a:prstGeom>
          <a:ln w="15240">
            <a:solidFill>
              <a:srgbClr val="4D59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19">
            <a:extLst>
              <a:ext uri="{FF2B5EF4-FFF2-40B4-BE49-F238E27FC236}">
                <a16:creationId xmlns:a16="http://schemas.microsoft.com/office/drawing/2014/main" id="{4AFE783D-CA27-9C02-6E61-09DD6B178D25}"/>
              </a:ext>
            </a:extLst>
          </p:cNvPr>
          <p:cNvCxnSpPr/>
          <p:nvPr/>
        </p:nvCxnSpPr>
        <p:spPr>
          <a:xfrm>
            <a:off x="8723376" y="1828800"/>
            <a:ext cx="438912" cy="0"/>
          </a:xfrm>
          <a:prstGeom prst="line">
            <a:avLst/>
          </a:prstGeom>
          <a:ln w="15240">
            <a:solidFill>
              <a:srgbClr val="4D59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0">
            <a:extLst>
              <a:ext uri="{FF2B5EF4-FFF2-40B4-BE49-F238E27FC236}">
                <a16:creationId xmlns:a16="http://schemas.microsoft.com/office/drawing/2014/main" id="{699BB6AA-A733-1E33-612D-F77EA92891DF}"/>
              </a:ext>
            </a:extLst>
          </p:cNvPr>
          <p:cNvCxnSpPr/>
          <p:nvPr/>
        </p:nvCxnSpPr>
        <p:spPr>
          <a:xfrm>
            <a:off x="10314432" y="3886200"/>
            <a:ext cx="0" cy="758952"/>
          </a:xfrm>
          <a:prstGeom prst="line">
            <a:avLst/>
          </a:prstGeom>
          <a:ln w="15240">
            <a:solidFill>
              <a:srgbClr val="8C30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1">
            <a:extLst>
              <a:ext uri="{FF2B5EF4-FFF2-40B4-BE49-F238E27FC236}">
                <a16:creationId xmlns:a16="http://schemas.microsoft.com/office/drawing/2014/main" id="{DDB064EF-8084-E1D2-0EE5-7E444D6C3BF4}"/>
              </a:ext>
            </a:extLst>
          </p:cNvPr>
          <p:cNvCxnSpPr/>
          <p:nvPr/>
        </p:nvCxnSpPr>
        <p:spPr>
          <a:xfrm flipH="1">
            <a:off x="1828800" y="4645152"/>
            <a:ext cx="8485632" cy="0"/>
          </a:xfrm>
          <a:prstGeom prst="line">
            <a:avLst/>
          </a:prstGeom>
          <a:ln w="15240">
            <a:solidFill>
              <a:srgbClr val="8C30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F6C44FB-151B-4D2E-A6FB-B01554E84D63}"/>
              </a:ext>
            </a:extLst>
          </p:cNvPr>
          <p:cNvSpPr txBox="1"/>
          <p:nvPr/>
        </p:nvSpPr>
        <p:spPr>
          <a:xfrm>
            <a:off x="4023360" y="4800600"/>
            <a:ext cx="4389120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i="0" dirty="0" err="1">
                <a:solidFill>
                  <a:srgbClr val="8C3041"/>
                </a:solidFill>
              </a:rPr>
              <a:t>Iteração</a:t>
            </a:r>
            <a:r>
              <a:rPr sz="1400" b="1" i="0" dirty="0">
                <a:solidFill>
                  <a:srgbClr val="8C3041"/>
                </a:solidFill>
              </a:rPr>
              <a:t> </a:t>
            </a:r>
            <a:r>
              <a:rPr sz="1400" b="1" i="0" dirty="0" err="1">
                <a:solidFill>
                  <a:srgbClr val="8C3041"/>
                </a:solidFill>
              </a:rPr>
              <a:t>condicionada</a:t>
            </a:r>
            <a:r>
              <a:rPr sz="1400" b="1" i="0" dirty="0">
                <a:solidFill>
                  <a:srgbClr val="8C3041"/>
                </a:solidFill>
              </a:rPr>
              <a:t> </a:t>
            </a:r>
            <a:r>
              <a:rPr sz="1400" b="1" i="0" dirty="0" err="1">
                <a:solidFill>
                  <a:srgbClr val="8C3041"/>
                </a:solidFill>
              </a:rPr>
              <a:t>pelo</a:t>
            </a:r>
            <a:r>
              <a:rPr sz="1400" b="1" i="0" dirty="0">
                <a:solidFill>
                  <a:srgbClr val="8C3041"/>
                </a:solidFill>
              </a:rPr>
              <a:t> </a:t>
            </a:r>
            <a:r>
              <a:rPr sz="1400" b="1" i="1" dirty="0">
                <a:solidFill>
                  <a:srgbClr val="8C3041"/>
                </a:solidFill>
              </a:rPr>
              <a:t>feedback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E3B8DAE-CC3A-CD00-ABD0-0D1C30BB986D}"/>
              </a:ext>
            </a:extLst>
          </p:cNvPr>
          <p:cNvSpPr/>
          <p:nvPr/>
        </p:nvSpPr>
        <p:spPr>
          <a:xfrm>
            <a:off x="1005840" y="5413248"/>
            <a:ext cx="10149840" cy="640080"/>
          </a:xfrm>
          <a:prstGeom prst="rect">
            <a:avLst/>
          </a:prstGeom>
          <a:solidFill>
            <a:srgbClr val="ECEEF1"/>
          </a:solidFill>
          <a:ln w="10160">
            <a:solidFill>
              <a:srgbClr val="D9D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BC4293D-97F3-BCCF-31E8-DAA23F89C19F}"/>
              </a:ext>
            </a:extLst>
          </p:cNvPr>
          <p:cNvSpPr txBox="1"/>
          <p:nvPr/>
        </p:nvSpPr>
        <p:spPr>
          <a:xfrm>
            <a:off x="1234440" y="5577840"/>
            <a:ext cx="9692640" cy="4749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72235"/>
                </a:solidFill>
              </a:rPr>
              <a:t>A unidade de análise deixa de ser a resposta individual e passa a incluir composição do grupo, trajetória de interação e ação no ambiente.</a:t>
            </a:r>
          </a:p>
        </p:txBody>
      </p:sp>
    </p:spTree>
    <p:extLst>
      <p:ext uri="{BB962C8B-B14F-4D97-AF65-F5344CB8AC3E}">
        <p14:creationId xmlns:p14="http://schemas.microsoft.com/office/powerpoint/2010/main" val="12354774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D2EF236-AFAA-973F-9526-2FB906C731AA}"/>
              </a:ext>
            </a:extLst>
          </p:cNvPr>
          <p:cNvSpPr txBox="1"/>
          <p:nvPr/>
        </p:nvSpPr>
        <p:spPr>
          <a:xfrm>
            <a:off x="594360" y="219456"/>
            <a:ext cx="5669280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 i="0" dirty="0">
                <a:solidFill>
                  <a:srgbClr val="8C3041"/>
                </a:solidFill>
              </a:rPr>
              <a:t>3 · CHEN ET AL. (2024): AGENTVERSE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F7D77F-FEB9-63F5-1D20-1810C6C9CF27}"/>
              </a:ext>
            </a:extLst>
          </p:cNvPr>
          <p:cNvSpPr txBox="1"/>
          <p:nvPr/>
        </p:nvSpPr>
        <p:spPr>
          <a:xfrm>
            <a:off x="594360" y="502920"/>
            <a:ext cx="10789920" cy="387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 i="0" dirty="0" err="1">
                <a:solidFill>
                  <a:srgbClr val="172235"/>
                </a:solidFill>
              </a:rPr>
              <a:t>Alcance</a:t>
            </a:r>
            <a:r>
              <a:rPr sz="2500" b="1" i="0" dirty="0">
                <a:solidFill>
                  <a:srgbClr val="172235"/>
                </a:solidFill>
              </a:rPr>
              <a:t> experimental e </a:t>
            </a:r>
            <a:r>
              <a:rPr sz="2500" b="1" i="0" dirty="0" err="1">
                <a:solidFill>
                  <a:srgbClr val="172235"/>
                </a:solidFill>
              </a:rPr>
              <a:t>comportamento</a:t>
            </a:r>
            <a:r>
              <a:rPr sz="2500" b="1" i="0" dirty="0">
                <a:solidFill>
                  <a:srgbClr val="172235"/>
                </a:solidFill>
              </a:rPr>
              <a:t> </a:t>
            </a:r>
            <a:r>
              <a:rPr sz="2500" b="1" i="0" dirty="0" err="1">
                <a:solidFill>
                  <a:srgbClr val="172235"/>
                </a:solidFill>
              </a:rPr>
              <a:t>emergente</a:t>
            </a:r>
            <a:endParaRPr sz="2500" b="1" i="0" dirty="0">
              <a:solidFill>
                <a:srgbClr val="17223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0F1F2B-1E46-C606-C60B-B7AEE1FD1E76}"/>
              </a:ext>
            </a:extLst>
          </p:cNvPr>
          <p:cNvSpPr txBox="1"/>
          <p:nvPr/>
        </p:nvSpPr>
        <p:spPr>
          <a:xfrm>
            <a:off x="11155680" y="246888"/>
            <a:ext cx="420624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 i="0" dirty="0">
                <a:solidFill>
                  <a:srgbClr val="4D5968"/>
                </a:solidFill>
              </a:rPr>
              <a:t>09</a:t>
            </a:r>
            <a:r>
              <a:rPr lang="pt-BR" sz="900" b="0" i="0" dirty="0">
                <a:solidFill>
                  <a:srgbClr val="4D5968"/>
                </a:solidFill>
              </a:rPr>
              <a:t> de 19</a:t>
            </a:r>
            <a:endParaRPr sz="900" b="0" i="0" dirty="0">
              <a:solidFill>
                <a:srgbClr val="4D5968"/>
              </a:solidFill>
            </a:endParaRPr>
          </a:p>
        </p:txBody>
      </p:sp>
      <p:cxnSp>
        <p:nvCxnSpPr>
          <p:cNvPr id="7" name="Connector 4">
            <a:extLst>
              <a:ext uri="{FF2B5EF4-FFF2-40B4-BE49-F238E27FC236}">
                <a16:creationId xmlns:a16="http://schemas.microsoft.com/office/drawing/2014/main" id="{9B145D23-1ED0-BD75-A020-892972205513}"/>
              </a:ext>
            </a:extLst>
          </p:cNvPr>
          <p:cNvCxnSpPr/>
          <p:nvPr/>
        </p:nvCxnSpPr>
        <p:spPr>
          <a:xfrm>
            <a:off x="594360" y="1051560"/>
            <a:ext cx="11000232" cy="0"/>
          </a:xfrm>
          <a:prstGeom prst="line">
            <a:avLst/>
          </a:prstGeom>
          <a:ln w="13970">
            <a:solidFill>
              <a:srgbClr val="8C30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3159944-F118-3C3F-3E13-A096DC9BA8BC}"/>
              </a:ext>
            </a:extLst>
          </p:cNvPr>
          <p:cNvSpPr txBox="1"/>
          <p:nvPr/>
        </p:nvSpPr>
        <p:spPr>
          <a:xfrm>
            <a:off x="749808" y="1353312"/>
            <a:ext cx="4892040" cy="2790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 i="0">
                <a:solidFill>
                  <a:srgbClr val="274C77"/>
                </a:solidFill>
              </a:rPr>
              <a:t>Classes de tarefas avaliadas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D2720C-725E-D951-462A-98B14B546D0F}"/>
              </a:ext>
            </a:extLst>
          </p:cNvPr>
          <p:cNvSpPr txBox="1"/>
          <p:nvPr/>
        </p:nvSpPr>
        <p:spPr>
          <a:xfrm>
            <a:off x="804672" y="1819656"/>
            <a:ext cx="310896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274C77"/>
                </a:solidFill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91BC6E-C446-0D35-DE3C-14D0B63BCA52}"/>
              </a:ext>
            </a:extLst>
          </p:cNvPr>
          <p:cNvSpPr txBox="1"/>
          <p:nvPr/>
        </p:nvSpPr>
        <p:spPr>
          <a:xfrm>
            <a:off x="1325880" y="1810512"/>
            <a:ext cx="4297680" cy="248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172235"/>
                </a:solidFill>
              </a:rPr>
              <a:t>compreensão textual</a:t>
            </a:r>
          </a:p>
        </p:txBody>
      </p:sp>
      <p:cxnSp>
        <p:nvCxnSpPr>
          <p:cNvPr id="11" name="Connector 8">
            <a:extLst>
              <a:ext uri="{FF2B5EF4-FFF2-40B4-BE49-F238E27FC236}">
                <a16:creationId xmlns:a16="http://schemas.microsoft.com/office/drawing/2014/main" id="{1669CF66-046C-99BA-EB46-189D71396741}"/>
              </a:ext>
            </a:extLst>
          </p:cNvPr>
          <p:cNvCxnSpPr/>
          <p:nvPr/>
        </p:nvCxnSpPr>
        <p:spPr>
          <a:xfrm>
            <a:off x="1325880" y="2194560"/>
            <a:ext cx="3977640" cy="0"/>
          </a:xfrm>
          <a:prstGeom prst="line">
            <a:avLst/>
          </a:prstGeom>
          <a:ln w="762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E85FF63-47A3-A709-9C9F-5E245CF783F7}"/>
              </a:ext>
            </a:extLst>
          </p:cNvPr>
          <p:cNvSpPr txBox="1"/>
          <p:nvPr/>
        </p:nvSpPr>
        <p:spPr>
          <a:xfrm>
            <a:off x="804672" y="2459735"/>
            <a:ext cx="310896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274C77"/>
                </a:solidFill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BE1913-08C6-6489-3AAA-F8646EBB2D5F}"/>
              </a:ext>
            </a:extLst>
          </p:cNvPr>
          <p:cNvSpPr txBox="1"/>
          <p:nvPr/>
        </p:nvSpPr>
        <p:spPr>
          <a:xfrm>
            <a:off x="1325880" y="2450591"/>
            <a:ext cx="4297680" cy="248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172235"/>
                </a:solidFill>
              </a:rPr>
              <a:t>raciocínio</a:t>
            </a:r>
          </a:p>
        </p:txBody>
      </p:sp>
      <p:cxnSp>
        <p:nvCxnSpPr>
          <p:cNvPr id="14" name="Connector 11">
            <a:extLst>
              <a:ext uri="{FF2B5EF4-FFF2-40B4-BE49-F238E27FC236}">
                <a16:creationId xmlns:a16="http://schemas.microsoft.com/office/drawing/2014/main" id="{CED95BBA-6B33-81DF-9A67-F64910D37FCF}"/>
              </a:ext>
            </a:extLst>
          </p:cNvPr>
          <p:cNvCxnSpPr/>
          <p:nvPr/>
        </p:nvCxnSpPr>
        <p:spPr>
          <a:xfrm>
            <a:off x="1325880" y="2834639"/>
            <a:ext cx="3977640" cy="0"/>
          </a:xfrm>
          <a:prstGeom prst="line">
            <a:avLst/>
          </a:prstGeom>
          <a:ln w="762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BFFF0D2-5302-821E-0F96-A4389E7719B3}"/>
              </a:ext>
            </a:extLst>
          </p:cNvPr>
          <p:cNvSpPr txBox="1"/>
          <p:nvPr/>
        </p:nvSpPr>
        <p:spPr>
          <a:xfrm>
            <a:off x="804672" y="3099815"/>
            <a:ext cx="310896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274C77"/>
                </a:solidFill>
              </a:rPr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681B64-2BA8-62F3-B298-35A67BE9A16C}"/>
              </a:ext>
            </a:extLst>
          </p:cNvPr>
          <p:cNvSpPr txBox="1"/>
          <p:nvPr/>
        </p:nvSpPr>
        <p:spPr>
          <a:xfrm>
            <a:off x="1325880" y="3090672"/>
            <a:ext cx="4297680" cy="248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172235"/>
                </a:solidFill>
              </a:rPr>
              <a:t>programação</a:t>
            </a:r>
          </a:p>
        </p:txBody>
      </p:sp>
      <p:cxnSp>
        <p:nvCxnSpPr>
          <p:cNvPr id="17" name="Connector 14">
            <a:extLst>
              <a:ext uri="{FF2B5EF4-FFF2-40B4-BE49-F238E27FC236}">
                <a16:creationId xmlns:a16="http://schemas.microsoft.com/office/drawing/2014/main" id="{ADDADBDF-7447-82BB-E6E1-603D1E75C964}"/>
              </a:ext>
            </a:extLst>
          </p:cNvPr>
          <p:cNvCxnSpPr/>
          <p:nvPr/>
        </p:nvCxnSpPr>
        <p:spPr>
          <a:xfrm>
            <a:off x="1325880" y="3474720"/>
            <a:ext cx="3977640" cy="0"/>
          </a:xfrm>
          <a:prstGeom prst="line">
            <a:avLst/>
          </a:prstGeom>
          <a:ln w="762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A53A508-7B14-952D-3CAC-782DD910BDC5}"/>
              </a:ext>
            </a:extLst>
          </p:cNvPr>
          <p:cNvSpPr txBox="1"/>
          <p:nvPr/>
        </p:nvSpPr>
        <p:spPr>
          <a:xfrm>
            <a:off x="804672" y="3739896"/>
            <a:ext cx="310896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274C77"/>
                </a:solidFill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7A0CE4-9EE2-4E91-DC77-D6E6BBD0207F}"/>
              </a:ext>
            </a:extLst>
          </p:cNvPr>
          <p:cNvSpPr txBox="1"/>
          <p:nvPr/>
        </p:nvSpPr>
        <p:spPr>
          <a:xfrm>
            <a:off x="1325880" y="3730752"/>
            <a:ext cx="4297680" cy="248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172235"/>
                </a:solidFill>
              </a:rPr>
              <a:t>uso de ferramentas</a:t>
            </a:r>
          </a:p>
        </p:txBody>
      </p:sp>
      <p:cxnSp>
        <p:nvCxnSpPr>
          <p:cNvPr id="20" name="Connector 17">
            <a:extLst>
              <a:ext uri="{FF2B5EF4-FFF2-40B4-BE49-F238E27FC236}">
                <a16:creationId xmlns:a16="http://schemas.microsoft.com/office/drawing/2014/main" id="{59438A37-AD02-D964-9D06-C3500F56B533}"/>
              </a:ext>
            </a:extLst>
          </p:cNvPr>
          <p:cNvCxnSpPr/>
          <p:nvPr/>
        </p:nvCxnSpPr>
        <p:spPr>
          <a:xfrm>
            <a:off x="1325880" y="4114800"/>
            <a:ext cx="3977640" cy="0"/>
          </a:xfrm>
          <a:prstGeom prst="line">
            <a:avLst/>
          </a:prstGeom>
          <a:ln w="762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177D014-5DB3-0584-4B07-B49784FAADA5}"/>
              </a:ext>
            </a:extLst>
          </p:cNvPr>
          <p:cNvSpPr txBox="1"/>
          <p:nvPr/>
        </p:nvSpPr>
        <p:spPr>
          <a:xfrm>
            <a:off x="804672" y="4379975"/>
            <a:ext cx="310896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274C77"/>
                </a:solidFill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86000B-5DE8-4992-E421-C24F539D2CC1}"/>
              </a:ext>
            </a:extLst>
          </p:cNvPr>
          <p:cNvSpPr txBox="1"/>
          <p:nvPr/>
        </p:nvSpPr>
        <p:spPr>
          <a:xfrm>
            <a:off x="1325880" y="4370831"/>
            <a:ext cx="4297680" cy="248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172235"/>
                </a:solidFill>
              </a:rPr>
              <a:t>IA incorporada</a:t>
            </a:r>
          </a:p>
        </p:txBody>
      </p:sp>
      <p:cxnSp>
        <p:nvCxnSpPr>
          <p:cNvPr id="23" name="Connector 20">
            <a:extLst>
              <a:ext uri="{FF2B5EF4-FFF2-40B4-BE49-F238E27FC236}">
                <a16:creationId xmlns:a16="http://schemas.microsoft.com/office/drawing/2014/main" id="{4C5297D1-E8EE-F305-082B-29F0F20E7B67}"/>
              </a:ext>
            </a:extLst>
          </p:cNvPr>
          <p:cNvCxnSpPr/>
          <p:nvPr/>
        </p:nvCxnSpPr>
        <p:spPr>
          <a:xfrm>
            <a:off x="1325880" y="4754879"/>
            <a:ext cx="3977640" cy="0"/>
          </a:xfrm>
          <a:prstGeom prst="line">
            <a:avLst/>
          </a:prstGeom>
          <a:ln w="762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1">
            <a:extLst>
              <a:ext uri="{FF2B5EF4-FFF2-40B4-BE49-F238E27FC236}">
                <a16:creationId xmlns:a16="http://schemas.microsoft.com/office/drawing/2014/main" id="{48E07625-6B95-7EE7-FD39-C0279F7E42C8}"/>
              </a:ext>
            </a:extLst>
          </p:cNvPr>
          <p:cNvCxnSpPr/>
          <p:nvPr/>
        </p:nvCxnSpPr>
        <p:spPr>
          <a:xfrm>
            <a:off x="5833872" y="1389888"/>
            <a:ext cx="0" cy="3611880"/>
          </a:xfrm>
          <a:prstGeom prst="line">
            <a:avLst/>
          </a:prstGeom>
          <a:ln w="1397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EBD4C8C-6019-7D1A-E20D-316B461B1E2C}"/>
              </a:ext>
            </a:extLst>
          </p:cNvPr>
          <p:cNvSpPr txBox="1"/>
          <p:nvPr/>
        </p:nvSpPr>
        <p:spPr>
          <a:xfrm>
            <a:off x="6199632" y="1353312"/>
            <a:ext cx="4983480" cy="2790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 i="0" dirty="0" err="1">
                <a:solidFill>
                  <a:srgbClr val="8C3041"/>
                </a:solidFill>
              </a:rPr>
              <a:t>Comportamentos</a:t>
            </a:r>
            <a:r>
              <a:rPr sz="1800" b="1" i="0" dirty="0">
                <a:solidFill>
                  <a:srgbClr val="8C3041"/>
                </a:solidFill>
              </a:rPr>
              <a:t> </a:t>
            </a:r>
            <a:r>
              <a:rPr sz="1800" b="1" i="0" dirty="0" err="1">
                <a:solidFill>
                  <a:srgbClr val="8C3041"/>
                </a:solidFill>
              </a:rPr>
              <a:t>identificados</a:t>
            </a:r>
            <a:endParaRPr sz="1800" b="1" i="0" dirty="0">
              <a:solidFill>
                <a:srgbClr val="8C304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DA25EF4-AF78-E486-F28B-23A39A30E3BE}"/>
              </a:ext>
            </a:extLst>
          </p:cNvPr>
          <p:cNvSpPr txBox="1"/>
          <p:nvPr/>
        </p:nvSpPr>
        <p:spPr>
          <a:xfrm>
            <a:off x="6236208" y="1965960"/>
            <a:ext cx="1938528" cy="232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3E6B5C"/>
                </a:solidFill>
              </a:rPr>
              <a:t>Voluntariado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55F7F4E-ECED-46D4-BD20-FCA3945D51B5}"/>
              </a:ext>
            </a:extLst>
          </p:cNvPr>
          <p:cNvSpPr txBox="1"/>
          <p:nvPr/>
        </p:nvSpPr>
        <p:spPr>
          <a:xfrm>
            <a:off x="8165592" y="1965960"/>
            <a:ext cx="2926080" cy="4432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172235"/>
                </a:solidFill>
              </a:rPr>
              <a:t>agentes assumem espontaneamente subtarefas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65C5977-E8F2-7CDA-BC22-D1B438AC37E1}"/>
              </a:ext>
            </a:extLst>
          </p:cNvPr>
          <p:cNvSpPr txBox="1"/>
          <p:nvPr/>
        </p:nvSpPr>
        <p:spPr>
          <a:xfrm>
            <a:off x="6236208" y="2898648"/>
            <a:ext cx="1938528" cy="232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9A6B2F"/>
                </a:solidFill>
              </a:rPr>
              <a:t>Conformidade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D2F5D2F-CC0C-76CB-6C55-6F4123A84237}"/>
              </a:ext>
            </a:extLst>
          </p:cNvPr>
          <p:cNvSpPr txBox="1"/>
          <p:nvPr/>
        </p:nvSpPr>
        <p:spPr>
          <a:xfrm>
            <a:off x="8165592" y="2898648"/>
            <a:ext cx="2926080" cy="4432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172235"/>
                </a:solidFill>
              </a:rPr>
              <a:t>decisões acompanham posições dominantes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2D20FCB-1F04-F9FA-210E-1F71EB22DC83}"/>
              </a:ext>
            </a:extLst>
          </p:cNvPr>
          <p:cNvSpPr txBox="1"/>
          <p:nvPr/>
        </p:nvSpPr>
        <p:spPr>
          <a:xfrm>
            <a:off x="6236208" y="3831335"/>
            <a:ext cx="1938528" cy="4749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A33A32"/>
                </a:solidFill>
              </a:rPr>
              <a:t>Comportamento destrutivo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AFADEB0-BBE8-5DCA-6D96-F8FC258D787E}"/>
              </a:ext>
            </a:extLst>
          </p:cNvPr>
          <p:cNvSpPr txBox="1"/>
          <p:nvPr/>
        </p:nvSpPr>
        <p:spPr>
          <a:xfrm>
            <a:off x="8165592" y="3831335"/>
            <a:ext cx="2926080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172235"/>
                </a:solidFill>
              </a:rPr>
              <a:t>interações podem degradar o resultado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5F8D61F-454E-F69C-11E6-B8C2B69BED07}"/>
              </a:ext>
            </a:extLst>
          </p:cNvPr>
          <p:cNvSpPr/>
          <p:nvPr/>
        </p:nvSpPr>
        <p:spPr>
          <a:xfrm>
            <a:off x="868680" y="5364797"/>
            <a:ext cx="10469880" cy="704088"/>
          </a:xfrm>
          <a:prstGeom prst="rect">
            <a:avLst/>
          </a:prstGeom>
          <a:solidFill>
            <a:srgbClr val="ECEEF1"/>
          </a:solidFill>
          <a:ln w="10160">
            <a:solidFill>
              <a:srgbClr val="D9D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DCE1351-69DA-267E-7ABE-B16F8C6AFE7C}"/>
              </a:ext>
            </a:extLst>
          </p:cNvPr>
          <p:cNvSpPr txBox="1"/>
          <p:nvPr/>
        </p:nvSpPr>
        <p:spPr>
          <a:xfrm>
            <a:off x="1097280" y="5478884"/>
            <a:ext cx="1325880" cy="5065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 i="0" dirty="0" err="1">
                <a:solidFill>
                  <a:srgbClr val="8C3041"/>
                </a:solidFill>
              </a:rPr>
              <a:t>Resultado</a:t>
            </a:r>
            <a:r>
              <a:rPr sz="1600" b="1" i="0" dirty="0">
                <a:solidFill>
                  <a:srgbClr val="8C3041"/>
                </a:solidFill>
              </a:rPr>
              <a:t> </a:t>
            </a:r>
            <a:endParaRPr lang="pt-BR" sz="1600" b="1" i="0" dirty="0">
              <a:solidFill>
                <a:srgbClr val="8C3041"/>
              </a:solidFill>
            </a:endParaRP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 i="0" dirty="0">
                <a:solidFill>
                  <a:srgbClr val="8C3041"/>
                </a:solidFill>
              </a:rPr>
              <a:t>central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C5E2DB6-6994-4C39-AA29-C40AFB132F6A}"/>
              </a:ext>
            </a:extLst>
          </p:cNvPr>
          <p:cNvSpPr txBox="1"/>
          <p:nvPr/>
        </p:nvSpPr>
        <p:spPr>
          <a:xfrm>
            <a:off x="2464246" y="5385934"/>
            <a:ext cx="8549640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pt-BR" sz="1600" dirty="0"/>
              <a:t>Os sistemas multiagente apresentaram desempenho superior ao agente individual em diferentes tarefas. Entretanto, os comportamentos emergentes observados incluíram tanto mecanismos favoráveis à cooperação quanto dinâmicas capazes de degradar o resultado coletivo</a:t>
            </a:r>
            <a:endParaRPr sz="1700" b="1" i="0" dirty="0">
              <a:solidFill>
                <a:srgbClr val="17223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2454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7A1AB20-5605-84E0-50A0-DD07A0368A7D}"/>
              </a:ext>
            </a:extLst>
          </p:cNvPr>
          <p:cNvSpPr txBox="1"/>
          <p:nvPr/>
        </p:nvSpPr>
        <p:spPr>
          <a:xfrm>
            <a:off x="594360" y="219456"/>
            <a:ext cx="5669280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 i="0">
                <a:solidFill>
                  <a:srgbClr val="8C3041"/>
                </a:solidFill>
              </a:rPr>
              <a:t>3 · CHEN ET AL. (2024): AGENTVERSE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1CDC48-CFE8-49AA-04B5-43D3D082E3C7}"/>
              </a:ext>
            </a:extLst>
          </p:cNvPr>
          <p:cNvSpPr txBox="1"/>
          <p:nvPr/>
        </p:nvSpPr>
        <p:spPr>
          <a:xfrm>
            <a:off x="594360" y="502920"/>
            <a:ext cx="10789920" cy="387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 i="0" dirty="0">
                <a:solidFill>
                  <a:srgbClr val="172235"/>
                </a:solidFill>
              </a:rPr>
              <a:t>A</a:t>
            </a:r>
            <a:r>
              <a:rPr lang="pt-BR" sz="2500" b="1" i="0" dirty="0" err="1">
                <a:solidFill>
                  <a:srgbClr val="172235"/>
                </a:solidFill>
              </a:rPr>
              <a:t>valiação</a:t>
            </a:r>
            <a:r>
              <a:rPr lang="pt-BR" sz="2500" b="1" i="0" dirty="0">
                <a:solidFill>
                  <a:srgbClr val="172235"/>
                </a:solidFill>
              </a:rPr>
              <a:t> crítica</a:t>
            </a:r>
            <a:endParaRPr sz="2500" b="1" i="0" dirty="0">
              <a:solidFill>
                <a:srgbClr val="17223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F78848-F2C7-0DFF-B852-86F22D3DFF5C}"/>
              </a:ext>
            </a:extLst>
          </p:cNvPr>
          <p:cNvSpPr txBox="1"/>
          <p:nvPr/>
        </p:nvSpPr>
        <p:spPr>
          <a:xfrm>
            <a:off x="11155680" y="246888"/>
            <a:ext cx="420624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 i="0" dirty="0">
                <a:solidFill>
                  <a:srgbClr val="4D5968"/>
                </a:solidFill>
              </a:rPr>
              <a:t>10</a:t>
            </a:r>
            <a:r>
              <a:rPr lang="pt-BR" sz="900" b="0" i="0" dirty="0">
                <a:solidFill>
                  <a:srgbClr val="4D5968"/>
                </a:solidFill>
              </a:rPr>
              <a:t> de 19</a:t>
            </a:r>
            <a:endParaRPr sz="900" b="0" i="0" dirty="0">
              <a:solidFill>
                <a:srgbClr val="4D5968"/>
              </a:solidFill>
            </a:endParaRPr>
          </a:p>
        </p:txBody>
      </p:sp>
      <p:cxnSp>
        <p:nvCxnSpPr>
          <p:cNvPr id="7" name="Connector 4">
            <a:extLst>
              <a:ext uri="{FF2B5EF4-FFF2-40B4-BE49-F238E27FC236}">
                <a16:creationId xmlns:a16="http://schemas.microsoft.com/office/drawing/2014/main" id="{FABEF679-42B4-1383-E0C7-84327872E6C7}"/>
              </a:ext>
            </a:extLst>
          </p:cNvPr>
          <p:cNvCxnSpPr/>
          <p:nvPr/>
        </p:nvCxnSpPr>
        <p:spPr>
          <a:xfrm>
            <a:off x="594360" y="1051560"/>
            <a:ext cx="11000232" cy="0"/>
          </a:xfrm>
          <a:prstGeom prst="line">
            <a:avLst/>
          </a:prstGeom>
          <a:ln w="13970">
            <a:solidFill>
              <a:srgbClr val="8C30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53D507D-0402-4A11-3FDF-0D4B7FD1D503}"/>
              </a:ext>
            </a:extLst>
          </p:cNvPr>
          <p:cNvGraphicFramePr>
            <a:graphicFrameLocks noGrp="1"/>
          </p:cNvGraphicFramePr>
          <p:nvPr/>
        </p:nvGraphicFramePr>
        <p:xfrm>
          <a:off x="841248" y="1389888"/>
          <a:ext cx="10515600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4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740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Aspecto</a:t>
                      </a:r>
                    </a:p>
                  </a:txBody>
                  <a:tcPr marL="64008" marR="64008" marT="36576" marB="36576">
                    <a:solidFill>
                      <a:srgbClr val="1722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Avaliação</a:t>
                      </a:r>
                    </a:p>
                  </a:txBody>
                  <a:tcPr marL="64008" marR="64008" marT="36576" marB="36576">
                    <a:solidFill>
                      <a:srgbClr val="1722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740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72235"/>
                          </a:solidFill>
                          <a:latin typeface="Aptos"/>
                        </a:rPr>
                        <a:t>Contribuição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72235"/>
                          </a:solidFill>
                          <a:latin typeface="Aptos"/>
                        </a:rPr>
                        <a:t>Arquitetura geral para composição dinâmica, deliberação, execução e avaliação.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740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72235"/>
                          </a:solidFill>
                          <a:latin typeface="Aptos"/>
                        </a:rPr>
                        <a:t>Evidência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72235"/>
                          </a:solidFill>
                          <a:latin typeface="Aptos"/>
                        </a:rPr>
                        <a:t>Comparação com agentes individuais em classes heterogêneas de tarefas.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740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72235"/>
                          </a:solidFill>
                          <a:latin typeface="Aptos"/>
                        </a:rPr>
                        <a:t>Importância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72235"/>
                          </a:solidFill>
                          <a:latin typeface="Aptos"/>
                        </a:rPr>
                        <a:t>Torna interações e comportamentos coletivos objetos de investigação empírica.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740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72235"/>
                          </a:solidFill>
                          <a:latin typeface="Aptos"/>
                        </a:rPr>
                        <a:t>Limite causal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72235"/>
                          </a:solidFill>
                          <a:latin typeface="Aptos"/>
                        </a:rPr>
                        <a:t>Papéis, prompts, modelo e orçamento variam conjuntamente em parte dos experimentos.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740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72235"/>
                          </a:solidFill>
                          <a:latin typeface="Aptos"/>
                        </a:rPr>
                        <a:t>Limite externo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72235"/>
                          </a:solidFill>
                          <a:latin typeface="Aptos"/>
                        </a:rPr>
                        <a:t>Analogias com equipes humanas não demonstram equivalência cognitiva ou social.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7A9B875-30B2-2A0F-FDD4-073416C3B36A}"/>
              </a:ext>
            </a:extLst>
          </p:cNvPr>
          <p:cNvSpPr txBox="1"/>
          <p:nvPr/>
        </p:nvSpPr>
        <p:spPr>
          <a:xfrm>
            <a:off x="877824" y="5166760"/>
            <a:ext cx="1417320" cy="5065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 i="0" dirty="0">
                <a:solidFill>
                  <a:srgbClr val="8C3041"/>
                </a:solidFill>
              </a:rPr>
              <a:t>Problema </a:t>
            </a:r>
            <a:br>
              <a:rPr lang="pt-BR" sz="1600" b="1" i="0" dirty="0">
                <a:solidFill>
                  <a:srgbClr val="8C3041"/>
                </a:solidFill>
              </a:rPr>
            </a:br>
            <a:r>
              <a:rPr sz="1600" b="1" i="0" dirty="0" err="1">
                <a:solidFill>
                  <a:srgbClr val="8C3041"/>
                </a:solidFill>
              </a:rPr>
              <a:t>teórico</a:t>
            </a:r>
            <a:endParaRPr sz="1600" b="1" i="0" dirty="0">
              <a:solidFill>
                <a:srgbClr val="8C304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BAD4CD-0924-867C-0D75-9B7934528DD0}"/>
              </a:ext>
            </a:extLst>
          </p:cNvPr>
          <p:cNvSpPr txBox="1"/>
          <p:nvPr/>
        </p:nvSpPr>
        <p:spPr>
          <a:xfrm>
            <a:off x="2286000" y="5291802"/>
            <a:ext cx="8732520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 i="0" dirty="0">
                <a:solidFill>
                  <a:srgbClr val="172235"/>
                </a:solidFill>
              </a:rPr>
              <a:t>Como </a:t>
            </a:r>
            <a:r>
              <a:rPr sz="1400" b="1" i="0" dirty="0" err="1">
                <a:solidFill>
                  <a:srgbClr val="172235"/>
                </a:solidFill>
              </a:rPr>
              <a:t>atribuir</a:t>
            </a:r>
            <a:r>
              <a:rPr sz="1400" b="1" i="0" dirty="0">
                <a:solidFill>
                  <a:srgbClr val="172235"/>
                </a:solidFill>
              </a:rPr>
              <a:t> o </a:t>
            </a:r>
            <a:r>
              <a:rPr sz="1400" b="1" i="0" dirty="0" err="1">
                <a:solidFill>
                  <a:srgbClr val="172235"/>
                </a:solidFill>
              </a:rPr>
              <a:t>ganho</a:t>
            </a:r>
            <a:r>
              <a:rPr sz="1400" b="1" i="0" dirty="0">
                <a:solidFill>
                  <a:srgbClr val="172235"/>
                </a:solidFill>
              </a:rPr>
              <a:t> à cooperação, </a:t>
            </a:r>
            <a:r>
              <a:rPr sz="1400" b="1" i="0" dirty="0" err="1">
                <a:solidFill>
                  <a:srgbClr val="172235"/>
                </a:solidFill>
              </a:rPr>
              <a:t>separando</a:t>
            </a:r>
            <a:r>
              <a:rPr sz="1400" b="1" i="0" dirty="0">
                <a:solidFill>
                  <a:srgbClr val="172235"/>
                </a:solidFill>
              </a:rPr>
              <a:t>-o do </a:t>
            </a:r>
            <a:r>
              <a:rPr sz="1400" b="1" i="0" dirty="0" err="1">
                <a:solidFill>
                  <a:srgbClr val="172235"/>
                </a:solidFill>
              </a:rPr>
              <a:t>aumento</a:t>
            </a:r>
            <a:r>
              <a:rPr sz="1400" b="1" i="0" dirty="0">
                <a:solidFill>
                  <a:srgbClr val="172235"/>
                </a:solidFill>
              </a:rPr>
              <a:t> de </a:t>
            </a:r>
            <a:r>
              <a:rPr sz="1400" b="1" i="0" dirty="0" err="1">
                <a:solidFill>
                  <a:srgbClr val="172235"/>
                </a:solidFill>
              </a:rPr>
              <a:t>amostras</a:t>
            </a:r>
            <a:r>
              <a:rPr sz="1400" b="1" i="0" dirty="0">
                <a:solidFill>
                  <a:srgbClr val="172235"/>
                </a:solidFill>
              </a:rPr>
              <a:t>, </a:t>
            </a:r>
            <a:r>
              <a:rPr sz="1400" b="1" i="1" dirty="0">
                <a:solidFill>
                  <a:srgbClr val="172235"/>
                </a:solidFill>
              </a:rPr>
              <a:t>tokens</a:t>
            </a:r>
            <a:r>
              <a:rPr sz="1400" b="1" i="0" dirty="0">
                <a:solidFill>
                  <a:srgbClr val="172235"/>
                </a:solidFill>
              </a:rPr>
              <a:t>, </a:t>
            </a:r>
            <a:r>
              <a:rPr sz="1400" b="1" i="0" dirty="0" err="1">
                <a:solidFill>
                  <a:srgbClr val="172235"/>
                </a:solidFill>
              </a:rPr>
              <a:t>papéis</a:t>
            </a:r>
            <a:r>
              <a:rPr sz="1400" b="1" i="0" dirty="0">
                <a:solidFill>
                  <a:srgbClr val="172235"/>
                </a:solidFill>
              </a:rPr>
              <a:t> e </a:t>
            </a:r>
            <a:r>
              <a:rPr sz="1400" b="1" i="0" dirty="0" err="1">
                <a:solidFill>
                  <a:srgbClr val="172235"/>
                </a:solidFill>
              </a:rPr>
              <a:t>chamadas</a:t>
            </a:r>
            <a:r>
              <a:rPr sz="1400" b="1" i="0" dirty="0">
                <a:solidFill>
                  <a:srgbClr val="172235"/>
                </a:solidFill>
              </a:rPr>
              <a:t> </a:t>
            </a:r>
            <a:r>
              <a:rPr sz="1400" b="1" i="0" dirty="0" err="1">
                <a:solidFill>
                  <a:srgbClr val="172235"/>
                </a:solidFill>
              </a:rPr>
              <a:t>ao</a:t>
            </a:r>
            <a:r>
              <a:rPr sz="1400" b="1" i="0" dirty="0">
                <a:solidFill>
                  <a:srgbClr val="172235"/>
                </a:solidFill>
              </a:rPr>
              <a:t> </a:t>
            </a:r>
            <a:r>
              <a:rPr sz="1400" b="1" i="0" dirty="0" err="1">
                <a:solidFill>
                  <a:srgbClr val="172235"/>
                </a:solidFill>
              </a:rPr>
              <a:t>modelo</a:t>
            </a:r>
            <a:r>
              <a:rPr sz="1400" b="1" i="0" dirty="0">
                <a:solidFill>
                  <a:srgbClr val="172235"/>
                </a:solidFill>
              </a:rPr>
              <a:t>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801C23-01AC-45E6-9192-FD01F4A7AC6C}"/>
              </a:ext>
            </a:extLst>
          </p:cNvPr>
          <p:cNvSpPr txBox="1"/>
          <p:nvPr/>
        </p:nvSpPr>
        <p:spPr>
          <a:xfrm>
            <a:off x="1170432" y="5971032"/>
            <a:ext cx="9802368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0" i="1" dirty="0">
                <a:solidFill>
                  <a:srgbClr val="274C77"/>
                </a:solidFill>
              </a:rPr>
              <a:t>A </a:t>
            </a:r>
            <a:r>
              <a:rPr sz="1400" b="0" i="1" dirty="0" err="1">
                <a:solidFill>
                  <a:srgbClr val="274C77"/>
                </a:solidFill>
              </a:rPr>
              <a:t>resposta</a:t>
            </a:r>
            <a:r>
              <a:rPr sz="1400" b="0" i="1" dirty="0">
                <a:solidFill>
                  <a:srgbClr val="274C77"/>
                </a:solidFill>
              </a:rPr>
              <a:t> </a:t>
            </a:r>
            <a:r>
              <a:rPr sz="1400" b="0" i="1" dirty="0" err="1">
                <a:solidFill>
                  <a:srgbClr val="274C77"/>
                </a:solidFill>
              </a:rPr>
              <a:t>exige</a:t>
            </a:r>
            <a:r>
              <a:rPr sz="1400" b="0" i="1" dirty="0">
                <a:solidFill>
                  <a:srgbClr val="274C77"/>
                </a:solidFill>
              </a:rPr>
              <a:t> baselines com </a:t>
            </a:r>
            <a:r>
              <a:rPr sz="1400" b="0" i="1" dirty="0" err="1">
                <a:solidFill>
                  <a:srgbClr val="274C77"/>
                </a:solidFill>
              </a:rPr>
              <a:t>orçamento</a:t>
            </a:r>
            <a:r>
              <a:rPr sz="1400" b="0" i="1" dirty="0">
                <a:solidFill>
                  <a:srgbClr val="274C77"/>
                </a:solidFill>
              </a:rPr>
              <a:t> </a:t>
            </a:r>
            <a:r>
              <a:rPr sz="1400" b="0" i="1" dirty="0" err="1">
                <a:solidFill>
                  <a:srgbClr val="274C77"/>
                </a:solidFill>
              </a:rPr>
              <a:t>equivalente</a:t>
            </a:r>
            <a:r>
              <a:rPr sz="1400" b="0" i="1" dirty="0">
                <a:solidFill>
                  <a:srgbClr val="274C77"/>
                </a:solidFill>
              </a:rPr>
              <a:t> e </a:t>
            </a:r>
            <a:r>
              <a:rPr sz="1400" b="0" i="1" dirty="0" err="1">
                <a:solidFill>
                  <a:srgbClr val="274C77"/>
                </a:solidFill>
              </a:rPr>
              <a:t>ablações</a:t>
            </a:r>
            <a:r>
              <a:rPr sz="1400" b="0" i="1" dirty="0">
                <a:solidFill>
                  <a:srgbClr val="274C77"/>
                </a:solidFill>
              </a:rPr>
              <a:t> da </a:t>
            </a:r>
            <a:r>
              <a:rPr sz="1400" b="0" i="1" dirty="0" err="1">
                <a:solidFill>
                  <a:srgbClr val="274C77"/>
                </a:solidFill>
              </a:rPr>
              <a:t>estrutura</a:t>
            </a:r>
            <a:r>
              <a:rPr sz="1400" b="0" i="1" dirty="0">
                <a:solidFill>
                  <a:srgbClr val="274C77"/>
                </a:solidFill>
              </a:rPr>
              <a:t> de </a:t>
            </a:r>
            <a:r>
              <a:rPr sz="1400" b="0" i="1" dirty="0" err="1">
                <a:solidFill>
                  <a:srgbClr val="274C77"/>
                </a:solidFill>
              </a:rPr>
              <a:t>interação</a:t>
            </a:r>
            <a:r>
              <a:rPr sz="1400" b="0" i="1" dirty="0">
                <a:solidFill>
                  <a:srgbClr val="274C77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784680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4871B9-BB62-FE15-7AB4-A3AD72D8DA04}"/>
              </a:ext>
            </a:extLst>
          </p:cNvPr>
          <p:cNvSpPr txBox="1"/>
          <p:nvPr/>
        </p:nvSpPr>
        <p:spPr>
          <a:xfrm>
            <a:off x="594360" y="219456"/>
            <a:ext cx="5669280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 i="0">
                <a:solidFill>
                  <a:srgbClr val="8C3041"/>
                </a:solidFill>
              </a:rPr>
              <a:t>4 · YANG ET AL. (2025): AUTOHMA-LLM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B7ABB3-697E-F7BF-F200-EE60FF741BC0}"/>
              </a:ext>
            </a:extLst>
          </p:cNvPr>
          <p:cNvSpPr txBox="1"/>
          <p:nvPr/>
        </p:nvSpPr>
        <p:spPr>
          <a:xfrm>
            <a:off x="594360" y="502920"/>
            <a:ext cx="10789920" cy="387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pt-BR" sz="2500" b="1" i="0" dirty="0">
                <a:solidFill>
                  <a:srgbClr val="172235"/>
                </a:solidFill>
              </a:rPr>
              <a:t>C</a:t>
            </a:r>
            <a:r>
              <a:rPr sz="2500" b="1" i="0" dirty="0" err="1">
                <a:solidFill>
                  <a:srgbClr val="172235"/>
                </a:solidFill>
              </a:rPr>
              <a:t>oordenação</a:t>
            </a:r>
            <a:r>
              <a:rPr sz="2500" b="1" i="0" dirty="0">
                <a:solidFill>
                  <a:srgbClr val="172235"/>
                </a:solidFill>
              </a:rPr>
              <a:t> </a:t>
            </a:r>
            <a:r>
              <a:rPr sz="2500" b="1" i="0" dirty="0" err="1">
                <a:solidFill>
                  <a:srgbClr val="172235"/>
                </a:solidFill>
              </a:rPr>
              <a:t>hierárquica</a:t>
            </a:r>
            <a:r>
              <a:rPr sz="2500" b="1" i="0" dirty="0">
                <a:solidFill>
                  <a:srgbClr val="172235"/>
                </a:solidFill>
              </a:rPr>
              <a:t> de agentes </a:t>
            </a:r>
            <a:r>
              <a:rPr sz="2500" b="1" i="0" dirty="0" err="1">
                <a:solidFill>
                  <a:srgbClr val="172235"/>
                </a:solidFill>
              </a:rPr>
              <a:t>heterogêneos</a:t>
            </a:r>
            <a:endParaRPr sz="2500" b="1" i="0" dirty="0">
              <a:solidFill>
                <a:srgbClr val="17223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749F92-9B8E-AB2D-20D5-878DDE8383CB}"/>
              </a:ext>
            </a:extLst>
          </p:cNvPr>
          <p:cNvSpPr txBox="1"/>
          <p:nvPr/>
        </p:nvSpPr>
        <p:spPr>
          <a:xfrm>
            <a:off x="11155680" y="246888"/>
            <a:ext cx="420624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 i="0" dirty="0">
                <a:solidFill>
                  <a:srgbClr val="4D5968"/>
                </a:solidFill>
              </a:rPr>
              <a:t>11</a:t>
            </a:r>
            <a:r>
              <a:rPr lang="pt-BR" sz="900" b="0" i="0" dirty="0">
                <a:solidFill>
                  <a:srgbClr val="4D5968"/>
                </a:solidFill>
              </a:rPr>
              <a:t> de 19</a:t>
            </a:r>
            <a:endParaRPr sz="900" b="0" i="0" dirty="0">
              <a:solidFill>
                <a:srgbClr val="4D5968"/>
              </a:solidFill>
            </a:endParaRPr>
          </a:p>
        </p:txBody>
      </p:sp>
      <p:cxnSp>
        <p:nvCxnSpPr>
          <p:cNvPr id="7" name="Connector 4">
            <a:extLst>
              <a:ext uri="{FF2B5EF4-FFF2-40B4-BE49-F238E27FC236}">
                <a16:creationId xmlns:a16="http://schemas.microsoft.com/office/drawing/2014/main" id="{33225A2A-DCFB-02B5-E9A0-838B808E051C}"/>
              </a:ext>
            </a:extLst>
          </p:cNvPr>
          <p:cNvCxnSpPr/>
          <p:nvPr/>
        </p:nvCxnSpPr>
        <p:spPr>
          <a:xfrm>
            <a:off x="594360" y="1051560"/>
            <a:ext cx="11000232" cy="0"/>
          </a:xfrm>
          <a:prstGeom prst="line">
            <a:avLst/>
          </a:prstGeom>
          <a:ln w="13970">
            <a:solidFill>
              <a:srgbClr val="8C30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2C5710E1-9F4F-425E-C469-16DBDE228EA0}"/>
              </a:ext>
            </a:extLst>
          </p:cNvPr>
          <p:cNvSpPr/>
          <p:nvPr/>
        </p:nvSpPr>
        <p:spPr>
          <a:xfrm>
            <a:off x="658368" y="1938528"/>
            <a:ext cx="2148840" cy="1078992"/>
          </a:xfrm>
          <a:prstGeom prst="rect">
            <a:avLst/>
          </a:prstGeom>
          <a:solidFill>
            <a:srgbClr val="FFFFFF"/>
          </a:solidFill>
          <a:ln w="13970">
            <a:solidFill>
              <a:srgbClr val="274C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BB8125-6308-CB19-BA60-31F9A3B595F3}"/>
              </a:ext>
            </a:extLst>
          </p:cNvPr>
          <p:cNvSpPr txBox="1"/>
          <p:nvPr/>
        </p:nvSpPr>
        <p:spPr>
          <a:xfrm>
            <a:off x="749808" y="2121408"/>
            <a:ext cx="1965960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274C77"/>
                </a:solidFill>
              </a:rPr>
              <a:t>Camada de controle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52B90F-0359-A17F-59D8-4A06A71423B1}"/>
              </a:ext>
            </a:extLst>
          </p:cNvPr>
          <p:cNvSpPr txBox="1"/>
          <p:nvPr/>
        </p:nvSpPr>
        <p:spPr>
          <a:xfrm>
            <a:off x="749808" y="2532888"/>
            <a:ext cx="1965960" cy="17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4D5968"/>
                </a:solidFill>
              </a:rPr>
              <a:t>objetivo e restrições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DB06FB-EDB5-AE58-EA79-0689BDFAA619}"/>
              </a:ext>
            </a:extLst>
          </p:cNvPr>
          <p:cNvSpPr/>
          <p:nvPr/>
        </p:nvSpPr>
        <p:spPr>
          <a:xfrm>
            <a:off x="3127248" y="1938528"/>
            <a:ext cx="2148840" cy="1078992"/>
          </a:xfrm>
          <a:prstGeom prst="rect">
            <a:avLst/>
          </a:prstGeom>
          <a:solidFill>
            <a:srgbClr val="FFFFFF"/>
          </a:solidFill>
          <a:ln w="13970">
            <a:solidFill>
              <a:srgbClr val="8C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9DCD24-9F34-F91E-8F82-C0E1FE2C1F3B}"/>
              </a:ext>
            </a:extLst>
          </p:cNvPr>
          <p:cNvSpPr txBox="1"/>
          <p:nvPr/>
        </p:nvSpPr>
        <p:spPr>
          <a:xfrm>
            <a:off x="3218688" y="2121408"/>
            <a:ext cx="1965960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8C3041"/>
                </a:solidFill>
              </a:rPr>
              <a:t>LLM em nuvem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45DB6D-96FB-8F13-B080-91743CDC3539}"/>
              </a:ext>
            </a:extLst>
          </p:cNvPr>
          <p:cNvSpPr txBox="1"/>
          <p:nvPr/>
        </p:nvSpPr>
        <p:spPr>
          <a:xfrm>
            <a:off x="3218688" y="2532888"/>
            <a:ext cx="1965960" cy="17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4D5968"/>
                </a:solidFill>
              </a:rPr>
              <a:t>planejamento global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16A39C7-F255-3E4E-3D01-25E914E60C7F}"/>
              </a:ext>
            </a:extLst>
          </p:cNvPr>
          <p:cNvSpPr/>
          <p:nvPr/>
        </p:nvSpPr>
        <p:spPr>
          <a:xfrm>
            <a:off x="5596128" y="1938528"/>
            <a:ext cx="2148840" cy="1078992"/>
          </a:xfrm>
          <a:prstGeom prst="rect">
            <a:avLst/>
          </a:prstGeom>
          <a:solidFill>
            <a:srgbClr val="FFFFFF"/>
          </a:solidFill>
          <a:ln w="13970">
            <a:solidFill>
              <a:srgbClr val="3E6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90E72E-C2DF-AECA-D279-D17B436C8415}"/>
              </a:ext>
            </a:extLst>
          </p:cNvPr>
          <p:cNvSpPr txBox="1"/>
          <p:nvPr/>
        </p:nvSpPr>
        <p:spPr>
          <a:xfrm>
            <a:off x="5687568" y="2121408"/>
            <a:ext cx="1965960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3E6B5C"/>
                </a:solidFill>
              </a:rPr>
              <a:t>LLMs nos dispositivos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D8BFA95-6733-0BB5-E27E-47ACB2A6F1E5}"/>
              </a:ext>
            </a:extLst>
          </p:cNvPr>
          <p:cNvSpPr txBox="1"/>
          <p:nvPr/>
        </p:nvSpPr>
        <p:spPr>
          <a:xfrm>
            <a:off x="5687568" y="2532888"/>
            <a:ext cx="1965960" cy="17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4D5968"/>
                </a:solidFill>
              </a:rPr>
              <a:t>despacho e adaptação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D0D4DE-E467-DA57-1342-340F9B6856FC}"/>
              </a:ext>
            </a:extLst>
          </p:cNvPr>
          <p:cNvSpPr/>
          <p:nvPr/>
        </p:nvSpPr>
        <p:spPr>
          <a:xfrm>
            <a:off x="8065008" y="1938528"/>
            <a:ext cx="2148840" cy="1078992"/>
          </a:xfrm>
          <a:prstGeom prst="rect">
            <a:avLst/>
          </a:prstGeom>
          <a:solidFill>
            <a:srgbClr val="FFFFFF"/>
          </a:solidFill>
          <a:ln w="13970">
            <a:solidFill>
              <a:srgbClr val="9A6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CEA259-0DC8-5A2C-9A75-1696F5DCF89D}"/>
              </a:ext>
            </a:extLst>
          </p:cNvPr>
          <p:cNvSpPr txBox="1"/>
          <p:nvPr/>
        </p:nvSpPr>
        <p:spPr>
          <a:xfrm>
            <a:off x="8156448" y="2121408"/>
            <a:ext cx="1965960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9A6B2F"/>
                </a:solidFill>
              </a:rPr>
              <a:t>Agentes executores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9E6A03-DEE4-CBC2-3715-0563F1E06BC7}"/>
              </a:ext>
            </a:extLst>
          </p:cNvPr>
          <p:cNvSpPr txBox="1"/>
          <p:nvPr/>
        </p:nvSpPr>
        <p:spPr>
          <a:xfrm>
            <a:off x="8156448" y="2532888"/>
            <a:ext cx="1965960" cy="17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4D5968"/>
                </a:solidFill>
              </a:rPr>
              <a:t>ações especializadas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FAFE0D-87B5-AD22-E769-2AE9E1FBEC60}"/>
              </a:ext>
            </a:extLst>
          </p:cNvPr>
          <p:cNvSpPr/>
          <p:nvPr/>
        </p:nvSpPr>
        <p:spPr>
          <a:xfrm>
            <a:off x="10533888" y="1938528"/>
            <a:ext cx="987552" cy="1078992"/>
          </a:xfrm>
          <a:prstGeom prst="rect">
            <a:avLst/>
          </a:prstGeom>
          <a:solidFill>
            <a:srgbClr val="FFFFFF"/>
          </a:solidFill>
          <a:ln w="13970">
            <a:solidFill>
              <a:srgbClr val="A3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2A03F85-2B50-40B4-1145-4561D9527F6B}"/>
              </a:ext>
            </a:extLst>
          </p:cNvPr>
          <p:cNvSpPr txBox="1"/>
          <p:nvPr/>
        </p:nvSpPr>
        <p:spPr>
          <a:xfrm>
            <a:off x="10625328" y="2121408"/>
            <a:ext cx="804672" cy="3100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A33A32"/>
                </a:solidFill>
              </a:rPr>
              <a:t>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611A41-B839-2CAE-E006-1E836C45A02C}"/>
              </a:ext>
            </a:extLst>
          </p:cNvPr>
          <p:cNvSpPr txBox="1"/>
          <p:nvPr/>
        </p:nvSpPr>
        <p:spPr>
          <a:xfrm>
            <a:off x="10625328" y="2532888"/>
            <a:ext cx="804672" cy="17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4D5968"/>
                </a:solidFill>
              </a:rPr>
              <a:t>ambiente</a:t>
            </a:r>
          </a:p>
        </p:txBody>
      </p:sp>
      <p:cxnSp>
        <p:nvCxnSpPr>
          <p:cNvPr id="23" name="Connector 20">
            <a:extLst>
              <a:ext uri="{FF2B5EF4-FFF2-40B4-BE49-F238E27FC236}">
                <a16:creationId xmlns:a16="http://schemas.microsoft.com/office/drawing/2014/main" id="{7FC6473B-8A06-84E9-9EBB-8A690588ECC4}"/>
              </a:ext>
            </a:extLst>
          </p:cNvPr>
          <p:cNvCxnSpPr/>
          <p:nvPr/>
        </p:nvCxnSpPr>
        <p:spPr>
          <a:xfrm>
            <a:off x="2807208" y="2478024"/>
            <a:ext cx="320040" cy="0"/>
          </a:xfrm>
          <a:prstGeom prst="line">
            <a:avLst/>
          </a:prstGeom>
          <a:ln w="15240">
            <a:solidFill>
              <a:srgbClr val="4D59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1">
            <a:extLst>
              <a:ext uri="{FF2B5EF4-FFF2-40B4-BE49-F238E27FC236}">
                <a16:creationId xmlns:a16="http://schemas.microsoft.com/office/drawing/2014/main" id="{73581CF6-5D0C-8901-A48C-C38B068A9F8B}"/>
              </a:ext>
            </a:extLst>
          </p:cNvPr>
          <p:cNvCxnSpPr/>
          <p:nvPr/>
        </p:nvCxnSpPr>
        <p:spPr>
          <a:xfrm>
            <a:off x="5276088" y="2478024"/>
            <a:ext cx="320040" cy="0"/>
          </a:xfrm>
          <a:prstGeom prst="line">
            <a:avLst/>
          </a:prstGeom>
          <a:ln w="15240">
            <a:solidFill>
              <a:srgbClr val="4D59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2">
            <a:extLst>
              <a:ext uri="{FF2B5EF4-FFF2-40B4-BE49-F238E27FC236}">
                <a16:creationId xmlns:a16="http://schemas.microsoft.com/office/drawing/2014/main" id="{0F656767-DFB0-F3A9-5B33-75FA0E021EF1}"/>
              </a:ext>
            </a:extLst>
          </p:cNvPr>
          <p:cNvCxnSpPr/>
          <p:nvPr/>
        </p:nvCxnSpPr>
        <p:spPr>
          <a:xfrm>
            <a:off x="7744968" y="2478024"/>
            <a:ext cx="320040" cy="0"/>
          </a:xfrm>
          <a:prstGeom prst="line">
            <a:avLst/>
          </a:prstGeom>
          <a:ln w="15240">
            <a:solidFill>
              <a:srgbClr val="4D59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3">
            <a:extLst>
              <a:ext uri="{FF2B5EF4-FFF2-40B4-BE49-F238E27FC236}">
                <a16:creationId xmlns:a16="http://schemas.microsoft.com/office/drawing/2014/main" id="{FFE530B8-BE13-FF0E-087A-113B58D5BB51}"/>
              </a:ext>
            </a:extLst>
          </p:cNvPr>
          <p:cNvCxnSpPr/>
          <p:nvPr/>
        </p:nvCxnSpPr>
        <p:spPr>
          <a:xfrm>
            <a:off x="10213848" y="2478024"/>
            <a:ext cx="320040" cy="0"/>
          </a:xfrm>
          <a:prstGeom prst="line">
            <a:avLst/>
          </a:prstGeom>
          <a:ln w="15240">
            <a:solidFill>
              <a:srgbClr val="4D59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4">
            <a:extLst>
              <a:ext uri="{FF2B5EF4-FFF2-40B4-BE49-F238E27FC236}">
                <a16:creationId xmlns:a16="http://schemas.microsoft.com/office/drawing/2014/main" id="{58E7913B-F87A-F9C0-D0C4-CA1030ABAA85}"/>
              </a:ext>
            </a:extLst>
          </p:cNvPr>
          <p:cNvCxnSpPr/>
          <p:nvPr/>
        </p:nvCxnSpPr>
        <p:spPr>
          <a:xfrm>
            <a:off x="11018520" y="3017520"/>
            <a:ext cx="0" cy="1033271"/>
          </a:xfrm>
          <a:prstGeom prst="line">
            <a:avLst/>
          </a:prstGeom>
          <a:ln w="15240">
            <a:solidFill>
              <a:srgbClr val="8C30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5">
            <a:extLst>
              <a:ext uri="{FF2B5EF4-FFF2-40B4-BE49-F238E27FC236}">
                <a16:creationId xmlns:a16="http://schemas.microsoft.com/office/drawing/2014/main" id="{4C41BCB5-EE94-DA33-126D-A870D97FBF72}"/>
              </a:ext>
            </a:extLst>
          </p:cNvPr>
          <p:cNvCxnSpPr/>
          <p:nvPr/>
        </p:nvCxnSpPr>
        <p:spPr>
          <a:xfrm flipH="1">
            <a:off x="4187952" y="4050791"/>
            <a:ext cx="6830568" cy="0"/>
          </a:xfrm>
          <a:prstGeom prst="line">
            <a:avLst/>
          </a:prstGeom>
          <a:ln w="15240">
            <a:solidFill>
              <a:srgbClr val="8C30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645227EF-9F6B-638F-A489-7A778CF5C6B4}"/>
              </a:ext>
            </a:extLst>
          </p:cNvPr>
          <p:cNvSpPr txBox="1"/>
          <p:nvPr/>
        </p:nvSpPr>
        <p:spPr>
          <a:xfrm>
            <a:off x="6537960" y="4215384"/>
            <a:ext cx="3108960" cy="1860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8C3041"/>
                </a:solidFill>
              </a:rPr>
              <a:t>feedback de execução e de estado</a:t>
            </a: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557BFEBF-96C2-63F8-1E61-94C91191574B}"/>
              </a:ext>
            </a:extLst>
          </p:cNvPr>
          <p:cNvGraphicFramePr>
            <a:graphicFrameLocks noGrp="1"/>
          </p:cNvGraphicFramePr>
          <p:nvPr/>
        </p:nvGraphicFramePr>
        <p:xfrm>
          <a:off x="1115568" y="4736592"/>
          <a:ext cx="9921240" cy="1207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86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Heterogeneidade</a:t>
                      </a:r>
                    </a:p>
                  </a:txBody>
                  <a:tcPr marL="64008" marR="64008" marT="36576" marB="36576">
                    <a:solidFill>
                      <a:srgbClr val="1722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Exemplos de capacidade</a:t>
                      </a:r>
                    </a:p>
                  </a:txBody>
                  <a:tcPr marL="64008" marR="64008" marT="36576" marB="36576">
                    <a:solidFill>
                      <a:srgbClr val="1722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72235"/>
                          </a:solidFill>
                          <a:latin typeface="Aptos"/>
                        </a:rPr>
                        <a:t>Agentes aéreos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72235"/>
                          </a:solidFill>
                          <a:latin typeface="Aptos"/>
                        </a:rPr>
                        <a:t>percepção, busca, cobertura e transporte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72235"/>
                          </a:solidFill>
                          <a:latin typeface="Aptos"/>
                        </a:rPr>
                        <a:t>Agentes terrestres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72235"/>
                          </a:solidFill>
                          <a:latin typeface="Aptos"/>
                        </a:rPr>
                        <a:t>logística, inspeção e manipulação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72235"/>
                          </a:solidFill>
                          <a:latin typeface="Aptos"/>
                        </a:rPr>
                        <a:t>Modelos híbridos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72235"/>
                          </a:solidFill>
                          <a:latin typeface="Aptos"/>
                        </a:rPr>
                        <a:t>LLM para planejamento; controle/RL para ação temporal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66573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64114E5-CD19-841C-956E-2A77C6CED184}"/>
              </a:ext>
            </a:extLst>
          </p:cNvPr>
          <p:cNvSpPr txBox="1"/>
          <p:nvPr/>
        </p:nvSpPr>
        <p:spPr>
          <a:xfrm>
            <a:off x="594360" y="219456"/>
            <a:ext cx="5669280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 i="0">
                <a:solidFill>
                  <a:srgbClr val="8C3041"/>
                </a:solidFill>
              </a:rPr>
              <a:t>4 · YANG ET AL. (2025): AUTOHMA-LLM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9B3251-8908-D874-50F2-121A5A336DF0}"/>
              </a:ext>
            </a:extLst>
          </p:cNvPr>
          <p:cNvSpPr txBox="1"/>
          <p:nvPr/>
        </p:nvSpPr>
        <p:spPr>
          <a:xfrm>
            <a:off x="594360" y="502920"/>
            <a:ext cx="10789920" cy="387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pt-BR" sz="2500" b="1" dirty="0">
                <a:solidFill>
                  <a:srgbClr val="172235"/>
                </a:solidFill>
              </a:rPr>
              <a:t>C</a:t>
            </a:r>
            <a:r>
              <a:rPr sz="2500" b="1" i="0" dirty="0" err="1">
                <a:solidFill>
                  <a:srgbClr val="172235"/>
                </a:solidFill>
              </a:rPr>
              <a:t>omunicação</a:t>
            </a:r>
            <a:r>
              <a:rPr sz="2500" b="1" i="0" dirty="0">
                <a:solidFill>
                  <a:srgbClr val="172235"/>
                </a:solidFill>
              </a:rPr>
              <a:t> </a:t>
            </a:r>
            <a:r>
              <a:rPr sz="2500" b="1" i="0" dirty="0" err="1">
                <a:solidFill>
                  <a:srgbClr val="172235"/>
                </a:solidFill>
              </a:rPr>
              <a:t>como</a:t>
            </a:r>
            <a:r>
              <a:rPr sz="2500" b="1" i="0" dirty="0">
                <a:solidFill>
                  <a:srgbClr val="172235"/>
                </a:solidFill>
              </a:rPr>
              <a:t> </a:t>
            </a:r>
            <a:r>
              <a:rPr sz="2500" b="1" i="0" dirty="0" err="1">
                <a:solidFill>
                  <a:srgbClr val="172235"/>
                </a:solidFill>
              </a:rPr>
              <a:t>variável</a:t>
            </a:r>
            <a:r>
              <a:rPr sz="2500" b="1" i="0" dirty="0">
                <a:solidFill>
                  <a:srgbClr val="172235"/>
                </a:solidFill>
              </a:rPr>
              <a:t> </a:t>
            </a:r>
            <a:r>
              <a:rPr sz="2500" b="1" i="0" dirty="0" err="1">
                <a:solidFill>
                  <a:srgbClr val="172235"/>
                </a:solidFill>
              </a:rPr>
              <a:t>arquitetural</a:t>
            </a:r>
            <a:endParaRPr sz="2500" b="1" i="0" dirty="0">
              <a:solidFill>
                <a:srgbClr val="17223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FADD7C-7D2A-A47A-E6F5-013348BED189}"/>
              </a:ext>
            </a:extLst>
          </p:cNvPr>
          <p:cNvSpPr txBox="1"/>
          <p:nvPr/>
        </p:nvSpPr>
        <p:spPr>
          <a:xfrm>
            <a:off x="11155680" y="246888"/>
            <a:ext cx="420624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 i="0" dirty="0">
                <a:solidFill>
                  <a:srgbClr val="4D5968"/>
                </a:solidFill>
              </a:rPr>
              <a:t>12</a:t>
            </a:r>
            <a:r>
              <a:rPr lang="pt-BR" sz="900" b="0" i="0" dirty="0">
                <a:solidFill>
                  <a:srgbClr val="4D5968"/>
                </a:solidFill>
              </a:rPr>
              <a:t> de 19</a:t>
            </a:r>
            <a:endParaRPr sz="900" b="0" i="0" dirty="0">
              <a:solidFill>
                <a:srgbClr val="4D5968"/>
              </a:solidFill>
            </a:endParaRPr>
          </a:p>
        </p:txBody>
      </p:sp>
      <p:cxnSp>
        <p:nvCxnSpPr>
          <p:cNvPr id="7" name="Connector 4">
            <a:extLst>
              <a:ext uri="{FF2B5EF4-FFF2-40B4-BE49-F238E27FC236}">
                <a16:creationId xmlns:a16="http://schemas.microsoft.com/office/drawing/2014/main" id="{717AF369-CBE1-2B21-62E2-A80A78B2A316}"/>
              </a:ext>
            </a:extLst>
          </p:cNvPr>
          <p:cNvCxnSpPr/>
          <p:nvPr/>
        </p:nvCxnSpPr>
        <p:spPr>
          <a:xfrm>
            <a:off x="594360" y="1051560"/>
            <a:ext cx="11000232" cy="0"/>
          </a:xfrm>
          <a:prstGeom prst="line">
            <a:avLst/>
          </a:prstGeom>
          <a:ln w="13970">
            <a:solidFill>
              <a:srgbClr val="8C30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2442574-E1B7-C77F-409A-C8800DC1CB35}"/>
              </a:ext>
            </a:extLst>
          </p:cNvPr>
          <p:cNvGraphicFramePr>
            <a:graphicFrameLocks noGrp="1"/>
          </p:cNvGraphicFramePr>
          <p:nvPr/>
        </p:nvGraphicFramePr>
        <p:xfrm>
          <a:off x="841248" y="1426464"/>
          <a:ext cx="1051560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4839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Topologia / modelo</a:t>
                      </a:r>
                    </a:p>
                  </a:txBody>
                  <a:tcPr marL="64008" marR="64008" marT="36576" marB="36576">
                    <a:solidFill>
                      <a:srgbClr val="1722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Modelo pequeno</a:t>
                      </a:r>
                    </a:p>
                  </a:txBody>
                  <a:tcPr marL="64008" marR="64008" marT="36576" marB="36576">
                    <a:solidFill>
                      <a:srgbClr val="1722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LLM</a:t>
                      </a:r>
                    </a:p>
                  </a:txBody>
                  <a:tcPr marL="64008" marR="64008" marT="36576" marB="36576">
                    <a:solidFill>
                      <a:srgbClr val="1722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Híbrido</a:t>
                      </a:r>
                    </a:p>
                  </a:txBody>
                  <a:tcPr marL="64008" marR="64008" marT="36576" marB="36576">
                    <a:solidFill>
                      <a:srgbClr val="1722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4839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72235"/>
                          </a:solidFill>
                          <a:latin typeface="Aptos"/>
                        </a:rPr>
                        <a:t>Descentralizada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72235"/>
                          </a:solidFill>
                          <a:latin typeface="Aptos"/>
                        </a:rPr>
                        <a:t>baixa latência; coordenação limitada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72235"/>
                          </a:solidFill>
                          <a:latin typeface="Aptos"/>
                        </a:rPr>
                        <a:t>autonomia sem coordenador; alto custo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72235"/>
                          </a:solidFill>
                          <a:latin typeface="Aptos"/>
                        </a:rPr>
                        <a:t>decisão local + raciocínio sob demanda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4841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72235"/>
                          </a:solidFill>
                          <a:latin typeface="Aptos"/>
                        </a:rPr>
                        <a:t>Centralizada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72235"/>
                          </a:solidFill>
                          <a:latin typeface="Aptos"/>
                        </a:rPr>
                        <a:t>controle eficiente; menor flexibilidade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72235"/>
                          </a:solidFill>
                          <a:latin typeface="Aptos"/>
                        </a:rPr>
                        <a:t>planejamento global; gargalo e atraso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72235"/>
                          </a:solidFill>
                          <a:latin typeface="Aptos"/>
                        </a:rPr>
                        <a:t>planejamento global + execução especializada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D449EA0-16B1-47E6-55BF-219A44CAEE03}"/>
              </a:ext>
            </a:extLst>
          </p:cNvPr>
          <p:cNvSpPr txBox="1"/>
          <p:nvPr/>
        </p:nvSpPr>
        <p:spPr>
          <a:xfrm>
            <a:off x="868680" y="3794760"/>
            <a:ext cx="1097280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 i="0" dirty="0" err="1">
                <a:solidFill>
                  <a:srgbClr val="8C3041"/>
                </a:solidFill>
              </a:rPr>
              <a:t>Interpretação</a:t>
            </a:r>
            <a:endParaRPr sz="1400" b="1" i="0" dirty="0">
              <a:solidFill>
                <a:srgbClr val="8C304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679DBD-7027-A7A7-81F3-AD4FF00DE96E}"/>
              </a:ext>
            </a:extLst>
          </p:cNvPr>
          <p:cNvSpPr txBox="1"/>
          <p:nvPr/>
        </p:nvSpPr>
        <p:spPr>
          <a:xfrm>
            <a:off x="1975104" y="3721608"/>
            <a:ext cx="8942832" cy="5065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 i="0" dirty="0">
                <a:solidFill>
                  <a:srgbClr val="172235"/>
                </a:solidFill>
              </a:rPr>
              <a:t>A </a:t>
            </a:r>
            <a:r>
              <a:rPr sz="1600" b="1" i="0" dirty="0" err="1">
                <a:solidFill>
                  <a:srgbClr val="172235"/>
                </a:solidFill>
              </a:rPr>
              <a:t>topologia</a:t>
            </a:r>
            <a:r>
              <a:rPr sz="1600" b="1" i="0" dirty="0">
                <a:solidFill>
                  <a:srgbClr val="172235"/>
                </a:solidFill>
              </a:rPr>
              <a:t> </a:t>
            </a:r>
            <a:r>
              <a:rPr sz="1600" b="1" i="0" dirty="0" err="1">
                <a:solidFill>
                  <a:srgbClr val="172235"/>
                </a:solidFill>
              </a:rPr>
              <a:t>determina</a:t>
            </a:r>
            <a:r>
              <a:rPr sz="1600" b="1" i="0" dirty="0">
                <a:solidFill>
                  <a:srgbClr val="172235"/>
                </a:solidFill>
              </a:rPr>
              <a:t> </a:t>
            </a:r>
            <a:r>
              <a:rPr sz="1600" b="1" i="0" dirty="0" err="1">
                <a:solidFill>
                  <a:srgbClr val="172235"/>
                </a:solidFill>
              </a:rPr>
              <a:t>distribuição</a:t>
            </a:r>
            <a:r>
              <a:rPr sz="1600" b="1" i="0" dirty="0">
                <a:solidFill>
                  <a:srgbClr val="172235"/>
                </a:solidFill>
              </a:rPr>
              <a:t> de </a:t>
            </a:r>
            <a:r>
              <a:rPr sz="1600" b="1" i="0" dirty="0" err="1">
                <a:solidFill>
                  <a:srgbClr val="172235"/>
                </a:solidFill>
              </a:rPr>
              <a:t>autoridade</a:t>
            </a:r>
            <a:r>
              <a:rPr sz="1600" b="1" i="0" dirty="0">
                <a:solidFill>
                  <a:srgbClr val="172235"/>
                </a:solidFill>
              </a:rPr>
              <a:t>, </a:t>
            </a:r>
            <a:r>
              <a:rPr sz="1600" b="1" i="0" dirty="0" err="1">
                <a:solidFill>
                  <a:srgbClr val="172235"/>
                </a:solidFill>
              </a:rPr>
              <a:t>caminhos</a:t>
            </a:r>
            <a:r>
              <a:rPr sz="1600" b="1" i="0" dirty="0">
                <a:solidFill>
                  <a:srgbClr val="172235"/>
                </a:solidFill>
              </a:rPr>
              <a:t> de </a:t>
            </a:r>
            <a:r>
              <a:rPr sz="1600" b="1" i="0" dirty="0" err="1">
                <a:solidFill>
                  <a:srgbClr val="172235"/>
                </a:solidFill>
              </a:rPr>
              <a:t>falha</a:t>
            </a:r>
            <a:r>
              <a:rPr sz="1600" b="1" i="0" dirty="0">
                <a:solidFill>
                  <a:srgbClr val="172235"/>
                </a:solidFill>
              </a:rPr>
              <a:t>, volume de </a:t>
            </a:r>
            <a:r>
              <a:rPr sz="1600" b="1" i="0" dirty="0" err="1">
                <a:solidFill>
                  <a:srgbClr val="172235"/>
                </a:solidFill>
              </a:rPr>
              <a:t>mensagens</a:t>
            </a:r>
            <a:r>
              <a:rPr sz="1600" b="1" i="0" dirty="0">
                <a:solidFill>
                  <a:srgbClr val="172235"/>
                </a:solidFill>
              </a:rPr>
              <a:t> e </a:t>
            </a:r>
            <a:r>
              <a:rPr sz="1600" b="1" i="0" dirty="0" err="1">
                <a:solidFill>
                  <a:srgbClr val="172235"/>
                </a:solidFill>
              </a:rPr>
              <a:t>latência</a:t>
            </a:r>
            <a:r>
              <a:rPr sz="1600" b="1" i="0" dirty="0">
                <a:solidFill>
                  <a:srgbClr val="172235"/>
                </a:solidFill>
              </a:rPr>
              <a:t> de </a:t>
            </a:r>
            <a:r>
              <a:rPr sz="1600" b="1" i="0" dirty="0" err="1">
                <a:solidFill>
                  <a:srgbClr val="172235"/>
                </a:solidFill>
              </a:rPr>
              <a:t>resposta</a:t>
            </a:r>
            <a:r>
              <a:rPr sz="1600" b="1" i="0" dirty="0">
                <a:solidFill>
                  <a:srgbClr val="172235"/>
                </a:solidFill>
              </a:rPr>
              <a:t>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DCD9FBE-6813-FBD5-52DC-34B51815D0AE}"/>
              </a:ext>
            </a:extLst>
          </p:cNvPr>
          <p:cNvSpPr/>
          <p:nvPr/>
        </p:nvSpPr>
        <p:spPr>
          <a:xfrm>
            <a:off x="868680" y="4709160"/>
            <a:ext cx="498348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274C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AFBBC6-2782-C760-BD61-A6FB39F83ECC}"/>
              </a:ext>
            </a:extLst>
          </p:cNvPr>
          <p:cNvSpPr txBox="1"/>
          <p:nvPr/>
        </p:nvSpPr>
        <p:spPr>
          <a:xfrm>
            <a:off x="1097280" y="4919472"/>
            <a:ext cx="1097280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 i="0" dirty="0" err="1">
                <a:solidFill>
                  <a:srgbClr val="274C77"/>
                </a:solidFill>
              </a:rPr>
              <a:t>Contribuição</a:t>
            </a:r>
            <a:endParaRPr sz="1400" b="1" i="0" dirty="0">
              <a:solidFill>
                <a:srgbClr val="274C77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7E8BE0-9401-9D20-3482-238ECB31AA4E}"/>
              </a:ext>
            </a:extLst>
          </p:cNvPr>
          <p:cNvSpPr txBox="1"/>
          <p:nvPr/>
        </p:nvSpPr>
        <p:spPr>
          <a:xfrm>
            <a:off x="2167128" y="4846320"/>
            <a:ext cx="3310128" cy="4749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72235"/>
                </a:solidFill>
              </a:rPr>
              <a:t>Compara arquiteturas em vez de assumir uma forma única de colaboração.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5114EE5-84B0-B6E3-96E6-FDB38647B04D}"/>
              </a:ext>
            </a:extLst>
          </p:cNvPr>
          <p:cNvSpPr/>
          <p:nvPr/>
        </p:nvSpPr>
        <p:spPr>
          <a:xfrm>
            <a:off x="6144768" y="4709160"/>
            <a:ext cx="498348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A3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8ADFD3-F332-796E-4FD2-3E0351F471FF}"/>
              </a:ext>
            </a:extLst>
          </p:cNvPr>
          <p:cNvSpPr txBox="1"/>
          <p:nvPr/>
        </p:nvSpPr>
        <p:spPr>
          <a:xfrm>
            <a:off x="6373368" y="4919472"/>
            <a:ext cx="822960" cy="217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 i="0" dirty="0" err="1">
                <a:solidFill>
                  <a:srgbClr val="A33A32"/>
                </a:solidFill>
              </a:rPr>
              <a:t>Tensão</a:t>
            </a:r>
            <a:endParaRPr sz="1400" b="1" i="0" dirty="0">
              <a:solidFill>
                <a:srgbClr val="A33A32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FEB62A-5F64-D77B-877B-BA0CA8FF5E02}"/>
              </a:ext>
            </a:extLst>
          </p:cNvPr>
          <p:cNvSpPr txBox="1"/>
          <p:nvPr/>
        </p:nvSpPr>
        <p:spPr>
          <a:xfrm>
            <a:off x="7205472" y="4846320"/>
            <a:ext cx="3547872" cy="4749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72235"/>
                </a:solidFill>
              </a:rPr>
              <a:t>Centralização melhora coerência, mas cria gargalo e ponto único de falha.</a:t>
            </a:r>
          </a:p>
        </p:txBody>
      </p:sp>
    </p:spTree>
    <p:extLst>
      <p:ext uri="{BB962C8B-B14F-4D97-AF65-F5344CB8AC3E}">
        <p14:creationId xmlns:p14="http://schemas.microsoft.com/office/powerpoint/2010/main" val="13220485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C8D32B0-4937-E2D8-06C2-E49BED0C55EB}"/>
              </a:ext>
            </a:extLst>
          </p:cNvPr>
          <p:cNvSpPr txBox="1"/>
          <p:nvPr/>
        </p:nvSpPr>
        <p:spPr>
          <a:xfrm>
            <a:off x="594360" y="219456"/>
            <a:ext cx="5669280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 i="0">
                <a:solidFill>
                  <a:srgbClr val="8C3041"/>
                </a:solidFill>
              </a:rPr>
              <a:t>4 · YANG ET AL. (2025): AUTOHMA-LLM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3569C3-7E3D-3597-DB11-EAFA83971D12}"/>
              </a:ext>
            </a:extLst>
          </p:cNvPr>
          <p:cNvSpPr txBox="1"/>
          <p:nvPr/>
        </p:nvSpPr>
        <p:spPr>
          <a:xfrm>
            <a:off x="594360" y="502920"/>
            <a:ext cx="10789920" cy="387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pt-BR" sz="2500" b="1" i="0" dirty="0">
                <a:solidFill>
                  <a:srgbClr val="172235"/>
                </a:solidFill>
              </a:rPr>
              <a:t>Evid</a:t>
            </a:r>
            <a:r>
              <a:rPr lang="pt-BR" sz="2500" b="1" dirty="0">
                <a:solidFill>
                  <a:srgbClr val="172235"/>
                </a:solidFill>
              </a:rPr>
              <a:t>ência reportada para o </a:t>
            </a:r>
            <a:r>
              <a:rPr sz="2500" b="1" i="0" dirty="0">
                <a:solidFill>
                  <a:srgbClr val="172235"/>
                </a:solidFill>
              </a:rPr>
              <a:t>AutoHMA-LLM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3D2B89-DC4C-94B8-BECE-7467ACE924F0}"/>
              </a:ext>
            </a:extLst>
          </p:cNvPr>
          <p:cNvSpPr txBox="1"/>
          <p:nvPr/>
        </p:nvSpPr>
        <p:spPr>
          <a:xfrm>
            <a:off x="11155680" y="246888"/>
            <a:ext cx="420624" cy="284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 i="0" dirty="0">
                <a:solidFill>
                  <a:srgbClr val="4D5968"/>
                </a:solidFill>
              </a:rPr>
              <a:t>13</a:t>
            </a:r>
            <a:r>
              <a:rPr lang="pt-BR" sz="900" b="0" i="0" dirty="0">
                <a:solidFill>
                  <a:srgbClr val="4D5968"/>
                </a:solidFill>
              </a:rPr>
              <a:t> de 19</a:t>
            </a:r>
          </a:p>
          <a:p>
            <a:pPr algn="r">
              <a:lnSpc>
                <a:spcPct val="105000"/>
              </a:lnSpc>
              <a:spcAft>
                <a:spcPts val="0"/>
              </a:spcAft>
            </a:pPr>
            <a:endParaRPr sz="900" b="0" i="0" dirty="0">
              <a:solidFill>
                <a:srgbClr val="4D5968"/>
              </a:solidFill>
            </a:endParaRPr>
          </a:p>
        </p:txBody>
      </p:sp>
      <p:cxnSp>
        <p:nvCxnSpPr>
          <p:cNvPr id="7" name="Connector 4">
            <a:extLst>
              <a:ext uri="{FF2B5EF4-FFF2-40B4-BE49-F238E27FC236}">
                <a16:creationId xmlns:a16="http://schemas.microsoft.com/office/drawing/2014/main" id="{F358E9D8-75BE-6C11-9001-BA74B94D1130}"/>
              </a:ext>
            </a:extLst>
          </p:cNvPr>
          <p:cNvCxnSpPr/>
          <p:nvPr/>
        </p:nvCxnSpPr>
        <p:spPr>
          <a:xfrm>
            <a:off x="594360" y="1051560"/>
            <a:ext cx="11000232" cy="0"/>
          </a:xfrm>
          <a:prstGeom prst="line">
            <a:avLst/>
          </a:prstGeom>
          <a:ln w="13970">
            <a:solidFill>
              <a:srgbClr val="8C30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87A4375-2322-A93A-C3A3-F39151271107}"/>
              </a:ext>
            </a:extLst>
          </p:cNvPr>
          <p:cNvSpPr txBox="1"/>
          <p:nvPr/>
        </p:nvSpPr>
        <p:spPr>
          <a:xfrm>
            <a:off x="749808" y="1353312"/>
            <a:ext cx="2011680" cy="2790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 i="0">
                <a:solidFill>
                  <a:srgbClr val="274C77"/>
                </a:solidFill>
              </a:rPr>
              <a:t>Cenários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5926A62-359A-53C5-A39B-115AF6257F0C}"/>
              </a:ext>
            </a:extLst>
          </p:cNvPr>
          <p:cNvSpPr/>
          <p:nvPr/>
        </p:nvSpPr>
        <p:spPr>
          <a:xfrm>
            <a:off x="804672" y="1847088"/>
            <a:ext cx="384048" cy="38404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74C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74C77"/>
                </a:solidFill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5DA209-0C05-CA37-723E-3F7D13AEE124}"/>
              </a:ext>
            </a:extLst>
          </p:cNvPr>
          <p:cNvSpPr txBox="1"/>
          <p:nvPr/>
        </p:nvSpPr>
        <p:spPr>
          <a:xfrm>
            <a:off x="1389888" y="1892807"/>
            <a:ext cx="2788920" cy="232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72235"/>
                </a:solidFill>
              </a:rPr>
              <a:t>Logística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DAFAC9C-2A56-B7B9-5BD5-AD2935911972}"/>
              </a:ext>
            </a:extLst>
          </p:cNvPr>
          <p:cNvSpPr/>
          <p:nvPr/>
        </p:nvSpPr>
        <p:spPr>
          <a:xfrm>
            <a:off x="804672" y="2505456"/>
            <a:ext cx="384048" cy="38404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E6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3E6B5C"/>
                </a:solidFill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850676-844A-430E-91E0-D68F1B1404ED}"/>
              </a:ext>
            </a:extLst>
          </p:cNvPr>
          <p:cNvSpPr txBox="1"/>
          <p:nvPr/>
        </p:nvSpPr>
        <p:spPr>
          <a:xfrm>
            <a:off x="1389888" y="2551176"/>
            <a:ext cx="2788920" cy="232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72235"/>
                </a:solidFill>
              </a:rPr>
              <a:t>Inspeção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682F00D-8314-5A61-9477-20A9FDB48642}"/>
              </a:ext>
            </a:extLst>
          </p:cNvPr>
          <p:cNvSpPr/>
          <p:nvPr/>
        </p:nvSpPr>
        <p:spPr>
          <a:xfrm>
            <a:off x="804672" y="3163824"/>
            <a:ext cx="384048" cy="38404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8C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8C3041"/>
                </a:solidFill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4F2FC4-7B62-EE63-F104-B443FD79B5AD}"/>
              </a:ext>
            </a:extLst>
          </p:cNvPr>
          <p:cNvSpPr txBox="1"/>
          <p:nvPr/>
        </p:nvSpPr>
        <p:spPr>
          <a:xfrm>
            <a:off x="1389888" y="3209544"/>
            <a:ext cx="2788920" cy="232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72235"/>
                </a:solidFill>
              </a:rPr>
              <a:t>Busca e salvamento</a:t>
            </a:r>
          </a:p>
        </p:txBody>
      </p:sp>
      <p:cxnSp>
        <p:nvCxnSpPr>
          <p:cNvPr id="15" name="Connector 12">
            <a:extLst>
              <a:ext uri="{FF2B5EF4-FFF2-40B4-BE49-F238E27FC236}">
                <a16:creationId xmlns:a16="http://schemas.microsoft.com/office/drawing/2014/main" id="{940C1502-750C-1118-6DA6-AF43DAF4DBCF}"/>
              </a:ext>
            </a:extLst>
          </p:cNvPr>
          <p:cNvCxnSpPr/>
          <p:nvPr/>
        </p:nvCxnSpPr>
        <p:spPr>
          <a:xfrm>
            <a:off x="4160520" y="1389888"/>
            <a:ext cx="0" cy="2651760"/>
          </a:xfrm>
          <a:prstGeom prst="line">
            <a:avLst/>
          </a:prstGeom>
          <a:ln w="1397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4C812B1-47E1-6748-B712-293D570838A3}"/>
              </a:ext>
            </a:extLst>
          </p:cNvPr>
          <p:cNvSpPr txBox="1"/>
          <p:nvPr/>
        </p:nvSpPr>
        <p:spPr>
          <a:xfrm>
            <a:off x="4617720" y="1709928"/>
            <a:ext cx="1920240" cy="4185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3E6B5C"/>
                </a:solidFill>
              </a:rPr>
              <a:t>+5,7%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1F4798-8FA6-830E-3D0B-2484AC71860D}"/>
              </a:ext>
            </a:extLst>
          </p:cNvPr>
          <p:cNvSpPr txBox="1"/>
          <p:nvPr/>
        </p:nvSpPr>
        <p:spPr>
          <a:xfrm>
            <a:off x="4617720" y="2340864"/>
            <a:ext cx="192024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172235"/>
                </a:solidFill>
              </a:rPr>
              <a:t>acurácia de conclusão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D347A0-96B4-1277-BBA0-A4A586F02675}"/>
              </a:ext>
            </a:extLst>
          </p:cNvPr>
          <p:cNvSpPr txBox="1"/>
          <p:nvPr/>
        </p:nvSpPr>
        <p:spPr>
          <a:xfrm>
            <a:off x="6830568" y="1709928"/>
            <a:ext cx="1920240" cy="4185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274C77"/>
                </a:solidFill>
              </a:rPr>
              <a:t>−46%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A61525-21F3-FF27-7195-72076BE23A7B}"/>
              </a:ext>
            </a:extLst>
          </p:cNvPr>
          <p:cNvSpPr txBox="1"/>
          <p:nvPr/>
        </p:nvSpPr>
        <p:spPr>
          <a:xfrm>
            <a:off x="6830568" y="2340864"/>
            <a:ext cx="192024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172235"/>
                </a:solidFill>
              </a:rPr>
              <a:t>passos de comunicação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2E6F0C8-BA1E-8E39-679B-6E16EF8C240F}"/>
              </a:ext>
            </a:extLst>
          </p:cNvPr>
          <p:cNvSpPr txBox="1"/>
          <p:nvPr/>
        </p:nvSpPr>
        <p:spPr>
          <a:xfrm>
            <a:off x="9043416" y="1709928"/>
            <a:ext cx="1920240" cy="4185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8C3041"/>
                </a:solidFill>
              </a:rPr>
              <a:t>−31%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B1101C-607A-467E-F31D-608DADDAFF45}"/>
              </a:ext>
            </a:extLst>
          </p:cNvPr>
          <p:cNvSpPr txBox="1"/>
          <p:nvPr/>
        </p:nvSpPr>
        <p:spPr>
          <a:xfrm>
            <a:off x="9043416" y="2340864"/>
            <a:ext cx="192024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172235"/>
                </a:solidFill>
              </a:rPr>
              <a:t>tokens e chamadas de API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D0BA42-B8B0-C038-2D4E-0FD94F0603C3}"/>
              </a:ext>
            </a:extLst>
          </p:cNvPr>
          <p:cNvSpPr txBox="1"/>
          <p:nvPr/>
        </p:nvSpPr>
        <p:spPr>
          <a:xfrm>
            <a:off x="4498848" y="3246120"/>
            <a:ext cx="6720840" cy="5065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172235"/>
                </a:solidFill>
              </a:rPr>
              <a:t>Os experimentos também introduzem atraso e perda de pacotes, aproximando a avaliação de condições distribuídas não ideais.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1A1F7C6-D9BF-B176-E3AD-48AC7FCAF7AA}"/>
              </a:ext>
            </a:extLst>
          </p:cNvPr>
          <p:cNvSpPr/>
          <p:nvPr/>
        </p:nvSpPr>
        <p:spPr>
          <a:xfrm>
            <a:off x="877824" y="4645152"/>
            <a:ext cx="10451592" cy="1115568"/>
          </a:xfrm>
          <a:prstGeom prst="rect">
            <a:avLst/>
          </a:prstGeom>
          <a:solidFill>
            <a:srgbClr val="ECEEF1"/>
          </a:solidFill>
          <a:ln w="10160">
            <a:solidFill>
              <a:srgbClr val="D9D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A92BA40-F0EB-50B5-7B6A-8F06D5EC00C4}"/>
              </a:ext>
            </a:extLst>
          </p:cNvPr>
          <p:cNvSpPr txBox="1"/>
          <p:nvPr/>
        </p:nvSpPr>
        <p:spPr>
          <a:xfrm>
            <a:off x="1115568" y="4769610"/>
            <a:ext cx="1755648" cy="5065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 i="0" dirty="0" err="1">
                <a:solidFill>
                  <a:srgbClr val="8C3041"/>
                </a:solidFill>
              </a:rPr>
              <a:t>Interpretação</a:t>
            </a:r>
            <a:r>
              <a:rPr sz="1600" b="1" i="0" dirty="0">
                <a:solidFill>
                  <a:srgbClr val="8C3041"/>
                </a:solidFill>
              </a:rPr>
              <a:t> </a:t>
            </a:r>
            <a:br>
              <a:rPr lang="pt-BR" sz="1600" b="1" i="0" dirty="0">
                <a:solidFill>
                  <a:srgbClr val="8C3041"/>
                </a:solidFill>
              </a:rPr>
            </a:br>
            <a:r>
              <a:rPr sz="1600" b="1" i="0" dirty="0" err="1">
                <a:solidFill>
                  <a:srgbClr val="8C3041"/>
                </a:solidFill>
              </a:rPr>
              <a:t>cautelosa</a:t>
            </a:r>
            <a:endParaRPr sz="1600" b="1" i="0" dirty="0">
              <a:solidFill>
                <a:srgbClr val="8C304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70EB86-2EA7-4B3E-98E9-56DB5B5DC9B3}"/>
              </a:ext>
            </a:extLst>
          </p:cNvPr>
          <p:cNvSpPr txBox="1"/>
          <p:nvPr/>
        </p:nvSpPr>
        <p:spPr>
          <a:xfrm>
            <a:off x="3081564" y="4782312"/>
            <a:ext cx="8119872" cy="4432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 i="0" dirty="0" err="1">
                <a:solidFill>
                  <a:srgbClr val="172235"/>
                </a:solidFill>
              </a:rPr>
              <a:t>Os</a:t>
            </a:r>
            <a:r>
              <a:rPr sz="1400" b="1" i="0" dirty="0">
                <a:solidFill>
                  <a:srgbClr val="172235"/>
                </a:solidFill>
              </a:rPr>
              <a:t> </a:t>
            </a:r>
            <a:r>
              <a:rPr sz="1400" b="1" i="0" dirty="0" err="1">
                <a:solidFill>
                  <a:srgbClr val="172235"/>
                </a:solidFill>
              </a:rPr>
              <a:t>resultados</a:t>
            </a:r>
            <a:r>
              <a:rPr sz="1400" b="1" i="0" dirty="0">
                <a:solidFill>
                  <a:srgbClr val="172235"/>
                </a:solidFill>
              </a:rPr>
              <a:t> </a:t>
            </a:r>
            <a:r>
              <a:rPr sz="1400" b="1" i="0" dirty="0" err="1">
                <a:solidFill>
                  <a:srgbClr val="172235"/>
                </a:solidFill>
              </a:rPr>
              <a:t>apoiam</a:t>
            </a:r>
            <a:r>
              <a:rPr sz="1400" b="1" i="0" dirty="0">
                <a:solidFill>
                  <a:srgbClr val="172235"/>
                </a:solidFill>
              </a:rPr>
              <a:t> a </a:t>
            </a:r>
            <a:r>
              <a:rPr sz="1400" b="1" i="0" dirty="0" err="1">
                <a:solidFill>
                  <a:srgbClr val="172235"/>
                </a:solidFill>
              </a:rPr>
              <a:t>arquitetura</a:t>
            </a:r>
            <a:r>
              <a:rPr sz="1400" b="1" i="0" dirty="0">
                <a:solidFill>
                  <a:srgbClr val="172235"/>
                </a:solidFill>
              </a:rPr>
              <a:t> </a:t>
            </a:r>
            <a:r>
              <a:rPr sz="1400" b="1" i="0" dirty="0" err="1">
                <a:solidFill>
                  <a:srgbClr val="172235"/>
                </a:solidFill>
              </a:rPr>
              <a:t>híbrida</a:t>
            </a:r>
            <a:r>
              <a:rPr lang="pt-BR" sz="1400" b="1" dirty="0">
                <a:solidFill>
                  <a:srgbClr val="172235"/>
                </a:solidFill>
              </a:rPr>
              <a:t>, mas</a:t>
            </a:r>
            <a:r>
              <a:rPr sz="1400" b="1" i="0" dirty="0">
                <a:solidFill>
                  <a:srgbClr val="172235"/>
                </a:solidFill>
              </a:rPr>
              <a:t> não </a:t>
            </a:r>
            <a:r>
              <a:rPr sz="1400" b="1" i="0" dirty="0" err="1">
                <a:solidFill>
                  <a:srgbClr val="172235"/>
                </a:solidFill>
              </a:rPr>
              <a:t>isolam</a:t>
            </a:r>
            <a:r>
              <a:rPr sz="1400" b="1" i="0" dirty="0">
                <a:solidFill>
                  <a:srgbClr val="172235"/>
                </a:solidFill>
              </a:rPr>
              <a:t> </a:t>
            </a:r>
            <a:r>
              <a:rPr sz="1400" b="1" i="0" dirty="0" err="1">
                <a:solidFill>
                  <a:srgbClr val="172235"/>
                </a:solidFill>
              </a:rPr>
              <a:t>integralmente</a:t>
            </a:r>
            <a:r>
              <a:rPr sz="1400" b="1" i="0" dirty="0">
                <a:solidFill>
                  <a:srgbClr val="172235"/>
                </a:solidFill>
              </a:rPr>
              <a:t> </a:t>
            </a:r>
            <a:r>
              <a:rPr sz="1400" b="1" i="0" dirty="0" err="1">
                <a:solidFill>
                  <a:srgbClr val="172235"/>
                </a:solidFill>
              </a:rPr>
              <a:t>os</a:t>
            </a:r>
            <a:r>
              <a:rPr sz="1400" b="1" i="0" dirty="0">
                <a:solidFill>
                  <a:srgbClr val="172235"/>
                </a:solidFill>
              </a:rPr>
              <a:t> </a:t>
            </a:r>
            <a:r>
              <a:rPr sz="1400" b="1" i="0" dirty="0" err="1">
                <a:solidFill>
                  <a:srgbClr val="172235"/>
                </a:solidFill>
              </a:rPr>
              <a:t>efeitos</a:t>
            </a:r>
            <a:r>
              <a:rPr sz="1400" b="1" i="0" dirty="0">
                <a:solidFill>
                  <a:srgbClr val="172235"/>
                </a:solidFill>
              </a:rPr>
              <a:t> de </a:t>
            </a:r>
            <a:r>
              <a:rPr sz="1400" b="1" i="0" dirty="0" err="1">
                <a:solidFill>
                  <a:srgbClr val="172235"/>
                </a:solidFill>
              </a:rPr>
              <a:t>hierarquia</a:t>
            </a:r>
            <a:r>
              <a:rPr sz="1400" b="1" i="0" dirty="0">
                <a:solidFill>
                  <a:srgbClr val="172235"/>
                </a:solidFill>
              </a:rPr>
              <a:t>, </a:t>
            </a:r>
            <a:r>
              <a:rPr sz="1400" b="1" i="0" dirty="0" err="1">
                <a:solidFill>
                  <a:srgbClr val="172235"/>
                </a:solidFill>
              </a:rPr>
              <a:t>modelo</a:t>
            </a:r>
            <a:r>
              <a:rPr sz="1400" b="1" i="0" dirty="0">
                <a:solidFill>
                  <a:srgbClr val="172235"/>
                </a:solidFill>
              </a:rPr>
              <a:t>, </a:t>
            </a:r>
            <a:r>
              <a:rPr sz="1400" b="1" i="0" dirty="0" err="1">
                <a:solidFill>
                  <a:srgbClr val="172235"/>
                </a:solidFill>
              </a:rPr>
              <a:t>política</a:t>
            </a:r>
            <a:r>
              <a:rPr sz="1400" b="1" i="0" dirty="0">
                <a:solidFill>
                  <a:srgbClr val="172235"/>
                </a:solidFill>
              </a:rPr>
              <a:t> de </a:t>
            </a:r>
            <a:r>
              <a:rPr sz="1400" b="1" i="0" dirty="0" err="1">
                <a:solidFill>
                  <a:srgbClr val="172235"/>
                </a:solidFill>
              </a:rPr>
              <a:t>controle</a:t>
            </a:r>
            <a:r>
              <a:rPr sz="1400" b="1" i="0" dirty="0">
                <a:solidFill>
                  <a:srgbClr val="172235"/>
                </a:solidFill>
              </a:rPr>
              <a:t> e </a:t>
            </a:r>
            <a:r>
              <a:rPr sz="1400" b="1" i="0" dirty="0" err="1">
                <a:solidFill>
                  <a:srgbClr val="172235"/>
                </a:solidFill>
              </a:rPr>
              <a:t>especialização</a:t>
            </a:r>
            <a:r>
              <a:rPr sz="1400" b="1" i="0" dirty="0">
                <a:solidFill>
                  <a:srgbClr val="172235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386827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35DCA81-3857-6F3E-9FB9-14C1E91B4B28}"/>
              </a:ext>
            </a:extLst>
          </p:cNvPr>
          <p:cNvSpPr txBox="1"/>
          <p:nvPr/>
        </p:nvSpPr>
        <p:spPr>
          <a:xfrm>
            <a:off x="594360" y="219456"/>
            <a:ext cx="5669280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 i="0">
                <a:solidFill>
                  <a:srgbClr val="8C3041"/>
                </a:solidFill>
              </a:rPr>
              <a:t>4 · YANG ET AL. (2025): AUTOHMA-LLM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132E0A-0A21-A398-DE09-CE160BE6F7D4}"/>
              </a:ext>
            </a:extLst>
          </p:cNvPr>
          <p:cNvSpPr txBox="1"/>
          <p:nvPr/>
        </p:nvSpPr>
        <p:spPr>
          <a:xfrm>
            <a:off x="594360" y="502920"/>
            <a:ext cx="10789920" cy="387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 i="0" dirty="0">
                <a:solidFill>
                  <a:srgbClr val="172235"/>
                </a:solidFill>
              </a:rPr>
              <a:t>A</a:t>
            </a:r>
            <a:r>
              <a:rPr lang="pt-BR" sz="2500" b="1" i="0" dirty="0" err="1">
                <a:solidFill>
                  <a:srgbClr val="172235"/>
                </a:solidFill>
              </a:rPr>
              <a:t>valiação</a:t>
            </a:r>
            <a:r>
              <a:rPr lang="pt-BR" sz="2500" b="1" i="0" dirty="0">
                <a:solidFill>
                  <a:srgbClr val="172235"/>
                </a:solidFill>
              </a:rPr>
              <a:t> cr</a:t>
            </a:r>
            <a:r>
              <a:rPr lang="pt-BR" sz="2500" b="1" dirty="0">
                <a:solidFill>
                  <a:srgbClr val="172235"/>
                </a:solidFill>
              </a:rPr>
              <a:t>ítica</a:t>
            </a:r>
            <a:endParaRPr sz="2500" b="1" i="0" dirty="0">
              <a:solidFill>
                <a:srgbClr val="17223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E36393-0706-D8BA-2D9B-C77A64BC0950}"/>
              </a:ext>
            </a:extLst>
          </p:cNvPr>
          <p:cNvSpPr txBox="1"/>
          <p:nvPr/>
        </p:nvSpPr>
        <p:spPr>
          <a:xfrm>
            <a:off x="11155680" y="246888"/>
            <a:ext cx="420624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 i="0" dirty="0">
                <a:solidFill>
                  <a:srgbClr val="4D5968"/>
                </a:solidFill>
              </a:rPr>
              <a:t>14</a:t>
            </a:r>
            <a:r>
              <a:rPr lang="pt-BR" sz="900" b="0" i="0" dirty="0">
                <a:solidFill>
                  <a:srgbClr val="4D5968"/>
                </a:solidFill>
              </a:rPr>
              <a:t> de 19</a:t>
            </a:r>
            <a:endParaRPr sz="900" b="0" i="0" dirty="0">
              <a:solidFill>
                <a:srgbClr val="4D5968"/>
              </a:solidFill>
            </a:endParaRPr>
          </a:p>
        </p:txBody>
      </p:sp>
      <p:cxnSp>
        <p:nvCxnSpPr>
          <p:cNvPr id="7" name="Connector 4">
            <a:extLst>
              <a:ext uri="{FF2B5EF4-FFF2-40B4-BE49-F238E27FC236}">
                <a16:creationId xmlns:a16="http://schemas.microsoft.com/office/drawing/2014/main" id="{84AD0B61-0C8B-8A80-DB02-9781024D7E25}"/>
              </a:ext>
            </a:extLst>
          </p:cNvPr>
          <p:cNvCxnSpPr/>
          <p:nvPr/>
        </p:nvCxnSpPr>
        <p:spPr>
          <a:xfrm>
            <a:off x="594360" y="1051560"/>
            <a:ext cx="11000232" cy="0"/>
          </a:xfrm>
          <a:prstGeom prst="line">
            <a:avLst/>
          </a:prstGeom>
          <a:ln w="13970">
            <a:solidFill>
              <a:srgbClr val="8C30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8528B11-C7B0-DBD0-9947-73E77C6DBD48}"/>
              </a:ext>
            </a:extLst>
          </p:cNvPr>
          <p:cNvGraphicFramePr>
            <a:graphicFrameLocks noGrp="1"/>
          </p:cNvGraphicFramePr>
          <p:nvPr/>
        </p:nvGraphicFramePr>
        <p:xfrm>
          <a:off x="841248" y="1389888"/>
          <a:ext cx="10515600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95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740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Aspecto</a:t>
                      </a:r>
                    </a:p>
                  </a:txBody>
                  <a:tcPr marL="64008" marR="64008" marT="36576" marB="36576">
                    <a:solidFill>
                      <a:srgbClr val="1722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Síntese</a:t>
                      </a:r>
                    </a:p>
                  </a:txBody>
                  <a:tcPr marL="64008" marR="64008" marT="36576" marB="36576">
                    <a:solidFill>
                      <a:srgbClr val="1722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740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72235"/>
                          </a:solidFill>
                          <a:latin typeface="Aptos"/>
                        </a:rPr>
                        <a:t>Contribuição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72235"/>
                          </a:solidFill>
                          <a:latin typeface="Aptos"/>
                        </a:rPr>
                        <a:t>Integra planejamento LLM, modelos locais, controle/RL e agentes físicos heterogêneos.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740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72235"/>
                          </a:solidFill>
                          <a:latin typeface="Aptos"/>
                        </a:rPr>
                        <a:t>Organização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72235"/>
                          </a:solidFill>
                          <a:latin typeface="Aptos"/>
                        </a:rPr>
                        <a:t>Distingue planejador, despachantes e executores por autoridade e capacidade.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740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72235"/>
                          </a:solidFill>
                          <a:latin typeface="Aptos"/>
                        </a:rPr>
                        <a:t>Evidência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72235"/>
                          </a:solidFill>
                          <a:latin typeface="Aptos"/>
                        </a:rPr>
                        <a:t>Compara seis configurações e mede desempenho e custo comunicacional.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740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72235"/>
                          </a:solidFill>
                          <a:latin typeface="Aptos"/>
                        </a:rPr>
                        <a:t>Limitação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72235"/>
                          </a:solidFill>
                          <a:latin typeface="Aptos"/>
                        </a:rPr>
                        <a:t>O LLM em nuvem preserva forte centralização e pode constituir ponto único de falha.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740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72235"/>
                          </a:solidFill>
                          <a:latin typeface="Aptos"/>
                        </a:rPr>
                        <a:t>Validade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50" b="0" dirty="0">
                          <a:solidFill>
                            <a:srgbClr val="172235"/>
                          </a:solidFill>
                          <a:latin typeface="Aptos"/>
                        </a:rPr>
                        <a:t>Simulação e </a:t>
                      </a:r>
                      <a:r>
                        <a:rPr sz="1250" b="0" dirty="0" err="1">
                          <a:solidFill>
                            <a:srgbClr val="172235"/>
                          </a:solidFill>
                          <a:latin typeface="Aptos"/>
                        </a:rPr>
                        <a:t>poucos</a:t>
                      </a:r>
                      <a:r>
                        <a:rPr sz="1250" b="0" dirty="0">
                          <a:solidFill>
                            <a:srgbClr val="172235"/>
                          </a:solidFill>
                          <a:latin typeface="Aptos"/>
                        </a:rPr>
                        <a:t> baselines </a:t>
                      </a:r>
                      <a:r>
                        <a:rPr sz="1250" b="0" dirty="0" err="1">
                          <a:solidFill>
                            <a:srgbClr val="172235"/>
                          </a:solidFill>
                          <a:latin typeface="Aptos"/>
                        </a:rPr>
                        <a:t>externos</a:t>
                      </a:r>
                      <a:r>
                        <a:rPr sz="1250" b="0" dirty="0">
                          <a:solidFill>
                            <a:srgbClr val="172235"/>
                          </a:solidFill>
                          <a:latin typeface="Aptos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72235"/>
                          </a:solidFill>
                          <a:latin typeface="Aptos"/>
                        </a:rPr>
                        <a:t>limitam</a:t>
                      </a:r>
                      <a:r>
                        <a:rPr sz="1250" b="0" dirty="0">
                          <a:solidFill>
                            <a:srgbClr val="172235"/>
                          </a:solidFill>
                          <a:latin typeface="Aptos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72235"/>
                          </a:solidFill>
                          <a:latin typeface="Aptos"/>
                        </a:rPr>
                        <a:t>generalização</a:t>
                      </a:r>
                      <a:r>
                        <a:rPr sz="1250" b="0" dirty="0">
                          <a:solidFill>
                            <a:srgbClr val="172235"/>
                          </a:solidFill>
                          <a:latin typeface="Aptos"/>
                        </a:rPr>
                        <a:t> e </a:t>
                      </a:r>
                      <a:r>
                        <a:rPr sz="1250" b="0" dirty="0" err="1">
                          <a:solidFill>
                            <a:srgbClr val="172235"/>
                          </a:solidFill>
                          <a:latin typeface="Aptos"/>
                        </a:rPr>
                        <a:t>atribuição</a:t>
                      </a:r>
                      <a:r>
                        <a:rPr sz="1250" b="0" dirty="0">
                          <a:solidFill>
                            <a:srgbClr val="172235"/>
                          </a:solidFill>
                          <a:latin typeface="Aptos"/>
                        </a:rPr>
                        <a:t> causal.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597E9634-DA0D-DB7D-B0B6-BEB9C5B62142}"/>
              </a:ext>
            </a:extLst>
          </p:cNvPr>
          <p:cNvSpPr/>
          <p:nvPr/>
        </p:nvSpPr>
        <p:spPr>
          <a:xfrm>
            <a:off x="932688" y="5239512"/>
            <a:ext cx="103327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3E6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5694419-1D9A-D684-8588-7516D2E19F72}"/>
              </a:ext>
            </a:extLst>
          </p:cNvPr>
          <p:cNvSpPr txBox="1"/>
          <p:nvPr/>
        </p:nvSpPr>
        <p:spPr>
          <a:xfrm>
            <a:off x="715210" y="5353322"/>
            <a:ext cx="2468880" cy="5065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lang="pt-BR" sz="1600" b="1" i="0" dirty="0">
                <a:solidFill>
                  <a:srgbClr val="3E6B5C"/>
                </a:solidFill>
              </a:rPr>
              <a:t>Importância </a:t>
            </a:r>
            <a:br>
              <a:rPr lang="pt-BR" sz="1600" b="1" i="0" dirty="0">
                <a:solidFill>
                  <a:srgbClr val="3E6B5C"/>
                </a:solidFill>
              </a:rPr>
            </a:br>
            <a:r>
              <a:rPr lang="pt-BR" sz="1600" b="1" i="0" dirty="0">
                <a:solidFill>
                  <a:srgbClr val="3E6B5C"/>
                </a:solidFill>
              </a:rPr>
              <a:t>do estudo</a:t>
            </a:r>
            <a:endParaRPr sz="1600" b="1" i="0" dirty="0">
              <a:solidFill>
                <a:srgbClr val="3E6B5C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9E10BF-2EF2-478D-AD84-CD9058CF5356}"/>
              </a:ext>
            </a:extLst>
          </p:cNvPr>
          <p:cNvSpPr txBox="1"/>
          <p:nvPr/>
        </p:nvSpPr>
        <p:spPr>
          <a:xfrm>
            <a:off x="3174670" y="5376672"/>
            <a:ext cx="7688402" cy="5065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600" b="1" i="0" dirty="0" err="1">
                <a:solidFill>
                  <a:srgbClr val="172235"/>
                </a:solidFill>
              </a:rPr>
              <a:t>Demonstra</a:t>
            </a:r>
            <a:r>
              <a:rPr sz="1600" b="1" i="0" dirty="0">
                <a:solidFill>
                  <a:srgbClr val="172235"/>
                </a:solidFill>
              </a:rPr>
              <a:t> </a:t>
            </a:r>
            <a:r>
              <a:rPr sz="1600" b="1" i="0" dirty="0" err="1">
                <a:solidFill>
                  <a:srgbClr val="172235"/>
                </a:solidFill>
              </a:rPr>
              <a:t>que</a:t>
            </a:r>
            <a:r>
              <a:rPr sz="1600" b="1" i="0" dirty="0">
                <a:solidFill>
                  <a:srgbClr val="172235"/>
                </a:solidFill>
              </a:rPr>
              <a:t> </a:t>
            </a:r>
            <a:r>
              <a:rPr sz="1600" b="1" i="0" dirty="0" err="1">
                <a:solidFill>
                  <a:srgbClr val="172235"/>
                </a:solidFill>
              </a:rPr>
              <a:t>capacidades</a:t>
            </a:r>
            <a:r>
              <a:rPr sz="1600" b="1" i="0" dirty="0">
                <a:solidFill>
                  <a:srgbClr val="172235"/>
                </a:solidFill>
              </a:rPr>
              <a:t>, </a:t>
            </a:r>
            <a:r>
              <a:rPr sz="1600" b="1" i="0" dirty="0" err="1">
                <a:solidFill>
                  <a:srgbClr val="172235"/>
                </a:solidFill>
              </a:rPr>
              <a:t>latência</a:t>
            </a:r>
            <a:r>
              <a:rPr sz="1600" b="1" i="0" dirty="0">
                <a:solidFill>
                  <a:srgbClr val="172235"/>
                </a:solidFill>
              </a:rPr>
              <a:t> e </a:t>
            </a:r>
            <a:r>
              <a:rPr sz="1600" b="1" i="0" dirty="0" err="1">
                <a:solidFill>
                  <a:srgbClr val="172235"/>
                </a:solidFill>
              </a:rPr>
              <a:t>protocolos</a:t>
            </a:r>
            <a:r>
              <a:rPr sz="1600" b="1" i="0" dirty="0">
                <a:solidFill>
                  <a:srgbClr val="172235"/>
                </a:solidFill>
              </a:rPr>
              <a:t> </a:t>
            </a:r>
            <a:r>
              <a:rPr sz="1600" b="1" i="0" dirty="0" err="1">
                <a:solidFill>
                  <a:srgbClr val="172235"/>
                </a:solidFill>
              </a:rPr>
              <a:t>são</a:t>
            </a:r>
            <a:r>
              <a:rPr sz="1600" b="1" i="0" dirty="0">
                <a:solidFill>
                  <a:srgbClr val="172235"/>
                </a:solidFill>
              </a:rPr>
              <a:t> </a:t>
            </a:r>
            <a:r>
              <a:rPr sz="1600" b="1" i="0" dirty="0" err="1">
                <a:solidFill>
                  <a:srgbClr val="172235"/>
                </a:solidFill>
              </a:rPr>
              <a:t>parte</a:t>
            </a:r>
            <a:r>
              <a:rPr sz="1600" b="1" i="0" dirty="0">
                <a:solidFill>
                  <a:srgbClr val="172235"/>
                </a:solidFill>
              </a:rPr>
              <a:t> da </a:t>
            </a:r>
            <a:r>
              <a:rPr sz="1600" b="1" i="0" dirty="0" err="1">
                <a:solidFill>
                  <a:srgbClr val="172235"/>
                </a:solidFill>
              </a:rPr>
              <a:t>semântica</a:t>
            </a:r>
            <a:r>
              <a:rPr sz="1600" b="1" i="0" dirty="0">
                <a:solidFill>
                  <a:srgbClr val="172235"/>
                </a:solidFill>
              </a:rPr>
              <a:t> da </a:t>
            </a:r>
            <a:r>
              <a:rPr sz="1600" b="1" i="0" dirty="0" err="1">
                <a:solidFill>
                  <a:srgbClr val="172235"/>
                </a:solidFill>
              </a:rPr>
              <a:t>organização</a:t>
            </a:r>
            <a:r>
              <a:rPr sz="1600" b="1" i="0" dirty="0">
                <a:solidFill>
                  <a:srgbClr val="172235"/>
                </a:solidFill>
              </a:rPr>
              <a:t> </a:t>
            </a:r>
            <a:r>
              <a:rPr sz="1600" b="1" i="0" dirty="0" err="1">
                <a:solidFill>
                  <a:srgbClr val="172235"/>
                </a:solidFill>
              </a:rPr>
              <a:t>multiagente</a:t>
            </a:r>
            <a:r>
              <a:rPr sz="1600" b="1" i="0" dirty="0">
                <a:solidFill>
                  <a:srgbClr val="172235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243383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A9C252B-E360-82ED-60C2-D09BC29A000F}"/>
              </a:ext>
            </a:extLst>
          </p:cNvPr>
          <p:cNvSpPr txBox="1"/>
          <p:nvPr/>
        </p:nvSpPr>
        <p:spPr>
          <a:xfrm>
            <a:off x="594360" y="219456"/>
            <a:ext cx="5669280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 i="0">
                <a:solidFill>
                  <a:srgbClr val="8C3041"/>
                </a:solidFill>
              </a:rPr>
              <a:t>5 · SÍNTESE COMPARATIVA E AGENDA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700F8A-9247-7FCA-DDD4-9C3D4DDCBCC0}"/>
              </a:ext>
            </a:extLst>
          </p:cNvPr>
          <p:cNvSpPr txBox="1"/>
          <p:nvPr/>
        </p:nvSpPr>
        <p:spPr>
          <a:xfrm>
            <a:off x="594360" y="502920"/>
            <a:ext cx="10789920" cy="387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 i="0">
                <a:solidFill>
                  <a:srgbClr val="172235"/>
                </a:solidFill>
              </a:rPr>
              <a:t>Comparação sistemática dos três trabalhos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9B13A3-3E21-457A-30FC-5C6ED6040FE0}"/>
              </a:ext>
            </a:extLst>
          </p:cNvPr>
          <p:cNvSpPr txBox="1"/>
          <p:nvPr/>
        </p:nvSpPr>
        <p:spPr>
          <a:xfrm>
            <a:off x="11155680" y="246888"/>
            <a:ext cx="420624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 i="0" dirty="0">
                <a:solidFill>
                  <a:srgbClr val="4D5968"/>
                </a:solidFill>
              </a:rPr>
              <a:t>15</a:t>
            </a:r>
            <a:r>
              <a:rPr lang="pt-BR" sz="900" b="0" i="0" dirty="0">
                <a:solidFill>
                  <a:srgbClr val="4D5968"/>
                </a:solidFill>
              </a:rPr>
              <a:t> de 19</a:t>
            </a:r>
            <a:endParaRPr sz="900" b="0" i="0" dirty="0">
              <a:solidFill>
                <a:srgbClr val="4D5968"/>
              </a:solidFill>
            </a:endParaRPr>
          </a:p>
        </p:txBody>
      </p:sp>
      <p:cxnSp>
        <p:nvCxnSpPr>
          <p:cNvPr id="7" name="Connector 4">
            <a:extLst>
              <a:ext uri="{FF2B5EF4-FFF2-40B4-BE49-F238E27FC236}">
                <a16:creationId xmlns:a16="http://schemas.microsoft.com/office/drawing/2014/main" id="{0B250FC2-FABE-631B-B14B-C7DA5008AFFE}"/>
              </a:ext>
            </a:extLst>
          </p:cNvPr>
          <p:cNvCxnSpPr/>
          <p:nvPr/>
        </p:nvCxnSpPr>
        <p:spPr>
          <a:xfrm>
            <a:off x="594360" y="1051560"/>
            <a:ext cx="11000232" cy="0"/>
          </a:xfrm>
          <a:prstGeom prst="line">
            <a:avLst/>
          </a:prstGeom>
          <a:ln w="13970">
            <a:solidFill>
              <a:srgbClr val="8C30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2458E523-08BC-06B5-2EC8-06EAD6125283}"/>
              </a:ext>
            </a:extLst>
          </p:cNvPr>
          <p:cNvGraphicFramePr>
            <a:graphicFrameLocks noGrp="1"/>
          </p:cNvGraphicFramePr>
          <p:nvPr/>
        </p:nvGraphicFramePr>
        <p:xfrm>
          <a:off x="841248" y="1353312"/>
          <a:ext cx="10515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782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80" b="1">
                          <a:solidFill>
                            <a:srgbClr val="FFFFFF"/>
                          </a:solidFill>
                          <a:latin typeface="Aptos"/>
                        </a:rPr>
                        <a:t>Dimensão</a:t>
                      </a:r>
                    </a:p>
                  </a:txBody>
                  <a:tcPr marL="64008" marR="64008" marT="36576" marB="36576">
                    <a:solidFill>
                      <a:srgbClr val="1722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80" b="1">
                          <a:solidFill>
                            <a:srgbClr val="FFFFFF"/>
                          </a:solidFill>
                          <a:latin typeface="Aptos"/>
                        </a:rPr>
                        <a:t>Guo et al.</a:t>
                      </a:r>
                    </a:p>
                  </a:txBody>
                  <a:tcPr marL="64008" marR="64008" marT="36576" marB="36576">
                    <a:solidFill>
                      <a:srgbClr val="1722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80" b="1">
                          <a:solidFill>
                            <a:srgbClr val="FFFFFF"/>
                          </a:solidFill>
                          <a:latin typeface="Aptos"/>
                        </a:rPr>
                        <a:t>AgentVerse</a:t>
                      </a:r>
                    </a:p>
                  </a:txBody>
                  <a:tcPr marL="64008" marR="64008" marT="36576" marB="36576">
                    <a:solidFill>
                      <a:srgbClr val="1722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80" b="1">
                          <a:solidFill>
                            <a:srgbClr val="FFFFFF"/>
                          </a:solidFill>
                          <a:latin typeface="Aptos"/>
                        </a:rPr>
                        <a:t>AutoHMA-LLM</a:t>
                      </a:r>
                    </a:p>
                  </a:txBody>
                  <a:tcPr marL="64008" marR="64008" marT="36576" marB="36576">
                    <a:solidFill>
                      <a:srgbClr val="1722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30" b="1">
                          <a:solidFill>
                            <a:srgbClr val="172235"/>
                          </a:solidFill>
                          <a:latin typeface="Aptos"/>
                        </a:rPr>
                        <a:t>Função epistemológica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172235"/>
                          </a:solidFill>
                          <a:latin typeface="Aptos"/>
                        </a:rPr>
                        <a:t>sistematizar o campo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172235"/>
                          </a:solidFill>
                          <a:latin typeface="Aptos"/>
                        </a:rPr>
                        <a:t>testar colaboração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172235"/>
                          </a:solidFill>
                          <a:latin typeface="Aptos"/>
                        </a:rPr>
                        <a:t>testar coordenação situada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30" b="1">
                          <a:solidFill>
                            <a:srgbClr val="172235"/>
                          </a:solidFill>
                          <a:latin typeface="Aptos"/>
                        </a:rPr>
                        <a:t>Unidade de agência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172235"/>
                          </a:solidFill>
                          <a:latin typeface="Aptos"/>
                        </a:rPr>
                        <a:t>categoria analítica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172235"/>
                          </a:solidFill>
                          <a:latin typeface="Aptos"/>
                        </a:rPr>
                        <a:t>especialista recrutado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172235"/>
                          </a:solidFill>
                          <a:latin typeface="Aptos"/>
                        </a:rPr>
                        <a:t>agente com capacidade física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30" b="1">
                          <a:solidFill>
                            <a:srgbClr val="172235"/>
                          </a:solidFill>
                          <a:latin typeface="Aptos"/>
                        </a:rPr>
                        <a:t>Organização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172235"/>
                          </a:solidFill>
                          <a:latin typeface="Aptos"/>
                        </a:rPr>
                        <a:t>perfil + comunicação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172235"/>
                          </a:solidFill>
                          <a:latin typeface="Aptos"/>
                        </a:rPr>
                        <a:t>grupo dinâmico iterativo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172235"/>
                          </a:solidFill>
                          <a:latin typeface="Aptos"/>
                        </a:rPr>
                        <a:t>hierarquia em três níveis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30" b="1">
                          <a:solidFill>
                            <a:srgbClr val="172235"/>
                          </a:solidFill>
                          <a:latin typeface="Aptos"/>
                        </a:rPr>
                        <a:t>Ambiente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172235"/>
                          </a:solidFill>
                          <a:latin typeface="Aptos"/>
                        </a:rPr>
                        <a:t>múltiplos domínios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172235"/>
                          </a:solidFill>
                          <a:latin typeface="Aptos"/>
                        </a:rPr>
                        <a:t>tarefas e ferramentas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172235"/>
                          </a:solidFill>
                          <a:latin typeface="Aptos"/>
                        </a:rPr>
                        <a:t>cenários dinâmicos simulados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30" b="1">
                          <a:solidFill>
                            <a:srgbClr val="172235"/>
                          </a:solidFill>
                          <a:latin typeface="Aptos"/>
                        </a:rPr>
                        <a:t>Evidência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172235"/>
                          </a:solidFill>
                          <a:latin typeface="Aptos"/>
                        </a:rPr>
                        <a:t>survey revisado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172235"/>
                          </a:solidFill>
                          <a:latin typeface="Aptos"/>
                        </a:rPr>
                        <a:t>comparação grupo/agente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172235"/>
                          </a:solidFill>
                          <a:latin typeface="Aptos"/>
                        </a:rPr>
                        <a:t>seis configurações + baseline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783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30" b="1">
                          <a:solidFill>
                            <a:srgbClr val="172235"/>
                          </a:solidFill>
                          <a:latin typeface="Aptos"/>
                        </a:rPr>
                        <a:t>Limite principal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172235"/>
                          </a:solidFill>
                          <a:latin typeface="Aptos"/>
                        </a:rPr>
                        <a:t>heterogeneidade dos estudos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172235"/>
                          </a:solidFill>
                          <a:latin typeface="Aptos"/>
                        </a:rPr>
                        <a:t>atribuição causal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172235"/>
                          </a:solidFill>
                          <a:latin typeface="Aptos"/>
                        </a:rPr>
                        <a:t>centralização e validade externa</a:t>
                      </a:r>
                    </a:p>
                  </a:txBody>
                  <a:tcPr marL="64008" marR="64008" marT="36576" marB="36576">
                    <a:solidFill>
                      <a:srgbClr val="ECEE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37896BA9-0F7F-02B2-0425-5D06B1DD3641}"/>
              </a:ext>
            </a:extLst>
          </p:cNvPr>
          <p:cNvSpPr/>
          <p:nvPr/>
        </p:nvSpPr>
        <p:spPr>
          <a:xfrm>
            <a:off x="896112" y="5742432"/>
            <a:ext cx="10405872" cy="502920"/>
          </a:xfrm>
          <a:prstGeom prst="rect">
            <a:avLst/>
          </a:prstGeom>
          <a:solidFill>
            <a:srgbClr val="ECEEF1"/>
          </a:solidFill>
          <a:ln w="10160">
            <a:solidFill>
              <a:srgbClr val="D9D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C5CB97-2DE7-2D9E-2024-6238B3CD63EF}"/>
              </a:ext>
            </a:extLst>
          </p:cNvPr>
          <p:cNvSpPr txBox="1"/>
          <p:nvPr/>
        </p:nvSpPr>
        <p:spPr>
          <a:xfrm>
            <a:off x="1133856" y="5870448"/>
            <a:ext cx="9930384" cy="232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72235"/>
                </a:solidFill>
              </a:rPr>
              <a:t>A complementaridade reside nos níveis de análise: categorias → interação → execução heterogênea.</a:t>
            </a:r>
          </a:p>
        </p:txBody>
      </p:sp>
    </p:spTree>
    <p:extLst>
      <p:ext uri="{BB962C8B-B14F-4D97-AF65-F5344CB8AC3E}">
        <p14:creationId xmlns:p14="http://schemas.microsoft.com/office/powerpoint/2010/main" val="37856418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D695C98-5474-F1B4-94B5-4CAE345F5B17}"/>
              </a:ext>
            </a:extLst>
          </p:cNvPr>
          <p:cNvSpPr txBox="1"/>
          <p:nvPr/>
        </p:nvSpPr>
        <p:spPr>
          <a:xfrm>
            <a:off x="594360" y="219456"/>
            <a:ext cx="5669280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 i="0">
                <a:solidFill>
                  <a:srgbClr val="8C3041"/>
                </a:solidFill>
              </a:rPr>
              <a:t>5 · SÍNTESE COMPARATIVA E AGENDA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431CE8-0EF0-B457-1C96-FE0A1CEEE5A4}"/>
              </a:ext>
            </a:extLst>
          </p:cNvPr>
          <p:cNvSpPr txBox="1"/>
          <p:nvPr/>
        </p:nvSpPr>
        <p:spPr>
          <a:xfrm>
            <a:off x="594360" y="502920"/>
            <a:ext cx="10789920" cy="387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 i="0" dirty="0" err="1">
                <a:solidFill>
                  <a:srgbClr val="172235"/>
                </a:solidFill>
              </a:rPr>
              <a:t>Síntese</a:t>
            </a:r>
            <a:r>
              <a:rPr sz="2500" b="1" i="0" dirty="0">
                <a:solidFill>
                  <a:srgbClr val="172235"/>
                </a:solidFill>
              </a:rPr>
              <a:t> </a:t>
            </a:r>
            <a:r>
              <a:rPr sz="2500" b="1" i="0" dirty="0" err="1">
                <a:solidFill>
                  <a:srgbClr val="172235"/>
                </a:solidFill>
              </a:rPr>
              <a:t>teórica</a:t>
            </a:r>
            <a:r>
              <a:rPr lang="pt-BR" sz="2500" b="1" dirty="0">
                <a:solidFill>
                  <a:srgbClr val="172235"/>
                </a:solidFill>
              </a:rPr>
              <a:t> em </a:t>
            </a:r>
            <a:r>
              <a:rPr sz="2500" b="1" i="0" dirty="0" err="1">
                <a:solidFill>
                  <a:srgbClr val="172235"/>
                </a:solidFill>
              </a:rPr>
              <a:t>três</a:t>
            </a:r>
            <a:r>
              <a:rPr sz="2500" b="1" i="0" dirty="0">
                <a:solidFill>
                  <a:srgbClr val="172235"/>
                </a:solidFill>
              </a:rPr>
              <a:t> </a:t>
            </a:r>
            <a:r>
              <a:rPr sz="2500" b="1" i="0" dirty="0" err="1">
                <a:solidFill>
                  <a:srgbClr val="172235"/>
                </a:solidFill>
              </a:rPr>
              <a:t>proposições</a:t>
            </a:r>
            <a:endParaRPr sz="2500" b="1" i="0" dirty="0">
              <a:solidFill>
                <a:srgbClr val="17223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B1704B-ED51-8E82-9036-C9C87EA75995}"/>
              </a:ext>
            </a:extLst>
          </p:cNvPr>
          <p:cNvSpPr txBox="1"/>
          <p:nvPr/>
        </p:nvSpPr>
        <p:spPr>
          <a:xfrm>
            <a:off x="11155680" y="246888"/>
            <a:ext cx="420624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 i="0" dirty="0">
                <a:solidFill>
                  <a:srgbClr val="4D5968"/>
                </a:solidFill>
              </a:rPr>
              <a:t>16</a:t>
            </a:r>
            <a:r>
              <a:rPr lang="pt-BR" sz="900" b="0" i="0" dirty="0">
                <a:solidFill>
                  <a:srgbClr val="4D5968"/>
                </a:solidFill>
              </a:rPr>
              <a:t> de 19</a:t>
            </a:r>
            <a:endParaRPr sz="900" b="0" i="0" dirty="0">
              <a:solidFill>
                <a:srgbClr val="4D5968"/>
              </a:solidFill>
            </a:endParaRPr>
          </a:p>
        </p:txBody>
      </p:sp>
      <p:cxnSp>
        <p:nvCxnSpPr>
          <p:cNvPr id="7" name="Connector 4">
            <a:extLst>
              <a:ext uri="{FF2B5EF4-FFF2-40B4-BE49-F238E27FC236}">
                <a16:creationId xmlns:a16="http://schemas.microsoft.com/office/drawing/2014/main" id="{BB36C0EC-982E-22C7-C765-FF9102F40802}"/>
              </a:ext>
            </a:extLst>
          </p:cNvPr>
          <p:cNvCxnSpPr/>
          <p:nvPr/>
        </p:nvCxnSpPr>
        <p:spPr>
          <a:xfrm>
            <a:off x="594360" y="1051560"/>
            <a:ext cx="11000232" cy="0"/>
          </a:xfrm>
          <a:prstGeom prst="line">
            <a:avLst/>
          </a:prstGeom>
          <a:ln w="13970">
            <a:solidFill>
              <a:srgbClr val="8C30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BC1DDAB-2D6D-0FD9-9CA4-824F99419DB5}"/>
              </a:ext>
            </a:extLst>
          </p:cNvPr>
          <p:cNvSpPr txBox="1"/>
          <p:nvPr/>
        </p:nvSpPr>
        <p:spPr>
          <a:xfrm>
            <a:off x="804672" y="1523369"/>
            <a:ext cx="658368" cy="3565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 i="0" dirty="0">
                <a:solidFill>
                  <a:srgbClr val="274C77"/>
                </a:solidFill>
              </a:rPr>
              <a:t>P1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12B9ED-8DAD-CBC6-B673-61C82082FF2F}"/>
              </a:ext>
            </a:extLst>
          </p:cNvPr>
          <p:cNvSpPr txBox="1"/>
          <p:nvPr/>
        </p:nvSpPr>
        <p:spPr>
          <a:xfrm>
            <a:off x="1664208" y="1389888"/>
            <a:ext cx="1920240" cy="248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 i="0">
                <a:solidFill>
                  <a:srgbClr val="274C77"/>
                </a:solidFill>
              </a:rPr>
              <a:t>Especialização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60C912-B00B-5FAA-34F2-AD72109078A3}"/>
              </a:ext>
            </a:extLst>
          </p:cNvPr>
          <p:cNvSpPr txBox="1"/>
          <p:nvPr/>
        </p:nvSpPr>
        <p:spPr>
          <a:xfrm>
            <a:off x="3675887" y="1389888"/>
            <a:ext cx="7424927" cy="5382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172235"/>
                </a:solidFill>
              </a:rPr>
              <a:t>A multiplicidade agrega capacidade somente quando existe correspondência verificável entre papel, competência e subtarefa.</a:t>
            </a:r>
          </a:p>
        </p:txBody>
      </p:sp>
      <p:cxnSp>
        <p:nvCxnSpPr>
          <p:cNvPr id="11" name="Connector 8">
            <a:extLst>
              <a:ext uri="{FF2B5EF4-FFF2-40B4-BE49-F238E27FC236}">
                <a16:creationId xmlns:a16="http://schemas.microsoft.com/office/drawing/2014/main" id="{85DD1BC7-74A1-A476-316B-A6A9A75E41D3}"/>
              </a:ext>
            </a:extLst>
          </p:cNvPr>
          <p:cNvCxnSpPr/>
          <p:nvPr/>
        </p:nvCxnSpPr>
        <p:spPr>
          <a:xfrm>
            <a:off x="1664208" y="2231136"/>
            <a:ext cx="9473184" cy="0"/>
          </a:xfrm>
          <a:prstGeom prst="line">
            <a:avLst/>
          </a:prstGeom>
          <a:ln w="1016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389EDF2-91EC-22DE-5717-91452A3B49EE}"/>
              </a:ext>
            </a:extLst>
          </p:cNvPr>
          <p:cNvSpPr txBox="1"/>
          <p:nvPr/>
        </p:nvSpPr>
        <p:spPr>
          <a:xfrm>
            <a:off x="804672" y="2821817"/>
            <a:ext cx="658368" cy="3565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 i="0">
                <a:solidFill>
                  <a:srgbClr val="8C3041"/>
                </a:solidFill>
              </a:rPr>
              <a:t>P2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4A832F-9B7F-0B55-604D-52A2727FF76A}"/>
              </a:ext>
            </a:extLst>
          </p:cNvPr>
          <p:cNvSpPr txBox="1"/>
          <p:nvPr/>
        </p:nvSpPr>
        <p:spPr>
          <a:xfrm>
            <a:off x="1664208" y="2688336"/>
            <a:ext cx="1920240" cy="248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 i="0">
                <a:solidFill>
                  <a:srgbClr val="8C3041"/>
                </a:solidFill>
              </a:rPr>
              <a:t>Comunicação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6B1A4AC-BF3F-1131-3A01-378ED51806CB}"/>
              </a:ext>
            </a:extLst>
          </p:cNvPr>
          <p:cNvSpPr txBox="1"/>
          <p:nvPr/>
        </p:nvSpPr>
        <p:spPr>
          <a:xfrm>
            <a:off x="3675887" y="2688336"/>
            <a:ext cx="7424927" cy="5382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172235"/>
                </a:solidFill>
              </a:rPr>
              <a:t>Mensagens são recursos custosos e canais de correlação de erros; mais interação não implica melhor coordenação.</a:t>
            </a:r>
          </a:p>
        </p:txBody>
      </p:sp>
      <p:cxnSp>
        <p:nvCxnSpPr>
          <p:cNvPr id="15" name="Connector 12">
            <a:extLst>
              <a:ext uri="{FF2B5EF4-FFF2-40B4-BE49-F238E27FC236}">
                <a16:creationId xmlns:a16="http://schemas.microsoft.com/office/drawing/2014/main" id="{EF2705B2-6C9E-4009-BBE2-BD7B50370440}"/>
              </a:ext>
            </a:extLst>
          </p:cNvPr>
          <p:cNvCxnSpPr/>
          <p:nvPr/>
        </p:nvCxnSpPr>
        <p:spPr>
          <a:xfrm>
            <a:off x="1664208" y="3529584"/>
            <a:ext cx="9473184" cy="0"/>
          </a:xfrm>
          <a:prstGeom prst="line">
            <a:avLst/>
          </a:prstGeom>
          <a:ln w="1016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C5C2660-9C8D-DB5E-B218-5D586B24EB5A}"/>
              </a:ext>
            </a:extLst>
          </p:cNvPr>
          <p:cNvSpPr txBox="1"/>
          <p:nvPr/>
        </p:nvSpPr>
        <p:spPr>
          <a:xfrm>
            <a:off x="804672" y="4120264"/>
            <a:ext cx="658368" cy="3565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 i="0">
                <a:solidFill>
                  <a:srgbClr val="3E6B5C"/>
                </a:solidFill>
              </a:rPr>
              <a:t>P3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272C3F-2F60-FB4A-EAB5-393C1C3853BE}"/>
              </a:ext>
            </a:extLst>
          </p:cNvPr>
          <p:cNvSpPr txBox="1"/>
          <p:nvPr/>
        </p:nvSpPr>
        <p:spPr>
          <a:xfrm>
            <a:off x="1664208" y="3986783"/>
            <a:ext cx="1920240" cy="248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 i="0">
                <a:solidFill>
                  <a:srgbClr val="3E6B5C"/>
                </a:solidFill>
              </a:rPr>
              <a:t>Fundamentação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1CAA84-BB94-3228-0BAB-29F0257B692B}"/>
              </a:ext>
            </a:extLst>
          </p:cNvPr>
          <p:cNvSpPr txBox="1"/>
          <p:nvPr/>
        </p:nvSpPr>
        <p:spPr>
          <a:xfrm>
            <a:off x="3675887" y="3986783"/>
            <a:ext cx="7424927" cy="5382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172235"/>
                </a:solidFill>
              </a:rPr>
              <a:t>Feedback ambiental restringe a ação, mas execução bem-sucedida não garante validade substantiva da decisão.</a:t>
            </a:r>
          </a:p>
        </p:txBody>
      </p:sp>
      <p:cxnSp>
        <p:nvCxnSpPr>
          <p:cNvPr id="19" name="Connector 16">
            <a:extLst>
              <a:ext uri="{FF2B5EF4-FFF2-40B4-BE49-F238E27FC236}">
                <a16:creationId xmlns:a16="http://schemas.microsoft.com/office/drawing/2014/main" id="{57099910-B158-CA1B-C0CF-44711324BD06}"/>
              </a:ext>
            </a:extLst>
          </p:cNvPr>
          <p:cNvCxnSpPr/>
          <p:nvPr/>
        </p:nvCxnSpPr>
        <p:spPr>
          <a:xfrm>
            <a:off x="1664208" y="4828031"/>
            <a:ext cx="9473184" cy="0"/>
          </a:xfrm>
          <a:prstGeom prst="line">
            <a:avLst/>
          </a:prstGeom>
          <a:ln w="1016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3DC60DBC-C0F4-8E9C-3924-871EDC08B024}"/>
              </a:ext>
            </a:extLst>
          </p:cNvPr>
          <p:cNvSpPr/>
          <p:nvPr/>
        </p:nvSpPr>
        <p:spPr>
          <a:xfrm>
            <a:off x="1024128" y="5468112"/>
            <a:ext cx="10131552" cy="667512"/>
          </a:xfrm>
          <a:prstGeom prst="rect">
            <a:avLst/>
          </a:prstGeom>
          <a:solidFill>
            <a:srgbClr val="FFFFFF"/>
          </a:solidFill>
          <a:ln w="10160">
            <a:solidFill>
              <a:srgbClr val="9A6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623B5B-7C2B-A57C-FEC8-B2B7B3ECBEE4}"/>
              </a:ext>
            </a:extLst>
          </p:cNvPr>
          <p:cNvSpPr txBox="1"/>
          <p:nvPr/>
        </p:nvSpPr>
        <p:spPr>
          <a:xfrm>
            <a:off x="1280160" y="5530741"/>
            <a:ext cx="1600200" cy="5065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 i="0" dirty="0">
                <a:solidFill>
                  <a:srgbClr val="9A6B2F"/>
                </a:solidFill>
              </a:rPr>
              <a:t>Critério de </a:t>
            </a:r>
            <a:r>
              <a:rPr sz="1600" b="1" i="0" dirty="0" err="1">
                <a:solidFill>
                  <a:srgbClr val="9A6B2F"/>
                </a:solidFill>
              </a:rPr>
              <a:t>suficiência</a:t>
            </a:r>
            <a:endParaRPr sz="1600" b="1" i="0" dirty="0">
              <a:solidFill>
                <a:srgbClr val="9A6B2F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C408CA3-ACD7-A043-DF74-4E16AC3C2055}"/>
              </a:ext>
            </a:extLst>
          </p:cNvPr>
          <p:cNvSpPr txBox="1"/>
          <p:nvPr/>
        </p:nvSpPr>
        <p:spPr>
          <a:xfrm>
            <a:off x="3072144" y="5667376"/>
            <a:ext cx="7909560" cy="248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 i="0" dirty="0" err="1">
                <a:solidFill>
                  <a:srgbClr val="172235"/>
                </a:solidFill>
              </a:rPr>
              <a:t>benefício</a:t>
            </a:r>
            <a:r>
              <a:rPr sz="1600" b="1" i="0" dirty="0">
                <a:solidFill>
                  <a:srgbClr val="172235"/>
                </a:solidFill>
              </a:rPr>
              <a:t> </a:t>
            </a:r>
            <a:r>
              <a:rPr sz="1600" b="1" i="0" dirty="0" err="1">
                <a:solidFill>
                  <a:srgbClr val="172235"/>
                </a:solidFill>
              </a:rPr>
              <a:t>coletivo</a:t>
            </a:r>
            <a:r>
              <a:rPr sz="1600" b="1" i="0" dirty="0">
                <a:solidFill>
                  <a:srgbClr val="172235"/>
                </a:solidFill>
              </a:rPr>
              <a:t> &gt; </a:t>
            </a:r>
            <a:r>
              <a:rPr sz="1600" b="1" i="0" dirty="0" err="1">
                <a:solidFill>
                  <a:srgbClr val="172235"/>
                </a:solidFill>
              </a:rPr>
              <a:t>custo</a:t>
            </a:r>
            <a:r>
              <a:rPr sz="1600" b="1" i="0" dirty="0">
                <a:solidFill>
                  <a:srgbClr val="172235"/>
                </a:solidFill>
              </a:rPr>
              <a:t> de </a:t>
            </a:r>
            <a:r>
              <a:rPr sz="1600" b="1" i="0" dirty="0" err="1">
                <a:solidFill>
                  <a:srgbClr val="172235"/>
                </a:solidFill>
              </a:rPr>
              <a:t>coordenação</a:t>
            </a:r>
            <a:r>
              <a:rPr sz="1600" b="1" i="0" dirty="0">
                <a:solidFill>
                  <a:srgbClr val="172235"/>
                </a:solidFill>
              </a:rPr>
              <a:t> + </a:t>
            </a:r>
            <a:r>
              <a:rPr sz="1600" b="1" i="0" dirty="0" err="1">
                <a:solidFill>
                  <a:srgbClr val="172235"/>
                </a:solidFill>
              </a:rPr>
              <a:t>risco</a:t>
            </a:r>
            <a:r>
              <a:rPr sz="1600" b="1" i="0" dirty="0">
                <a:solidFill>
                  <a:srgbClr val="172235"/>
                </a:solidFill>
              </a:rPr>
              <a:t> </a:t>
            </a:r>
            <a:r>
              <a:rPr sz="1600" b="1" i="0" dirty="0" err="1">
                <a:solidFill>
                  <a:srgbClr val="172235"/>
                </a:solidFill>
              </a:rPr>
              <a:t>sistêmico</a:t>
            </a:r>
            <a:r>
              <a:rPr sz="1600" b="1" i="0" dirty="0">
                <a:solidFill>
                  <a:srgbClr val="172235"/>
                </a:solidFill>
              </a:rPr>
              <a:t> + </a:t>
            </a:r>
            <a:r>
              <a:rPr sz="1600" b="1" i="0" dirty="0" err="1">
                <a:solidFill>
                  <a:srgbClr val="172235"/>
                </a:solidFill>
              </a:rPr>
              <a:t>complexidade</a:t>
            </a:r>
            <a:r>
              <a:rPr sz="1600" b="1" i="0" dirty="0">
                <a:solidFill>
                  <a:srgbClr val="172235"/>
                </a:solidFill>
              </a:rPr>
              <a:t> de </a:t>
            </a:r>
            <a:r>
              <a:rPr sz="1600" b="1" i="0" dirty="0" err="1">
                <a:solidFill>
                  <a:srgbClr val="172235"/>
                </a:solidFill>
              </a:rPr>
              <a:t>verificação</a:t>
            </a:r>
            <a:endParaRPr sz="1600" b="1" i="0" dirty="0">
              <a:solidFill>
                <a:srgbClr val="17223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74762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880CA47-916A-6BAB-99AE-A696A665B759}"/>
              </a:ext>
            </a:extLst>
          </p:cNvPr>
          <p:cNvSpPr txBox="1"/>
          <p:nvPr/>
        </p:nvSpPr>
        <p:spPr>
          <a:xfrm>
            <a:off x="594360" y="219456"/>
            <a:ext cx="5669280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 i="0">
                <a:solidFill>
                  <a:srgbClr val="8C3041"/>
                </a:solidFill>
              </a:rPr>
              <a:t>5 · SÍNTESE COMPARATIVA E AGENDA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0DD243-3CCF-223E-5157-55B3B3E2C4D0}"/>
              </a:ext>
            </a:extLst>
          </p:cNvPr>
          <p:cNvSpPr txBox="1"/>
          <p:nvPr/>
        </p:nvSpPr>
        <p:spPr>
          <a:xfrm>
            <a:off x="594360" y="502920"/>
            <a:ext cx="10789920" cy="387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pt-BR" sz="2500" b="1" dirty="0">
                <a:solidFill>
                  <a:srgbClr val="172235"/>
                </a:solidFill>
              </a:rPr>
              <a:t>A</a:t>
            </a:r>
            <a:r>
              <a:rPr sz="2500" b="1" i="0" dirty="0" err="1">
                <a:solidFill>
                  <a:srgbClr val="172235"/>
                </a:solidFill>
              </a:rPr>
              <a:t>genda</a:t>
            </a:r>
            <a:r>
              <a:rPr sz="2500" b="1" i="0" dirty="0">
                <a:solidFill>
                  <a:srgbClr val="172235"/>
                </a:solidFill>
              </a:rPr>
              <a:t> de </a:t>
            </a:r>
            <a:r>
              <a:rPr sz="2500" b="1" i="0" dirty="0" err="1">
                <a:solidFill>
                  <a:srgbClr val="172235"/>
                </a:solidFill>
              </a:rPr>
              <a:t>pesquisa</a:t>
            </a:r>
            <a:endParaRPr sz="2500" b="1" i="0" dirty="0">
              <a:solidFill>
                <a:srgbClr val="17223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20257F-9FFB-E724-5E2B-BAEE0CC26368}"/>
              </a:ext>
            </a:extLst>
          </p:cNvPr>
          <p:cNvSpPr txBox="1"/>
          <p:nvPr/>
        </p:nvSpPr>
        <p:spPr>
          <a:xfrm>
            <a:off x="11155680" y="246888"/>
            <a:ext cx="420624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 i="0" dirty="0">
                <a:solidFill>
                  <a:srgbClr val="4D5968"/>
                </a:solidFill>
              </a:rPr>
              <a:t>17</a:t>
            </a:r>
            <a:r>
              <a:rPr lang="pt-BR" sz="900" b="0" i="0" dirty="0">
                <a:solidFill>
                  <a:srgbClr val="4D5968"/>
                </a:solidFill>
              </a:rPr>
              <a:t> de 19</a:t>
            </a:r>
            <a:endParaRPr sz="900" b="0" i="0" dirty="0">
              <a:solidFill>
                <a:srgbClr val="4D5968"/>
              </a:solidFill>
            </a:endParaRPr>
          </a:p>
        </p:txBody>
      </p:sp>
      <p:cxnSp>
        <p:nvCxnSpPr>
          <p:cNvPr id="7" name="Connector 4">
            <a:extLst>
              <a:ext uri="{FF2B5EF4-FFF2-40B4-BE49-F238E27FC236}">
                <a16:creationId xmlns:a16="http://schemas.microsoft.com/office/drawing/2014/main" id="{7A8F2A37-0296-19E8-35FC-E6ACBDEA24D4}"/>
              </a:ext>
            </a:extLst>
          </p:cNvPr>
          <p:cNvCxnSpPr/>
          <p:nvPr/>
        </p:nvCxnSpPr>
        <p:spPr>
          <a:xfrm>
            <a:off x="594360" y="1051560"/>
            <a:ext cx="11000232" cy="0"/>
          </a:xfrm>
          <a:prstGeom prst="line">
            <a:avLst/>
          </a:prstGeom>
          <a:ln w="13970">
            <a:solidFill>
              <a:srgbClr val="8C30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C7EA0BC-0B31-DEFD-9786-B39B264FC185}"/>
              </a:ext>
            </a:extLst>
          </p:cNvPr>
          <p:cNvSpPr txBox="1"/>
          <p:nvPr/>
        </p:nvSpPr>
        <p:spPr>
          <a:xfrm>
            <a:off x="749808" y="1371600"/>
            <a:ext cx="1417320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 i="0">
                <a:solidFill>
                  <a:srgbClr val="274C77"/>
                </a:solidFill>
              </a:rPr>
              <a:t>CAUSALIDADE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9447ED-A586-35A5-D14D-0872754FC666}"/>
              </a:ext>
            </a:extLst>
          </p:cNvPr>
          <p:cNvSpPr txBox="1"/>
          <p:nvPr/>
        </p:nvSpPr>
        <p:spPr>
          <a:xfrm>
            <a:off x="2103120" y="1325880"/>
            <a:ext cx="4114800" cy="232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72235"/>
                </a:solidFill>
              </a:rPr>
              <a:t>Como separar cooperação de orçamento adicional?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ED4541-D9AA-8A54-C2F0-23ED64B0F306}"/>
              </a:ext>
            </a:extLst>
          </p:cNvPr>
          <p:cNvSpPr txBox="1"/>
          <p:nvPr/>
        </p:nvSpPr>
        <p:spPr>
          <a:xfrm>
            <a:off x="6537960" y="1325880"/>
            <a:ext cx="4617720" cy="232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4D5968"/>
                </a:solidFill>
              </a:rPr>
              <a:t>baselines equivalentes + ablações</a:t>
            </a:r>
          </a:p>
        </p:txBody>
      </p:sp>
      <p:cxnSp>
        <p:nvCxnSpPr>
          <p:cNvPr id="11" name="Connector 8">
            <a:extLst>
              <a:ext uri="{FF2B5EF4-FFF2-40B4-BE49-F238E27FC236}">
                <a16:creationId xmlns:a16="http://schemas.microsoft.com/office/drawing/2014/main" id="{9083AB5D-6939-4B40-FAEF-E43788A551EE}"/>
              </a:ext>
            </a:extLst>
          </p:cNvPr>
          <p:cNvCxnSpPr/>
          <p:nvPr/>
        </p:nvCxnSpPr>
        <p:spPr>
          <a:xfrm>
            <a:off x="749808" y="1965960"/>
            <a:ext cx="10424160" cy="0"/>
          </a:xfrm>
          <a:prstGeom prst="line">
            <a:avLst/>
          </a:prstGeom>
          <a:ln w="889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A1D47EB-776C-0FF9-71CA-B7BA0C77984C}"/>
              </a:ext>
            </a:extLst>
          </p:cNvPr>
          <p:cNvSpPr txBox="1"/>
          <p:nvPr/>
        </p:nvSpPr>
        <p:spPr>
          <a:xfrm>
            <a:off x="749808" y="2450591"/>
            <a:ext cx="1417320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 i="0">
                <a:solidFill>
                  <a:srgbClr val="8C3041"/>
                </a:solidFill>
              </a:rPr>
              <a:t>CONFIANÇA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EAB1C3-0697-69F7-B6E8-A88240AADF87}"/>
              </a:ext>
            </a:extLst>
          </p:cNvPr>
          <p:cNvSpPr txBox="1"/>
          <p:nvPr/>
        </p:nvSpPr>
        <p:spPr>
          <a:xfrm>
            <a:off x="2103120" y="2404872"/>
            <a:ext cx="4114800" cy="232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72235"/>
                </a:solidFill>
              </a:rPr>
              <a:t>Como coordenar agentes honestos e adversariais?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CD5270-6051-8A28-4E83-1EA0D9115096}"/>
              </a:ext>
            </a:extLst>
          </p:cNvPr>
          <p:cNvSpPr txBox="1"/>
          <p:nvPr/>
        </p:nvSpPr>
        <p:spPr>
          <a:xfrm>
            <a:off x="6537960" y="2404872"/>
            <a:ext cx="4617720" cy="232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4D5968"/>
                </a:solidFill>
              </a:rPr>
              <a:t>AgentChain: conselho, votação e incentivos</a:t>
            </a:r>
          </a:p>
        </p:txBody>
      </p:sp>
      <p:cxnSp>
        <p:nvCxnSpPr>
          <p:cNvPr id="15" name="Connector 12">
            <a:extLst>
              <a:ext uri="{FF2B5EF4-FFF2-40B4-BE49-F238E27FC236}">
                <a16:creationId xmlns:a16="http://schemas.microsoft.com/office/drawing/2014/main" id="{DCE5CDC1-8BD5-D70E-BD6D-943CCAF02DAC}"/>
              </a:ext>
            </a:extLst>
          </p:cNvPr>
          <p:cNvCxnSpPr/>
          <p:nvPr/>
        </p:nvCxnSpPr>
        <p:spPr>
          <a:xfrm>
            <a:off x="749808" y="3044952"/>
            <a:ext cx="10424160" cy="0"/>
          </a:xfrm>
          <a:prstGeom prst="line">
            <a:avLst/>
          </a:prstGeom>
          <a:ln w="889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00C3C37-4711-CB39-C834-67B4C2E40BA6}"/>
              </a:ext>
            </a:extLst>
          </p:cNvPr>
          <p:cNvSpPr txBox="1"/>
          <p:nvPr/>
        </p:nvSpPr>
        <p:spPr>
          <a:xfrm>
            <a:off x="749808" y="3529583"/>
            <a:ext cx="1417320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 i="0">
                <a:solidFill>
                  <a:srgbClr val="3E6B5C"/>
                </a:solidFill>
              </a:rPr>
              <a:t>RECUPERAÇÃO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C06A3CA-0222-08A9-5145-22820433B702}"/>
              </a:ext>
            </a:extLst>
          </p:cNvPr>
          <p:cNvSpPr txBox="1"/>
          <p:nvPr/>
        </p:nvSpPr>
        <p:spPr>
          <a:xfrm>
            <a:off x="2103120" y="3483863"/>
            <a:ext cx="4114800" cy="232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72235"/>
                </a:solidFill>
              </a:rPr>
              <a:t>Como conter falhas antes de sua propagação?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FE679EF-ECAE-F6FD-EFDC-6B0D61950DF8}"/>
              </a:ext>
            </a:extLst>
          </p:cNvPr>
          <p:cNvSpPr txBox="1"/>
          <p:nvPr/>
        </p:nvSpPr>
        <p:spPr>
          <a:xfrm>
            <a:off x="6537960" y="3483863"/>
            <a:ext cx="4617720" cy="232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4D5968"/>
                </a:solidFill>
              </a:rPr>
              <a:t>ControlA: proveniência, checkpoint e rollback</a:t>
            </a:r>
          </a:p>
        </p:txBody>
      </p:sp>
      <p:cxnSp>
        <p:nvCxnSpPr>
          <p:cNvPr id="19" name="Connector 16">
            <a:extLst>
              <a:ext uri="{FF2B5EF4-FFF2-40B4-BE49-F238E27FC236}">
                <a16:creationId xmlns:a16="http://schemas.microsoft.com/office/drawing/2014/main" id="{78913FA0-7570-5C07-2243-C3F71729FCD6}"/>
              </a:ext>
            </a:extLst>
          </p:cNvPr>
          <p:cNvCxnSpPr/>
          <p:nvPr/>
        </p:nvCxnSpPr>
        <p:spPr>
          <a:xfrm>
            <a:off x="749808" y="4123944"/>
            <a:ext cx="10424160" cy="0"/>
          </a:xfrm>
          <a:prstGeom prst="line">
            <a:avLst/>
          </a:prstGeom>
          <a:ln w="889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E890646-3625-CAC5-EB06-6C912903BB12}"/>
              </a:ext>
            </a:extLst>
          </p:cNvPr>
          <p:cNvSpPr txBox="1"/>
          <p:nvPr/>
        </p:nvSpPr>
        <p:spPr>
          <a:xfrm>
            <a:off x="749808" y="4608576"/>
            <a:ext cx="1417320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 i="0">
                <a:solidFill>
                  <a:srgbClr val="9A6B2F"/>
                </a:solidFill>
              </a:rPr>
              <a:t>VALIDADE EXTERNA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8C72153-E65A-0BE2-6369-BD93A213CA28}"/>
              </a:ext>
            </a:extLst>
          </p:cNvPr>
          <p:cNvSpPr txBox="1"/>
          <p:nvPr/>
        </p:nvSpPr>
        <p:spPr>
          <a:xfrm>
            <a:off x="2103120" y="4562856"/>
            <a:ext cx="4114800" cy="232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72235"/>
                </a:solidFill>
              </a:rPr>
              <a:t>Como testar além de QA e simulação fechada?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6A56BC2-8482-D032-6846-55A861AE33DB}"/>
              </a:ext>
            </a:extLst>
          </p:cNvPr>
          <p:cNvSpPr txBox="1"/>
          <p:nvPr/>
        </p:nvSpPr>
        <p:spPr>
          <a:xfrm>
            <a:off x="6537960" y="4562856"/>
            <a:ext cx="4617720" cy="232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4D5968"/>
                </a:solidFill>
              </a:rPr>
              <a:t>energia, redes ópticas e ambientes físicos</a:t>
            </a:r>
          </a:p>
        </p:txBody>
      </p:sp>
      <p:cxnSp>
        <p:nvCxnSpPr>
          <p:cNvPr id="23" name="Connector 20">
            <a:extLst>
              <a:ext uri="{FF2B5EF4-FFF2-40B4-BE49-F238E27FC236}">
                <a16:creationId xmlns:a16="http://schemas.microsoft.com/office/drawing/2014/main" id="{119386D1-77B3-70E1-3B1E-74DE8F1EF979}"/>
              </a:ext>
            </a:extLst>
          </p:cNvPr>
          <p:cNvCxnSpPr/>
          <p:nvPr/>
        </p:nvCxnSpPr>
        <p:spPr>
          <a:xfrm>
            <a:off x="749808" y="5202936"/>
            <a:ext cx="10424160" cy="0"/>
          </a:xfrm>
          <a:prstGeom prst="line">
            <a:avLst/>
          </a:prstGeom>
          <a:ln w="889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88471830-BB8F-7798-ACDC-B62A6033F876}"/>
              </a:ext>
            </a:extLst>
          </p:cNvPr>
          <p:cNvSpPr/>
          <p:nvPr/>
        </p:nvSpPr>
        <p:spPr>
          <a:xfrm>
            <a:off x="896112" y="5760720"/>
            <a:ext cx="10387584" cy="502920"/>
          </a:xfrm>
          <a:prstGeom prst="rect">
            <a:avLst/>
          </a:prstGeom>
          <a:solidFill>
            <a:srgbClr val="ECEEF1"/>
          </a:solidFill>
          <a:ln w="10160">
            <a:solidFill>
              <a:srgbClr val="D9D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29893EE-3448-C9ED-2956-E1220942864F}"/>
              </a:ext>
            </a:extLst>
          </p:cNvPr>
          <p:cNvSpPr txBox="1"/>
          <p:nvPr/>
        </p:nvSpPr>
        <p:spPr>
          <a:xfrm>
            <a:off x="1097280" y="5879592"/>
            <a:ext cx="9985248" cy="2093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50" b="0" i="1">
                <a:solidFill>
                  <a:srgbClr val="172235"/>
                </a:solidFill>
              </a:rPr>
              <a:t>Jia et al. permanecem relevantes para execução em simuladores; Li et al. oferecem transferência ao planejamento de redes ópticas.</a:t>
            </a:r>
          </a:p>
        </p:txBody>
      </p:sp>
    </p:spTree>
    <p:extLst>
      <p:ext uri="{BB962C8B-B14F-4D97-AF65-F5344CB8AC3E}">
        <p14:creationId xmlns:p14="http://schemas.microsoft.com/office/powerpoint/2010/main" val="32800541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E537296-2A1B-57BF-D3E1-F9945FFB431D}"/>
              </a:ext>
            </a:extLst>
          </p:cNvPr>
          <p:cNvSpPr txBox="1"/>
          <p:nvPr/>
        </p:nvSpPr>
        <p:spPr>
          <a:xfrm>
            <a:off x="594360" y="219456"/>
            <a:ext cx="5669280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 i="0">
                <a:solidFill>
                  <a:srgbClr val="8C3041"/>
                </a:solidFill>
              </a:rPr>
              <a:t>6 · CONCLUSÕES E DISCUSSÃO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90E1AD-38E2-381B-8726-F092B0E787BD}"/>
              </a:ext>
            </a:extLst>
          </p:cNvPr>
          <p:cNvSpPr txBox="1"/>
          <p:nvPr/>
        </p:nvSpPr>
        <p:spPr>
          <a:xfrm>
            <a:off x="594360" y="502920"/>
            <a:ext cx="10789920" cy="387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 i="0">
                <a:solidFill>
                  <a:srgbClr val="172235"/>
                </a:solidFill>
              </a:rPr>
              <a:t>Conclusões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F6D000-7D78-4604-E0C1-1413DF982B92}"/>
              </a:ext>
            </a:extLst>
          </p:cNvPr>
          <p:cNvSpPr txBox="1"/>
          <p:nvPr/>
        </p:nvSpPr>
        <p:spPr>
          <a:xfrm>
            <a:off x="11155680" y="246888"/>
            <a:ext cx="420624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 i="0" dirty="0">
                <a:solidFill>
                  <a:srgbClr val="4D5968"/>
                </a:solidFill>
              </a:rPr>
              <a:t>18</a:t>
            </a:r>
            <a:r>
              <a:rPr lang="pt-BR" sz="900" b="0" i="0" dirty="0">
                <a:solidFill>
                  <a:srgbClr val="4D5968"/>
                </a:solidFill>
              </a:rPr>
              <a:t> de 19</a:t>
            </a:r>
            <a:endParaRPr sz="900" b="0" i="0" dirty="0">
              <a:solidFill>
                <a:srgbClr val="4D5968"/>
              </a:solidFill>
            </a:endParaRPr>
          </a:p>
        </p:txBody>
      </p:sp>
      <p:cxnSp>
        <p:nvCxnSpPr>
          <p:cNvPr id="7" name="Connector 4">
            <a:extLst>
              <a:ext uri="{FF2B5EF4-FFF2-40B4-BE49-F238E27FC236}">
                <a16:creationId xmlns:a16="http://schemas.microsoft.com/office/drawing/2014/main" id="{802311E8-B784-0DDF-FBA3-1E8BABE9BD9B}"/>
              </a:ext>
            </a:extLst>
          </p:cNvPr>
          <p:cNvCxnSpPr/>
          <p:nvPr/>
        </p:nvCxnSpPr>
        <p:spPr>
          <a:xfrm>
            <a:off x="594360" y="1051560"/>
            <a:ext cx="11000232" cy="0"/>
          </a:xfrm>
          <a:prstGeom prst="line">
            <a:avLst/>
          </a:prstGeom>
          <a:ln w="13970">
            <a:solidFill>
              <a:srgbClr val="8C30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0516C092-173C-8634-5D63-55F50AE39A86}"/>
              </a:ext>
            </a:extLst>
          </p:cNvPr>
          <p:cNvSpPr/>
          <p:nvPr/>
        </p:nvSpPr>
        <p:spPr>
          <a:xfrm>
            <a:off x="822960" y="1417320"/>
            <a:ext cx="676656" cy="6766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74C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74C77"/>
                </a:solidFill>
              </a:rPr>
              <a:t>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2F63EA-FEDF-0066-0D23-697BE72E389E}"/>
              </a:ext>
            </a:extLst>
          </p:cNvPr>
          <p:cNvSpPr txBox="1"/>
          <p:nvPr/>
        </p:nvSpPr>
        <p:spPr>
          <a:xfrm>
            <a:off x="1773936" y="1435608"/>
            <a:ext cx="1444752" cy="2635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274C77"/>
                </a:solidFill>
              </a:rPr>
              <a:t>Agência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9B6808-E96F-734D-A2DA-ABD001343E6F}"/>
              </a:ext>
            </a:extLst>
          </p:cNvPr>
          <p:cNvSpPr txBox="1"/>
          <p:nvPr/>
        </p:nvSpPr>
        <p:spPr>
          <a:xfrm>
            <a:off x="3218688" y="1399032"/>
            <a:ext cx="7909560" cy="5382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172235"/>
                </a:solidFill>
              </a:rPr>
              <a:t>O LLM é um componente da política; objetivos, memória, ferramentas e autoridade permanecem decisões arquiteturais.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EC1A075-5F7A-D01D-4889-617AA36C75C3}"/>
              </a:ext>
            </a:extLst>
          </p:cNvPr>
          <p:cNvSpPr/>
          <p:nvPr/>
        </p:nvSpPr>
        <p:spPr>
          <a:xfrm>
            <a:off x="822960" y="2624328"/>
            <a:ext cx="676656" cy="6766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8C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8C3041"/>
                </a:solidFill>
              </a:rPr>
              <a:t>II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F5EF82-7626-67A8-A6CA-D1A3247B2527}"/>
              </a:ext>
            </a:extLst>
          </p:cNvPr>
          <p:cNvSpPr txBox="1"/>
          <p:nvPr/>
        </p:nvSpPr>
        <p:spPr>
          <a:xfrm>
            <a:off x="1773936" y="2642616"/>
            <a:ext cx="1444752" cy="2635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8C3041"/>
                </a:solidFill>
              </a:rPr>
              <a:t>Cooperação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A45F0E-A3F4-6A8C-8B33-715A3C6EB146}"/>
              </a:ext>
            </a:extLst>
          </p:cNvPr>
          <p:cNvSpPr txBox="1"/>
          <p:nvPr/>
        </p:nvSpPr>
        <p:spPr>
          <a:xfrm>
            <a:off x="3218688" y="2606040"/>
            <a:ext cx="7909560" cy="5382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172235"/>
                </a:solidFill>
              </a:rPr>
              <a:t>O comportamento coletivo depende de especialização, protocolo, topologia e relação com o ambiente.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12A8E77-3C38-31A2-42B0-F081A2C810BF}"/>
              </a:ext>
            </a:extLst>
          </p:cNvPr>
          <p:cNvSpPr/>
          <p:nvPr/>
        </p:nvSpPr>
        <p:spPr>
          <a:xfrm>
            <a:off x="822960" y="3831336"/>
            <a:ext cx="676656" cy="6766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E6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3E6B5C"/>
                </a:solidFill>
              </a:rPr>
              <a:t>III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27B61A-0CCC-B381-6A50-3D96A5AED65A}"/>
              </a:ext>
            </a:extLst>
          </p:cNvPr>
          <p:cNvSpPr txBox="1"/>
          <p:nvPr/>
        </p:nvSpPr>
        <p:spPr>
          <a:xfrm>
            <a:off x="1773936" y="3849624"/>
            <a:ext cx="1444752" cy="2635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3E6B5C"/>
                </a:solidFill>
              </a:rPr>
              <a:t>Evidência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CCA644-507B-6331-DF0B-48D8475D9EE9}"/>
              </a:ext>
            </a:extLst>
          </p:cNvPr>
          <p:cNvSpPr txBox="1"/>
          <p:nvPr/>
        </p:nvSpPr>
        <p:spPr>
          <a:xfrm>
            <a:off x="3218688" y="3813048"/>
            <a:ext cx="7909560" cy="5382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172235"/>
                </a:solidFill>
              </a:rPr>
              <a:t>A superioridade de um SMA requer comparação com agente único, orçamento equivalente e ablações.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E035C50-86F0-41D8-D752-E06C74D9F40A}"/>
              </a:ext>
            </a:extLst>
          </p:cNvPr>
          <p:cNvSpPr/>
          <p:nvPr/>
        </p:nvSpPr>
        <p:spPr>
          <a:xfrm>
            <a:off x="1005840" y="5234324"/>
            <a:ext cx="10149840" cy="850392"/>
          </a:xfrm>
          <a:prstGeom prst="rect">
            <a:avLst/>
          </a:prstGeom>
          <a:solidFill>
            <a:srgbClr val="FFFFFF"/>
          </a:solidFill>
          <a:ln w="12700">
            <a:solidFill>
              <a:srgbClr val="8C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95B933-AEE3-33B5-C0D4-C04713AA101E}"/>
              </a:ext>
            </a:extLst>
          </p:cNvPr>
          <p:cNvSpPr txBox="1"/>
          <p:nvPr/>
        </p:nvSpPr>
        <p:spPr>
          <a:xfrm>
            <a:off x="1119371" y="5388947"/>
            <a:ext cx="1817797" cy="4432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i="0" dirty="0">
                <a:solidFill>
                  <a:srgbClr val="8C3041"/>
                </a:solidFill>
              </a:rPr>
              <a:t>Questão para </a:t>
            </a:r>
            <a:br>
              <a:rPr lang="pt-BR" sz="1400" b="1" i="0" dirty="0">
                <a:solidFill>
                  <a:srgbClr val="8C3041"/>
                </a:solidFill>
              </a:rPr>
            </a:br>
            <a:r>
              <a:rPr lang="pt-BR" sz="1400" b="1" dirty="0">
                <a:solidFill>
                  <a:srgbClr val="8C3041"/>
                </a:solidFill>
              </a:rPr>
              <a:t>D</a:t>
            </a:r>
            <a:r>
              <a:rPr sz="1400" b="1" i="0" dirty="0" err="1">
                <a:solidFill>
                  <a:srgbClr val="8C3041"/>
                </a:solidFill>
              </a:rPr>
              <a:t>iscussão</a:t>
            </a:r>
            <a:endParaRPr sz="1400" b="1" i="0" dirty="0">
              <a:solidFill>
                <a:srgbClr val="8C304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5D8264A-6C1A-A79A-D61E-D6AD651C5B07}"/>
              </a:ext>
            </a:extLst>
          </p:cNvPr>
          <p:cNvSpPr txBox="1"/>
          <p:nvPr/>
        </p:nvSpPr>
        <p:spPr>
          <a:xfrm>
            <a:off x="2834640" y="5399195"/>
            <a:ext cx="7936992" cy="5065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600" b="1" i="0" dirty="0">
                <a:solidFill>
                  <a:srgbClr val="172235"/>
                </a:solidFill>
              </a:rPr>
              <a:t>Qual </a:t>
            </a:r>
            <a:r>
              <a:rPr sz="1600" b="1" i="0" dirty="0" err="1">
                <a:solidFill>
                  <a:srgbClr val="172235"/>
                </a:solidFill>
              </a:rPr>
              <a:t>propriedade</a:t>
            </a:r>
            <a:r>
              <a:rPr sz="1600" b="1" i="0" dirty="0">
                <a:solidFill>
                  <a:srgbClr val="172235"/>
                </a:solidFill>
              </a:rPr>
              <a:t> </a:t>
            </a:r>
            <a:r>
              <a:rPr sz="1600" b="1" i="0" dirty="0" err="1">
                <a:solidFill>
                  <a:srgbClr val="172235"/>
                </a:solidFill>
              </a:rPr>
              <a:t>deve</a:t>
            </a:r>
            <a:r>
              <a:rPr sz="1600" b="1" i="0" dirty="0">
                <a:solidFill>
                  <a:srgbClr val="172235"/>
                </a:solidFill>
              </a:rPr>
              <a:t> ser </a:t>
            </a:r>
            <a:r>
              <a:rPr sz="1600" b="1" i="0" dirty="0" err="1">
                <a:solidFill>
                  <a:srgbClr val="172235"/>
                </a:solidFill>
              </a:rPr>
              <a:t>demonstrada</a:t>
            </a:r>
            <a:r>
              <a:rPr sz="1600" b="1" i="0" dirty="0">
                <a:solidFill>
                  <a:srgbClr val="172235"/>
                </a:solidFill>
              </a:rPr>
              <a:t> para </a:t>
            </a:r>
            <a:r>
              <a:rPr sz="1600" b="1" i="0" dirty="0" err="1">
                <a:solidFill>
                  <a:srgbClr val="172235"/>
                </a:solidFill>
              </a:rPr>
              <a:t>que</a:t>
            </a:r>
            <a:r>
              <a:rPr sz="1600" b="1" i="0" dirty="0">
                <a:solidFill>
                  <a:srgbClr val="172235"/>
                </a:solidFill>
              </a:rPr>
              <a:t> um conjunto de agentes </a:t>
            </a:r>
            <a:r>
              <a:rPr sz="1600" b="1" i="0" dirty="0" err="1">
                <a:solidFill>
                  <a:srgbClr val="172235"/>
                </a:solidFill>
              </a:rPr>
              <a:t>seja</a:t>
            </a:r>
            <a:r>
              <a:rPr sz="1600" b="1" i="0" dirty="0">
                <a:solidFill>
                  <a:srgbClr val="172235"/>
                </a:solidFill>
              </a:rPr>
              <a:t> </a:t>
            </a:r>
            <a:r>
              <a:rPr sz="1600" b="1" i="0" dirty="0" err="1">
                <a:solidFill>
                  <a:srgbClr val="172235"/>
                </a:solidFill>
              </a:rPr>
              <a:t>considerado</a:t>
            </a:r>
            <a:r>
              <a:rPr sz="1600" b="1" i="0" dirty="0">
                <a:solidFill>
                  <a:srgbClr val="172235"/>
                </a:solidFill>
              </a:rPr>
              <a:t> um </a:t>
            </a:r>
            <a:r>
              <a:rPr sz="1600" b="1" i="0" dirty="0" err="1">
                <a:solidFill>
                  <a:srgbClr val="172235"/>
                </a:solidFill>
              </a:rPr>
              <a:t>sistema</a:t>
            </a:r>
            <a:r>
              <a:rPr sz="1600" b="1" i="0" dirty="0">
                <a:solidFill>
                  <a:srgbClr val="172235"/>
                </a:solidFill>
              </a:rPr>
              <a:t> </a:t>
            </a:r>
            <a:r>
              <a:rPr sz="1600" b="1" i="0" dirty="0" err="1">
                <a:solidFill>
                  <a:srgbClr val="172235"/>
                </a:solidFill>
              </a:rPr>
              <a:t>cooperativo</a:t>
            </a:r>
            <a:r>
              <a:rPr sz="1600" b="1" i="0" dirty="0">
                <a:solidFill>
                  <a:srgbClr val="172235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4496119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D877A4F-5F75-1617-B1AF-33A72889E648}"/>
              </a:ext>
            </a:extLst>
          </p:cNvPr>
          <p:cNvSpPr txBox="1"/>
          <p:nvPr/>
        </p:nvSpPr>
        <p:spPr>
          <a:xfrm>
            <a:off x="594360" y="219456"/>
            <a:ext cx="5669280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 i="0">
                <a:solidFill>
                  <a:srgbClr val="8C3041"/>
                </a:solidFill>
              </a:rPr>
              <a:t>7 · REFERÊNCIAS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BEAD10-789F-C4A3-9672-45D8B5FC11E3}"/>
              </a:ext>
            </a:extLst>
          </p:cNvPr>
          <p:cNvSpPr txBox="1"/>
          <p:nvPr/>
        </p:nvSpPr>
        <p:spPr>
          <a:xfrm>
            <a:off x="594360" y="502920"/>
            <a:ext cx="10789920" cy="387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pt-BR" sz="2500" b="1" dirty="0">
                <a:solidFill>
                  <a:srgbClr val="172235"/>
                </a:solidFill>
              </a:rPr>
              <a:t>Artigos Estudados</a:t>
            </a:r>
            <a:endParaRPr sz="2500" b="1" i="0" dirty="0">
              <a:solidFill>
                <a:srgbClr val="17223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FDC616-5808-9044-A900-5B837015313A}"/>
              </a:ext>
            </a:extLst>
          </p:cNvPr>
          <p:cNvSpPr txBox="1"/>
          <p:nvPr/>
        </p:nvSpPr>
        <p:spPr>
          <a:xfrm>
            <a:off x="11155680" y="246888"/>
            <a:ext cx="420624" cy="139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 i="0" dirty="0">
                <a:solidFill>
                  <a:srgbClr val="4D5968"/>
                </a:solidFill>
              </a:rPr>
              <a:t>19</a:t>
            </a:r>
            <a:r>
              <a:rPr lang="pt-BR" sz="900" b="0" i="0" dirty="0">
                <a:solidFill>
                  <a:srgbClr val="4D5968"/>
                </a:solidFill>
              </a:rPr>
              <a:t> de 19</a:t>
            </a:r>
          </a:p>
        </p:txBody>
      </p:sp>
      <p:cxnSp>
        <p:nvCxnSpPr>
          <p:cNvPr id="7" name="Connector 4">
            <a:extLst>
              <a:ext uri="{FF2B5EF4-FFF2-40B4-BE49-F238E27FC236}">
                <a16:creationId xmlns:a16="http://schemas.microsoft.com/office/drawing/2014/main" id="{8BCBC297-44F0-CF58-1E0E-51F0FD687F80}"/>
              </a:ext>
            </a:extLst>
          </p:cNvPr>
          <p:cNvCxnSpPr/>
          <p:nvPr/>
        </p:nvCxnSpPr>
        <p:spPr>
          <a:xfrm>
            <a:off x="594360" y="1051560"/>
            <a:ext cx="11000232" cy="0"/>
          </a:xfrm>
          <a:prstGeom prst="line">
            <a:avLst/>
          </a:prstGeom>
          <a:ln w="13970">
            <a:solidFill>
              <a:srgbClr val="8C30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353E1C6-DC91-57B5-D3FD-54E979062C1D}"/>
              </a:ext>
            </a:extLst>
          </p:cNvPr>
          <p:cNvSpPr txBox="1"/>
          <p:nvPr/>
        </p:nvSpPr>
        <p:spPr>
          <a:xfrm>
            <a:off x="713232" y="1298448"/>
            <a:ext cx="475488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274C77"/>
                </a:solidFill>
              </a:rPr>
              <a:t>[1]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51FFAC-85FD-B25D-157E-01820B6C596D}"/>
              </a:ext>
            </a:extLst>
          </p:cNvPr>
          <p:cNvSpPr txBox="1"/>
          <p:nvPr/>
        </p:nvSpPr>
        <p:spPr>
          <a:xfrm>
            <a:off x="1298448" y="1280160"/>
            <a:ext cx="9921240" cy="1860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172235"/>
                </a:solidFill>
              </a:rPr>
              <a:t>Guo, T. et al. Large Language Model Based Multi-agents: A Survey of Progress and Challenges. IJCAI, p. 8048–8057, 2024. DOI: 10.24963/ijcai.2024/890.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9C4B17-B6A9-A597-A076-76A4083E69F8}"/>
              </a:ext>
            </a:extLst>
          </p:cNvPr>
          <p:cNvSpPr txBox="1"/>
          <p:nvPr/>
        </p:nvSpPr>
        <p:spPr>
          <a:xfrm>
            <a:off x="713232" y="1975103"/>
            <a:ext cx="475488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8C3041"/>
                </a:solidFill>
              </a:rPr>
              <a:t>[2]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B8AE56-C230-0098-2B76-9DE7A35ACBFA}"/>
              </a:ext>
            </a:extLst>
          </p:cNvPr>
          <p:cNvSpPr txBox="1"/>
          <p:nvPr/>
        </p:nvSpPr>
        <p:spPr>
          <a:xfrm>
            <a:off x="1298448" y="1956815"/>
            <a:ext cx="9921240" cy="1860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 dirty="0">
                <a:solidFill>
                  <a:srgbClr val="172235"/>
                </a:solidFill>
              </a:rPr>
              <a:t>Chen, W. et al. AgentVerse: Facilitating Multi-Agent Collaboration and Exploring Emergent Behaviors. ICLR, 2024.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D8F9C5-5DD8-AC45-6E3C-32FF398757CF}"/>
              </a:ext>
            </a:extLst>
          </p:cNvPr>
          <p:cNvSpPr txBox="1"/>
          <p:nvPr/>
        </p:nvSpPr>
        <p:spPr>
          <a:xfrm>
            <a:off x="713232" y="2651760"/>
            <a:ext cx="475488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3E6B5C"/>
                </a:solidFill>
              </a:rPr>
              <a:t>[3]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07379D-8404-9BA0-E8A8-44483ADEB55C}"/>
              </a:ext>
            </a:extLst>
          </p:cNvPr>
          <p:cNvSpPr txBox="1"/>
          <p:nvPr/>
        </p:nvSpPr>
        <p:spPr>
          <a:xfrm>
            <a:off x="1298448" y="2633472"/>
            <a:ext cx="9921240" cy="3799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 dirty="0">
                <a:solidFill>
                  <a:srgbClr val="172235"/>
                </a:solidFill>
              </a:rPr>
              <a:t>Yang, T. et al. AutoHMA-LLM: Efficient Task Coordination and Execution in Heterogeneous Multi-Agent Systems Using Hybrid Large Language Models. IEEE TCCN, 11(2), p. 987–998, 2025. DOI: 10.1109/TCCN.2025.3528892.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E9E8298-26CA-090A-5751-29A77F6B9B29}"/>
              </a:ext>
            </a:extLst>
          </p:cNvPr>
          <p:cNvSpPr txBox="1"/>
          <p:nvPr/>
        </p:nvSpPr>
        <p:spPr>
          <a:xfrm>
            <a:off x="713232" y="3328415"/>
            <a:ext cx="475488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9A6B2F"/>
                </a:solidFill>
              </a:rPr>
              <a:t>[4]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69D48B0-2CB5-C0F4-AB35-E8C27933E1BA}"/>
              </a:ext>
            </a:extLst>
          </p:cNvPr>
          <p:cNvSpPr txBox="1"/>
          <p:nvPr/>
        </p:nvSpPr>
        <p:spPr>
          <a:xfrm>
            <a:off x="1298448" y="3310127"/>
            <a:ext cx="9921240" cy="3799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 dirty="0">
                <a:solidFill>
                  <a:srgbClr val="172235"/>
                </a:solidFill>
              </a:rPr>
              <a:t>Chen, B. et al. </a:t>
            </a:r>
            <a:r>
              <a:rPr sz="1200" b="0" i="0" dirty="0" err="1">
                <a:solidFill>
                  <a:srgbClr val="172235"/>
                </a:solidFill>
              </a:rPr>
              <a:t>AgentChain</a:t>
            </a:r>
            <a:r>
              <a:rPr sz="1200" b="0" i="0" dirty="0">
                <a:solidFill>
                  <a:srgbClr val="172235"/>
                </a:solidFill>
              </a:rPr>
              <a:t>: Blockchain-Empowered Multi-Agent Coordination for Trustworthy LLM Question-Answering Systems. IEEE TDSC, 23(4), p. 8501–8518, 2026.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9E65AE-E6E7-0C81-74F6-840549062651}"/>
              </a:ext>
            </a:extLst>
          </p:cNvPr>
          <p:cNvSpPr txBox="1"/>
          <p:nvPr/>
        </p:nvSpPr>
        <p:spPr>
          <a:xfrm>
            <a:off x="713232" y="4005071"/>
            <a:ext cx="475488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A33A32"/>
                </a:solidFill>
              </a:rPr>
              <a:t>[5]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B1A9D54-19FB-E3FB-B33A-AF2AD4C4D0D3}"/>
              </a:ext>
            </a:extLst>
          </p:cNvPr>
          <p:cNvSpPr txBox="1"/>
          <p:nvPr/>
        </p:nvSpPr>
        <p:spPr>
          <a:xfrm>
            <a:off x="1298448" y="3986783"/>
            <a:ext cx="9921240" cy="1860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 dirty="0" err="1">
                <a:solidFill>
                  <a:srgbClr val="172235"/>
                </a:solidFill>
              </a:rPr>
              <a:t>Gueroudji</a:t>
            </a:r>
            <a:r>
              <a:rPr sz="1200" b="0" i="0" dirty="0">
                <a:solidFill>
                  <a:srgbClr val="172235"/>
                </a:solidFill>
              </a:rPr>
              <a:t>, A. et al. </a:t>
            </a:r>
            <a:r>
              <a:rPr sz="1200" b="0" i="0" dirty="0" err="1">
                <a:solidFill>
                  <a:srgbClr val="172235"/>
                </a:solidFill>
              </a:rPr>
              <a:t>ControlA</a:t>
            </a:r>
            <a:r>
              <a:rPr sz="1200" b="0" i="0" dirty="0">
                <a:solidFill>
                  <a:srgbClr val="172235"/>
                </a:solidFill>
              </a:rPr>
              <a:t>: Agentic Workflow Control Mechanisms for Reliable Science. IEEE eScience, p. 415–426, 2025.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74F7CD-9645-0BA6-12C4-4CFB2EC161C8}"/>
              </a:ext>
            </a:extLst>
          </p:cNvPr>
          <p:cNvSpPr txBox="1"/>
          <p:nvPr/>
        </p:nvSpPr>
        <p:spPr>
          <a:xfrm>
            <a:off x="713232" y="4681727"/>
            <a:ext cx="475488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274C77"/>
                </a:solidFill>
              </a:rPr>
              <a:t>[6]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FFAD77-E4B0-50D2-4665-94BB66EB3C42}"/>
              </a:ext>
            </a:extLst>
          </p:cNvPr>
          <p:cNvSpPr txBox="1"/>
          <p:nvPr/>
        </p:nvSpPr>
        <p:spPr>
          <a:xfrm>
            <a:off x="1298448" y="4663440"/>
            <a:ext cx="9921240" cy="1860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 dirty="0">
                <a:solidFill>
                  <a:srgbClr val="172235"/>
                </a:solidFill>
              </a:rPr>
              <a:t>Jia, M.; Cui, Z.; Hug, G. Enhancing LLMs for Power System Simulations: A Feedback-driven Multi-agent Framework. IEEE TSG, 16(6), 2025.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C0B9A7-EA6C-E6D9-692A-3F1191DAAB1F}"/>
              </a:ext>
            </a:extLst>
          </p:cNvPr>
          <p:cNvSpPr txBox="1"/>
          <p:nvPr/>
        </p:nvSpPr>
        <p:spPr>
          <a:xfrm>
            <a:off x="713232" y="5358383"/>
            <a:ext cx="475488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8C3041"/>
                </a:solidFill>
              </a:rPr>
              <a:t>[7]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A7A62D0-BF14-45B1-7106-D4571C8CAD0E}"/>
              </a:ext>
            </a:extLst>
          </p:cNvPr>
          <p:cNvSpPr txBox="1"/>
          <p:nvPr/>
        </p:nvSpPr>
        <p:spPr>
          <a:xfrm>
            <a:off x="1298448" y="5340096"/>
            <a:ext cx="9921240" cy="1860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172235"/>
                </a:solidFill>
              </a:rPr>
              <a:t>Li, Y. et al. LLM-Based Multi-Agent Framework for Automated Optical Network Optimization and Planning. IEEE ACP, 2025.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4379F4-6D9E-2455-788F-A44701FDDC4C}"/>
              </a:ext>
            </a:extLst>
          </p:cNvPr>
          <p:cNvSpPr/>
          <p:nvPr/>
        </p:nvSpPr>
        <p:spPr>
          <a:xfrm>
            <a:off x="1595252" y="5837516"/>
            <a:ext cx="9688444" cy="274320"/>
          </a:xfrm>
          <a:prstGeom prst="rect">
            <a:avLst/>
          </a:prstGeom>
          <a:solidFill>
            <a:srgbClr val="ECEEF1"/>
          </a:solidFill>
          <a:ln w="10160">
            <a:solidFill>
              <a:srgbClr val="D9D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4A27EF0-8CC4-8F6A-09FE-29425D3812AE}"/>
              </a:ext>
            </a:extLst>
          </p:cNvPr>
          <p:cNvSpPr txBox="1"/>
          <p:nvPr/>
        </p:nvSpPr>
        <p:spPr>
          <a:xfrm>
            <a:off x="1115568" y="5912170"/>
            <a:ext cx="9985248" cy="17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0" i="0" dirty="0">
                <a:solidFill>
                  <a:srgbClr val="4D5968"/>
                </a:solidFill>
              </a:rPr>
              <a:t>Corpus</a:t>
            </a:r>
            <a:r>
              <a:rPr sz="900" b="0" i="0" dirty="0">
                <a:solidFill>
                  <a:srgbClr val="4D5968"/>
                </a:solidFill>
              </a:rPr>
              <a:t> principal: [1]–[3]. </a:t>
            </a:r>
            <a:r>
              <a:rPr sz="900" b="0" i="0" dirty="0" err="1">
                <a:solidFill>
                  <a:srgbClr val="4D5968"/>
                </a:solidFill>
              </a:rPr>
              <a:t>Literatura</a:t>
            </a:r>
            <a:r>
              <a:rPr sz="900" b="0" i="0" dirty="0">
                <a:solidFill>
                  <a:srgbClr val="4D5968"/>
                </a:solidFill>
              </a:rPr>
              <a:t> </a:t>
            </a:r>
            <a:r>
              <a:rPr sz="900" b="0" i="0" dirty="0" err="1">
                <a:solidFill>
                  <a:srgbClr val="4D5968"/>
                </a:solidFill>
              </a:rPr>
              <a:t>complementar</a:t>
            </a:r>
            <a:r>
              <a:rPr sz="900" b="0" i="0" dirty="0">
                <a:solidFill>
                  <a:srgbClr val="4D5968"/>
                </a:solidFill>
              </a:rPr>
              <a:t>: [4]–[7]</a:t>
            </a:r>
          </a:p>
        </p:txBody>
      </p:sp>
    </p:spTree>
    <p:extLst>
      <p:ext uri="{BB962C8B-B14F-4D97-AF65-F5344CB8AC3E}">
        <p14:creationId xmlns:p14="http://schemas.microsoft.com/office/powerpoint/2010/main" val="23778788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Uma imagem contendo Forma&#10;&#10;Descrição gerada automaticamente">
            <a:extLst>
              <a:ext uri="{FF2B5EF4-FFF2-40B4-BE49-F238E27FC236}">
                <a16:creationId xmlns:a16="http://schemas.microsoft.com/office/drawing/2014/main" id="{8A30E2B3-F0B9-3248-BAE6-F1209292D2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F04B612-E1A1-EB45-9FBD-335732929D7A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4028341" y="2711669"/>
            <a:ext cx="7441324" cy="1437182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/>
            <a:r>
              <a:rPr lang="pt-BR" sz="5000" b="1" spc="-300" dirty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Dúvidas e Discussões</a:t>
            </a:r>
          </a:p>
        </p:txBody>
      </p:sp>
      <p:pic>
        <p:nvPicPr>
          <p:cNvPr id="8" name="Imagem 7" descr="Texto, Aplicativo&#10;&#10;Descrição gerada automaticamente">
            <a:extLst>
              <a:ext uri="{FF2B5EF4-FFF2-40B4-BE49-F238E27FC236}">
                <a16:creationId xmlns:a16="http://schemas.microsoft.com/office/drawing/2014/main" id="{6B1950E5-AADD-F143-85B7-CCB042F314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013" y="3099030"/>
            <a:ext cx="3008993" cy="1049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118301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405</TotalTime>
  <Words>2103</Words>
  <Application>Microsoft Office PowerPoint</Application>
  <PresentationFormat>Widescreen</PresentationFormat>
  <Paragraphs>370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Arial</vt:lpstr>
      <vt:lpstr>Arial Black</vt:lpstr>
      <vt:lpstr>Calibri</vt:lpstr>
      <vt:lpstr>Tema do Office</vt:lpstr>
      <vt:lpstr>Sistema Especialista, Planejamento Automático e Busca A* Aplicados ao Gerenciamento de Redes sem Fio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Dúvidas e Discussões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Diego Jose Teider</dc:creator>
  <cp:lastModifiedBy>Fernando Sabino Dantas</cp:lastModifiedBy>
  <cp:revision>47</cp:revision>
  <dcterms:created xsi:type="dcterms:W3CDTF">2020-10-27T13:01:25Z</dcterms:created>
  <dcterms:modified xsi:type="dcterms:W3CDTF">2026-09-10T14:18:18Z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59b6cd5-d141-4a33-8bf1-0ca04484304f_Enabled">
    <vt:lpwstr>true</vt:lpwstr>
  </property>
  <property fmtid="{D5CDD505-2E9C-101B-9397-08002B2CF9AE}" pid="3" name="MSIP_Label_a59b6cd5-d141-4a33-8bf1-0ca04484304f_SetDate">
    <vt:lpwstr>2022-04-18T20:01:33Z</vt:lpwstr>
  </property>
  <property fmtid="{D5CDD505-2E9C-101B-9397-08002B2CF9AE}" pid="4" name="MSIP_Label_a59b6cd5-d141-4a33-8bf1-0ca04484304f_Method">
    <vt:lpwstr>Standard</vt:lpwstr>
  </property>
  <property fmtid="{D5CDD505-2E9C-101B-9397-08002B2CF9AE}" pid="5" name="MSIP_Label_a59b6cd5-d141-4a33-8bf1-0ca04484304f_Name">
    <vt:lpwstr>restricted-default</vt:lpwstr>
  </property>
  <property fmtid="{D5CDD505-2E9C-101B-9397-08002B2CF9AE}" pid="6" name="MSIP_Label_a59b6cd5-d141-4a33-8bf1-0ca04484304f_SiteId">
    <vt:lpwstr>38ae3bcd-9579-4fd4-adda-b42e1495d55a</vt:lpwstr>
  </property>
  <property fmtid="{D5CDD505-2E9C-101B-9397-08002B2CF9AE}" pid="7" name="MSIP_Label_a59b6cd5-d141-4a33-8bf1-0ca04484304f_ActionId">
    <vt:lpwstr>0d8ed3b0-d898-44d0-a9dd-a42b5d4dab99</vt:lpwstr>
  </property>
  <property fmtid="{D5CDD505-2E9C-101B-9397-08002B2CF9AE}" pid="8" name="MSIP_Label_a59b6cd5-d141-4a33-8bf1-0ca04484304f_ContentBits">
    <vt:lpwstr>0</vt:lpwstr>
  </property>
  <property fmtid="{D5CDD505-2E9C-101B-9397-08002B2CF9AE}" pid="9" name="Document_Confidentiality">
    <vt:lpwstr>Restricted</vt:lpwstr>
  </property>
</Properties>
</file>