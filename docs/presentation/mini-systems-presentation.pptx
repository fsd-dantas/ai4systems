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7"/>
    <p:sldId id="273" r:id="rId6"/>
    <p:sldId id="274" r:id="rId5"/>
    <p:sldId id="275" r:id="rId4"/>
    <p:sldId id="276" r:id="rId3"/>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82"/>
            <p14:sldId id="279"/>
            <p14:sldId id="283"/>
            <p14:sldId id="281"/>
            <p14:sldId id="284"/>
            <p14:sldId id="285"/>
            <p14:sldId id="286"/>
            <p14:sldId id="287"/>
            <p14:sldId id="289"/>
            <p14:sldId id="288"/>
            <p14:sldId id="290"/>
            <p14:sldId id="291"/>
            <p14:sldId id="292"/>
            <p14:sldId id="293"/>
            <p14:sldId id="294"/>
            <p14:sldId id="295"/>
            <p14:sldId id="296"/>
            <p14:sldId id="297"/>
            <p14:sldId id="298"/>
            <p14:sldId id="27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4694"/>
  </p:normalViewPr>
  <p:slideViewPr>
    <p:cSldViewPr snapToGrid="0" snapToObjects="1" showGuides="1">
      <p:cViewPr varScale="1">
        <p:scale>
          <a:sx n="161" d="100"/>
          <a:sy n="161" d="100"/>
        </p:scale>
        <p:origin x="308" y="1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1.xml"/><Relationship Id="rId4" Type="http://schemas.openxmlformats.org/officeDocument/2006/relationships/slide" Target="slides/slide20.xml"/><Relationship Id="rId5" Type="http://schemas.openxmlformats.org/officeDocument/2006/relationships/slide" Target="slides/slide19.xml"/><Relationship Id="rId6" Type="http://schemas.openxmlformats.org/officeDocument/2006/relationships/slide" Target="slides/slide18.xml"/><Relationship Id="rId7" Type="http://schemas.openxmlformats.org/officeDocument/2006/relationships/slide" Target="slides/slide17.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Estrutura da apresentação</a:t>
            </a:r>
          </a:p>
          <a:p>
            <a:r>
              <a:t>ÍNDICE</a:t>
            </a:r>
          </a:p>
          <a:p>
            <a:r>
              <a:t>Tempo previsto: 00:58 | Janela: 01:02–02:00</a:t>
            </a:r>
          </a:p>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Problema e questão de investigação</a:t>
            </a:r>
          </a:p>
          <a:p>
            <a:r>
              <a:t>1 · FUNDAMENTOS E DOMÍNIO</a:t>
            </a:r>
          </a:p>
          <a:p>
            <a:r>
              <a:t>Tempo previsto: 01:13 | Janela: 02:00–03:13</a:t>
            </a:r>
          </a:p>
          <a:p/>
          <a:p>
            <a:r>
              <a:t>FALA SUGERIDA</a:t>
            </a:r>
          </a:p>
          <a:p>
            <a:r>
              <a:t>A questão de investigação não é simplesmente se três algoritmos podem ser implementados em Python. Ela trata da coerência entre diferentes formas de representar e resolver um mesmo incidente.</a:t>
            </a:r>
          </a:p>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Escopo: testes internos representados em software</a:t>
            </a:r>
          </a:p>
          <a:p>
            <a:r>
              <a:t>1 · FUNDAMENTOS E DOMÍNIO</a:t>
            </a:r>
          </a:p>
          <a:p>
            <a:r>
              <a:t>Tempo previsto: 01:13 | Janela: 03:13–04:26</a:t>
            </a:r>
          </a:p>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Topologia sintética e unidade de análise</a:t>
            </a:r>
          </a:p>
          <a:p>
            <a:r>
              <a:t>1 · FUNDAMENTOS E DOMÍNIO</a:t>
            </a:r>
          </a:p>
          <a:p>
            <a:r>
              <a:t>Tempo previsto: 01:15 | Janela: 04:26–05:41</a:t>
            </a:r>
          </a:p>
          <a:p/>
          <a:p>
            <a:r>
              <a:t>FALA SUGERIDA</a:t>
            </a:r>
          </a:p>
          <a:p>
            <a:r>
              <a:t>A topologia organiza trinta nós em três setores, conectados a um núcleo de comunicação. Existem enlaces com diferentes tipos e custos, além de caminhos alternativos que tornam o roteamento um problema relevante.</a:t>
            </a:r>
          </a:p>
          <a:p/>
          <a:p>
            <a:r>
              <a:t>Os identificadores permitem acompanhar um incidente entre os módulos. RM_A5 será utilizado no exemplo de contenção, enquanto outros pares ilustrarão a seleção de rotas. As coordenadas pertencem ao modelo; não descrevem o posicionamento de equipamentos reais em uma sala. A figura é um esquema de conectividade e deve ser interpretada dessa maneira.</a:t>
            </a:r>
          </a:p>
          <a:p/>
          <a:p>
            <a:r>
              <a:t>É importante separar o tamanho do grafo da quantidade de observações de diagnóstico. Ter trinta nós não significa dispor de trinta amostras independentes de falha. Da mesma forma, avaliar todos os pares de roteamento examina um conjunto de problemas sobre o mesmo grafo, e não uma coleção de redes independentes. Essa distinção será retomada na avaliação experimental.</a:t>
            </a:r>
          </a:p>
          <a:p/>
          <a:p>
            <a:r>
              <a:t>CONDUÇÃO / DEMONSTRAÇÃO</a:t>
            </a:r>
          </a:p>
          <a:p>
            <a:r>
              <a:t>Identificar NOC, um ponto de acesso, um repetidor e uma rota alternativa.</a:t>
            </a:r>
          </a:p>
          <a:p/>
          <a:p>
            <a:r>
              <a:t>FONTE / PROCEDÊNCIA</a:t>
            </a:r>
          </a:p>
          <a:p>
            <a:r>
              <a:t>Repositório: src/aisg/domain/data/backhaul-topology-30.json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Grandezas físicas: definição e interpretação</a:t>
            </a:r>
          </a:p>
          <a:p>
            <a:r>
              <a:t>1 · FUNDAMENTOS E DOMÍNIO</a:t>
            </a:r>
          </a:p>
          <a:p>
            <a:r>
              <a:t>Tempo previsto: 01:16 | Janela: 05:41–06:57</a:t>
            </a:r>
          </a:p>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Indicadores de acesso ao meio e desempenho</a:t>
            </a:r>
          </a:p>
          <a:p>
            <a:r>
              <a:t>1 · FUNDAMENTOS E DOMÍNIO</a:t>
            </a:r>
          </a:p>
          <a:p>
            <a:r>
              <a:t>Tempo previsto: 01:18 | Janela: 06:57–08:15</a:t>
            </a:r>
          </a:p>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p>
            <a:r>
              <a:t>A perda de pacotes é uma propriedade da entrega segundo um critério temporal. Um pacote atrasado pode ser considerado perdido se ultrapassar o prazo definido. Já o RTT mede ida e volta, e não deve ser confundido com atraso unidirecional.</a:t>
            </a:r>
          </a:p>
          <a:p/>
          <a:p>
            <a:r>
              <a:t>A carga oferecida depende da capacidade escolhida como referência. Cem por cento não é um limiar universal de saturação, porque a capacidade efetiva pode ser menor em função de sobrecargas e condições do meio.</a:t>
            </a:r>
          </a:p>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Observações, intervenções e informação desconhecida</a:t>
            </a:r>
          </a:p>
          <a:p>
            <a:r>
              <a:t>1 · FUNDAMENTOS E DOMÍNIO</a:t>
            </a:r>
          </a:p>
          <a:p>
            <a:r>
              <a:t>Tempo previsto: 01:18 | Janela: 08:15–09:33</a:t>
            </a:r>
          </a:p>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Três representações, três critérios de correção</a:t>
            </a:r>
          </a:p>
          <a:p>
            <a:r>
              <a:t>1 · FUNDAMENTOS E DOMÍNIO</a:t>
            </a:r>
          </a:p>
          <a:p>
            <a:r>
              <a:t>Tempo previsto: 01:17 | Janela: 09:33–10:50</a:t>
            </a:r>
          </a:p>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p>
            <a:r>
              <a:t>No planejamento, verifico se cada ação é aplicável no estado em que ocorre e se o estado final satisfaz o objetivo. Essa validação pressupõe que os efeitos declarados descrevem adequadamente as ações.</a:t>
            </a:r>
          </a:p>
          <a:p/>
          <a:p>
            <a:r>
              <a:t>Na busca, verifico se os pares consecutivos pertencem ao grafo e se o custo corresponde ao mínimo para aquela instância. A otimalidade se refere à função de custo especificada, não a toda dimensão possível de qualidade de serviço.</a:t>
            </a:r>
          </a:p>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Escolha metodológica e alcance das evidências</a:t>
            </a:r>
          </a:p>
          <a:p>
            <a:r>
              <a:t>1 · FUNDAMENTOS E DOMÍNIO</a:t>
            </a:r>
          </a:p>
          <a:p>
            <a:r>
              <a:t>Tempo previsto: 01:10 | Janela: 10:50–12:00</a:t>
            </a:r>
          </a:p>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Diagnóstico baseado em regras de produção</a:t>
            </a:r>
          </a:p>
          <a:p>
            <a:r>
              <a:t>2 · SISTEMA ESPECIALISTA</a:t>
            </a:r>
          </a:p>
          <a:p>
            <a:r>
              <a:t>Tempo previsto: 01:27 | Janela: 12:00–13:27</a:t>
            </a:r>
          </a:p>
          <a:p/>
          <a:p>
            <a:r>
              <a:t>FALA SUGERIDA</a:t>
            </a:r>
          </a:p>
          <a:p>
            <a:r>
              <a:t>O primeiro minissistema representa conhecimento por regras de produção. A base selecionada para o cenário simulado contém quarenta e uma regras e contempla oito situações ilustrativas, incluindo a condição saudável.</a:t>
            </a:r>
          </a:p>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p>
            <a:r>
              <a:t>FONTE / PROCEDÊNCIA</a:t>
            </a:r>
          </a:p>
          <a:p>
            <a:r>
              <a:t>Implementação: src/aisg/expert_system/kb_simulated.py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Arquitetura e separação de responsabilidades</a:t>
            </a:r>
          </a:p>
          <a:p>
            <a:r>
              <a:t>2 · SISTEMA ESPECIALISTA</a:t>
            </a:r>
          </a:p>
          <a:p>
            <a:r>
              <a:t>Tempo previsto: 01:29 | Janela: 13:27–14:56</a:t>
            </a:r>
          </a:p>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Organização da base de conhecimento</a:t>
            </a:r>
          </a:p>
          <a:p>
            <a:r>
              <a:t>2 · SISTEMA ESPECIALISTA</a:t>
            </a:r>
          </a:p>
          <a:p>
            <a:r>
              <a:t>Tempo previsto: 01:25 | Janela: 14:56–16:21</a:t>
            </a:r>
          </a:p>
          <a:p/>
          <a:p>
            <a:r>
              <a:t>FALA SUGERIDA</a:t>
            </a:r>
          </a:p>
          <a:p>
            <a:r>
              <a:t>A base utiliza conclusões intermediárias para organizar a inferência. RSSI e SNR contribuem para uma classificação de qualidade do sinal. Perda e atraso contribuem para a identificação de sintomas. Essas conclusões, combinadas com informações do cenário, sustentam hipóteses de diagnóstico.</a:t>
            </a:r>
          </a:p>
          <a:p/>
          <a:p>
            <a:r>
              <a:t>Há também regras de contraevidência. Elas representam condições que enfraquecem uma hipótese segundo o conhecimento codificado. Por exemplo, uma taxa baixa de retransmissão reduz o suporte à hipótese de contenção na base atual.</a:t>
            </a:r>
          </a:p>
          <a:p/>
          <a:p>
            <a:r>
              <a:t>A organização em camadas evita repetir as mesmas condições em várias regras, mas cria dependências entre conclusões. Dois caminhos de inferência podem reutilizar a mesma observação original. Consequentemente, o fato de haver duas regras favoráveis não significa que existam duas evidências independentes. A análise de dependência e redundância é parte importante da revisão de uma base que utiliza agregação numérica de suporte.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Variáveis observáveis e parâmetros do cenário</a:t>
            </a:r>
          </a:p>
          <a:p>
            <a:r>
              <a:t>2 · SISTEMA ESPECIALISTA</a:t>
            </a:r>
          </a:p>
          <a:p>
            <a:r>
              <a:t>Tempo previsto: 01:27 | Janela: 16:21–17:48</a:t>
            </a:r>
          </a:p>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Regra de diagnóstico e contraevidência</a:t>
            </a:r>
          </a:p>
          <a:p>
            <a:r>
              <a:t>2 · SISTEMA ESPECIALISTA</a:t>
            </a:r>
          </a:p>
          <a:p>
            <a:r>
              <a:t>Tempo previsto: 01:32 | Janela: 17:48–19:20</a:t>
            </a:r>
          </a:p>
          <a:p/>
          <a:p>
            <a:r>
              <a:t>FALA SUGERIDA</a:t>
            </a:r>
          </a:p>
          <a:p>
            <a:r>
              <a:t>A regra S14 associa retransmissão elevada, ausência de classificação pobre do sinal e ausência de emissor cocanal à hipótese de contenção. O peso positivo indica a intensidade de suporte atribuída a essa associação.</a:t>
            </a:r>
          </a:p>
          <a:p/>
          <a:p>
            <a:r>
              <a:t>A regra S25 tem outra função: retransmissão abaixo do limiar é contraevidência para a mesma hipótese. Seu fator de certeza negativo pode reduzir o suporte agregado.</a:t>
            </a:r>
          </a:p>
          <a:p/>
          <a:p>
            <a:r>
              <a:t>Há dois cuidados conceituais. Primeiro, o limiar de trinta por cento não deve ser apresentado como constante universal de comunicação sem fio. Ele é um parâmetro nominal da base. Segundo, a expressão diferente de poor não autoriza concluir que qualquer condição desconhecida é boa. Sua avaliação depende da semântica implementada e dos fatos disponíveis.</a:t>
            </a:r>
          </a:p>
          <a:p/>
          <a:p>
            <a:r>
              <a:t>Essas regras são úteis porque tornam discutível uma decisão que, de outra forma, poderia ficar implícita. Podemos revisar o limiar, o peso ou as condições e observar como isso altera as hipóteses produzidas.</a:t>
            </a:r>
          </a:p>
          <a:p/>
          <a:p>
            <a:r>
              <a:t>CONDUÇÃO / DEMONSTRAÇÃO</a:t>
            </a:r>
          </a:p>
          <a:p>
            <a:r>
              <a:t>Ler a primeira regra e solicitar uma interpretação antes de mostrar a função da contraevidência.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Fatores de certeza: significado e limites</a:t>
            </a:r>
          </a:p>
          <a:p>
            <a:r>
              <a:t>2 · SISTEMA ESPECIALISTA</a:t>
            </a:r>
          </a:p>
          <a:p>
            <a:r>
              <a:t>Tempo previsto: 01:32 | Janela: 19:20–20:52</a:t>
            </a:r>
          </a:p>
          <a:p/>
          <a:p>
            <a:r>
              <a:t>FALA SUGERIDA</a:t>
            </a:r>
          </a:p>
          <a:p>
            <a:r>
              <a:t>O fator de certeza é uma escala de suporte utilizada pelo mecanismo de inferência. Valores positivos representam apoio à conclusão e valores negativos representam oposição. Os extremos são estados do formalismo; não garantem verdade ou falsidade empírica.</a:t>
            </a:r>
          </a:p>
          <a:p/>
          <a:p>
            <a:r>
              <a:t>Essa distinção é essencial ao apresentar um valor como zero vírgula noventa e quatro. Não afirmo que a hipótese tenha noventa e quatro por cento de probabilidade de estar correta, nem que o resultado possua um intervalo de confiança de noventa e quatro por cento. Essas interpretações exigiriam uma modelagem e uma calibração diferentes.</a:t>
            </a:r>
          </a:p>
          <a:p/>
          <a:p>
            <a:r>
              <a:t>A inspiração histórica está nos sistemas baseados em regras associados ao MYCIN. No projeto, essa escolha favorece uma demonstração explícita de combinação de suporte. Contudo, ela não elimina a necessidade de tratar dependência entre evidências. Também não impede alternativas probabilísticas: probabilidades e priors podem ser estimados ou elicitados, desde que suas hipóteses e fontes sejam justificadas.</a:t>
            </a:r>
          </a:p>
          <a:p/>
          <a:p>
            <a:r>
              <a:t>FONTE / PROCEDÊNCIA</a:t>
            </a:r>
          </a:p>
          <a:p>
            <a:r>
              <a:t>Shortliffe e Buchanan (1975), reimpresso em Rule-Based Expert Systems, cap. 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Propagação e combinação de suporte</a:t>
            </a:r>
          </a:p>
          <a:p>
            <a:r>
              <a:t>2 · SISTEMA ESPECIALISTA</a:t>
            </a:r>
          </a:p>
          <a:p>
            <a:r>
              <a:t>Tempo previsto: 01:35 | Janela: 20:52–22:27</a:t>
            </a:r>
          </a:p>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p>
            <a:r>
              <a:t>CONDUÇÃO / DEMONSTRAÇÃO</a:t>
            </a:r>
          </a:p>
          <a:p>
            <a:r>
              <a:t>Calcular 0,48 + 0,30 × 0,52 com a audiência; separar cálculo e interpretação.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Contraevidência e dependência entre regras</a:t>
            </a:r>
          </a:p>
          <a:p>
            <a:r>
              <a:t>2 · SISTEMA ESPECIALISTA</a:t>
            </a:r>
          </a:p>
          <a:p>
            <a:r>
              <a:t>Tempo previsto: 01:32 | Janela: 22:27–23:59</a:t>
            </a:r>
          </a:p>
          <a:p/>
          <a:p>
            <a:r>
              <a:t>FALA SUGERIDA</a:t>
            </a:r>
          </a:p>
          <a:p>
            <a:r>
              <a:t>Quando as contribuições possuem sinais opostos, a combinação reduz o suporte de acordo com a expressão apresentada. Com zero vírgula oitenta e menos zero vírgula cinquenta, o numerador é zero vírgula trinta e o denominador é zero vírgula cinquenta. O resultado é zero vírgula sessenta.</a:t>
            </a:r>
          </a:p>
          <a:p/>
          <a:p>
            <a:r>
              <a:t>No conflito entre mais um e menos um, o denominador se anula. O código trata esse caso retornando zero. É uma convenção de implementação que deve ser documentada, e não uma resolução epistemológica automática da contradição.</a:t>
            </a:r>
          </a:p>
          <a:p/>
          <a:p>
            <a:r>
              <a:t>Uma limitação adicional é a dependência entre regras. Se perda elevada e retransmissão elevada decorrem do mesmo mecanismo, agregá-las como apoios separados pode amplificar o suporte. Uma avaliação mais rigorosa pode remover regras redundantes, introduzir casos contraditórios e comparar o resultado antes e depois da remoção. A finalidade é examinar se a conclusão permanece sustentada quando a mesma informação deixa de ser contada por múltiplos caminhos.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Encadeamento progressivo e resolução de conflito</a:t>
            </a:r>
          </a:p>
          <a:p>
            <a:r>
              <a:t>2 · SISTEMA ESPECIALISTA</a:t>
            </a:r>
          </a:p>
          <a:p>
            <a:r>
              <a:t>Tempo previsto: 01:28 | Janela: 23:59–25:27</a:t>
            </a:r>
          </a:p>
          <a:p/>
          <a:p>
            <a:r>
              <a:t>FALA SUGERIDA</a:t>
            </a:r>
          </a:p>
          <a:p>
            <a:r>
              <a:t>O encadeamento progressivo parte dos fatos disponíveis. Em cada ciclo, o motor identifica as regras cujas premissas possuem suporte suficiente, seleciona uma delas e atualiza a memória.</a:t>
            </a:r>
          </a:p>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Demonstração: hipótese de contenção MAC</a:t>
            </a:r>
          </a:p>
          <a:p>
            <a:r>
              <a:t>2 · SISTEMA ESPECIALISTA</a:t>
            </a:r>
          </a:p>
          <a:p>
            <a:r>
              <a:t>Tempo previsto: 02:39 | Janela: 25:27–28:06</a:t>
            </a:r>
          </a:p>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p>
            <a:r>
              <a:t>O campo de autorização informa que a intervenção exige autorização. Ele não concede uma permissão e não substitui um processo de controle externo. Essa distinção evita transformar uma recomendação lógica em uma aprovação operacional.</a:t>
            </a:r>
          </a:p>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Encadeamento regressivo e consulta orientada</a:t>
            </a:r>
          </a:p>
          <a:p>
            <a:r>
              <a:t>2 · SISTEMA ESPECIALISTA</a:t>
            </a:r>
          </a:p>
          <a:p>
            <a:r>
              <a:t>Tempo previsto: 01:31 | Janela: 28:06–29:37</a:t>
            </a:r>
          </a:p>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Explicação, hipótese e identificação causal</a:t>
            </a:r>
          </a:p>
          <a:p>
            <a:r>
              <a:t>2 · SISTEMA ESPECIALISTA</a:t>
            </a:r>
          </a:p>
          <a:p>
            <a:r>
              <a:t>Tempo previsto: 01:30 | Janela: 29:37–31:07</a:t>
            </a:r>
          </a:p>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Resultados dos oito casos ilustrativos</a:t>
            </a:r>
          </a:p>
          <a:p>
            <a:r>
              <a:t>2 · SISTEMA ESPECIALISTA</a:t>
            </a:r>
          </a:p>
          <a:p>
            <a:r>
              <a:t>Tempo previsto: 01:31 | Janela: 31:07–32:38</a:t>
            </a:r>
          </a:p>
          <a:p/>
          <a:p>
            <a:r>
              <a:t>FALA SUGERIDA</a:t>
            </a:r>
          </a:p>
          <a:p>
            <a:r>
              <a:t>A tabela reúne os resultados dos oito casos fornecidos com a base simulada. Em cada linha, apresento a hipótese principal, o suporte calculado e a ação recomendada. Os valores foram reproduzidos pela execução do motor.</a:t>
            </a:r>
          </a:p>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Avaliação crítica do sistema especialista</a:t>
            </a:r>
          </a:p>
          <a:p>
            <a:r>
              <a:t>2 · SISTEMA ESPECIALISTA</a:t>
            </a:r>
          </a:p>
          <a:p>
            <a:r>
              <a:t>Tempo previsto: 01:22 | Janela: 32:38–34:00</a:t>
            </a:r>
          </a:p>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Do diagnóstico à sequência de ações</a:t>
            </a:r>
          </a:p>
          <a:p>
            <a:r>
              <a:t>3 · PLANEJAMENTO AUTOMÁTICO</a:t>
            </a:r>
          </a:p>
          <a:p>
            <a:r>
              <a:t>Tempo previsto: 01:21 | Janela: 34:00–35:21</a:t>
            </a:r>
          </a:p>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p>
            <a:r>
              <a:t>O planejador recebe um estado inicial que contém uma ou mais falhas selecionadas. No cenário simulado, esse estado também identifica se a execução está ativa. O objetivo combina recuperação do serviço e registro da intervenção.</a:t>
            </a:r>
          </a:p>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Modelo formal de planejamento STRIPS</a:t>
            </a:r>
          </a:p>
          <a:p>
            <a:r>
              <a:t>3 · PLANEJAMENTO AUTOMÁTICO</a:t>
            </a:r>
          </a:p>
          <a:p>
            <a:r>
              <a:t>Tempo previsto: 01:21 | Janela: 35:21–36:42</a:t>
            </a:r>
          </a:p>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p>
            <a:r>
              <a:t>Os operadores podem ser escritos com parâmetros e depois instanciados para objetos concretos, como RM_A5.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p>
            <a:r>
              <a:t>FONTE / PROCEDÊNCIA</a:t>
            </a:r>
          </a:p>
          <a:p>
            <a:r>
              <a:t>Fikes e Nilsson (1971); implementação: src/aisg/planning/strips.py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Hipóteses de planejamento e suas consequências</a:t>
            </a:r>
          </a:p>
          <a:p>
            <a:r>
              <a:t>3 · PLANEJAMENTO AUTOMÁTICO</a:t>
            </a:r>
          </a:p>
          <a:p>
            <a:r>
              <a:t>Tempo previsto: 01:22 | Janela: 36:42–38:04</a:t>
            </a:r>
          </a:p>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p>
            <a:r>
              <a:t>Os efeitos são determinísticos. Quando a ação de reparo é aplicada, seu predicado de falha é removido e um predicado de correção é acrescentado. O modelo não sorteia falhas de execução nem acompanha automaticamente a evolução de filas.</a:t>
            </a:r>
          </a:p>
          <a:p/>
          <a:p>
            <a:r>
              <a:t>O custo também é convencional e aditivo. Ele permite comparar sequências, mas não deve ser apresentado como tempo de manutenção, consumo de energia ou risco medido sem uma calibração correspondente.</a:t>
            </a:r>
          </a:p>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Operador: separar canais no cenário simulado</a:t>
            </a:r>
          </a:p>
          <a:p>
            <a:r>
              <a:t>3 · PLANEJAMENTO AUTOMÁTICO</a:t>
            </a:r>
          </a:p>
          <a:p>
            <a:r>
              <a:t>Tempo previsto: 01:17 | Janela: 38:04–39:21</a:t>
            </a:r>
          </a:p>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p>
            <a:r>
              <a:t>CONDUÇÃO / DEMONSTRAÇÃO</a:t>
            </a:r>
          </a:p>
          <a:p>
            <a:r>
              <a:t>Perguntar quais precondições ainda faltam no estado inicial do caso mac_contention.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Operadores pertinentes à demonstração</a:t>
            </a:r>
          </a:p>
          <a:p>
            <a:r>
              <a:t>3 · PLANEJAMENTO AUTOMÁTICO</a:t>
            </a:r>
          </a:p>
          <a:p>
            <a:r>
              <a:t>Tempo previsto: 01:21 | Janela: 39:21–40:42</a:t>
            </a:r>
          </a:p>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p>
            <a:r>
              <a:t>As etapas finais verificam o enlace, registram o resultado e encerram a ordem. No modelo, verificar o enlace exige as correções previstas e, no cenário simulado, a execução novamente ativa.</a:t>
            </a:r>
          </a:p>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Autorização e validação pertencem ao modelo</a:t>
            </a:r>
          </a:p>
          <a:p>
            <a:r>
              <a:t>3 · PLANEJAMENTO AUTOMÁTICO</a:t>
            </a:r>
          </a:p>
          <a:p>
            <a:r>
              <a:t>Tempo previsto: 01:20 | Janela: 40:42–42:02</a:t>
            </a:r>
          </a:p>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GPS: análise meios-fins</a:t>
            </a:r>
          </a:p>
          <a:p>
            <a:r>
              <a:t>3 · PLANEJAMENTO AUTOMÁTICO</a:t>
            </a:r>
          </a:p>
          <a:p>
            <a:r>
              <a:t>Tempo previsto: 01:17 | Janela: 42:02–43:19</a:t>
            </a:r>
          </a:p>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p>
            <a:r>
              <a:t>O processo continua recursivamente até encontrar condições já satisfeitas ou ações aplicáveis. Depois de aplicar uma ação, o estado é atualizado. O código utiliza controle de profundidade, prevenção de ciclos e retrocesso em ramos locais.</a:t>
            </a:r>
          </a:p>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Interação entre subobjetivos</a:t>
            </a:r>
          </a:p>
          <a:p>
            <a:r>
              <a:t>3 · PLANEJAMENTO AUTOMÁTICO</a:t>
            </a:r>
          </a:p>
          <a:p>
            <a:r>
              <a:t>Tempo previsto: 01:25 | Janela: 43:19–44:44</a:t>
            </a:r>
          </a:p>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p>
            <a:r>
              <a:t>A dificuldade não decorre de uma ação individual inválida. Cada ação pode ter sido aplicável. O problema está na interação entre seus efeitos ao longo da sequência.</a:t>
            </a:r>
          </a:p>
          <a:p/>
          <a:p>
            <a:r>
              <a:t>A literatura de planejamento discute esse tipo de interação, com exemplos clássicos como a anomalia de Sussman no mundo dos blocos. O exemplo deste slide é mais simples e não pretende reproduzir aquela instância específica.</a:t>
            </a:r>
          </a:p>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Não otimalidade: custo local e custo total</a:t>
            </a:r>
          </a:p>
          <a:p>
            <a:r>
              <a:t>3 · PLANEJAMENTO AUTOMÁTICO</a:t>
            </a:r>
          </a:p>
          <a:p>
            <a:r>
              <a:t>Tempo previsto: 02:23 | Janela: 44:44–47:07</a:t>
            </a:r>
          </a:p>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p>
            <a:r>
              <a:t>Uma preferência baseada no custo próprio do operador pode escolher a primeira alternativa. O plano resultante custa onze. A busca progressiva considera a sequência e encontra a alternativa de custo três.</a:t>
            </a:r>
          </a:p>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p>
            <a:r>
              <a:t>CONDUÇÃO / DEMONSTRAÇÃO</a:t>
            </a:r>
          </a:p>
          <a:p>
            <a:r>
              <a:t>Executar presentation_demo.py gps-counterexample se houver tempo; comparar 11 e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Planejamento como busca progressiva</a:t>
            </a:r>
          </a:p>
          <a:p>
            <a:r>
              <a:t>3 · PLANEJAMENTO AUTOMÁTICO</a:t>
            </a:r>
          </a:p>
          <a:p>
            <a:r>
              <a:t>Tempo previsto: 01:23 | Janela: 47:07–48:30</a:t>
            </a:r>
          </a:p>
          <a:p/>
          <a:p>
            <a:r>
              <a:t>FALA SUGERIDA</a:t>
            </a:r>
          </a:p>
          <a:p>
            <a:r>
              <a:t>A busca progressiva transforma o planejamento em um problema de percurso sobre estados. A partir do estado inicial, cada ação aplicável gera um sucessor. O teste de objetivo verifica a inclusão dos predicados desejados.</a:t>
            </a:r>
          </a:p>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Heurística de objetivos não satisfeitos</a:t>
            </a:r>
          </a:p>
          <a:p>
            <a:r>
              <a:t>3 · PLANEJAMENTO AUTOMÁTICO</a:t>
            </a:r>
          </a:p>
          <a:p>
            <a:r>
              <a:t>Tempo previsto: 01:24 | Janela: 48:30–49:54</a:t>
            </a:r>
          </a:p>
          <a:p/>
          <a:p>
            <a:r>
              <a:t>FALA SUGERIDA</a:t>
            </a:r>
          </a:p>
          <a:p>
            <a:r>
              <a:t>A heurística conta quantos predicados do objetivo ainda estão ausentes. Para justificá-la como limite inferior, precisamos relacionar a quantidade de objetivos que uma ação pode acrescentar ao seu custo.</a:t>
            </a:r>
          </a:p>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Demonstração: plano para contenção MAC</a:t>
            </a:r>
          </a:p>
          <a:p>
            <a:r>
              <a:t>3 · PLANEJAMENTO AUTOMÁTICO</a:t>
            </a:r>
          </a:p>
          <a:p>
            <a:r>
              <a:t>Tempo previsto: 02:23 | Janela: 49:54–52:17</a:t>
            </a:r>
          </a:p>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p>
            <a:r>
              <a:t>CONDUÇÃO / DEMONSTRAÇÃO</a:t>
            </a:r>
          </a:p>
          <a:p>
            <a:r>
              <a:t>Executar o comando, conferir custo 11 e validação. Mostrar a posição de stop_run e start_run.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Falhas simultâneas e correção específica</a:t>
            </a:r>
          </a:p>
          <a:p>
            <a:r>
              <a:t>3 · PLANEJAMENTO AUTOMÁTICO</a:t>
            </a:r>
          </a:p>
          <a:p>
            <a:r>
              <a:t>Tempo previsto: 02:21 | Janela: 52:17–54:38</a:t>
            </a:r>
          </a:p>
          <a:p/>
          <a:p>
            <a:r>
              <a:t>FALA SUGERIDA</a:t>
            </a:r>
          </a:p>
          <a:p>
            <a:r>
              <a:t>Na extensão para múltiplas falhas, um único indicador genérico de reparo seria insuficiente. Se corrigir uma falha ativasse esse indicador, o plano poderia verificar o enlace enquanto outra falha permanecesse presente.</a:t>
            </a:r>
          </a:p>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p>
            <a:r>
              <a:t>CONDUÇÃO / DEMONSTRAÇÃO</a:t>
            </a:r>
          </a:p>
          <a:p>
            <a:r>
              <a:t>Executar presentation_demo.py multifault; verificar custo 12 e uma única parada/retomada.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Rota alternativa como precondição verificável</a:t>
            </a:r>
          </a:p>
          <a:p>
            <a:r>
              <a:t>3 · PLANEJAMENTO AUTOMÁTICO</a:t>
            </a:r>
          </a:p>
          <a:p>
            <a:r>
              <a:t>Tempo previsto: 01:22 | Janela: 54:38–56:00</a:t>
            </a:r>
          </a:p>
          <a:p/>
          <a:p>
            <a:r>
              <a:t>FALA SUGERIDA</a:t>
            </a:r>
          </a:p>
          <a:p>
            <a:r>
              <a:t>O operador de desvio de tráfego exige uma rota alternativa. O planejador consulta a busca sobre a topologia para verificar se existe um caminho que evite o nó afetado.</a:t>
            </a:r>
          </a:p>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p>
            <a:r>
              <a:t>Se não existir caminho, a precondição não deve ser adicionada. Na instância em que o desvio é a única correção disponível, o planejador deve informar ausência de solução.</a:t>
            </a:r>
          </a:p>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Busca de caminhos em um grafo ponderado</a:t>
            </a:r>
          </a:p>
          <a:p>
            <a:r>
              <a:t>4 · BUSCA A*</a:t>
            </a:r>
          </a:p>
          <a:p>
            <a:r>
              <a:t>Tempo previsto: 01:24 | Janela: 56:00–57:24</a:t>
            </a:r>
          </a:p>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Função de custo e significado dos parâmetros</a:t>
            </a:r>
          </a:p>
          <a:p>
            <a:r>
              <a:t>4 · BUSCA A*</a:t>
            </a:r>
          </a:p>
          <a:p>
            <a:r>
              <a:t>Tempo previsto: 01:33 | Janela: 57:24–58:57</a:t>
            </a:r>
          </a:p>
          <a:p/>
          <a:p>
            <a:r>
              <a:t>FALA SUGERIDA</a:t>
            </a:r>
          </a:p>
          <a:p>
            <a:r>
              <a:t>A função de custo combina uma sobrecarga fixa por tipo de enlace com um termo proporcional à distância e inversamente proporcional à velocidade efetiva e à qualidade.</a:t>
            </a:r>
          </a:p>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p>
            <a:r>
              <a:t>Caso a função de custo seja substituída por medições ou por um objetivo não aditivo, a prova precisa ser revisada. Não se deve conservar a heurística apenas por conveniência visual.</a:t>
            </a:r>
          </a:p>
          <a:p/>
          <a:p>
            <a:r>
              <a:t>FONTE / PROCEDÊNCIA</a:t>
            </a:r>
          </a:p>
          <a:p>
            <a:r>
              <a:t>Modelo: src/aisg/domain/topology.py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Função de avaliação e fronteira de busca</a:t>
            </a:r>
          </a:p>
          <a:p>
            <a:r>
              <a:t>4 · BUSCA A*</a:t>
            </a:r>
          </a:p>
          <a:p>
            <a:r>
              <a:t>Tempo previsto: 01:32 | Janela: 58:57–60:29</a:t>
            </a:r>
          </a:p>
          <a:p/>
          <a:p>
            <a:r>
              <a:t>FALA SUGERIDA</a:t>
            </a:r>
          </a:p>
          <a:p>
            <a:r>
              <a:t>A função de avaliação soma duas informações. O termo g representa o custo do melhor caminho conhecido até o estado. O termo h estima o custo que ainda falta para alcançar o objetivo.</a:t>
            </a:r>
          </a:p>
          <a:p/>
          <a:p>
            <a:r>
              <a:t>A fronteira é uma fila de prioridade ordenada por f. Ao remover um estado, o algoritmo verifica se ele é objetivo e, caso contrário, examina seus sucessores. Se um caminho melhora o custo conhecido de um sucessor, o registro é atualizado.</a:t>
            </a:r>
          </a:p>
          <a:p/>
          <a:p>
            <a:r>
              <a:t>A busca gulosa usa apenas a estimativa restante e pode ignorar um custo já elevado. A busca de custo uniforme utiliza apenas o custo acumulado, o que corresponde a A* com heurística zero. Essas relações ajudam a interpretar os resultados comparativos.</a:t>
            </a:r>
          </a:p>
          <a:p/>
          <a:p>
            <a:r>
              <a:t>A garantia de A* depende das propriedades da heurística e do tratamento de estados repetidos. Portanto, a equação sozinha não é uma prova de correção. É necessário relacioná-la à implementação e às condições do problema.</a:t>
            </a:r>
          </a:p>
          <a:p/>
          <a:p>
            <a:r>
              <a:t>FONTE / PROCEDÊNCIA</a:t>
            </a:r>
          </a:p>
          <a:p>
            <a:r>
              <a:t>Hart, Nilsson e Raphael (1968).</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Condições e decisões de implementação</a:t>
            </a:r>
          </a:p>
          <a:p>
            <a:r>
              <a:t>4 · BUSCA A*</a:t>
            </a:r>
          </a:p>
          <a:p>
            <a:r>
              <a:t>Tempo previsto: 01:29 | Janela: 60:29–61:58</a:t>
            </a:r>
          </a:p>
          <a:p/>
          <a:p>
            <a:r>
              <a:t>FALA SUGERIDA</a:t>
            </a:r>
          </a:p>
          <a:p>
            <a:r>
              <a:t>A implementação utiliza uma fila de prioridade e mantém o melhor custo conhecido para cada estado. Quando surge um caminho mais barato, atualiza o predecessor e permite reabrir o estado.</a:t>
            </a:r>
          </a:p>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p>
            <a:r>
              <a:t>O desempate prefere maior custo acumulado entre estados com o mesmo f e depois utiliza a ordem de inserção. Essa escolha pode afetar o esforço observado, especialmente quando vários estados compartilham o mesmo valor de avaliação.</a:t>
            </a:r>
          </a:p>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Admissibilidade da heurística geométrica</a:t>
            </a:r>
          </a:p>
          <a:p>
            <a:r>
              <a:t>4 · BUSCA A*</a:t>
            </a:r>
          </a:p>
          <a:p>
            <a:r>
              <a:t>Tempo previsto: 01:33 | Janela: 61:58–63:31</a:t>
            </a:r>
          </a:p>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p>
            <a:r>
              <a:t>Assim, o custo de qualquer caminho é maior ou igual ao valor da heurística. Isso também vale para o caminho de menor custo. Portanto, a heurística é admissível para o modelo adotado.</a:t>
            </a:r>
          </a:p>
          <a:p/>
          <a:p>
            <a:r>
              <a:t>A prova depende da correspondência entre coordenadas, distâncias e custos. Se o peso de um enlace for substituído por um valor abaixo desse limite, a conclusão deixa de decorrer automaticamente das mesmas premissas.</a:t>
            </a:r>
          </a:p>
          <a:p/>
          <a:p>
            <a:r>
              <a:t>CONDUÇÃO / DEMONSTRAÇÃO</a:t>
            </a:r>
          </a:p>
          <a:p>
            <a:r>
              <a:t>Apontar cada desigualdade e pedir que a audiência identifique a hipótese utilizada.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Consistência e verificação independente</a:t>
            </a:r>
          </a:p>
          <a:p>
            <a:r>
              <a:t>4 · BUSCA A*</a:t>
            </a:r>
          </a:p>
          <a:p>
            <a:r>
              <a:t>Tempo previsto: 01:35 | Janela: 63:31–65:06</a:t>
            </a:r>
          </a:p>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p>
            <a:r>
              <a:t>Com valor zero no objetivo, essa propriedade implica admissibilidade nos estados que podem alcançar o objetivo. Ela também explica por que não é necessário reabrir estados para essa heurística consistente.</a:t>
            </a:r>
          </a:p>
          <a:p/>
          <a:p>
            <a:r>
              <a:t>A prova não substitui testes. Um erro na leitura da topologia, no cálculo da distância ou na reconstrução do caminho poderia violar o comportamento esperado. Por outro lado, testar alguns grafos não demonstra uma propriedade universal.</a:t>
            </a:r>
          </a:p>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Comparação: LTE_ENB → AP_B</a:t>
            </a:r>
          </a:p>
          <a:p>
            <a:r>
              <a:t>4 · BUSCA A*</a:t>
            </a:r>
          </a:p>
          <a:p>
            <a:r>
              <a:t>Tempo previsto: 02:38 | Janela: 65:06–67:44</a:t>
            </a:r>
          </a:p>
          <a:p/>
          <a:p>
            <a:r>
              <a:t>FALA SUGERIDA</a:t>
            </a:r>
          </a:p>
          <a:p>
            <a:r>
              <a:t>Esta comparação utiliza a mesma origem, o mesmo destino e os mesmos pesos. A busca em largura encontra dois saltos, mas seu custo é maior que o caminho de três saltos encontrado por custo uniforme e A*.</a:t>
            </a:r>
          </a:p>
          <a:p/>
          <a:p>
            <a:r>
              <a:t>A busca gulosa expande menos estados nesta instância, mas devolve o caminho caro. Esse resultado mostra por que menor esforço de busca, isoladamente, não caracteriza melhor solução. A busca em profundidade encontra um caminho ainda mais caro, dependente da ordem de exploração.</a:t>
            </a:r>
          </a:p>
          <a:p/>
          <a:p>
            <a:r>
              <a:t>A* e custo uniforme chegam ao mesmo custo, enquanto A* expande quatro estados e custo uniforme expande seis. Essa é uma observação da instância, não uma garantia de economia idêntica em qualquer problema.</a:t>
            </a:r>
          </a:p>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p>
            <a:r>
              <a:t>CONDUÇÃO / DEMONSTRAÇÃO</a:t>
            </a:r>
          </a:p>
          <a:p>
            <a:r>
              <a:t>Executar presentation_demo.py route; comparar custo, caminho e expansões.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Caminho ótimo e decomposição do custo</a:t>
            </a:r>
          </a:p>
          <a:p>
            <a:r>
              <a:t>4 · BUSCA A*</a:t>
            </a:r>
          </a:p>
          <a:p>
            <a:r>
              <a:t>Tempo previsto: 01:32 | Janela: 67:44–69:16</a:t>
            </a:r>
          </a:p>
          <a:p/>
          <a:p>
            <a:r>
              <a:t>FALA SUGERIDA</a:t>
            </a:r>
          </a:p>
          <a:p>
            <a:r>
              <a:t>O caminho devolvido por A* passa por LTE_CORE e NOC antes de alcançar AP_B. A tabela decompõe o custo por enlace e mostra o acumulado.</a:t>
            </a:r>
          </a:p>
          <a:p/>
          <a:p>
            <a:r>
              <a:t>Essa decomposição é parte da verificação da solução. Não basta confiar no custo informado pelo algoritmo: podemos conferir se cada enlace existe, se a origem e o destino correspondem à consulta e se a soma dos pesos reproduz o resultado.</a:t>
            </a:r>
          </a:p>
          <a:p/>
          <a:p>
            <a:r>
              <a:t>Os valores foram arredondados apenas para apresentação. Por isso, a soma visual de parcelas com duas casas decimais pode diferir em um centésimo do total obtido com precisão completa. O script utiliza os valores originais para a verificação.</a:t>
            </a:r>
          </a:p>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Falha de enlace e recálculo de rota</a:t>
            </a:r>
          </a:p>
          <a:p>
            <a:r>
              <a:t>4 · BUSCA A*</a:t>
            </a:r>
          </a:p>
          <a:p>
            <a:r>
              <a:t>Tempo previsto: 02:36 | Janela: 69:16–71:52</a:t>
            </a:r>
          </a:p>
          <a:p/>
          <a:p>
            <a:r>
              <a:t>FALA SUGERIDA</a:t>
            </a:r>
          </a:p>
          <a:p>
            <a:r>
              <a:t>Agora altero a instância removendo o enlace entre LTE_ENB e LTE_CORE. O caminho anteriormente ótimo deixa de ser viável e a busca deve ser executada sobre o grafo atualizado.</a:t>
            </a:r>
          </a:p>
          <a:p/>
          <a:p>
            <a:r>
              <a:t>A nova solução utiliza RM_C4 e AP_C para chegar ao núcleo e, em seguida, ao destino. O custo aumenta para aproximadamente trezentos e quarenta e cinco vírgula oitenta na escala do modelo.</a:t>
            </a:r>
          </a:p>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Esforço de busca no cenário de 30 nós</a:t>
            </a:r>
          </a:p>
          <a:p>
            <a:r>
              <a:t>4 · BUSCA A*</a:t>
            </a:r>
          </a:p>
          <a:p>
            <a:r>
              <a:t>Tempo previsto: 02:39 | Janela: 71:52–74:31</a:t>
            </a:r>
          </a:p>
          <a:p/>
          <a:p>
            <a:r>
              <a:t>FALA SUGERIDA</a:t>
            </a:r>
          </a:p>
          <a:p>
            <a:r>
              <a:t>A avaliação agregada considera todos os pares ordenados de nós distintos: trinta vezes vinte e nove, totalizando oitocentas e setenta consultas.</a:t>
            </a:r>
          </a:p>
          <a:p/>
          <a:p>
            <a:r>
              <a:t>Nessas consultas, a busca de custo uniforme realiza treze mil novecentas e vinte expansões, enquanto A* realiza dez mil trezentas e dez. A redução agregada é aproximadamente vinte e cinco vírgula nove por cento. Os custos das soluções coincidem em todos os pares verificados.</a:t>
            </a:r>
          </a:p>
          <a:p/>
          <a:p>
            <a:r>
              <a:t>Esse resultado caracteriza o grafo e a heurística utilizados. Não demonstra que a vantagem cresça necessariamente com o número de nós, porque conectividade, pesos, distribuição de consultas e desempates também afetam o esforço. Além disso, os pares compartilham a mesma topologia e não são replicações independentes de redes.</a:t>
            </a:r>
          </a:p>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p>
            <a:r>
              <a:t>CONDUÇÃO / DEMONSTRAÇÃO</a:t>
            </a:r>
          </a:p>
          <a:p>
            <a:r>
              <a:t>Executar presentation_demo.py benchmark; explicar o cálculo 1 − 10310/13920.</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Aprendizagem de heurísticas: possibilidade e cautela</a:t>
            </a:r>
          </a:p>
          <a:p>
            <a:r>
              <a:t>4 · BUSCA A*</a:t>
            </a:r>
          </a:p>
          <a:p>
            <a:r>
              <a:t>Tempo previsto: 01:29 | Janela: 74:31–76:00</a:t>
            </a:r>
          </a:p>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p>
            <a:r>
              <a:t>Esses rótulos são exatos em relação ao grafo e aos pesos, mas não são gratuitos: produzi-los exige computação. No planejamento, enumerar estados e obter custos ótimos pode ser muito mais caro do que no pequeno grafo de comunicação.</a:t>
            </a:r>
          </a:p>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p>
            <a:r>
              <a:t>Essa possibilidade é uma agenda de investigação. Não há treinamento de heurística implementado ou validado na demonstração atual.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Contrato entre diagnóstico, planejamento e busca</a:t>
            </a:r>
          </a:p>
          <a:p>
            <a:r>
              <a:t>5 · INTEGRAÇÃO E AVALIAÇÃO</a:t>
            </a:r>
          </a:p>
          <a:p>
            <a:r>
              <a:t>Tempo previsto: 01:41 | Janela: 76:00–77:41</a:t>
            </a:r>
          </a:p>
          <a:p/>
          <a:p>
            <a:r>
              <a:t>FALA SUGERIDA</a:t>
            </a:r>
          </a:p>
          <a:p>
            <a:r>
              <a:t>A integração precisa preservar a identidade do incidente. O diagnóstico deve referir-se ao mesmo nó que aparece no estado inicial. A consulta de rota deve utilizar os mesmos extremos considerados na verificação de desvio.</a:t>
            </a:r>
          </a:p>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p>
            <a:r>
              <a:t>Depois de construir o problema, validamos o plano e conferimos a rota usada para fundamentar a precondição. O script também examina se o nó excluído aparece no caminho.</a:t>
            </a:r>
          </a:p>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Demonstração integrada: congestionamento</a:t>
            </a:r>
          </a:p>
          <a:p>
            <a:r>
              <a:t>5 · INTEGRAÇÃO E AVALIAÇÃO</a:t>
            </a:r>
          </a:p>
          <a:p>
            <a:r>
              <a:t>Tempo previsto: 02:57 | Janela: 77:41–80:38</a:t>
            </a:r>
          </a:p>
          <a:p/>
          <a:p>
            <a:r>
              <a:t>FALA SUGERIDA</a:t>
            </a:r>
          </a:p>
          <a:p>
            <a:r>
              <a:t>O incidente integrado utiliza o caso ilustrativo de congestionamento associado a SAF_A1. A origem é NOC e o destino é FD_A. O sistema especialista produz a hipótese congestion com suporte zero vírgula oitocentos e oitenta e oito.</a:t>
            </a:r>
          </a:p>
          <a:p/>
          <a:p>
            <a:r>
              <a:t>A integração converte essa hipótese em uma condição do problema de planejamento. A disponibilidade de rota alternativa é verificada evitando SAF_A1 e preservando FD_A como destino. O plano inclui o operador de desvio e é validado pela reaplicação das ações.</a:t>
            </a:r>
          </a:p>
          <a:p/>
          <a:p>
            <a:r>
              <a:t>A rota apresentada passa por LTE_CORE e LTE_ENB e alcança FD_A sem atravessar o nó afetado. O custo é aproximadamente duzentos e sessenta e sete vírgula zero seis na escala do modelo.</a:t>
            </a:r>
          </a:p>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p>
            <a:r>
              <a:t>CONDUÇÃO / DEMONSTRAÇÃO</a:t>
            </a:r>
          </a:p>
          <a:p>
            <a:r>
              <a:t>Executar o comando; conferir base, predicado run-active, ação de desvio, destino e nó excluído.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Procedimento experimental proposto</a:t>
            </a:r>
          </a:p>
          <a:p>
            <a:r>
              <a:t>5 · INTEGRAÇÃO E AVALIAÇÃO</a:t>
            </a:r>
          </a:p>
          <a:p>
            <a:r>
              <a:t>Tempo previsto: 01:43 | Janela: 80:38–82:21</a:t>
            </a:r>
          </a:p>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p>
            <a:r>
              <a:t>Os indicadores e as unidades de análise precisam ser definidos antes de calcular intervalos ou testes estatísticos. Pacotes da mesma execução e pares do mesmo grafo compartilham dependências que não podem ser ignoradas.</a:t>
            </a:r>
          </a:p>
          <a:p/>
          <a:p>
            <a:r>
              <a:t>FONTE / PROCEDÊNCIA</a:t>
            </a:r>
          </a:p>
          <a:p>
            <a:r>
              <a:t>ns-3 Manual: Random Variables; protocolo proposto para o projeto.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O que cada evidência permite concluir</a:t>
            </a:r>
          </a:p>
          <a:p>
            <a:r>
              <a:t>5 · INTEGRAÇÃO E AVALIAÇÃO</a:t>
            </a:r>
          </a:p>
          <a:p>
            <a:r>
              <a:t>Tempo previsto: 01:39 | Janela: 82:21–84:00</a:t>
            </a:r>
          </a:p>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p>
            <a:r>
              <a:t>Reaplicar um plano verifica sua consistência com o modelo de transição. Uma prova da heurística estabelece uma propriedade matemática sob hipóteses. As oitocentas e setenta consultas caracterizam o comportamento sobre o grafo escolhido.</a:t>
            </a:r>
          </a:p>
          <a:p/>
          <a:p>
            <a:r>
              <a:t>Essas evidências são complementares. Nenhuma precisa ser desvalorizada, mas cada uma deve sustentar a conclusão apropriada. A confiabilidade da apresentação depende de preservar essa correspondência.</a:t>
            </a:r>
          </a:p>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Contribuições e limitações do trabalho</a:t>
            </a:r>
          </a:p>
          <a:p>
            <a:r>
              <a:t>6 · SÍNTESE E CONTINUIDADE</a:t>
            </a:r>
          </a:p>
          <a:p>
            <a:r>
              <a:t>Tempo previsto: 01:30 | Janela: 84:00–85:30</a:t>
            </a:r>
          </a:p>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Agenda de investigação e critérios de avanço</a:t>
            </a:r>
          </a:p>
          <a:p>
            <a:r>
              <a:t>6 · SÍNTESE E CONTINUIDADE</a:t>
            </a:r>
          </a:p>
          <a:p>
            <a:r>
              <a:t>Tempo previsto: 01:30 | Janela: 85:30–87:00</a:t>
            </a:r>
          </a:p>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p>
            <a:r>
              <a:t>Para o planejamento, o avanço é conectar os efeitos simbólicos à execução instrumentada. Uma ação pode falhar ou produzir um resultado diferente do previsto, o que exige observação e replanejamento.</a:t>
            </a:r>
          </a:p>
          <a:p/>
          <a:p>
            <a:r>
              <a:t>Para a busca, é necessário investigar famílias de grafos e funções de custo. O resultado favorável em uma topologia não basta para caracterizar escalabilidade.</a:t>
            </a:r>
          </a:p>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Referências e procedência dos resultados</a:t>
            </a:r>
          </a:p>
          <a:p>
            <a:r>
              <a:t>7 · REFERÊNCIAS E DISCUSSÃO</a:t>
            </a:r>
          </a:p>
          <a:p>
            <a:r>
              <a:t>Tempo previsto: 01:27 | Janela: 87:00–88:27</a:t>
            </a:r>
          </a:p>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p>
            <a:r>
              <a:t>O artigo de Dijkstra contextualiza o problema de caminhos mínimos. A documentação de ns-3 é utilizada para orientar a proposta de controle da aleatoriedade em uma campanha futura, não como evidência de experimentos já executados.</a:t>
            </a:r>
          </a:p>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p>
            <a:r>
              <a:t>CONDUÇÃO / DEMONSTRAÇÃO</a:t>
            </a:r>
          </a:p>
          <a:p>
            <a:r>
              <a:t>Não ler a bibliografia integralmente. Indicar que os links também constam no roteiro.</a:t>
            </a:r>
          </a:p>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Discussão</a:t>
            </a:r>
          </a:p>
          <a:p>
            <a:r>
              <a:t>7 · REFERÊNCIAS E DISCUSSÃO</a:t>
            </a:r>
          </a:p>
          <a:p>
            <a:r>
              <a:t>Tempo previsto: 01:33 | Janela: 88:27–90:00</a:t>
            </a:r>
          </a:p>
          <a:p/>
          <a:p>
            <a:r>
              <a:t>FALA SUGERIDA</a:t>
            </a:r>
          </a:p>
          <a:p>
            <a:r>
              <a:t>Encerro retomando a distinção central: uma solução pode estar correta em relação ao modelo e ainda exigir evidências adicionais para orientar decisões no ambiente.</a:t>
            </a:r>
          </a:p>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hortliffe.net/Buchanan-Shortliffe-1984/Chapter-11.pdf" TargetMode="External"/><Relationship Id="rId3" Type="http://schemas.openxmlformats.org/officeDocument/2006/relationships/hyperlink" Target="https://ai.stanford.edu/~nilsson/OnlinePubs-Nils/PublishedPapers/strips.pdf" TargetMode="External"/><Relationship Id="rId4" Type="http://schemas.openxmlformats.org/officeDocument/2006/relationships/hyperlink" Target="https://ai.stanford.edu/~nilsson/OnlinePubs-Nils/PublishedPapers/astar.pdf" TargetMode="External"/><Relationship Id="rId5" Type="http://schemas.openxmlformats.org/officeDocument/2006/relationships/hyperlink" Target="https://doi.org/10.1007/BF01386390" TargetMode="External"/><Relationship Id="rId6" Type="http://schemas.openxmlformats.org/officeDocument/2006/relationships/hyperlink" Target="https://www.nsnam.org/docs/manual/html/random-variables.html" TargetMode="External"/><Relationship Id="rId7" Type="http://schemas.openxmlformats.org/officeDocument/2006/relationships/hyperlink" Target="https://github.com/fsd-dantas/ai-for-smartgrids" TargetMode="Externa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0" y="0"/>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rIns="0" tIns="0" bIns="0">
            <a:noAutofit/>
          </a:bodyPr>
          <a:lstStyle/>
          <a:p>
            <a:pPr algn="l">
              <a:lnSpc>
                <a:spcPct val="108000"/>
              </a:lnSpc>
              <a:spcBef>
                <a:spcPts val="0"/>
              </a:spcBef>
              <a:spcAft>
                <a:spcPts val="0"/>
              </a:spcAft>
            </a:pPr>
            <a:r>
              <a:rPr sz="3400" b="1">
                <a:solidFill>
                  <a:srgbClr val="FFFFFF"/>
                </a:solidFill>
                <a:latin typeface="Aptos"/>
              </a:rPr>
              <a:t>Sistema especialista,</a:t>
            </a:r>
          </a:p>
          <a:p>
            <a:pPr algn="l">
              <a:lnSpc>
                <a:spcPct val="108000"/>
              </a:lnSpc>
              <a:spcBef>
                <a:spcPts val="0"/>
              </a:spcBef>
              <a:spcAft>
                <a:spcPts val="0"/>
              </a:spcAft>
            </a:pPr>
            <a:r>
              <a:rPr sz="3400" b="1">
                <a:solidFill>
                  <a:srgbClr val="FFFFFF"/>
                </a:solidFill>
                <a:latin typeface="Aptos"/>
              </a:rPr>
              <a:t>planejamento automático</a:t>
            </a:r>
          </a:p>
          <a:p>
            <a:pPr algn="l">
              <a:lnSpc>
                <a:spcPct val="108000"/>
              </a:lnSpc>
              <a:spcBef>
                <a:spcPts val="0"/>
              </a:spcBef>
              <a:spcAft>
                <a:spcPts val="0"/>
              </a:spcAft>
            </a:pPr>
            <a:r>
              <a:rPr sz="3400" b="1">
                <a:solidFill>
                  <a:srgbClr val="FFFFFF"/>
                </a:solidFill>
                <a:latin typeface="Aptos"/>
              </a:rPr>
              <a:t>e busca A*</a:t>
            </a:r>
          </a:p>
        </p:txBody>
      </p:sp>
      <p:sp>
        <p:nvSpPr>
          <p:cNvPr id="10" name="TextBox 9"/>
          <p:cNvSpPr txBox="1"/>
          <p:nvPr/>
        </p:nvSpPr>
        <p:spPr>
          <a:xfrm>
            <a:off x="4114800" y="4069080"/>
            <a:ext cx="7223760" cy="868680"/>
          </a:xfrm>
          <a:prstGeom prst="rect">
            <a:avLst/>
          </a:prstGeom>
          <a:noFill/>
        </p:spPr>
        <p:txBody>
          <a:bodyPr wrap="square" lIns="0" rIns="0" tIns="0" bIns="0">
            <a:noAutofit/>
          </a:bodyPr>
          <a:lstStyle/>
          <a:p>
            <a:pPr algn="l">
              <a:lnSpc>
                <a:spcPct val="108000"/>
              </a:lnSpc>
              <a:spcBef>
                <a:spcPts val="0"/>
              </a:spcBef>
              <a:spcAft>
                <a:spcPts val="0"/>
              </a:spcAft>
            </a:pPr>
            <a:r>
              <a:rPr sz="2400" b="0">
                <a:solidFill>
                  <a:srgbClr val="FFFFFF"/>
                </a:solidFill>
                <a:latin typeface="Aptos"/>
              </a:rPr>
              <a:t>Gerenciamento de falhas em redes sem fio simuladas</a:t>
            </a:r>
          </a:p>
        </p:txBody>
      </p:sp>
      <p:sp>
        <p:nvSpPr>
          <p:cNvPr id="11" name="TextBox 10"/>
          <p:cNvSpPr txBox="1"/>
          <p:nvPr/>
        </p:nvSpPr>
        <p:spPr>
          <a:xfrm>
            <a:off x="4114800" y="5148072"/>
            <a:ext cx="6995160" cy="411480"/>
          </a:xfrm>
          <a:prstGeom prst="rect">
            <a:avLst/>
          </a:prstGeom>
          <a:noFill/>
        </p:spPr>
        <p:txBody>
          <a:bodyPr wrap="square" lIns="0" rIns="0" tIns="0" bIns="0">
            <a:noAutofit/>
          </a:bodyPr>
          <a:lstStyle/>
          <a:p>
            <a:pPr algn="l">
              <a:lnSpc>
                <a:spcPct val="108000"/>
              </a:lnSpc>
              <a:spcBef>
                <a:spcPts val="0"/>
              </a:spcBef>
              <a:spcAft>
                <a:spcPts val="0"/>
              </a:spcAft>
            </a:pPr>
            <a:r>
              <a:rPr sz="1900" b="1">
                <a:solidFill>
                  <a:srgbClr val="FFFFFF"/>
                </a:solidFill>
                <a:latin typeface="Aptos"/>
              </a:rPr>
              <a:t>INTRODUÇÃO À INTELIGÊNCIA ARTIFICIAL</a:t>
            </a:r>
          </a:p>
        </p:txBody>
      </p:sp>
      <p:sp>
        <p:nvSpPr>
          <p:cNvPr id="12" name="TextBox 11"/>
          <p:cNvSpPr txBox="1"/>
          <p:nvPr/>
        </p:nvSpPr>
        <p:spPr>
          <a:xfrm>
            <a:off x="4114800" y="5623560"/>
            <a:ext cx="5961888" cy="384048"/>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FFFFFF"/>
                </a:solidFill>
                <a:latin typeface="Aptos"/>
              </a:rPr>
              <a:t>Fernando Sabino Dantas</a:t>
            </a:r>
          </a:p>
        </p:txBody>
      </p:sp>
      <p:sp>
        <p:nvSpPr>
          <p:cNvPr id="13" name="TextBox 12"/>
          <p:cNvSpPr txBox="1"/>
          <p:nvPr/>
        </p:nvSpPr>
        <p:spPr>
          <a:xfrm>
            <a:off x="4114800" y="6108192"/>
            <a:ext cx="5961888" cy="320040"/>
          </a:xfrm>
          <a:prstGeom prst="rect">
            <a:avLst/>
          </a:prstGeom>
          <a:noFill/>
        </p:spPr>
        <p:txBody>
          <a:bodyPr wrap="square" lIns="0" rIns="0" tIns="0" bIns="0">
            <a:noAutofit/>
          </a:bodyPr>
          <a:lstStyle/>
          <a:p>
            <a:pPr algn="l">
              <a:lnSpc>
                <a:spcPct val="108000"/>
              </a:lnSpc>
              <a:spcBef>
                <a:spcPts val="0"/>
              </a:spcBef>
              <a:spcAft>
                <a:spcPts val="0"/>
              </a:spcAft>
            </a:pPr>
            <a:r>
              <a:rPr sz="1800" b="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02 / 57</a:t>
            </a:r>
          </a:p>
        </p:txBody>
      </p:sp>
      <p:sp>
        <p:nvSpPr>
          <p:cNvPr id="4" name="slide-title-0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03 / 57</a:t>
            </a:r>
          </a:p>
        </p:txBody>
      </p:sp>
      <p:sp>
        <p:nvSpPr>
          <p:cNvPr id="4" name="slide-title-0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04 / 57</a:t>
            </a:r>
          </a:p>
        </p:txBody>
      </p:sp>
      <p:sp>
        <p:nvSpPr>
          <p:cNvPr id="4" name="slide-title-0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Escopo: testes internos representados em software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05 / 57</a:t>
            </a:r>
          </a:p>
        </p:txBody>
      </p:sp>
      <p:sp>
        <p:nvSpPr>
          <p:cNvPr id="4" name="slide-title-0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src/aisg/domain/data/backhaul-topology-30.json</a:t>
            </a:r>
          </a:p>
        </p:txBody>
      </p:sp>
      <p:sp>
        <p:nvSpPr>
          <p:cNvPr id="7" name="Oval 6"/>
          <p:cNvSpPr/>
          <p:nvPr/>
        </p:nvSpPr>
        <p:spPr>
          <a:xfrm>
            <a:off x="822960" y="16596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544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30 nós e 44 enlaces ativos no cenário selecionado.</a:t>
            </a:r>
          </a:p>
        </p:txBody>
      </p:sp>
      <p:sp>
        <p:nvSpPr>
          <p:cNvPr id="9" name="Oval 8"/>
          <p:cNvSpPr/>
          <p:nvPr/>
        </p:nvSpPr>
        <p:spPr>
          <a:xfrm>
            <a:off x="822960" y="25740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4688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Três setores, repetidores e rotas alternativas.</a:t>
            </a:r>
          </a:p>
        </p:txBody>
      </p:sp>
      <p:sp>
        <p:nvSpPr>
          <p:cNvPr id="11" name="Oval 10"/>
          <p:cNvSpPr/>
          <p:nvPr/>
        </p:nvSpPr>
        <p:spPr>
          <a:xfrm>
            <a:off x="822960" y="34884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3832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Coordenadas e qualidades convencionais.</a:t>
            </a:r>
          </a:p>
        </p:txBody>
      </p:sp>
      <p:sp>
        <p:nvSpPr>
          <p:cNvPr id="13" name="Oval 12"/>
          <p:cNvSpPr/>
          <p:nvPr/>
        </p:nvSpPr>
        <p:spPr>
          <a:xfrm>
            <a:off x="822960" y="44028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2976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Unidade de análise: incidente associado a um nó ou fluxo.</a:t>
            </a:r>
          </a:p>
        </p:txBody>
      </p:sp>
      <p:cxnSp>
        <p:nvCxnSpPr>
          <p:cNvPr id="15" name="Connector 14"/>
          <p:cNvCxnSpPr/>
          <p:nvPr/>
        </p:nvCxnSpPr>
        <p:spPr>
          <a:xfrm flipV="1">
            <a:off x="8323559" y="2540875"/>
            <a:ext cx="948622" cy="103727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6250667" y="3578151"/>
            <a:ext cx="2072892" cy="11456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23559" y="3578151"/>
            <a:ext cx="994523" cy="108750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323559" y="3578151"/>
            <a:ext cx="275406" cy="1159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8965" y="3694069"/>
            <a:ext cx="520212" cy="17387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016971" y="1627632"/>
            <a:ext cx="102206" cy="22403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212080" y="3867947"/>
            <a:ext cx="3907097" cy="48048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19177" y="3867947"/>
            <a:ext cx="1579303" cy="11149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8721368" y="2749721"/>
            <a:ext cx="397809" cy="111822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699855" y="3867947"/>
            <a:ext cx="3419322" cy="3361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767269" y="3867947"/>
            <a:ext cx="351908" cy="100675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72181" y="2467267"/>
            <a:ext cx="249701"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72181" y="2289912"/>
            <a:ext cx="20808"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826329" y="2371634"/>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721368" y="2540875"/>
            <a:ext cx="550813"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72181" y="2540875"/>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9187111" y="2236396"/>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292989" y="2289912"/>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8721368" y="2371634"/>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721368" y="2749721"/>
            <a:ext cx="590900"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9102041" y="1931917"/>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9016971" y="1627632"/>
            <a:ext cx="85070" cy="30428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250667" y="3619109"/>
            <a:ext cx="249702"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250667" y="3441754"/>
            <a:ext cx="20809"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804815" y="3523476"/>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699855" y="3692717"/>
            <a:ext cx="550812"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50667" y="3692717"/>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5904573" y="3692717"/>
            <a:ext cx="346094"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6271476" y="3441754"/>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699855" y="3523476"/>
            <a:ext cx="104960"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99855" y="3901563"/>
            <a:ext cx="590899"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5558173" y="3911223"/>
            <a:ext cx="346400"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212080" y="4129729"/>
            <a:ext cx="346093" cy="21869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318082" y="4592243"/>
            <a:ext cx="249702" cy="734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18082" y="4414888"/>
            <a:ext cx="20808" cy="25077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872230" y="4496610"/>
            <a:ext cx="445852" cy="16904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67269" y="4665658"/>
            <a:ext cx="550813" cy="20903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18082" y="4665658"/>
            <a:ext cx="40087" cy="48241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18082" y="4665658"/>
            <a:ext cx="460234"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9338890" y="4414888"/>
            <a:ext cx="228894"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767269" y="4496610"/>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67269" y="4874697"/>
            <a:ext cx="590900" cy="27337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778316" y="4771337"/>
            <a:ext cx="459929" cy="10587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38245" y="4877209"/>
            <a:ext cx="460235"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8282411" y="3537003"/>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label"/>
          <p:cNvSpPr txBox="1"/>
          <p:nvPr/>
        </p:nvSpPr>
        <p:spPr>
          <a:xfrm>
            <a:off x="8140679" y="334955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NOC</a:t>
            </a:r>
          </a:p>
        </p:txBody>
      </p:sp>
      <p:sp>
        <p:nvSpPr>
          <p:cNvPr id="61" name="Rectangle 60"/>
          <p:cNvSpPr/>
          <p:nvPr/>
        </p:nvSpPr>
        <p:spPr>
          <a:xfrm>
            <a:off x="8557817" y="365292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label"/>
          <p:cNvSpPr txBox="1"/>
          <p:nvPr/>
        </p:nvSpPr>
        <p:spPr>
          <a:xfrm>
            <a:off x="7949741" y="374436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LTE_CORE</a:t>
            </a:r>
          </a:p>
        </p:txBody>
      </p:sp>
      <p:sp>
        <p:nvSpPr>
          <p:cNvPr id="63" name="Rectangle 62"/>
          <p:cNvSpPr/>
          <p:nvPr/>
        </p:nvSpPr>
        <p:spPr>
          <a:xfrm>
            <a:off x="9078029" y="382679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label"/>
          <p:cNvSpPr txBox="1"/>
          <p:nvPr/>
        </p:nvSpPr>
        <p:spPr>
          <a:xfrm>
            <a:off x="9187757" y="391823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LTE_ENB</a:t>
            </a:r>
          </a:p>
        </p:txBody>
      </p:sp>
      <p:sp>
        <p:nvSpPr>
          <p:cNvPr id="65" name="Rectangle 64"/>
          <p:cNvSpPr/>
          <p:nvPr/>
        </p:nvSpPr>
        <p:spPr>
          <a:xfrm>
            <a:off x="9231033" y="2499727"/>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iagram-label"/>
          <p:cNvSpPr txBox="1"/>
          <p:nvPr/>
        </p:nvSpPr>
        <p:spPr>
          <a:xfrm>
            <a:off x="9340761" y="259116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AP_A</a:t>
            </a:r>
          </a:p>
        </p:txBody>
      </p:sp>
      <p:sp>
        <p:nvSpPr>
          <p:cNvPr id="67" name="Oval 66"/>
          <p:cNvSpPr/>
          <p:nvPr/>
        </p:nvSpPr>
        <p:spPr>
          <a:xfrm>
            <a:off x="9480734" y="242611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51841" y="224876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785181" y="233048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680220" y="2708573"/>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271120" y="2981947"/>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diagram-label"/>
          <p:cNvSpPr txBox="1"/>
          <p:nvPr/>
        </p:nvSpPr>
        <p:spPr>
          <a:xfrm>
            <a:off x="9380848" y="307338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RM_A5</a:t>
            </a:r>
          </a:p>
        </p:txBody>
      </p:sp>
      <p:sp>
        <p:nvSpPr>
          <p:cNvPr id="73" name="Rectangle 72"/>
          <p:cNvSpPr/>
          <p:nvPr/>
        </p:nvSpPr>
        <p:spPr>
          <a:xfrm>
            <a:off x="9145963" y="2195248"/>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iagram-label"/>
          <p:cNvSpPr txBox="1"/>
          <p:nvPr/>
        </p:nvSpPr>
        <p:spPr>
          <a:xfrm>
            <a:off x="8537887" y="206266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SAF_A1</a:t>
            </a:r>
          </a:p>
        </p:txBody>
      </p:sp>
      <p:sp>
        <p:nvSpPr>
          <p:cNvPr id="75" name="Rectangle 74"/>
          <p:cNvSpPr/>
          <p:nvPr/>
        </p:nvSpPr>
        <p:spPr>
          <a:xfrm>
            <a:off x="9060893" y="189076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975823" y="1586484"/>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diagram-label"/>
          <p:cNvSpPr txBox="1"/>
          <p:nvPr/>
        </p:nvSpPr>
        <p:spPr>
          <a:xfrm>
            <a:off x="9085551" y="1677924"/>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FD_A</a:t>
            </a:r>
          </a:p>
        </p:txBody>
      </p:sp>
      <p:sp>
        <p:nvSpPr>
          <p:cNvPr id="78" name="Rectangle 77"/>
          <p:cNvSpPr/>
          <p:nvPr/>
        </p:nvSpPr>
        <p:spPr>
          <a:xfrm>
            <a:off x="6209519" y="3651569"/>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diagram-label"/>
          <p:cNvSpPr txBox="1"/>
          <p:nvPr/>
        </p:nvSpPr>
        <p:spPr>
          <a:xfrm>
            <a:off x="6319247" y="374300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AP_B</a:t>
            </a:r>
          </a:p>
        </p:txBody>
      </p:sp>
      <p:sp>
        <p:nvSpPr>
          <p:cNvPr id="80" name="Oval 79"/>
          <p:cNvSpPr/>
          <p:nvPr/>
        </p:nvSpPr>
        <p:spPr>
          <a:xfrm>
            <a:off x="6459221" y="3577961"/>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230328" y="340060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763667" y="3482328"/>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658707" y="386041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iagram-label"/>
          <p:cNvSpPr txBox="1"/>
          <p:nvPr/>
        </p:nvSpPr>
        <p:spPr>
          <a:xfrm>
            <a:off x="5768435" y="3951855"/>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RM_B4</a:t>
            </a:r>
          </a:p>
        </p:txBody>
      </p:sp>
      <p:sp>
        <p:nvSpPr>
          <p:cNvPr id="85" name="Oval 84"/>
          <p:cNvSpPr/>
          <p:nvPr/>
        </p:nvSpPr>
        <p:spPr>
          <a:xfrm>
            <a:off x="6249606" y="413378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863425" y="3870075"/>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517025" y="408858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170932" y="430728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iagram-label"/>
          <p:cNvSpPr txBox="1"/>
          <p:nvPr/>
        </p:nvSpPr>
        <p:spPr>
          <a:xfrm>
            <a:off x="5280660" y="439872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FD_B</a:t>
            </a:r>
          </a:p>
        </p:txBody>
      </p:sp>
      <p:sp>
        <p:nvSpPr>
          <p:cNvPr id="90" name="Rectangle 89"/>
          <p:cNvSpPr/>
          <p:nvPr/>
        </p:nvSpPr>
        <p:spPr>
          <a:xfrm>
            <a:off x="9276934" y="4624510"/>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diagram-label"/>
          <p:cNvSpPr txBox="1"/>
          <p:nvPr/>
        </p:nvSpPr>
        <p:spPr>
          <a:xfrm>
            <a:off x="9386662" y="471595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AP_C</a:t>
            </a:r>
          </a:p>
        </p:txBody>
      </p:sp>
      <p:sp>
        <p:nvSpPr>
          <p:cNvPr id="92" name="Oval 91"/>
          <p:cNvSpPr/>
          <p:nvPr/>
        </p:nvSpPr>
        <p:spPr>
          <a:xfrm>
            <a:off x="9526636" y="455109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297742" y="4373740"/>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831082" y="4455462"/>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26121" y="483354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gram-label"/>
          <p:cNvSpPr txBox="1"/>
          <p:nvPr/>
        </p:nvSpPr>
        <p:spPr>
          <a:xfrm>
            <a:off x="8835849" y="492498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RM_C4</a:t>
            </a:r>
          </a:p>
        </p:txBody>
      </p:sp>
      <p:sp>
        <p:nvSpPr>
          <p:cNvPr id="97" name="Oval 96"/>
          <p:cNvSpPr/>
          <p:nvPr/>
        </p:nvSpPr>
        <p:spPr>
          <a:xfrm>
            <a:off x="9317021" y="510692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737168" y="473018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197097" y="483606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57332" y="494174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diagram-label"/>
          <p:cNvSpPr txBox="1"/>
          <p:nvPr/>
        </p:nvSpPr>
        <p:spPr>
          <a:xfrm>
            <a:off x="10767059" y="503318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FD_C</a:t>
            </a:r>
          </a:p>
        </p:txBody>
      </p:sp>
      <p:sp>
        <p:nvSpPr>
          <p:cNvPr id="102" name="TextBox 101"/>
          <p:cNvSpPr txBox="1"/>
          <p:nvPr/>
        </p:nvSpPr>
        <p:spPr>
          <a:xfrm>
            <a:off x="5166360" y="5458968"/>
            <a:ext cx="5760720" cy="182880"/>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4D5968"/>
                </a:solidFill>
                <a:latin typeface="Aptos"/>
              </a:rPr>
              <a:t>AP: acesso · RM: nó remoto · SAF: repetidor · FD: dispositivo</a:t>
            </a:r>
          </a:p>
        </p:txBody>
      </p: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Esquema lógico do cenário; não constitui planta de laboratório nem traço de simulação.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06 / 57</a:t>
            </a:r>
          </a:p>
        </p:txBody>
      </p:sp>
      <p:sp>
        <p:nvSpPr>
          <p:cNvPr id="4" name="slide-title-0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gridCol w="4251960"/>
                <a:gridCol w="4434840"/>
              </a:tblGrid>
              <a:tr h="466344">
                <a:tc>
                  <a:txBody>
                    <a:bodyPr wrap="square">
                      <a:noAutofit/>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07 / 57</a:t>
            </a:r>
          </a:p>
        </p:txBody>
      </p:sp>
      <p:sp>
        <p:nvSpPr>
          <p:cNvPr id="4" name="slide-title-0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663440"/>
                <a:gridCol w="3794760"/>
              </a:tblGrid>
              <a:tr h="466344">
                <a:tc>
                  <a:txBody>
                    <a:bodyPr wrap="square">
                      <a:noAutofit/>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08 / 57</a:t>
            </a:r>
          </a:p>
        </p:txBody>
      </p:sp>
      <p:sp>
        <p:nvSpPr>
          <p:cNvPr id="4" name="slide-title-0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09 / 57</a:t>
            </a:r>
          </a:p>
        </p:txBody>
      </p:sp>
      <p:sp>
        <p:nvSpPr>
          <p:cNvPr id="4" name="slide-title-0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10 / 57</a:t>
            </a:r>
          </a:p>
        </p:txBody>
      </p:sp>
      <p:sp>
        <p:nvSpPr>
          <p:cNvPr id="4" name="slide-title-1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gridCol w="4389120"/>
                <a:gridCol w="4160520"/>
              </a:tblGrid>
              <a:tr h="466344">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11 / 57</a:t>
            </a:r>
          </a:p>
        </p:txBody>
      </p:sp>
      <p:sp>
        <p:nvSpPr>
          <p:cNvPr id="4" name="slide-title-1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12 / 57</a:t>
            </a:r>
          </a:p>
        </p:txBody>
      </p:sp>
      <p:sp>
        <p:nvSpPr>
          <p:cNvPr id="4" name="slide-title-1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13 / 57</a:t>
            </a:r>
          </a:p>
        </p:txBody>
      </p:sp>
      <p:sp>
        <p:nvSpPr>
          <p:cNvPr id="4" name="slide-title-1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de contraevidência podem reduzir o suporte de hipóteses.</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14 / 57</a:t>
            </a:r>
          </a:p>
        </p:txBody>
      </p:sp>
      <p:sp>
        <p:nvSpPr>
          <p:cNvPr id="4" name="slide-title-1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gridCol w="4800600"/>
                <a:gridCol w="3657600"/>
              </a:tblGrid>
              <a:tr h="466344">
                <a:tc>
                  <a:txBody>
                    <a:bodyPr wrap="square">
                      <a:noAutofit/>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15 / 57</a:t>
            </a:r>
          </a:p>
        </p:txBody>
      </p:sp>
      <p:sp>
        <p:nvSpPr>
          <p:cNvPr id="4" name="slide-title-1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Regra de diagnóstico e contraevidência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S14: SE retry_rate_pct &gt; 30</a:t>
            </a:r>
          </a:p>
          <a:p>
            <a:pPr algn="l">
              <a:lnSpc>
                <a:spcPct val="108000"/>
              </a:lnSpc>
              <a:spcBef>
                <a:spcPts val="0"/>
              </a:spcBef>
              <a:spcAft>
                <a:spcPts val="0"/>
              </a:spcAft>
            </a:pPr>
            <a:r>
              <a:rPr sz="1750" b="0">
                <a:solidFill>
                  <a:srgbClr val="172235"/>
                </a:solidFill>
                <a:latin typeface="Consolas"/>
              </a:rPr>
              <a:t>     E signal_quality != poor</a:t>
            </a:r>
          </a:p>
          <a:p>
            <a:pPr algn="l">
              <a:lnSpc>
                <a:spcPct val="108000"/>
              </a:lnSpc>
              <a:spcBef>
                <a:spcPts val="0"/>
              </a:spcBef>
              <a:spcAft>
                <a:spcPts val="0"/>
              </a:spcAft>
            </a:pPr>
            <a:r>
              <a:rPr sz="1750" b="0">
                <a:solidFill>
                  <a:srgbClr val="172235"/>
                </a:solidFill>
                <a:latin typeface="Consolas"/>
              </a:rPr>
              <a:t>     E co_channel_emitter = no</a:t>
            </a:r>
          </a:p>
          <a:p>
            <a:pPr algn="l">
              <a:lnSpc>
                <a:spcPct val="108000"/>
              </a:lnSpc>
              <a:spcBef>
                <a:spcPts val="0"/>
              </a:spcBef>
              <a:spcAft>
                <a:spcPts val="0"/>
              </a:spcAft>
            </a:pPr>
            <a:r>
              <a:rPr sz="1750" b="0">
                <a:solidFill>
                  <a:srgbClr val="172235"/>
                </a:solidFill>
                <a:latin typeface="Consolas"/>
              </a:rPr>
              <a:t>     ENTÃO diagnosis = mac_contention    CF = +0,85</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S25: SE retry_rate_pct &lt;= 30</a:t>
            </a:r>
          </a:p>
          <a:p>
            <a:pPr algn="l">
              <a:lnSpc>
                <a:spcPct val="108000"/>
              </a:lnSpc>
              <a:spcBef>
                <a:spcPts val="0"/>
              </a:spcBef>
              <a:spcAft>
                <a:spcPts val="0"/>
              </a:spcAft>
            </a:pPr>
            <a:r>
              <a:rPr sz="1750" b="0">
                <a:solidFill>
                  <a:srgbClr val="172235"/>
                </a:solidFill>
                <a:latin typeface="Consolas"/>
              </a:rPr>
              <a:t>     ENTÃO diagnosis = mac_contention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16 / 57</a:t>
            </a:r>
          </a:p>
        </p:txBody>
      </p:sp>
      <p:sp>
        <p:nvSpPr>
          <p:cNvPr id="4" name="slide-title-1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[−1, +1]</a:t>
            </a:r>
          </a:p>
          <a:p>
            <a:pPr algn="l">
              <a:lnSpc>
                <a:spcPct val="108000"/>
              </a:lnSpc>
              <a:spcBef>
                <a:spcPts val="0"/>
              </a:spcBef>
              <a:spcAft>
                <a:spcPts val="0"/>
              </a:spcAft>
            </a:pPr>
            <a:r>
              <a:rPr sz="2100" b="0">
                <a:solidFill>
                  <a:srgbClr val="172235"/>
                </a:solidFill>
                <a:latin typeface="Aptos"/>
              </a:rPr>
              <a:t>Valores positivos apoiam; negativos contrariam a conclusão no formalismo.</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17 / 57</a:t>
            </a:r>
          </a:p>
        </p:txBody>
      </p:sp>
      <p:sp>
        <p:nvSpPr>
          <p:cNvPr id="4" name="slide-title-1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18 / 57</a:t>
            </a:r>
          </a:p>
        </p:txBody>
      </p:sp>
      <p:sp>
        <p:nvSpPr>
          <p:cNvPr id="4" name="slide-title-1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Contraevidência e dependência entre regras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19 / 57</a:t>
            </a:r>
          </a:p>
        </p:txBody>
      </p:sp>
      <p:sp>
        <p:nvSpPr>
          <p:cNvPr id="4" name="slide-title-1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gridCol w="4572000"/>
                <a:gridCol w="3749039"/>
              </a:tblGrid>
              <a:tr h="466344">
                <a:tc>
                  <a:txBody>
                    <a:bodyPr wrap="square">
                      <a:noAutofit/>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20 / 57</a:t>
            </a:r>
          </a:p>
        </p:txBody>
      </p:sp>
      <p:sp>
        <p:nvSpPr>
          <p:cNvPr id="4" name="slide-title-2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187451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58444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07822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7200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21 / 57</a:t>
            </a:r>
          </a:p>
        </p:txBody>
      </p:sp>
      <p:sp>
        <p:nvSpPr>
          <p:cNvPr id="4" name="slide-title-2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22 / 57</a:t>
            </a:r>
          </a:p>
        </p:txBody>
      </p:sp>
      <p:sp>
        <p:nvSpPr>
          <p:cNvPr id="4" name="slide-title-2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23 / 57</a:t>
            </a:r>
          </a:p>
        </p:txBody>
      </p:sp>
      <p:sp>
        <p:nvSpPr>
          <p:cNvPr id="4" name="slide-title-2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gridCol w="1325880"/>
                <a:gridCol w="4754880"/>
              </a:tblGrid>
              <a:tr h="466344">
                <a:tc>
                  <a:txBody>
                    <a:bodyPr wrap="square">
                      <a:noAutofit/>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tr>
              <a:tr h="459486">
                <a:tc>
                  <a:txBody>
                    <a:bodyPr wrap="square">
                      <a:noAutofit/>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24 / 57</a:t>
            </a:r>
          </a:p>
        </p:txBody>
      </p:sp>
      <p:sp>
        <p:nvSpPr>
          <p:cNvPr id="4" name="slide-title-2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gridCol w="4251960"/>
                <a:gridCol w="4480560"/>
              </a:tblGrid>
              <a:tr h="466344">
                <a:tc>
                  <a:txBody>
                    <a:bodyPr wrap="square">
                      <a:noAutofit/>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25 / 57</a:t>
            </a:r>
          </a:p>
        </p:txBody>
      </p:sp>
      <p:sp>
        <p:nvSpPr>
          <p:cNvPr id="4" name="slide-title-2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26 / 57</a:t>
            </a:r>
          </a:p>
        </p:txBody>
      </p:sp>
      <p:sp>
        <p:nvSpPr>
          <p:cNvPr id="4" name="slide-title-2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27 / 57</a:t>
            </a:r>
          </a:p>
        </p:txBody>
      </p:sp>
      <p:sp>
        <p:nvSpPr>
          <p:cNvPr id="4" name="slide-title-2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023360"/>
                <a:gridCol w="4434840"/>
              </a:tblGrid>
              <a:tr h="466344">
                <a:tc>
                  <a:txBody>
                    <a:bodyPr wrap="square">
                      <a:noAutofit/>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28 / 57</a:t>
            </a:r>
          </a:p>
        </p:txBody>
      </p:sp>
      <p:sp>
        <p:nvSpPr>
          <p:cNvPr id="4" name="slide-title-2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29 / 57</a:t>
            </a:r>
          </a:p>
        </p:txBody>
      </p:sp>
      <p:sp>
        <p:nvSpPr>
          <p:cNvPr id="4" name="slide-title-2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gridCol w="1143000"/>
                <a:gridCol w="4846320"/>
              </a:tblGrid>
              <a:tr h="466344">
                <a:tc>
                  <a:txBody>
                    <a:bodyPr wrap="square">
                      <a:noAutofit/>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tr>
              <a:tr h="600456">
                <a:tc>
                  <a:txBody>
                    <a:bodyPr wrap="square">
                      <a:noAutofit/>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30 / 57</a:t>
            </a:r>
          </a:p>
        </p:txBody>
      </p:sp>
      <p:sp>
        <p:nvSpPr>
          <p:cNvPr id="4" name="slide-title-3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31 / 57</a:t>
            </a:r>
          </a:p>
        </p:txBody>
      </p:sp>
      <p:sp>
        <p:nvSpPr>
          <p:cNvPr id="4" name="slide-title-3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32 / 57</a:t>
            </a:r>
          </a:p>
        </p:txBody>
      </p:sp>
      <p:sp>
        <p:nvSpPr>
          <p:cNvPr id="4" name="slide-title-3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33 / 57</a:t>
            </a:r>
          </a:p>
        </p:txBody>
      </p:sp>
      <p:sp>
        <p:nvSpPr>
          <p:cNvPr id="4" name="slide-title-3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gridCol w="2926080"/>
                <a:gridCol w="3520440"/>
              </a:tblGrid>
              <a:tr h="466344">
                <a:tc>
                  <a:txBody>
                    <a:bodyPr wrap="square">
                      <a:noAutofit/>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34 / 57</a:t>
            </a:r>
          </a:p>
        </p:txBody>
      </p:sp>
      <p:sp>
        <p:nvSpPr>
          <p:cNvPr id="4" name="slide-title-3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gridCol w="7086600"/>
              </a:tblGrid>
              <a:tr h="466344">
                <a:tc>
                  <a:txBody>
                    <a:bodyPr wrap="square">
                      <a:noAutofit/>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35 / 57</a:t>
            </a:r>
          </a:p>
        </p:txBody>
      </p:sp>
      <p:sp>
        <p:nvSpPr>
          <p:cNvPr id="4" name="slide-title-3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36 / 57</a:t>
            </a:r>
          </a:p>
        </p:txBody>
      </p:sp>
      <p:sp>
        <p:nvSpPr>
          <p:cNvPr id="4" name="slide-title-3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1  request_authorization(RM_A5)   1</a:t>
            </a:r>
          </a:p>
          <a:p>
            <a:pPr algn="l">
              <a:lnSpc>
                <a:spcPct val="108000"/>
              </a:lnSpc>
              <a:spcBef>
                <a:spcPts val="0"/>
              </a:spcBef>
              <a:spcAft>
                <a:spcPts val="0"/>
              </a:spcAft>
            </a:pPr>
            <a:r>
              <a:rPr sz="1750" b="0">
                <a:solidFill>
                  <a:srgbClr val="172235"/>
                </a:solidFill>
                <a:latin typeface="Consolas"/>
              </a:rPr>
              <a:t>2  stop_run(RM_A5)                2</a:t>
            </a:r>
          </a:p>
          <a:p>
            <a:pPr algn="l">
              <a:lnSpc>
                <a:spcPct val="108000"/>
              </a:lnSpc>
              <a:spcBef>
                <a:spcPts val="0"/>
              </a:spcBef>
              <a:spcAft>
                <a:spcPts val="0"/>
              </a:spcAft>
            </a:pPr>
            <a:r>
              <a:rPr sz="1750" b="0">
                <a:solidFill>
                  <a:srgbClr val="172235"/>
                </a:solidFill>
                <a:latin typeface="Consolas"/>
              </a:rPr>
              <a:t>3  separate_channels(RM_A5)       3</a:t>
            </a:r>
          </a:p>
          <a:p>
            <a:pPr algn="l">
              <a:lnSpc>
                <a:spcPct val="108000"/>
              </a:lnSpc>
              <a:spcBef>
                <a:spcPts val="0"/>
              </a:spcBef>
              <a:spcAft>
                <a:spcPts val="0"/>
              </a:spcAft>
            </a:pPr>
            <a:r>
              <a:rPr sz="1750" b="0">
                <a:solidFill>
                  <a:srgbClr val="172235"/>
                </a:solidFill>
                <a:latin typeface="Consolas"/>
              </a:rPr>
              <a:t>4  start_run(RM_A5)               2</a:t>
            </a:r>
          </a:p>
          <a:p>
            <a:pPr algn="l">
              <a:lnSpc>
                <a:spcPct val="108000"/>
              </a:lnSpc>
              <a:spcBef>
                <a:spcPts val="0"/>
              </a:spcBef>
              <a:spcAft>
                <a:spcPts val="0"/>
              </a:spcAft>
            </a:pPr>
            <a:r>
              <a:rPr sz="1750" b="0">
                <a:solidFill>
                  <a:srgbClr val="172235"/>
                </a:solidFill>
                <a:latin typeface="Consolas"/>
              </a:rPr>
              <a:t>5  verify_link(RM_A5)             1</a:t>
            </a:r>
          </a:p>
          <a:p>
            <a:pPr algn="l">
              <a:lnSpc>
                <a:spcPct val="108000"/>
              </a:lnSpc>
              <a:spcBef>
                <a:spcPts val="0"/>
              </a:spcBef>
              <a:spcAft>
                <a:spcPts val="0"/>
              </a:spcAft>
            </a:pPr>
            <a:r>
              <a:rPr sz="1750" b="0">
                <a:solidFill>
                  <a:srgbClr val="172235"/>
                </a:solidFill>
                <a:latin typeface="Consolas"/>
              </a:rPr>
              <a:t>6  record_logbook(RM_A5)          1</a:t>
            </a:r>
          </a:p>
          <a:p>
            <a:pPr algn="l">
              <a:lnSpc>
                <a:spcPct val="108000"/>
              </a:lnSpc>
              <a:spcBef>
                <a:spcPts val="0"/>
              </a:spcBef>
              <a:spcAft>
                <a:spcPts val="0"/>
              </a:spcAft>
            </a:pPr>
            <a:r>
              <a:rPr sz="1750" b="0">
                <a:solidFill>
                  <a:srgbClr val="172235"/>
                </a:solidFill>
                <a:latin typeface="Consolas"/>
              </a:rPr>
              <a:t>7  close_work_order(RM_A5)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77316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6694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37 / 57</a:t>
            </a:r>
          </a:p>
        </p:txBody>
      </p:sp>
      <p:sp>
        <p:nvSpPr>
          <p:cNvPr id="4" name="slide-title-3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38 / 57</a:t>
            </a:r>
          </a:p>
        </p:txBody>
      </p:sp>
      <p:sp>
        <p:nvSpPr>
          <p:cNvPr id="4" name="slide-title-3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39 / 57</a:t>
            </a:r>
          </a:p>
        </p:txBody>
      </p:sp>
      <p:sp>
        <p:nvSpPr>
          <p:cNvPr id="4" name="slide-title-3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40 / 57</a:t>
            </a:r>
          </a:p>
        </p:txBody>
      </p:sp>
      <p:sp>
        <p:nvSpPr>
          <p:cNvPr id="4" name="slide-title-4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41 / 57</a:t>
            </a:r>
          </a:p>
        </p:txBody>
      </p:sp>
      <p:sp>
        <p:nvSpPr>
          <p:cNvPr id="4" name="slide-title-4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42 / 57</a:t>
            </a:r>
          </a:p>
        </p:txBody>
      </p:sp>
      <p:sp>
        <p:nvSpPr>
          <p:cNvPr id="4" name="slide-title-4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gridCol w="4206240"/>
                <a:gridCol w="4434840"/>
              </a:tblGrid>
              <a:tr h="466344">
                <a:tc>
                  <a:txBody>
                    <a:bodyPr wrap="square">
                      <a:noAutofit/>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43 / 57</a:t>
            </a:r>
          </a:p>
        </p:txBody>
      </p:sp>
      <p:sp>
        <p:nvSpPr>
          <p:cNvPr id="4" name="slide-title-4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44 / 57</a:t>
            </a:r>
          </a:p>
        </p:txBody>
      </p:sp>
      <p:sp>
        <p:nvSpPr>
          <p:cNvPr id="4" name="slide-title-4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45 / 57</a:t>
            </a:r>
          </a:p>
        </p:txBody>
      </p:sp>
      <p:sp>
        <p:nvSpPr>
          <p:cNvPr id="4" name="slide-title-4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Comparação: LTE_ENB → AP_B</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gridCol w="914400"/>
                <a:gridCol w="2194560"/>
                <a:gridCol w="1691640"/>
                <a:gridCol w="3566160"/>
              </a:tblGrid>
              <a:tr h="466344">
                <a:tc>
                  <a:txBody>
                    <a:bodyPr wrap="square">
                      <a:noAutofit/>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381,46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6</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694,78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70,51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6</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2</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381,46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70,51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Mesma instância e mesma função de custo; contagem inclui a remoção do objetivo.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46 / 57</a:t>
            </a:r>
          </a:p>
        </p:txBody>
      </p:sp>
      <p:sp>
        <p:nvSpPr>
          <p:cNvPr id="4" name="slide-title-4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4297680"/>
                <a:gridCol w="2011680"/>
                <a:gridCol w="2240280"/>
                <a:gridCol w="2194560"/>
              </a:tblGrid>
              <a:tr h="466344">
                <a:tc>
                  <a:txBody>
                    <a:bodyPr wrap="square">
                      <a:noAutofit/>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LTE_ENB → LTE_CORE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13,86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13,86 ms</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LTE_CORE → NOC</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Ethernet</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9,41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23,27 ms</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NOC → AP_B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47,23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70,51 ms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LTE_ENB → LTE_CORE → NOC → AP_B; total calculado antes do arredondamento.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47 / 57</a:t>
            </a:r>
          </a:p>
        </p:txBody>
      </p:sp>
      <p:sp>
        <p:nvSpPr>
          <p:cNvPr id="4" name="slide-title-4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 de enlace e recálculo de rota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LTE_ENB → LTE_CORE → NOC → AP_B</a:t>
            </a:r>
          </a:p>
          <a:p>
            <a:pPr algn="l">
              <a:lnSpc>
                <a:spcPct val="108000"/>
              </a:lnSpc>
              <a:spcBef>
                <a:spcPts val="0"/>
              </a:spcBef>
              <a:spcAft>
                <a:spcPts val="0"/>
              </a:spcAft>
            </a:pPr>
            <a:r>
              <a:rPr sz="2100" b="0">
                <a:solidFill>
                  <a:srgbClr val="172235"/>
                </a:solidFill>
                <a:latin typeface="Aptos"/>
              </a:rPr>
              <a:t>Custo: 70,51 ms do modelo.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Remover o enlace LTE_ENB–LTE_CORE da topologia da consulta.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LTE_ENB → RM_C4 → AP_C → NOC → AP_B</a:t>
            </a:r>
          </a:p>
          <a:p>
            <a:pPr algn="l">
              <a:lnSpc>
                <a:spcPct val="108000"/>
              </a:lnSpc>
              <a:spcBef>
                <a:spcPts val="0"/>
              </a:spcBef>
              <a:spcAft>
                <a:spcPts val="0"/>
              </a:spcAft>
            </a:pPr>
            <a:r>
              <a:rPr sz="2100" b="0">
                <a:solidFill>
                  <a:srgbClr val="172235"/>
                </a:solidFill>
                <a:latin typeface="Aptos"/>
              </a:rPr>
              <a:t>Custo: 345,80 ms do modelo.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48 / 57</a:t>
            </a:r>
          </a:p>
        </p:txBody>
      </p:sp>
      <p:sp>
        <p:nvSpPr>
          <p:cNvPr id="4" name="slide-title-4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Esforço de busca no cenário de 30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2"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48672" y="1783080"/>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13 920</a:t>
            </a:r>
          </a:p>
        </p:txBody>
      </p:sp>
      <p:sp>
        <p:nvSpPr>
          <p:cNvPr id="9" name="TextBox 8"/>
          <p:cNvSpPr txBox="1"/>
          <p:nvPr/>
        </p:nvSpPr>
        <p:spPr>
          <a:xfrm>
            <a:off x="822960" y="2807208"/>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4795003"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9723" y="2807208"/>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10 310</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57600"/>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870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187952"/>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Redução agregada de expansões: 25,9%.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718304"/>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Custos coincidentes em todos os pares verificados.</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 descritivo deste grafo; não estabelece uma lei de escalabilidade.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49 / 57</a:t>
            </a:r>
          </a:p>
        </p:txBody>
      </p:sp>
      <p:sp>
        <p:nvSpPr>
          <p:cNvPr id="4" name="slide-title-4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50 / 57</a:t>
            </a:r>
          </a:p>
        </p:txBody>
      </p:sp>
      <p:sp>
        <p:nvSpPr>
          <p:cNvPr id="4" name="slide-title-5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51 / 57</a:t>
            </a:r>
          </a:p>
        </p:txBody>
      </p:sp>
      <p:sp>
        <p:nvSpPr>
          <p:cNvPr id="4" name="slide-title-5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Caso: congestion      Nó afetado: SAF_A1</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FD_A</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LTE_CORE → LTE_ENB → FD_A</a:t>
            </a:r>
          </a:p>
          <a:p>
            <a:pPr algn="l">
              <a:lnSpc>
                <a:spcPct val="108000"/>
              </a:lnSpc>
              <a:spcBef>
                <a:spcPts val="0"/>
              </a:spcBef>
              <a:spcAft>
                <a:spcPts val="0"/>
              </a:spcAft>
            </a:pPr>
            <a:r>
              <a:rPr sz="1750" b="0">
                <a:solidFill>
                  <a:srgbClr val="172235"/>
                </a:solidFill>
                <a:latin typeface="Consolas"/>
              </a:rPr>
              <a:t>Custo da rota: 267,06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caminho exclui SAF_A1 e corresponde ao destino utilizado para validar o desvio.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52 / 57</a:t>
            </a:r>
          </a:p>
        </p:txBody>
      </p:sp>
      <p:sp>
        <p:nvSpPr>
          <p:cNvPr id="4" name="slide-title-5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gridCol w="4709160"/>
                <a:gridCol w="4206240"/>
              </a:tblGrid>
              <a:tr h="466344">
                <a:tc>
                  <a:txBody>
                    <a:bodyPr wrap="square">
                      <a:noAutofit/>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53 / 57</a:t>
            </a:r>
          </a:p>
        </p:txBody>
      </p:sp>
      <p:sp>
        <p:nvSpPr>
          <p:cNvPr id="4" name="slide-title-5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251960"/>
                <a:gridCol w="4206240"/>
              </a:tblGrid>
              <a:tr h="466344">
                <a:tc>
                  <a:txBody>
                    <a:bodyPr wrap="square">
                      <a:noAutofit/>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54 / 57</a:t>
            </a:r>
          </a:p>
        </p:txBody>
      </p:sp>
      <p:sp>
        <p:nvSpPr>
          <p:cNvPr id="4" name="slide-title-5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55 / 57</a:t>
            </a:r>
          </a:p>
        </p:txBody>
      </p:sp>
      <p:sp>
        <p:nvSpPr>
          <p:cNvPr id="4" name="slide-title-5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gridCol w="3840480"/>
                <a:gridCol w="4343400"/>
              </a:tblGrid>
              <a:tr h="466344">
                <a:tc>
                  <a:txBody>
                    <a:bodyPr wrap="square">
                      <a:noAutofit/>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56 / 57</a:t>
            </a:r>
          </a:p>
        </p:txBody>
      </p:sp>
      <p:sp>
        <p:nvSpPr>
          <p:cNvPr id="4" name="slide-title-5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2"/>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3"/>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4"/>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5"/>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6"/>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7"/>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57 / 57</a:t>
            </a:r>
          </a:p>
        </p:txBody>
      </p:sp>
      <p:sp>
        <p:nvSpPr>
          <p:cNvPr id="4" name="slide-title-5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422</TotalTime>
  <Words>2106</Words>
  <Application>Microsoft Office PowerPoint</Application>
  <PresentationFormat>Widescreen</PresentationFormat>
  <Paragraphs>370</Paragraphs>
  <Slides>21</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Arial Black</vt:lpstr>
      <vt:lpstr>Calibri</vt:lpstr>
      <vt:lpstr>Tema do Office</vt:lpstr>
      <vt:lpstr>Sistema Especialista, Planejamento Automático e Busca A* Aplicados ao Gerenciamento de Falhas de Redes sem Fio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Dúvidas e Discussões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creator>Fernando Sabino Dantas</dc:creator>
  <cp:lastModifiedBy>Fernando Sabino Dantas</cp:lastModifiedBy>
  <cp:revision>48</cp:revision>
  <dcterms:created xsi:type="dcterms:W3CDTF">2020-10-27T13:01:25Z</dcterms:created>
  <dcterms:modified xsi:type="dcterms:W3CDTF">2026-09-10T19:11:26Z</dcterms:modified>
  <dc:subject>Três minissistemas de inteligência artificial: modelo, implementação e avaliação</dc:subject>
  <cp:keywords>sistema especialista; STRIPS; GPS; A*; simulação; redes sem fio</cp:keywords>
  <dc:description>Roteiro e notas gerados a partir de academic_content.py.</dc:description>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